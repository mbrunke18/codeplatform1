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Four situations. No product. Let the room feel the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timeline is the argument. $1.7M at 72pt. The kicker: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$7B+ TAM. $0 in this layer. First mover owns the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pivot. First use of teal. Relief after red. Let the question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9 domains. This is not a ransomware tool. It is the operating model for every strategic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Microsoft built the engine. We built the transmission. $13B is our market validation. 47K enterprises are the prospect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platform is not the moat. The institutional memory is the moat. Competitor can copy the product. They cannot copy what 500 activations taught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clear: entry $75K, three feature tiers at fixed annual prices, 5-year LTV by tier. Dr. Huang validated the platform after 4 weeks of direct review. $75K. 12 seats. vaughnmartin.com.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situations.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C-suite leader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these moments.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02920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3:17 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22960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40080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$180K/hr exposure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87752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25877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9:47 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Activist Investor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907792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724912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724912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market cap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87752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672584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11:22 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72584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Inquiry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4992624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809744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809744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$847M penalty risk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7258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window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72584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57416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757416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PM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57416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War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077456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894576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894576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pipeline at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5741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window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57416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REALITY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48640" y="1828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SITUATION ARRIVES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18928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792224" y="20025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6596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owns the decision.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6596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productive response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350008"/>
            <a:ext cx="109728" cy="109728"/>
          </a:xfrm>
          <a:prstGeom prst="ellipse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792224" y="24597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965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meeting. Room still being decided.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2542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7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+$50K, zero action taken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807208"/>
            <a:ext cx="109728" cy="109728"/>
          </a:xfrm>
          <a:prstGeom prst="ellipse">
            <a:avLst/>
          </a:prstGeom>
          <a:solidFill>
            <a:srgbClr val="C0392B">
              <a:alpha val="84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792224" y="29169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19659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 engaged at emergency rates.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+$75K, no position yet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7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37360" y="3264408"/>
            <a:ext cx="109728" cy="109728"/>
          </a:xfrm>
          <a:prstGeom prst="ellipse">
            <a:avLst/>
          </a:prstGeom>
          <a:solidFill>
            <a:srgbClr val="C0392B">
              <a:alpha val="76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792224" y="33741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96596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draft. Three teams disagree on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65960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+$120K, window closing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37360" y="3721608"/>
            <a:ext cx="109728" cy="109728"/>
          </a:xfrm>
          <a:prstGeom prst="ellipse">
            <a:avLst/>
          </a:prstGeom>
          <a:solidFill>
            <a:srgbClr val="C0392B">
              <a:alpha val="68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792224" y="38313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9659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briefed. IR fielding unapproved calls.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6596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5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+$300K, damage ongoing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4178808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9659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 finally achieved.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96596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 total mobilized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17373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80210"/>
          </a:solidFill>
          <a:ln w="19050">
            <a:solidFill>
              <a:srgbClr val="C0392B">
                <a:alpha val="8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54864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0" y="2176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>
                    <a:alpha val="94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$1.7M+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strategic event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2743200" cy="0"/>
          </a:xfrm>
          <a:prstGeom prst="line">
            <a:avLst/>
          </a:prstGeom>
          <a:noFill/>
          <a:ln w="6350">
            <a:solidFill>
              <a:srgbClr val="C0392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6235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06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$50K–$200K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2356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0664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$25K–$150K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23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0664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/ penalties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406640" y="4645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4864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happens every time a situation presents itself — 15–20 times every year.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enterprise.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year.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exceptions.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176272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080D20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2542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$7B+</a:t>
            </a:r>
            <a:endParaRPr lang="en-US" sz="9000" dirty="0"/>
          </a:p>
        </p:txBody>
      </p:sp>
      <p:sp>
        <p:nvSpPr>
          <p:cNvPr id="43" name="Text 41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Core pricing alone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3968496"/>
            <a:ext cx="3200400" cy="0"/>
          </a:xfrm>
          <a:prstGeom prst="line">
            <a:avLst/>
          </a:prstGeom>
          <a:noFill/>
          <a:ln w="6350">
            <a:solidFill>
              <a:srgbClr val="C9A84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00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enterprises ($100M+ revenue)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$150K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strategic situations each per year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compounding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5029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617720" y="5760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461772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667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enterprise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2039112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617720" y="211226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$10.2M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46177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2203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per year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17720" y="3575304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617720" y="3648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8A6E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4617720" y="4562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layer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739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this yet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response was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before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arrived?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212848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20F0A"/>
          </a:solidFill>
          <a:ln w="25400">
            <a:solidFill>
              <a:srgbClr val="2B8A6E">
                <a:alpha val="9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3957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2212848" y="2633472"/>
            <a:ext cx="201168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505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3,600× Execution Head Start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situation arrives — The Response Is Ready Before the Trigger Fires.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3895344"/>
            <a:ext cx="338328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43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087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231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231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375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267712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66344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situation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47488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· 9 domains · 210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852928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6634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2898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threshold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47488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triggers · 39 live sources · 15-min cycles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3438144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4748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executive choices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47488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Adjust · Switch · Stand 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4023360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your stack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47488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connectors · Microsoft, Salesforce, ServiceNow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4608576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66344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47488" y="4654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learning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047488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loop — smarter after every activation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point solution.  </a:t>
            </a:r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model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strategic situation.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8521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Strategy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6148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76148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· activist defense · distressed asset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51129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8756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68756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1129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disruption · pricing · market entry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3737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1364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61364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3737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collapse · ERP failure · capacity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8521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6148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76148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cyber breach · AI disruption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51129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68756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· algorithmic failure · bias event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0936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43737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1364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61364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3737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entry · partnership · acquisition sprint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58521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Reputation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6148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276148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crisis · product recall · misconduct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8328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51129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68756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68756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51129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inquiry · GDPR · SEC investigation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43737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Leadership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1364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61364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3737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departure · succession · mass resignation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" y="4709160"/>
            <a:ext cx="8321040" cy="320040"/>
          </a:xfrm>
          <a:prstGeom prst="roundRect">
            <a:avLst>
              <a:gd name="adj" fmla="val 14286"/>
            </a:avLst>
          </a:prstGeom>
          <a:solidFill>
            <a:srgbClr val="0A0C1A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core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compound cross-domain  ·  </a:t>
            </a:r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total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domains  ·  </a:t>
            </a:r>
            <a:pPr algn="ctr" indent="0" marL="0">
              <a:buNone/>
            </a:pPr>
            <a:r>
              <a:rPr lang="en-US" sz="11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your enterprise will ever face.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spent $13B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this category exists.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left the response layer empty.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02920" y="2395728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FULL STACK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Teams  ·  Copilot  ·  SharePoint  ·  Entra  ·  Power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108960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20" y="3236976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EXECUTION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AI tool can run a task. Does not govern who responds or when.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950208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02920" y="4078224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D0820"/>
          </a:solidFill>
          <a:ln w="254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" y="4151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— UNCLAIMED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Governs: When situation presents itself — who does what, in 12 minutes? Pre-staged. Already built.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502920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4A9E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029200" y="5943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E8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$13B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172200" y="594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validated the market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9052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 invested in Azure OpenAI + Copilot proves enterprises will buy AI infrastructure. The orchestration layer is proven. The response layer is not.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2039112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C9A84C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029200" y="21305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47K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1722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distribution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24414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enterprise customer is a Readiness OS prospect. We sit above their stack — not beside it.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3575304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2B8A6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029200" y="36667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617220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wins the category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strategic response coordination. The category does not yet exist as a budget line. We name it. We own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competitor can copy
the platform.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cannot copy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learns.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502920" y="2944368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80D20"/>
          </a:solidFill>
          <a:ln w="12700">
            <a:solidFill>
              <a:srgbClr val="2B8A6E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0292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0392B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35608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6692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27632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62763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423160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55448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5184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6151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410712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2542032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02736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2B8A6E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60273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29584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— the protocol improves. The moat widens.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02920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138928" y="5943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improves the protocol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8869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activations: proven or disproven. What held under pressure gets encoded. What failed gets corrected.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1618488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138928" y="17099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compounds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200253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start generic. After 12 months they reflect your specific risk profile, stakeholder map, decision patterns.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0" y="2734056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138928" y="2825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widens with every client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38928" y="311810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protocols improve across every client's activations. A competitor who starts today cannot close the gap.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0" y="3849624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138928" y="39410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copy Day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38928" y="423367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Day 365. The institutional memory encoded from every activation is the defensibility no spec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228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201168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C9A84C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864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84C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41" name="Text 39"/>
          <p:cNvSpPr/>
          <p:nvPr/>
        </p:nvSpPr>
        <p:spPr>
          <a:xfrm>
            <a:off x="594360" y="6217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8F7F4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is building the architecture that makes clarity possible before pressure arrives.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4360" y="1755648"/>
            <a:ext cx="1645920" cy="0"/>
          </a:xfrm>
          <a:prstGeom prst="line">
            <a:avLst/>
          </a:prstGeom>
          <a:noFill/>
          <a:ln w="1016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9436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Kerry Huang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 AVP  ·  ESI Top 1% Researcher  ·  Forbes Business Council  ·  408-firm study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" y="2395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>
                    <a:alpha val="5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repost · April 2026 · After 4 weeks of direct platform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201168"/>
            <a:ext cx="28803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2B8A6E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532120" y="292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ECONOMICS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32120" y="292608"/>
            <a:ext cx="3246120" cy="0"/>
          </a:xfrm>
          <a:prstGeom prst="line">
            <a:avLst/>
          </a:prstGeom>
          <a:noFill/>
          <a:ln w="12700">
            <a:solidFill>
              <a:srgbClr val="2B8A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623560" y="530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entry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530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804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 ·  100% credited to Year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50992" y="1042416"/>
            <a:ext cx="265176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623560" y="1078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235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7804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$150K/yr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23560" y="1609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7804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$250K/yr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235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8A6E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$450K/yr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23560" y="2267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 — stays constant until customer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to upgrade for more capability.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2724912"/>
            <a:ext cx="8366760" cy="1298448"/>
          </a:xfrm>
          <a:prstGeom prst="roundRect">
            <a:avLst>
              <a:gd name="adj" fmla="val 7042"/>
            </a:avLst>
          </a:prstGeom>
          <a:solidFill>
            <a:srgbClr val="100C22"/>
          </a:solidFill>
          <a:ln w="2794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94360" y="2798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 —  THE ENTRY POINT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" y="2999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6200" dirty="0"/>
          </a:p>
        </p:txBody>
      </p:sp>
      <p:sp>
        <p:nvSpPr>
          <p:cNvPr id="64" name="Text 62"/>
          <p:cNvSpPr/>
          <p:nvPr/>
        </p:nvSpPr>
        <p:spPr>
          <a:xfrm>
            <a:off x="3749040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validation partnership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749040" y="33649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credited to Year 1  ·  Full platform access from Day 1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3749040" y="36210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shape the product roadmap and pricing structure.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80D2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48640" y="4224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LTV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864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423160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423160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$2.0M+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54880" y="4160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0820"/>
          </a:solidFill>
          <a:ln w="12700">
            <a:solidFill>
              <a:srgbClr val="C9A84C">
                <a:alpha val="7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47548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COHORT  ·  </a:t>
            </a:r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SEATS</a:t>
            </a:r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APPLICATIONS OPEN NOW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754880" y="4626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vaughnmartin.com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754880" y="4882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founding@vaughnmartin.com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Readiness OS — VaughnMartin</dc:title>
  <dc:subject>PptxGenJS Presentation</dc:subject>
  <dc:creator>Martin Brunke</dc:creator>
  <cp:lastModifiedBy>Martin Brunke</cp:lastModifiedBy>
  <cp:revision>1</cp:revision>
  <dcterms:created xsi:type="dcterms:W3CDTF">2026-06-26T02:09:00Z</dcterms:created>
  <dcterms:modified xsi:type="dcterms:W3CDTF">2026-06-26T02:09:00Z</dcterms:modified>
</cp:coreProperties>
</file>