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Four situations. No product. Let the room feel the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timeline is the argument. $1.7M at 72pt. The kicker: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$7B+ TAM. $0 in this layer. First mover owns the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pivot. First use of teal. Relief after red. Let the question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9 domains. This is not a ransomware tool. It is the operating model for every strategic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Microsoft built the engine. We built the transmission. $13B is our market validation. 47K enterprises are the prospect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platform is not the moat. The institutional memory is the moat. Competitor can copy the product. They cannot copy what 500 activations taught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economics are clear: entry $75K, three feature tiers at fixed annual prices, 5-year LTV by tier. Dr. Huang validated the platform after 4 weeks of direct review. $75K. 12 seats. vaughnmartin.com.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situations.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C-suite leader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these moments.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502920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3:17 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22960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40080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$180K/hr exposure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window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87752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58775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9:47 AM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87752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Activist Investor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2907792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724912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24912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 market cap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87752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window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87752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672584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11:22 AM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72584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Inquiry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4992624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809744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809744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$847M penalty risk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72584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48-hr window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72584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757416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757416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PM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57416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War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077456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894576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894576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 pipeline at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757416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window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57416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REALITY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time.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548640" y="1828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ARRIVES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18928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792224" y="20025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96596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owns the decision.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65960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productive response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37360" y="2350008"/>
            <a:ext cx="109728" cy="109728"/>
          </a:xfrm>
          <a:prstGeom prst="ellipse">
            <a:avLst/>
          </a:prstGeom>
          <a:solidFill>
            <a:srgbClr val="C0392B">
              <a:alpha val="9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792224" y="24597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96596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meeting. Room still being decided.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65960" y="2542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7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+$50K, zero action taken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37360" y="2807208"/>
            <a:ext cx="109728" cy="109728"/>
          </a:xfrm>
          <a:prstGeom prst="ellipse">
            <a:avLst/>
          </a:prstGeom>
          <a:solidFill>
            <a:srgbClr val="C0392B">
              <a:alpha val="84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792224" y="29169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96596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 engaged at emergency rates.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965960" y="2999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+$75K, no position yet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32004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7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37360" y="3264408"/>
            <a:ext cx="109728" cy="109728"/>
          </a:xfrm>
          <a:prstGeom prst="ellipse">
            <a:avLst/>
          </a:prstGeom>
          <a:solidFill>
            <a:srgbClr val="C0392B">
              <a:alpha val="76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792224" y="33741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965960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draft. Three teams disagree on it.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965960" y="3456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1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+$120K, window closing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8640" y="3657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37360" y="3721608"/>
            <a:ext cx="109728" cy="109728"/>
          </a:xfrm>
          <a:prstGeom prst="ellipse">
            <a:avLst/>
          </a:prstGeom>
          <a:solidFill>
            <a:srgbClr val="C0392B">
              <a:alpha val="68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1792224" y="38313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96596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briefed. IR fielding unapproved calls.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65960" y="3913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5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+$300K, damage ongoing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4114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737360" y="4178808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96596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response finally achieved.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965960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$1.7M+ total mobilized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0" y="17373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080210"/>
          </a:solidFill>
          <a:ln w="19050">
            <a:solidFill>
              <a:srgbClr val="C0392B">
                <a:alpha val="8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548640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486400" y="21762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>
                    <a:alpha val="94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$1.7M+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54864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strategic event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60720" y="3675888"/>
            <a:ext cx="2743200" cy="0"/>
          </a:xfrm>
          <a:prstGeom prst="line">
            <a:avLst/>
          </a:prstGeom>
          <a:noFill/>
          <a:ln w="635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62356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time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40664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$50K–$200K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23560" y="4059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06640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$25K–$150K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23560" y="4352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06640" y="4352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$50K–$500K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623560" y="4645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/ penalties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406640" y="4645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48640" y="4754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 repeats 15–20 times every year in any enterprise — across 180 documented strategic situations. Every single one an unscripted improvisation.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enterprise.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year.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exceptions.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176272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080D20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25420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$7B+</a:t>
            </a:r>
            <a:endParaRPr lang="en-US" sz="9000" dirty="0"/>
          </a:p>
        </p:txBody>
      </p:sp>
      <p:sp>
        <p:nvSpPr>
          <p:cNvPr id="43" name="Text 41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Core pricing alone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" y="3968496"/>
            <a:ext cx="3200400" cy="0"/>
          </a:xfrm>
          <a:prstGeom prst="line">
            <a:avLst/>
          </a:prstGeom>
          <a:noFill/>
          <a:ln w="635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 enterprises ($100M+ revenue)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$150K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strategic situations annually (conservative: 4–6)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compounding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502920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617720" y="5760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</a:t>
            </a:r>
            <a:endParaRPr lang="en-US" sz="4800" dirty="0"/>
          </a:p>
        </p:txBody>
      </p:sp>
      <p:sp>
        <p:nvSpPr>
          <p:cNvPr id="51" name="Text 49"/>
          <p:cNvSpPr/>
          <p:nvPr/>
        </p:nvSpPr>
        <p:spPr>
          <a:xfrm>
            <a:off x="4617720" y="1490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situations/yr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667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enterprise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17720" y="2039112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617720" y="2112264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$10.2M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4617720" y="3026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exposure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22037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per year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617720" y="3575304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617720" y="364845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8A6E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4617720" y="4562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layer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37398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this yet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response was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before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arrived?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212848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020F0A"/>
          </a:solidFill>
          <a:ln w="25400">
            <a:solidFill>
              <a:srgbClr val="2B8A6E">
                <a:alpha val="9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23957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2212848" y="2633472"/>
            <a:ext cx="201168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450592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5029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3,600× Execution Head Start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292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situation arrives — The Response Is Ready Before the Trigger Fires.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3895344"/>
            <a:ext cx="338328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943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43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5087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087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4231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231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375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3375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2267712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66344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situation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47488" y="2542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· 9 domains · 210 total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2852928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6634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47488" y="2898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threshold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47488" y="3127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triggers · 39 live sources · 15-min cycles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0" y="3438144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6634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47488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executive choices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047488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· Adjust · Switch · Stand down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0" y="4023360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6634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047488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through your stack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047488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connectors · Microsoft, Salesforce, ServiceNow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0" y="4608576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663440" y="4681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47488" y="4654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every learning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047488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loop — smarter after every activation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BREADTH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point solution.  </a:t>
            </a:r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model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strategic situation.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8521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Strategy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6148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76148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· activist defense · distressed asset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51129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8756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68756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1129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disruption · pricing · market entry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43737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1364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61364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3737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collapse · ERP failure · capacity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8521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Innovation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6148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76148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· cyber breach · AI disruption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51129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8756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68756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1129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· algorithmic failure · bias event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0936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43737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Opportunities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1364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61364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3737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entry · partnership · acquisition sprint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58521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Reputation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76148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276148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521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crisis · product recall · misconduct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8328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51129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68756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68756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51129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inquiry · GDPR · SEC investigation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43737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Leadership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61364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861364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43737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departure · succession · mass resignation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" y="4709160"/>
            <a:ext cx="8321040" cy="320040"/>
          </a:xfrm>
          <a:prstGeom prst="roundRect">
            <a:avLst>
              <a:gd name="adj" fmla="val 14286"/>
            </a:avLst>
          </a:prstGeom>
          <a:solidFill>
            <a:srgbClr val="0A0C1A"/>
          </a:solidFill>
          <a:ln w="1016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core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compound cross-domain  ·  </a:t>
            </a:r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total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strategic domains  ·  </a:t>
            </a:r>
            <a:pPr algn="ctr" indent="0" marL="0">
              <a:buNone/>
            </a:pPr>
            <a:r>
              <a:rPr lang="en-US" sz="11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your enterprise will ever face.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spent $13B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this category exists.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left the response layer empty.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502920" y="2395728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FULL STACK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2706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Teams  ·  Copilot  ·  SharePoint  ·  Entra  ·  Power Platform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108960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02920" y="3236976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4360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EXECUTION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3547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whether the AI tool can run a task. Does not govern who responds or when.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3950208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02920" y="4078224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D0820"/>
          </a:solidFill>
          <a:ln w="254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94360" y="41513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— UNCLAIMED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" y="4389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Governs: When situation presents itself — who does what, in 12 minutes? Pre-staged. Already built.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502920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4A9EE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029200" y="5943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EE8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$13B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6172200" y="594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validated the market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72200" y="9052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 invested in Azure OpenAI + Copilot proves enterprises will buy AI infrastructure. The orchestration layer is proven. The response layer is not.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2039112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029200" y="21305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47K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6172200" y="2130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distribution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72200" y="24414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Microsoft enterprise customer is a Readiness OS prospect. We sit above their stack — not beside it.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3575304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029200" y="36667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617220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wins the category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9776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strategic response coordination. The category does not yet exist as a budget line. We name it. We own 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competitor can copy
the platform.
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cannot copy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learns.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502920" y="2944368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080D20"/>
          </a:solidFill>
          <a:ln w="12700">
            <a:solidFill>
              <a:srgbClr val="2B8A6E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 LOOP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0392B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435608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66928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27632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627632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2423160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554480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15184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615184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3410712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542032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02736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2B8A6E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602736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529584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Each cycle — the protocol improves. The moat widens.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502920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138928" y="5943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improves the protocol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38928" y="886968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activations: proven or disproven. What held under pressure gets encoded. What failed gets corrected.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0" y="1618488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138928" y="170992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compounds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38928" y="200253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start generic. After 12 months they reflect your specific risk profile, stakeholder map, decision patterns.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0" y="2734056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138928" y="282549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widens with every client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138928" y="311810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tier: protocols improve across every client's activations. A competitor who starts today cannot close the gap.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0" y="3849624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138928" y="39410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 copy Day 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138928" y="4233672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copy Day 365. The institutional memory encoded from every activation is the defensibility no spec can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2286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201168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C9A84C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" y="228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C9A84C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41" name="Text 39"/>
          <p:cNvSpPr/>
          <p:nvPr/>
        </p:nvSpPr>
        <p:spPr>
          <a:xfrm>
            <a:off x="594360" y="62179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8F7F4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 is building the architecture that makes clarity possible before pressure arrives.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4360" y="1755648"/>
            <a:ext cx="1645920" cy="0"/>
          </a:xfrm>
          <a:prstGeom prst="line">
            <a:avLst/>
          </a:prstGeom>
          <a:noFill/>
          <a:ln w="1016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94360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Kerry Huang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 AVP  ·  ESI Top 1% Researcher  ·  Forbes Business Council  ·  408-firm study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" y="2395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>
                    <a:alpha val="5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repost · April 2026 · After 4 weeks of direct platform review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32120" y="201168"/>
            <a:ext cx="28803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2B8A6E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532120" y="2926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ECONOMICS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32120" y="292608"/>
            <a:ext cx="3246120" cy="0"/>
          </a:xfrm>
          <a:prstGeom prst="line">
            <a:avLst/>
          </a:prstGeom>
          <a:noFill/>
          <a:ln w="12700">
            <a:solidFill>
              <a:srgbClr val="2B8A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623560" y="530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entry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06640" y="530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23560" y="804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 ·  100% credited to Year 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50992" y="1042416"/>
            <a:ext cx="265176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623560" y="10789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TIER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62356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7804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$150K/yr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23560" y="1609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7804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$250K/yr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235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1920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8A6E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$450K/yr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23560" y="22677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price — stays constant until customer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to upgrade for more capability.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2724912"/>
            <a:ext cx="8366760" cy="1298448"/>
          </a:xfrm>
          <a:prstGeom prst="roundRect">
            <a:avLst>
              <a:gd name="adj" fmla="val 7042"/>
            </a:avLst>
          </a:prstGeom>
          <a:solidFill>
            <a:srgbClr val="100C22"/>
          </a:solidFill>
          <a:ln w="2794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94360" y="2798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 —  THE ENTRY POINT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1480" y="2999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6200" dirty="0"/>
          </a:p>
        </p:txBody>
      </p:sp>
      <p:sp>
        <p:nvSpPr>
          <p:cNvPr id="64" name="Text 62"/>
          <p:cNvSpPr/>
          <p:nvPr/>
        </p:nvSpPr>
        <p:spPr>
          <a:xfrm>
            <a:off x="3749040" y="3054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validation partnership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749040" y="33649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credited to Year 1  ·  Full platform access from Day 1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3749040" y="36210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shape the product roadmap and pricing structure.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11480" y="4160520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80D2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48640" y="4224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LTV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8640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423160" y="4425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$750K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4663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423160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$2.0M+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754880" y="41605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D0820"/>
          </a:solidFill>
          <a:ln w="12700">
            <a:solidFill>
              <a:srgbClr val="C9A84C">
                <a:alpha val="7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7548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COHORT  ·  </a:t>
            </a:r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SEATS</a:t>
            </a:r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APPLICATIONS OPEN NOW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754880" y="4626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vaughnmartin.com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754880" y="4882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founding@vaughnmartin.com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74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2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EARLY MOMENTUM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694944"/>
            <a:ext cx="8503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Not a concept. A live system with early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0020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600200"/>
            <a:ext cx="45720" cy="123444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700784"/>
            <a:ext cx="3995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A6E"/>
                </a:solidFill>
                <a:latin typeface="Barlow"/>
              </a:rPr>
              <a:t>PRODUCT —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92938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vaughnmartin.com is operational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240280"/>
            <a:ext cx="3995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180 Readiness Protocols staged · 231 triggers monitored · Live signal pipeline every 15 min · Production infrastructure, not a prototype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60020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600200"/>
            <a:ext cx="45720" cy="1234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1700784"/>
            <a:ext cx="3995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THIRD-PARTY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192938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Dr. Kerry Huang · Fortune 50 AVP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240280"/>
            <a:ext cx="3995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ESI Top 1% researcher · Forbes Business Council · 408-firm study · 4 weeks direct platform review · Public repost April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92608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2926080"/>
            <a:ext cx="45720" cy="123444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3026664"/>
            <a:ext cx="3995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A6E"/>
                </a:solidFill>
                <a:latin typeface="Barlow"/>
              </a:rPr>
              <a:t>ENTERPRISE CONVERSATIONS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325526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2 Founding Partner discussions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3566160"/>
            <a:ext cx="3995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$150K–$450K ACV range · Enterprise-caliber prospects · Inbound-initiated conversations · Founding Partner Program structure in place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926080"/>
            <a:ext cx="4160520" cy="1234440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2926080"/>
            <a:ext cx="45720" cy="1234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3026664"/>
            <a:ext cx="3995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CATEGORY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3255264"/>
            <a:ext cx="3995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Microsoft $13B confirms the layer exists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8304" y="3566160"/>
            <a:ext cx="3995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47,000 enterprise Copilot deployments with no coordination infrastructure above them · Zero direct competitors in Readiness Infrastructure · White space confirmed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4224528"/>
            <a:ext cx="8503920" cy="109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27939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7788"/>
                </a:solidFill>
                <a:latin typeface="Barlow"/>
              </a:rPr>
              <a:t>vaughnmartin.com · founding@vaughnmartin.com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74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2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THE FOUNDER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694944"/>
            <a:ext cx="8503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822960"/>
            <a:ext cx="4937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Martin Brunke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27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Barlow"/>
              </a:rPr>
              <a:t>Founder &amp; CEO  ·  VaughnMartin  ·  Readiness 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011680"/>
            <a:ext cx="2377440" cy="1463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13055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THE ORIGIN OF THE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39572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  <a:latin typeface="Barlow"/>
              </a:rPr>
              <a:t>Five years on the Stanford Cardinal sideline. 60–80 decisions in 3 hours. Every response pre-staged before the game started. When the situation changed at the line of scrimmage — no timeout, no alignment cycle. Eleven people pivoted in 40 seconds because the system was built before the pressure arrived. Then I walked into corporate America and watched the same trigger take 30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456432"/>
            <a:ext cx="4754880" cy="12801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35844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20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584448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inside enterprise mobilization at Ford, Lockheed, Toyota, Schwab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92277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Built &amp;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922776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180 protocols · 231 triggers · live signal pipeline · production-grade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426110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26110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Readiness Infrastructure — the operating model layer above Microsoft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0368" y="804672"/>
            <a:ext cx="3566160" cy="376732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30368" y="804672"/>
            <a:ext cx="45720" cy="37673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960120"/>
            <a:ext cx="3218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THIRD-PARTY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261872"/>
            <a:ext cx="3200400" cy="1280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1389888"/>
            <a:ext cx="32186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Georgia"/>
              </a:rPr>
              <a:t>"Martin is building the architecture that makes clarity possible before pressure arrives."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852928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"/>
              </a:rPr>
              <a:t>DR. KERRY HUANG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136392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Fortune 50 AVP · ESI Top 1% Researcher
Forbes Business Council · 408-firm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639312"/>
            <a:ext cx="3218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77788"/>
                </a:solidFill>
                <a:latin typeface="Barlow"/>
              </a:rPr>
              <a:t>Public repost · April 2026 · 4 weeks direct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4224528"/>
            <a:ext cx="8503920" cy="109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427939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7788"/>
                </a:solidFill>
                <a:latin typeface="Barlow"/>
              </a:rPr>
              <a:t>vaughnmartin.com · founding@vaughnmartin.com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74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Georgia"/>
              </a:rPr>
              <a:t>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2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"/>
              </a:rP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694944"/>
            <a:ext cx="8503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822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Pre-Seed Round  ·  Closing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53619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9A84C"/>
                </a:solidFill>
                <a:latin typeface="Georgia"/>
              </a:rPr>
              <a:t>$750,000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423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  <a:latin typeface="Barlow"/>
              </a:rPr>
              <a:t>SAFE  ·  $8M post-money cap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2816352"/>
            <a:ext cx="3474720" cy="1463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9443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Barlow"/>
              </a:rP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23697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Enterprise Sales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23697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323697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  <a:latin typeface="Barlow"/>
              </a:rPr>
              <a:t>$375K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5753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GTM &amp; Demo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575304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357530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  <a:latin typeface="Barlow"/>
              </a:rPr>
              <a:t>$188K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913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Barlow"/>
              </a:rPr>
              <a:t>Runway &amp;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913632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39136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  <a:latin typeface="Barlow"/>
              </a:rPr>
              <a:t>$187K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804672"/>
            <a:ext cx="4059936" cy="376732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804672"/>
            <a:ext cx="45720" cy="37673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9601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A6E"/>
                </a:solidFill>
                <a:latin typeface="Barlow"/>
              </a:rPr>
              <a:t>WHAT THIS UNLOCKS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261872"/>
            <a:ext cx="3566160" cy="12801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141732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Runway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14173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18 months to close Founding Partners and reach 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181051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Sales hire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6168" y="18105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Dedicated enterprise rep — the one missing piece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220370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GTM budget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220370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Events, travel, executive briefings at $150K–$450K ACV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2596896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Proof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6168" y="259689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3–5 Founding Partners deployed = defensible ARR by Q4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2990088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"/>
              </a:rPr>
              <a:t>Moat velocity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299008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Barlow"/>
              </a:rPr>
              <a:t>ADVANCE loop compounds — widens faster with every activation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4224528"/>
            <a:ext cx="8503920" cy="109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427939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7788"/>
                </a:solidFill>
                <a:latin typeface="Barlow"/>
              </a:rPr>
              <a:t>vaughnmartin.com · founding@vaughnmartin.com · Deck reviewed by appointment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Readiness OS — VaughnMartin</dc:title>
  <dc:subject>PptxGenJS Presentation</dc:subject>
  <dc:creator>Martin Brunke</dc:creator>
  <cp:lastModifiedBy>Martin Brunke</cp:lastModifiedBy>
  <cp:revision>1</cp:revision>
  <dcterms:created xsi:type="dcterms:W3CDTF">2026-06-26T02:09:00Z</dcterms:created>
  <dcterms:modified xsi:type="dcterms:W3CDTF">2026-06-26T02:09:00Z</dcterms:modified>
</cp:coreProperties>
</file>