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5"/>
    <p:sldId id="265" r:id="rId16"/>
    <p:sldId id="266" r:id="rId17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Four situations. No product. Let the room feel the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The timeline is the argument. $1.7M at 72pt. The kicker: every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$7B+ TAM. $0 in this layer. First mover owns the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The pivot. First use of teal. Relief after red. Let the question breathe.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9 domains. This is not a ransomware tool. It is the operating model for every strategic trigger.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Microsoft built the engine. We built the transmission. $13B is our market validation. 47K enterprises are the prospect pool.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seconds. The platform is not the moat. The institutional memory is the moat. Competitor can copy the product. They cannot copy what 500 activations taught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economics are clear: entry $75K, three feature tiers at fixed annual prices, 5-year LTV by tier. Dr. Huang validated the platform after 4 weeks of direct review. $75K. 12 seats. vaughnmartin.com.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SITUATION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4864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situations.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C-suite leader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knows these moments.</a:t>
            </a:r>
            <a:endParaRPr lang="en-US" sz="3200" dirty="0"/>
          </a:p>
        </p:txBody>
      </p:sp>
      <p:sp>
        <p:nvSpPr>
          <p:cNvPr id="40" name="Shape 38"/>
          <p:cNvSpPr/>
          <p:nvPr/>
        </p:nvSpPr>
        <p:spPr>
          <a:xfrm>
            <a:off x="502920" y="2029968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080D20"/>
          </a:solidFill>
          <a:ln w="12700">
            <a:solidFill>
              <a:srgbClr val="C0392B">
                <a:alpha val="6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02920" y="2121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3:17 AM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822960" y="2962656"/>
            <a:ext cx="1280160" cy="0"/>
          </a:xfrm>
          <a:prstGeom prst="line">
            <a:avLst/>
          </a:prstGeom>
          <a:noFill/>
          <a:ln w="762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40080" y="3054096"/>
            <a:ext cx="1645920" cy="310896"/>
          </a:xfrm>
          <a:prstGeom prst="roundRect">
            <a:avLst>
              <a:gd name="adj" fmla="val 11765"/>
            </a:avLst>
          </a:prstGeom>
          <a:solidFill>
            <a:srgbClr val="120804"/>
          </a:solidFill>
          <a:ln w="762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40080" y="3054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$180K/hr exposure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2920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window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02920" y="3822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do?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587752" y="2029968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080D20"/>
          </a:solidFill>
          <a:ln w="12700">
            <a:solidFill>
              <a:srgbClr val="C0392B">
                <a:alpha val="6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2587752" y="2121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9:47 AM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2587752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Activist Investor</a:t>
            </a:r>
            <a:endParaRPr lang="en-US" sz="1700" dirty="0"/>
          </a:p>
        </p:txBody>
      </p:sp>
      <p:sp>
        <p:nvSpPr>
          <p:cNvPr id="51" name="Shape 49"/>
          <p:cNvSpPr/>
          <p:nvPr/>
        </p:nvSpPr>
        <p:spPr>
          <a:xfrm>
            <a:off x="2907792" y="2962656"/>
            <a:ext cx="1280160" cy="0"/>
          </a:xfrm>
          <a:prstGeom prst="line">
            <a:avLst/>
          </a:prstGeom>
          <a:noFill/>
          <a:ln w="762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2724912" y="3054096"/>
            <a:ext cx="1645920" cy="310896"/>
          </a:xfrm>
          <a:prstGeom prst="roundRect">
            <a:avLst>
              <a:gd name="adj" fmla="val 11765"/>
            </a:avLst>
          </a:prstGeom>
          <a:solidFill>
            <a:srgbClr val="120804"/>
          </a:solidFill>
          <a:ln w="762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724912" y="3054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$2.3B market cap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2587752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4-hr window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2587752" y="3822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do?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672584" y="2029968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080D20"/>
          </a:solidFill>
          <a:ln w="12700">
            <a:solidFill>
              <a:srgbClr val="C0392B">
                <a:alpha val="6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4672584" y="2121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11:22 AM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672584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Federal Inquiry</a:t>
            </a:r>
            <a:endParaRPr lang="en-US" sz="1700" dirty="0"/>
          </a:p>
        </p:txBody>
      </p:sp>
      <p:sp>
        <p:nvSpPr>
          <p:cNvPr id="59" name="Shape 57"/>
          <p:cNvSpPr/>
          <p:nvPr/>
        </p:nvSpPr>
        <p:spPr>
          <a:xfrm>
            <a:off x="4992624" y="2962656"/>
            <a:ext cx="1280160" cy="0"/>
          </a:xfrm>
          <a:prstGeom prst="line">
            <a:avLst/>
          </a:prstGeom>
          <a:noFill/>
          <a:ln w="762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Shape 58"/>
          <p:cNvSpPr/>
          <p:nvPr/>
        </p:nvSpPr>
        <p:spPr>
          <a:xfrm>
            <a:off x="4809744" y="3054096"/>
            <a:ext cx="1645920" cy="310896"/>
          </a:xfrm>
          <a:prstGeom prst="roundRect">
            <a:avLst>
              <a:gd name="adj" fmla="val 11765"/>
            </a:avLst>
          </a:prstGeom>
          <a:solidFill>
            <a:srgbClr val="120804"/>
          </a:solidFill>
          <a:ln w="762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4809744" y="3054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$847M penalty risk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72584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48-hr window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4672584" y="3822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do?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6757416" y="2029968"/>
            <a:ext cx="1920240" cy="2834640"/>
          </a:xfrm>
          <a:prstGeom prst="roundRect">
            <a:avLst>
              <a:gd name="adj" fmla="val 3810"/>
            </a:avLst>
          </a:prstGeom>
          <a:solidFill>
            <a:srgbClr val="080D20"/>
          </a:solidFill>
          <a:ln w="12700">
            <a:solidFill>
              <a:srgbClr val="C0392B">
                <a:alpha val="6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757416" y="212140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2:05 PM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757416" y="2423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War</a:t>
            </a:r>
            <a:endParaRPr lang="en-US" sz="1700" dirty="0"/>
          </a:p>
        </p:txBody>
      </p:sp>
      <p:sp>
        <p:nvSpPr>
          <p:cNvPr id="67" name="Shape 65"/>
          <p:cNvSpPr/>
          <p:nvPr/>
        </p:nvSpPr>
        <p:spPr>
          <a:xfrm>
            <a:off x="7077456" y="2962656"/>
            <a:ext cx="1280160" cy="0"/>
          </a:xfrm>
          <a:prstGeom prst="line">
            <a:avLst/>
          </a:prstGeom>
          <a:noFill/>
          <a:ln w="762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Shape 66"/>
          <p:cNvSpPr/>
          <p:nvPr/>
        </p:nvSpPr>
        <p:spPr>
          <a:xfrm>
            <a:off x="6894576" y="3054096"/>
            <a:ext cx="1645920" cy="310896"/>
          </a:xfrm>
          <a:prstGeom prst="roundRect">
            <a:avLst>
              <a:gd name="adj" fmla="val 11765"/>
            </a:avLst>
          </a:prstGeom>
          <a:solidFill>
            <a:srgbClr val="120804"/>
          </a:solidFill>
          <a:ln w="762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894576" y="3054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 pipeline at risk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6757416" y="3456432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2-hr window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6757416" y="3822192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your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i="1" dirty="0">
                <a:solidFill>
                  <a:srgbClr val="F8F7F4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do?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REALITY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thing.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time.</a:t>
            </a:r>
            <a:endParaRPr lang="en-US" sz="4000" dirty="0"/>
          </a:p>
        </p:txBody>
      </p:sp>
      <p:sp>
        <p:nvSpPr>
          <p:cNvPr id="40" name="Text 38"/>
          <p:cNvSpPr/>
          <p:nvPr/>
        </p:nvSpPr>
        <p:spPr>
          <a:xfrm>
            <a:off x="548640" y="18288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SITUATION ARRIVES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737360" y="1892808"/>
            <a:ext cx="109728" cy="109728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1792224" y="20025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965960" y="18288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knows who owns the decision.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965960" y="2084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productive response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548640" y="22860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1737360" y="2350008"/>
            <a:ext cx="109728" cy="109728"/>
          </a:xfrm>
          <a:prstGeom prst="ellipse">
            <a:avLst/>
          </a:prstGeom>
          <a:solidFill>
            <a:srgbClr val="C0392B">
              <a:alpha val="92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1792224" y="24597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4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965960" y="22860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83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meeting. Room still being decided.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965960" y="25420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77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+$50K, zero action taken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48640" y="27432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84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737360" y="2807208"/>
            <a:ext cx="109728" cy="109728"/>
          </a:xfrm>
          <a:prstGeom prst="ellipse">
            <a:avLst/>
          </a:prstGeom>
          <a:solidFill>
            <a:srgbClr val="C0392B">
              <a:alpha val="84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2" name="Shape 50"/>
          <p:cNvSpPr/>
          <p:nvPr/>
        </p:nvSpPr>
        <p:spPr>
          <a:xfrm>
            <a:off x="1792224" y="29169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3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1965960" y="27432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counsel engaged at emergency rates.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965960" y="29992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69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+$75K, no position yet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48640" y="32004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76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1737360" y="3264408"/>
            <a:ext cx="109728" cy="109728"/>
          </a:xfrm>
          <a:prstGeom prst="ellipse">
            <a:avLst/>
          </a:prstGeom>
          <a:solidFill>
            <a:srgbClr val="C0392B">
              <a:alpha val="76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1792224" y="33741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3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1965960" y="32004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73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draft. Three teams disagree on it.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1965960" y="34564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61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+$120K, window closing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548640" y="36576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6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14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737360" y="3721608"/>
            <a:ext cx="109728" cy="109728"/>
          </a:xfrm>
          <a:prstGeom prst="ellipse">
            <a:avLst/>
          </a:prstGeom>
          <a:solidFill>
            <a:srgbClr val="C0392B">
              <a:alpha val="68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1792224" y="3831336"/>
            <a:ext cx="0" cy="402336"/>
          </a:xfrm>
          <a:prstGeom prst="line">
            <a:avLst/>
          </a:prstGeom>
          <a:noFill/>
          <a:ln w="10160">
            <a:solidFill>
              <a:srgbClr val="C0392B">
                <a:alpha val="2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1965960" y="36576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6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briefed. IR fielding unapproved calls.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965960" y="39136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53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+$300K, damage ongoing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48640" y="411480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1737360" y="4178808"/>
            <a:ext cx="109728" cy="109728"/>
          </a:xfrm>
          <a:prstGeom prst="ellipse">
            <a:avLst/>
          </a:prstGeom>
          <a:solidFill>
            <a:srgbClr val="C0392B">
              <a:alpha val="6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965960" y="411480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8F7F4">
                    <a:alpha val="63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response finally achieved.</a:t>
            </a:r>
            <a:endParaRPr lang="en-US" sz="1200" dirty="0"/>
          </a:p>
        </p:txBody>
      </p:sp>
      <p:sp>
        <p:nvSpPr>
          <p:cNvPr id="68" name="Text 66"/>
          <p:cNvSpPr/>
          <p:nvPr/>
        </p:nvSpPr>
        <p:spPr>
          <a:xfrm>
            <a:off x="1965960" y="437083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392B">
                    <a:alpha val="4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$1.7M+ total mobilized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486400" y="1737360"/>
            <a:ext cx="3291840" cy="3200400"/>
          </a:xfrm>
          <a:prstGeom prst="roundRect">
            <a:avLst>
              <a:gd name="adj" fmla="val 2857"/>
            </a:avLst>
          </a:prstGeom>
          <a:solidFill>
            <a:srgbClr val="080210"/>
          </a:solidFill>
          <a:ln w="19050">
            <a:solidFill>
              <a:srgbClr val="C0392B">
                <a:alpha val="8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5486400" y="187452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5486400" y="2176272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C0392B">
                    <a:alpha val="94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$1.7M+</a:t>
            </a:r>
            <a:endParaRPr lang="en-US" sz="7200" dirty="0"/>
          </a:p>
        </p:txBody>
      </p:sp>
      <p:sp>
        <p:nvSpPr>
          <p:cNvPr id="72" name="Text 70"/>
          <p:cNvSpPr/>
          <p:nvPr/>
        </p:nvSpPr>
        <p:spPr>
          <a:xfrm>
            <a:off x="5486400" y="33101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strategic event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5760720" y="3675888"/>
            <a:ext cx="2743200" cy="0"/>
          </a:xfrm>
          <a:prstGeom prst="line">
            <a:avLst/>
          </a:prstGeom>
          <a:noFill/>
          <a:ln w="6350">
            <a:solidFill>
              <a:srgbClr val="C0392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5623560" y="3767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time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7406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$50K–$200K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5623560" y="405993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counsel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7406640" y="405993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$25K–$150K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5623560" y="43525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at risk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7406640" y="435254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$50K–$500K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623560" y="464515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/ penalties</a:t>
            </a:r>
            <a:endParaRPr lang="en-US" sz="1000" dirty="0"/>
          </a:p>
        </p:txBody>
      </p:sp>
      <p:sp>
        <p:nvSpPr>
          <p:cNvPr id="81" name="Text 79"/>
          <p:cNvSpPr/>
          <p:nvPr/>
        </p:nvSpPr>
        <p:spPr>
          <a:xfrm>
            <a:off x="7406640" y="46451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Uncapped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48640" y="47548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F8F7F4">
                    <a:alpha val="7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cycle repeats 15–20 times every year in any enterprise — across 180 documented strategic situations. Every single one an unscripted improvisation.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enterprise.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year.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exceptions.</a:t>
            </a:r>
            <a:endParaRPr lang="en-US" sz="3400" dirty="0"/>
          </a:p>
        </p:txBody>
      </p:sp>
      <p:sp>
        <p:nvSpPr>
          <p:cNvPr id="40" name="Shape 38"/>
          <p:cNvSpPr/>
          <p:nvPr/>
        </p:nvSpPr>
        <p:spPr>
          <a:xfrm>
            <a:off x="502920" y="2176272"/>
            <a:ext cx="3749040" cy="2606040"/>
          </a:xfrm>
          <a:prstGeom prst="roundRect">
            <a:avLst>
              <a:gd name="adj" fmla="val 3509"/>
            </a:avLst>
          </a:prstGeom>
          <a:solidFill>
            <a:srgbClr val="080D20"/>
          </a:solidFill>
          <a:ln w="19050">
            <a:solidFill>
              <a:srgbClr val="C9A84C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02920" y="228600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ADDRESSABLE MARKET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02920" y="2542032"/>
            <a:ext cx="3749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C9A84C">
                    <a:alpha val="9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$7B+</a:t>
            </a:r>
            <a:endParaRPr lang="en-US" sz="9000" dirty="0"/>
          </a:p>
        </p:txBody>
      </p:sp>
      <p:sp>
        <p:nvSpPr>
          <p:cNvPr id="43" name="Text 41"/>
          <p:cNvSpPr/>
          <p:nvPr/>
        </p:nvSpPr>
        <p:spPr>
          <a:xfrm>
            <a:off x="50292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8F7F4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Core pricing alone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77240" y="3968496"/>
            <a:ext cx="3200400" cy="0"/>
          </a:xfrm>
          <a:prstGeom prst="line">
            <a:avLst/>
          </a:prstGeom>
          <a:noFill/>
          <a:ln w="6350">
            <a:solidFill>
              <a:srgbClr val="C9A84C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40080" y="40599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47,000 enterprises ($100M+ revenue)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200400" y="40599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$150K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40080" y="43708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strategic situations annually (conservative: 4–6)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200400" y="437083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compounding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617720" y="502920"/>
            <a:ext cx="416052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2700">
            <a:solidFill>
              <a:srgbClr val="C0392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4617720" y="576072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0392B">
                    <a:alpha val="9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15–20</a:t>
            </a:r>
            <a:endParaRPr lang="en-US" sz="4800" dirty="0"/>
          </a:p>
        </p:txBody>
      </p:sp>
      <p:sp>
        <p:nvSpPr>
          <p:cNvPr id="51" name="Text 49"/>
          <p:cNvSpPr/>
          <p:nvPr/>
        </p:nvSpPr>
        <p:spPr>
          <a:xfrm>
            <a:off x="4617720" y="149047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situations/yr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263640" y="6675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7F4">
                    <a:alpha val="84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per enterprise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617720" y="2039112"/>
            <a:ext cx="416052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2700">
            <a:solidFill>
              <a:srgbClr val="C0392B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617720" y="2112264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0392B">
                    <a:alpha val="9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$10.2M</a:t>
            </a:r>
            <a:endParaRPr lang="en-US" sz="3200" dirty="0"/>
          </a:p>
        </p:txBody>
      </p:sp>
      <p:sp>
        <p:nvSpPr>
          <p:cNvPr id="55" name="Text 53"/>
          <p:cNvSpPr/>
          <p:nvPr/>
        </p:nvSpPr>
        <p:spPr>
          <a:xfrm>
            <a:off x="4617720" y="302666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exposure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263640" y="220370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7F4">
                    <a:alpha val="84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enterprise per year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4617720" y="3575304"/>
            <a:ext cx="416052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2700">
            <a:solidFill>
              <a:srgbClr val="2B8A6E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4617720" y="3648456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B8A6E">
                    <a:alpha val="9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4800" dirty="0"/>
          </a:p>
        </p:txBody>
      </p:sp>
      <p:sp>
        <p:nvSpPr>
          <p:cNvPr id="59" name="Text 57"/>
          <p:cNvSpPr/>
          <p:nvPr/>
        </p:nvSpPr>
        <p:spPr>
          <a:xfrm>
            <a:off x="4617720" y="456285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layer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263640" y="373989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7F4">
                    <a:alpha val="84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 owns this yet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8A6E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OS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if the response was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built before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situation arrived?</a:t>
            </a:r>
            <a:endParaRPr lang="en-US" sz="3400" dirty="0"/>
          </a:p>
        </p:txBody>
      </p:sp>
      <p:sp>
        <p:nvSpPr>
          <p:cNvPr id="40" name="Shape 38"/>
          <p:cNvSpPr/>
          <p:nvPr/>
        </p:nvSpPr>
        <p:spPr>
          <a:xfrm>
            <a:off x="502920" y="2212848"/>
            <a:ext cx="3749040" cy="2651760"/>
          </a:xfrm>
          <a:prstGeom prst="roundRect">
            <a:avLst>
              <a:gd name="adj" fmla="val 3448"/>
            </a:avLst>
          </a:prstGeom>
          <a:solidFill>
            <a:srgbClr val="020F0A"/>
          </a:solidFill>
          <a:ln w="25400">
            <a:solidFill>
              <a:srgbClr val="2B8A6E">
                <a:alpha val="92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94360" y="2395728"/>
            <a:ext cx="1600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0392B">
                    <a:alpha val="8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days</a:t>
            </a:r>
            <a:endParaRPr lang="en-US" sz="3000" dirty="0"/>
          </a:p>
        </p:txBody>
      </p:sp>
      <p:sp>
        <p:nvSpPr>
          <p:cNvPr id="42" name="Shape 40"/>
          <p:cNvSpPr/>
          <p:nvPr/>
        </p:nvSpPr>
        <p:spPr>
          <a:xfrm>
            <a:off x="2212848" y="2633472"/>
            <a:ext cx="201168" cy="0"/>
          </a:xfrm>
          <a:prstGeom prst="line">
            <a:avLst/>
          </a:prstGeom>
          <a:noFill/>
          <a:ln w="19050">
            <a:solidFill>
              <a:srgbClr val="C9A84C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450592" y="239572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8A6E">
                    <a:alpha val="9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min</a:t>
            </a:r>
            <a:endParaRPr lang="en-US" sz="3000" dirty="0"/>
          </a:p>
        </p:txBody>
      </p:sp>
      <p:sp>
        <p:nvSpPr>
          <p:cNvPr id="44" name="Text 42"/>
          <p:cNvSpPr/>
          <p:nvPr/>
        </p:nvSpPr>
        <p:spPr>
          <a:xfrm>
            <a:off x="502920" y="30358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9A84C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3,600× Execution Head Start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502920" y="3401568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8F7F4">
                    <a:alpha val="78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the situation arrives — The Response Is Ready Before the Trigger Fires.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685800" y="3895344"/>
            <a:ext cx="3383280" cy="0"/>
          </a:xfrm>
          <a:prstGeom prst="line">
            <a:avLst/>
          </a:prstGeom>
          <a:noFill/>
          <a:ln w="6350">
            <a:solidFill>
              <a:srgbClr val="2B8A6E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94360" y="396849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594360" y="4315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F7F4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Protocols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1508760" y="396849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231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1508760" y="4315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F7F4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423160" y="396849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55+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2423160" y="4315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F7F4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3337560" y="396849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min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3337560" y="4315968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8F7F4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4572000" y="2267712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663440" y="23408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047488" y="231343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every situation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5047488" y="254203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protocols · 9 domains · 210 total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4572000" y="2852928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663440" y="2926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047488" y="289864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threshold</a:t>
            </a:r>
            <a:endParaRPr lang="en-US" sz="1300" dirty="0"/>
          </a:p>
        </p:txBody>
      </p:sp>
      <p:sp>
        <p:nvSpPr>
          <p:cNvPr id="62" name="Text 60"/>
          <p:cNvSpPr/>
          <p:nvPr/>
        </p:nvSpPr>
        <p:spPr>
          <a:xfrm>
            <a:off x="5047488" y="312724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 triggers · 39 live sources · 15-min cycles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4572000" y="3438144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4663440" y="35112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047488" y="348386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executive choices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047488" y="37124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· Adjust · Switch · Stand down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4572000" y="4023360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4663440" y="40965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5047488" y="40690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through your stack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5047488" y="42976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55+ connectors · Microsoft, Salesforce, ServiceNow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4572000" y="4608576"/>
            <a:ext cx="4206240" cy="493776"/>
          </a:xfrm>
          <a:prstGeom prst="roundRect">
            <a:avLst>
              <a:gd name="adj" fmla="val 11111"/>
            </a:avLst>
          </a:prstGeom>
          <a:solidFill>
            <a:srgbClr val="080D20"/>
          </a:solidFill>
          <a:ln w="6350">
            <a:solidFill>
              <a:srgbClr val="2B8A6E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663440" y="4681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73" name="Text 71"/>
          <p:cNvSpPr/>
          <p:nvPr/>
        </p:nvSpPr>
        <p:spPr>
          <a:xfrm>
            <a:off x="5047488" y="465429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every learning</a:t>
            </a:r>
            <a:endParaRPr lang="en-US" sz="1300" dirty="0"/>
          </a:p>
        </p:txBody>
      </p:sp>
      <p:sp>
        <p:nvSpPr>
          <p:cNvPr id="74" name="Text 72"/>
          <p:cNvSpPr/>
          <p:nvPr/>
        </p:nvSpPr>
        <p:spPr>
          <a:xfrm>
            <a:off x="5047488" y="488289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7F4">
                    <a:alpha val="5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loop — smarter after every activation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8A6E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BREADTH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point solution.  </a:t>
            </a:r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operating model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every strategic situation.</a:t>
            </a:r>
            <a:endParaRPr lang="en-US" sz="260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85216" y="2011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Strategy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761488" y="201168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761488" y="20116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85216" y="23225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M&amp;A · activist defense · distressed asset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383280" y="192024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511296" y="2011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Dynamics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687568" y="201168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687568" y="20116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511296" y="23225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disruption · pricing · market entry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309360" y="192024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6437376" y="2011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Excellence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613648" y="201168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8613648" y="201168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37376" y="232257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collapse · ERP failure · capacity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292608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85216" y="3017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&amp; Innovation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761488" y="301752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2761488" y="30175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85216" y="33284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 · cyber breach · AI disruption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383280" y="292608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511296" y="3017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687568" y="301752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5687568" y="30175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511296" y="33284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incident · algorithmic failure · bias event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6309360" y="292608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6437376" y="30175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Opportunities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613648" y="301752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8613648" y="301752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437376" y="332841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 entry · partnership · acquisition sprint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57200" y="393192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585216" y="4023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&amp; Reputation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2761488" y="402336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2761488" y="40233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85216" y="433425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crisis · product recall · misconduct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3383280" y="393192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3511296" y="4023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&amp; Compliance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687568" y="402336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5687568" y="40233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3511296" y="433425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federal inquiry · GDPR · SEC investigation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6309360" y="3931920"/>
            <a:ext cx="2788920" cy="868680"/>
          </a:xfrm>
          <a:prstGeom prst="roundRect">
            <a:avLst>
              <a:gd name="adj" fmla="val 7368"/>
            </a:avLst>
          </a:prstGeom>
          <a:solidFill>
            <a:srgbClr val="080D20"/>
          </a:solidFill>
          <a:ln w="6350">
            <a:solidFill>
              <a:srgbClr val="C9A84C">
                <a:alpha val="3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1" name="Text 79"/>
          <p:cNvSpPr/>
          <p:nvPr/>
        </p:nvSpPr>
        <p:spPr>
          <a:xfrm>
            <a:off x="6437376" y="40233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 &amp; Leadership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8613648" y="4023360"/>
            <a:ext cx="365760" cy="219456"/>
          </a:xfrm>
          <a:prstGeom prst="roundRect">
            <a:avLst>
              <a:gd name="adj" fmla="val 16667"/>
            </a:avLst>
          </a:prstGeom>
          <a:solidFill>
            <a:srgbClr val="2B8A6E">
              <a:alpha val="75000"/>
            </a:srgbClr>
          </a:solidFill>
          <a:ln w="12700">
            <a:solidFill>
              <a:srgbClr val="2B8A6E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8613648" y="4023360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6437376" y="4334256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F7F4">
                    <a:alpha val="5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C-suite departure · succession · mass resignation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457200" y="4709160"/>
            <a:ext cx="8321040" cy="320040"/>
          </a:xfrm>
          <a:prstGeom prst="roundRect">
            <a:avLst>
              <a:gd name="adj" fmla="val 14286"/>
            </a:avLst>
          </a:prstGeom>
          <a:solidFill>
            <a:srgbClr val="0A0C1A"/>
          </a:solidFill>
          <a:ln w="10160">
            <a:solidFill>
              <a:srgbClr val="C9A84C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57200" y="4709160"/>
            <a:ext cx="8321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core  ·  </a:t>
            </a:r>
            <a:pPr algn="ctr" indent="0" marL="0">
              <a:buNone/>
            </a:pPr>
            <a:r>
              <a:rPr lang="en-US" sz="11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compound cross-domain  ·  </a:t>
            </a:r>
            <a:pPr algn="ctr" indent="0" marL="0">
              <a:buNone/>
            </a:pPr>
            <a:r>
              <a:rPr lang="en-US" sz="1100" dirty="0">
                <a:solidFill>
                  <a:srgbClr val="F8F7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210 total  ·  </a:t>
            </a:r>
            <a:pPr algn="ctr" indent="0" marL="0">
              <a:buNone/>
            </a:pPr>
            <a:r>
              <a:rPr lang="en-US" sz="11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strategic domains  ·  </a:t>
            </a:r>
            <a:pPr algn="ctr" indent="0" marL="0">
              <a:buNone/>
            </a:pPr>
            <a:r>
              <a:rPr lang="en-US" sz="1100" b="1" dirty="0">
                <a:solidFill>
                  <a:srgbClr val="2B8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trigger your enterprise will ever face.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9A84C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POSITIONING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4754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spent $13B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proving this category exists.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left the response layer empty.</a:t>
            </a:r>
            <a:endParaRPr lang="en-US" sz="2600" dirty="0"/>
          </a:p>
        </p:txBody>
      </p:sp>
      <p:sp>
        <p:nvSpPr>
          <p:cNvPr id="40" name="Shape 38"/>
          <p:cNvSpPr/>
          <p:nvPr/>
        </p:nvSpPr>
        <p:spPr>
          <a:xfrm>
            <a:off x="502920" y="2395728"/>
            <a:ext cx="4206240" cy="713232"/>
          </a:xfrm>
          <a:prstGeom prst="roundRect">
            <a:avLst>
              <a:gd name="adj" fmla="val 8974"/>
            </a:avLst>
          </a:prstGeom>
          <a:solidFill>
            <a:srgbClr val="060D22"/>
          </a:solidFill>
          <a:ln w="10160">
            <a:solidFill>
              <a:srgbClr val="1565C0">
                <a:alpha val="6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94360" y="246888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FULL STACK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94360" y="2706624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 ·  Teams  ·  Copilot  ·  SharePoint  ·  Entra  ·  Power Platform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606040" y="3108960"/>
            <a:ext cx="0" cy="128016"/>
          </a:xfrm>
          <a:prstGeom prst="line">
            <a:avLst/>
          </a:prstGeom>
          <a:noFill/>
          <a:ln w="15240">
            <a:solidFill>
              <a:srgbClr val="C9A84C">
                <a:alpha val="5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502920" y="3236976"/>
            <a:ext cx="4206240" cy="713232"/>
          </a:xfrm>
          <a:prstGeom prst="roundRect">
            <a:avLst>
              <a:gd name="adj" fmla="val 8974"/>
            </a:avLst>
          </a:prstGeom>
          <a:solidFill>
            <a:srgbClr val="060D22"/>
          </a:solidFill>
          <a:ln w="10160">
            <a:solidFill>
              <a:srgbClr val="1565C0">
                <a:alpha val="6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94360" y="331012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AI EXECUTION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94360" y="354787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 whether the AI tool can run a task. Does not govern who responds or when.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2606040" y="3950208"/>
            <a:ext cx="0" cy="128016"/>
          </a:xfrm>
          <a:prstGeom prst="line">
            <a:avLst/>
          </a:prstGeom>
          <a:noFill/>
          <a:ln w="15240">
            <a:solidFill>
              <a:srgbClr val="C9A84C">
                <a:alpha val="5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502920" y="4078224"/>
            <a:ext cx="4206240" cy="713232"/>
          </a:xfrm>
          <a:prstGeom prst="roundRect">
            <a:avLst>
              <a:gd name="adj" fmla="val 8974"/>
            </a:avLst>
          </a:prstGeom>
          <a:solidFill>
            <a:srgbClr val="0D0820"/>
          </a:solidFill>
          <a:ln w="2540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594360" y="4151376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READINESS OS — UNCLAIMED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594360" y="4389120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8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Governs: When situation presents itself — who does what, in 12 minutes? Pre-staged. Already built.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029200" y="502920"/>
            <a:ext cx="379476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0160">
            <a:solidFill>
              <a:srgbClr val="4A9EE8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5029200" y="594360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A9EE8">
                    <a:alpha val="9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$13B</a:t>
            </a:r>
            <a:endParaRPr lang="en-US" sz="3000" dirty="0"/>
          </a:p>
        </p:txBody>
      </p:sp>
      <p:sp>
        <p:nvSpPr>
          <p:cNvPr id="53" name="Text 51"/>
          <p:cNvSpPr/>
          <p:nvPr/>
        </p:nvSpPr>
        <p:spPr>
          <a:xfrm>
            <a:off x="6172200" y="594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validated the market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172200" y="905256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$13B invested in Azure OpenAI + Copilot proves enterprises will buy AI infrastructure. The orchestration layer is proven. The response layer is not.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9200" y="2039112"/>
            <a:ext cx="379476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0160">
            <a:solidFill>
              <a:srgbClr val="C9A84C">
                <a:alpha val="6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029200" y="2130552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84C">
                    <a:alpha val="9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47K</a:t>
            </a:r>
            <a:endParaRPr lang="en-US" sz="3000" dirty="0"/>
          </a:p>
        </p:txBody>
      </p:sp>
      <p:sp>
        <p:nvSpPr>
          <p:cNvPr id="57" name="Text 55"/>
          <p:cNvSpPr/>
          <p:nvPr/>
        </p:nvSpPr>
        <p:spPr>
          <a:xfrm>
            <a:off x="6172200" y="213055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distribution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172200" y="2441448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Microsoft enterprise customer is a Readiness OS prospect. We sit above their stack — not beside it.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029200" y="3575304"/>
            <a:ext cx="3794760" cy="1389888"/>
          </a:xfrm>
          <a:prstGeom prst="roundRect">
            <a:avLst>
              <a:gd name="adj" fmla="val 5263"/>
            </a:avLst>
          </a:prstGeom>
          <a:solidFill>
            <a:srgbClr val="080D20"/>
          </a:solidFill>
          <a:ln w="10160">
            <a:solidFill>
              <a:srgbClr val="2B8A6E">
                <a:alpha val="8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5029200" y="3666744"/>
            <a:ext cx="1097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B8A6E">
                    <a:alpha val="90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</a:t>
            </a:r>
            <a:endParaRPr lang="en-US" sz="3000" dirty="0"/>
          </a:p>
        </p:txBody>
      </p:sp>
      <p:sp>
        <p:nvSpPr>
          <p:cNvPr id="61" name="Text 59"/>
          <p:cNvSpPr/>
          <p:nvPr/>
        </p:nvSpPr>
        <p:spPr>
          <a:xfrm>
            <a:off x="6172200" y="36667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mover wins the category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6172200" y="39776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vendor owns strategic response coordination. The category does not yet exist as a budget line. We name it. We own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371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286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00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114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029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943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77724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457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914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1371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1828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0" y="2286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0" y="2743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0" y="3200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0" y="36576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0" y="45720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0" y="50292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0" y="5486400"/>
            <a:ext cx="9144000" cy="0"/>
          </a:xfrm>
          <a:prstGeom prst="line">
            <a:avLst/>
          </a:prstGeom>
          <a:noFill/>
          <a:ln w="3810">
            <a:solidFill>
              <a:srgbClr val="C9A84C">
                <a:alpha val="7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8503920" y="201168"/>
            <a:ext cx="365760" cy="365760"/>
          </a:xfrm>
          <a:prstGeom prst="ellipse">
            <a:avLst/>
          </a:prstGeom>
          <a:solidFill>
            <a:srgbClr val="0A0F2E"/>
          </a:solidFill>
          <a:ln w="19050">
            <a:solidFill>
              <a:srgbClr val="C9A84C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8503920" y="20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25603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B8A6E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48640" y="566928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8F7F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competitor can copy
the platform.
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cannot copy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learns.</a:t>
            </a:r>
            <a:endParaRPr lang="en-US" sz="3000" dirty="0"/>
          </a:p>
        </p:txBody>
      </p:sp>
      <p:sp>
        <p:nvSpPr>
          <p:cNvPr id="40" name="Shape 38"/>
          <p:cNvSpPr/>
          <p:nvPr/>
        </p:nvSpPr>
        <p:spPr>
          <a:xfrm>
            <a:off x="502920" y="2944368"/>
            <a:ext cx="4206240" cy="1920240"/>
          </a:xfrm>
          <a:prstGeom prst="roundRect">
            <a:avLst>
              <a:gd name="adj" fmla="val 4762"/>
            </a:avLst>
          </a:prstGeom>
          <a:solidFill>
            <a:srgbClr val="080D20"/>
          </a:solidFill>
          <a:ln w="12700">
            <a:solidFill>
              <a:srgbClr val="2B8A6E">
                <a:alpha val="7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02920" y="301752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B8A6E">
                    <a:alpha val="7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ADVANCE LOOP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40080" y="3291840"/>
            <a:ext cx="777240" cy="777240"/>
          </a:xfrm>
          <a:prstGeom prst="ellipse">
            <a:avLst/>
          </a:prstGeom>
          <a:solidFill>
            <a:srgbClr val="0A0C1A"/>
          </a:solidFill>
          <a:ln w="19050">
            <a:solidFill>
              <a:srgbClr val="C0392B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40080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1435608" y="3675888"/>
            <a:ext cx="182880" cy="0"/>
          </a:xfrm>
          <a:prstGeom prst="line">
            <a:avLst/>
          </a:prstGeom>
          <a:noFill/>
          <a:ln w="1524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66928" y="41330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0392B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627632" y="3291840"/>
            <a:ext cx="777240" cy="777240"/>
          </a:xfrm>
          <a:prstGeom prst="ellipse">
            <a:avLst/>
          </a:prstGeom>
          <a:solidFill>
            <a:srgbClr val="0A0C1A"/>
          </a:solidFill>
          <a:ln w="19050">
            <a:solidFill>
              <a:srgbClr val="C9A84C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627632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2423160" y="3675888"/>
            <a:ext cx="182880" cy="0"/>
          </a:xfrm>
          <a:prstGeom prst="line">
            <a:avLst/>
          </a:prstGeom>
          <a:noFill/>
          <a:ln w="1524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554480" y="41330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9A84C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615184" y="3291840"/>
            <a:ext cx="777240" cy="777240"/>
          </a:xfrm>
          <a:prstGeom prst="ellipse">
            <a:avLst/>
          </a:prstGeom>
          <a:solidFill>
            <a:srgbClr val="0A0C1A"/>
          </a:solidFill>
          <a:ln w="19050">
            <a:solidFill>
              <a:srgbClr val="C9A84C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615184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9A8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3410712" y="3675888"/>
            <a:ext cx="182880" cy="0"/>
          </a:xfrm>
          <a:prstGeom prst="line">
            <a:avLst/>
          </a:prstGeom>
          <a:noFill/>
          <a:ln w="15240">
            <a:solidFill>
              <a:srgbClr val="C9A84C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2542032" y="41330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A84C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Close-out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C9A84C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602736" y="3291840"/>
            <a:ext cx="777240" cy="777240"/>
          </a:xfrm>
          <a:prstGeom prst="ellipse">
            <a:avLst/>
          </a:prstGeom>
          <a:solidFill>
            <a:srgbClr val="0A0C1A"/>
          </a:solidFill>
          <a:ln w="19050">
            <a:solidFill>
              <a:srgbClr val="2B8A6E">
                <a:alpha val="8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3602736" y="32918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8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56" name="Text 54"/>
          <p:cNvSpPr/>
          <p:nvPr/>
        </p:nvSpPr>
        <p:spPr>
          <a:xfrm>
            <a:off x="3529584" y="4133088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B8A6E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2B8A6E">
                    <a:alpha val="8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encoded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594360" y="4681728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2B8A6E">
                    <a:alpha val="7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Each cycle — the protocol improves. The moat widens.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5029200" y="502920"/>
            <a:ext cx="3794760" cy="987552"/>
          </a:xfrm>
          <a:prstGeom prst="roundRect">
            <a:avLst>
              <a:gd name="adj" fmla="val 6481"/>
            </a:avLst>
          </a:prstGeom>
          <a:solidFill>
            <a:srgbClr val="080D20"/>
          </a:solidFill>
          <a:ln w="7620">
            <a:solidFill>
              <a:srgbClr val="C9A84C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5138928" y="594360"/>
            <a:ext cx="3584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activation improves the protocol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138928" y="886968"/>
            <a:ext cx="3584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 activations: proven or disproven. What held under pressure gets encoded. What failed gets corrected.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029200" y="1618488"/>
            <a:ext cx="3794760" cy="987552"/>
          </a:xfrm>
          <a:prstGeom prst="roundRect">
            <a:avLst>
              <a:gd name="adj" fmla="val 6481"/>
            </a:avLst>
          </a:prstGeom>
          <a:solidFill>
            <a:srgbClr val="080D20"/>
          </a:solidFill>
          <a:ln w="7620">
            <a:solidFill>
              <a:srgbClr val="2B8A6E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5138928" y="1709928"/>
            <a:ext cx="3584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memory compounds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5138928" y="2002536"/>
            <a:ext cx="3584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protocols start generic. After 12 months they reflect your specific risk profile, stakeholder map, decision patterns.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29200" y="2734056"/>
            <a:ext cx="3794760" cy="987552"/>
          </a:xfrm>
          <a:prstGeom prst="roundRect">
            <a:avLst>
              <a:gd name="adj" fmla="val 6481"/>
            </a:avLst>
          </a:prstGeom>
          <a:solidFill>
            <a:srgbClr val="080D20"/>
          </a:solidFill>
          <a:ln w="7620">
            <a:solidFill>
              <a:srgbClr val="2B8A6E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5138928" y="2825496"/>
            <a:ext cx="3584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moat widens with every client</a:t>
            </a:r>
            <a:endParaRPr lang="en-US" sz="1200" dirty="0"/>
          </a:p>
        </p:txBody>
      </p:sp>
      <p:sp>
        <p:nvSpPr>
          <p:cNvPr id="66" name="Text 64"/>
          <p:cNvSpPr/>
          <p:nvPr/>
        </p:nvSpPr>
        <p:spPr>
          <a:xfrm>
            <a:off x="5138928" y="3118104"/>
            <a:ext cx="3584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tier: protocols improve across every client's activations. A competitor who starts today cannot close the gap.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029200" y="3849624"/>
            <a:ext cx="3794760" cy="987552"/>
          </a:xfrm>
          <a:prstGeom prst="roundRect">
            <a:avLst>
              <a:gd name="adj" fmla="val 6481"/>
            </a:avLst>
          </a:prstGeom>
          <a:solidFill>
            <a:srgbClr val="080D20"/>
          </a:solidFill>
          <a:ln w="7620">
            <a:solidFill>
              <a:srgbClr val="C9A84C">
                <a:alpha val="48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5138928" y="3941064"/>
            <a:ext cx="3584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7F4">
                    <a:alpha val="9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can copy Day 1</a:t>
            </a:r>
            <a:endParaRPr lang="en-US" sz="1200" dirty="0"/>
          </a:p>
        </p:txBody>
      </p:sp>
      <p:sp>
        <p:nvSpPr>
          <p:cNvPr id="69" name="Text 67"/>
          <p:cNvSpPr/>
          <p:nvPr/>
        </p:nvSpPr>
        <p:spPr>
          <a:xfrm>
            <a:off x="5138928" y="4233672"/>
            <a:ext cx="35844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8F7F4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cannot copy Day 365. The institutional memory encoded from every activation is the defensibility no spec can replicate.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74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9260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"/>
              </a:rPr>
              <a:t>THIRD-PARTY VALIDATION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694944"/>
            <a:ext cx="8503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04672"/>
            <a:ext cx="914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0" i="0">
                <a:solidFill>
                  <a:srgbClr val="C9A84C"/>
                </a:solidFill>
                <a:latin typeface="Georgia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88720"/>
            <a:ext cx="7543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FFFFFF"/>
                </a:solidFill>
                <a:latin typeface="Georgia"/>
              </a:rPr>
              <a:t>Martin is building the architecture that makes clarity possible before pressure arrives.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926080"/>
            <a:ext cx="34747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03580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Barlow"/>
              </a:rPr>
              <a:t>DR. KERRY HUANG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4015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  <a:latin typeface="Barlow"/>
              </a:rPr>
              <a:t>Fortune 50 AVP  ·  ESI Top 1% Researcher  ·  Forbes Business Council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94176"/>
            <a:ext cx="6400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77788"/>
                </a:solidFill>
                <a:latin typeface="Barlow"/>
              </a:rPr>
              <a:t>408-firm study basis  ·  4 weeks of direct platform review  ·  Public repost · April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4114800"/>
            <a:ext cx="9144000" cy="102870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206240"/>
            <a:ext cx="74980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An independent Fortune 50 operator — with no commercial relationship — spent 4 weeks reviewing the platform and staked her professional reputation on a public endorsement. That is not a customer quote. That is external validation of the thesis.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7432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926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"/>
              </a:rPr>
              <a:t>EARLY MOMENTUM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694944"/>
            <a:ext cx="8503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8229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eorgia"/>
              </a:rPr>
              <a:t>Not a concept. A live system with early validation.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600200"/>
            <a:ext cx="4160520" cy="12344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600200"/>
            <a:ext cx="45720" cy="123444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" y="1700784"/>
            <a:ext cx="39959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Barlow"/>
              </a:rPr>
              <a:t>PRODUCT — 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" y="1929384"/>
            <a:ext cx="3995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eorgia"/>
              </a:rPr>
              <a:t>vaughnmartin.com is operational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" y="2240280"/>
            <a:ext cx="39959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180 Readiness Protocols staged · 231 triggers monitored · Live signal pipeline every 15 min · Production infrastructure, not a prototype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1600200"/>
            <a:ext cx="4160520" cy="12344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7720" y="1600200"/>
            <a:ext cx="45720" cy="1234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1700784"/>
            <a:ext cx="39959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THIRD-PARTY 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1929384"/>
            <a:ext cx="3995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eorgia"/>
              </a:rPr>
              <a:t>Dr. Kerry Huang · Fortune 50 AVP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4" y="2240280"/>
            <a:ext cx="39959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ESI Top 1% researcher · Forbes Business Council · 408-firm study · 4 weeks direct platform review · Public repost April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2926080"/>
            <a:ext cx="4160520" cy="12344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2926080"/>
            <a:ext cx="45720" cy="123444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" y="3026664"/>
            <a:ext cx="39959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Barlow"/>
              </a:rPr>
              <a:t>ENTERPRISE CONVERSATIONS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" y="3255264"/>
            <a:ext cx="3995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eorgia"/>
              </a:rPr>
              <a:t>2 Founding Partner discussions active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" y="3566160"/>
            <a:ext cx="39959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$150K–$450K ACV range · Enterprise-caliber prospects · Inbound-initiated conversations · Founding Partner Program structure in place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17720" y="2926080"/>
            <a:ext cx="4160520" cy="123444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17720" y="2926080"/>
            <a:ext cx="45720" cy="1234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18304" y="3026664"/>
            <a:ext cx="399592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CATEGORY CONFIRMATION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4" y="3255264"/>
            <a:ext cx="3995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Georgia"/>
              </a:rPr>
              <a:t>Microsoft $13B confirms the layer exists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18304" y="3566160"/>
            <a:ext cx="399592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47,000 enterprise Copilot deployments with no coordination infrastructure above them · Zero direct competitors in Readiness Infrastructure · White space confirmed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472" y="4224528"/>
            <a:ext cx="8503920" cy="10972"/>
          </a:xfrm>
          <a:prstGeom prst="rect">
            <a:avLst/>
          </a:prstGeom>
          <a:solidFill>
            <a:srgbClr val="77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7472" y="427939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77788"/>
                </a:solidFill>
                <a:latin typeface="Barlow"/>
              </a:rPr>
              <a:t>vaughnmartin.com · founding@vaughnmartin.com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7432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926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"/>
              </a:rPr>
              <a:t>THE FOUNDER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694944"/>
            <a:ext cx="8503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822960"/>
            <a:ext cx="49377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orgia"/>
              </a:rPr>
              <a:t>Martin Brunke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62763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A84C"/>
                </a:solidFill>
                <a:latin typeface="Barlow"/>
              </a:rPr>
              <a:t>Founder &amp; CEO  ·  VaughnMartin  ·  Readiness 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2011680"/>
            <a:ext cx="2377440" cy="1463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2130552"/>
            <a:ext cx="4754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THE ORIGIN OF THE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" y="2395728"/>
            <a:ext cx="4754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  <a:latin typeface="Barlow"/>
              </a:rPr>
              <a:t>Five years on the Stanford Cardinal sideline. 60–80 decisions in 3 hours. Every response pre-staged before the game started. When the situation changed at the line of scrimmage — no timeout, no alignment cycle. Eleven people pivoted in 40 seconds because the system was built before the pressure arrived. Then I walked into corporate America and watched the same trigger take 30 days.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3456432"/>
            <a:ext cx="4754880" cy="12801"/>
          </a:xfrm>
          <a:prstGeom prst="rect">
            <a:avLst/>
          </a:prstGeom>
          <a:solidFill>
            <a:srgbClr val="77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3584448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"/>
              </a:rPr>
              <a:t>20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8448" y="3584448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inside enterprise mobilization at Ford, Lockheed, Toyota, Schwab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922776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"/>
              </a:rPr>
              <a:t>Built &amp; live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3922776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180 protocols · 231 triggers · live signal pipeline · production-grade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" y="4261104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"/>
              </a:rPr>
              <a:t>Category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8448" y="426110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Readiness Infrastructure — the operating model layer above Microsoft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30368" y="804672"/>
            <a:ext cx="3566160" cy="376732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30368" y="804672"/>
            <a:ext cx="45720" cy="37673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960120"/>
            <a:ext cx="32186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THIRD-PARTY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1261872"/>
            <a:ext cx="3200400" cy="1280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1389888"/>
            <a:ext cx="3218688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Georgia"/>
              </a:rPr>
              <a:t>"Martin is building the architecture that makes clarity possible before pressure arrives."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2852928"/>
            <a:ext cx="32186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"/>
              </a:rPr>
              <a:t>DR. KERRY HUANG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3136392"/>
            <a:ext cx="321868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Fortune 50 AVP · ESI Top 1% Researcher
Forbes Business Council · 408-firm study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3639312"/>
            <a:ext cx="32186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777788"/>
                </a:solidFill>
                <a:latin typeface="Barlow"/>
              </a:rPr>
              <a:t>Public repost · April 2026 · 4 weeks direct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4224528"/>
            <a:ext cx="8503920" cy="10972"/>
          </a:xfrm>
          <a:prstGeom prst="rect">
            <a:avLst/>
          </a:prstGeom>
          <a:solidFill>
            <a:srgbClr val="77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7472" y="427939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77788"/>
                </a:solidFill>
                <a:latin typeface="Barlow"/>
              </a:rPr>
              <a:t>vaughnmartin.com · founding@vaughnmartin.com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274320"/>
            <a:ext cx="502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9A84C"/>
                </a:solidFill>
                <a:latin typeface="Georgia"/>
              </a:rPr>
              <a:t>VM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926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"/>
              </a:rPr>
              <a:t>THE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694944"/>
            <a:ext cx="8503920" cy="1645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8229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Pre-Seed Round  ·  Closing Q3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536192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C9A84C"/>
                </a:solidFill>
                <a:latin typeface="Georgia"/>
              </a:rPr>
              <a:t>$750,000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242316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CCCCC"/>
                </a:solidFill>
                <a:latin typeface="Barlow"/>
              </a:rPr>
              <a:t>SAFE  ·  $8M post-money cap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2816352"/>
            <a:ext cx="3474720" cy="1463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2944368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C9A84C"/>
                </a:solidFill>
                <a:latin typeface="Barlow"/>
              </a:rPr>
              <a:t>USE OF FUNDS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" y="323697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Barlow"/>
              </a:rPr>
              <a:t>Enterprise Sales Hire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3236976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54096" y="3236976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77788"/>
                </a:solidFill>
                <a:latin typeface="Barlow"/>
              </a:rPr>
              <a:t>$375K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" y="357530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Barlow"/>
              </a:rPr>
              <a:t>GTM &amp; Demo Infrastructure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3160" y="3575304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"/>
              </a:rPr>
              <a:t>25%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54096" y="3575304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77788"/>
                </a:solidFill>
                <a:latin typeface="Barlow"/>
              </a:rPr>
              <a:t>$188K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39136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  <a:latin typeface="Barlow"/>
              </a:rPr>
              <a:t>Runway &amp; Operations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3160" y="3913632"/>
            <a:ext cx="594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"/>
              </a:rP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3913632"/>
            <a:ext cx="777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77788"/>
                </a:solidFill>
                <a:latin typeface="Barlow"/>
              </a:rPr>
              <a:t>$187K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804672"/>
            <a:ext cx="4059936" cy="376732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804672"/>
            <a:ext cx="45720" cy="376732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9472" y="96012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B8A6E"/>
                </a:solidFill>
                <a:latin typeface="Barlow"/>
              </a:rPr>
              <a:t>WHAT THIS UNLOCKS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1261872"/>
            <a:ext cx="3566160" cy="12801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1417320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Runway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141732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18 months to close Founding Partners and reach ARR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19472" y="1810512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Sales hire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8" y="1810512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Dedicated enterprise rep — the one missing piece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19472" y="2203704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GTM budget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16168" y="2203704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Events, travel, executive briefings at $150K–$450K ACV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2596896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Proof point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16168" y="2596896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3–5 Founding Partners deployed = defensible ARR by Q4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9472" y="2990088"/>
            <a:ext cx="960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"/>
              </a:rPr>
              <a:t>Moat velocity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16168" y="2990088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  <a:latin typeface="Barlow"/>
              </a:rPr>
              <a:t>ADVANCE loop compounds — widens faster with every activation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4224528"/>
            <a:ext cx="8503920" cy="10972"/>
          </a:xfrm>
          <a:prstGeom prst="rect">
            <a:avLst/>
          </a:prstGeom>
          <a:solidFill>
            <a:srgbClr val="7777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4279392"/>
            <a:ext cx="8503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77788"/>
                </a:solidFill>
                <a:latin typeface="Barlow"/>
              </a:rPr>
              <a:t>vaughnmartin.com · founding@vaughnmartin.com · Deck reviewed by appointment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Readiness OS — VaughnMartin</dc:title>
  <dc:subject>PptxGenJS Presentation</dc:subject>
  <dc:creator>Martin Brunke</dc:creator>
  <cp:lastModifiedBy>Martin Brunke</cp:lastModifiedBy>
  <cp:revision>1</cp:revision>
  <dcterms:created xsi:type="dcterms:W3CDTF">2026-06-26T02:09:00Z</dcterms:created>
  <dcterms:modified xsi:type="dcterms:W3CDTF">2026-06-26T02:09:00Z</dcterms:modified>
</cp:coreProperties>
</file>