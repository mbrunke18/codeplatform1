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71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tower-raw.png"/>
          <p:cNvPicPr>
            <a:picLocks noChangeAspect="1"/>
          </p:cNvPicPr>
          <p:nvPr/>
        </p:nvPicPr>
        <p:blipFill>
          <a:blip r:embed="rId2"/>
          <a:srcRect t="-6" b="-6"/>
          <a:stretch>
            <a:fillRect/>
          </a:stretch>
        </p:blipFill>
        <p:spPr>
          <a:xfrm>
            <a:off x="6492240" y="1848137"/>
            <a:ext cx="5458968" cy="3070285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492240" y="1848137"/>
            <a:ext cx="5458968" cy="3070285"/>
          </a:xfrm>
          <a:prstGeom prst="rect">
            <a:avLst/>
          </a:prstGeom>
          <a:noFill/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92240" y="4680678"/>
            <a:ext cx="5458968" cy="237744"/>
          </a:xfrm>
          <a:prstGeom prst="rect">
            <a:avLst/>
          </a:prstGeom>
          <a:solidFill>
            <a:srgbClr val="060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0" y="4744178"/>
            <a:ext cx="527608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9A84C"/>
                </a:solidFill>
                <a:latin typeface="Barlow Condensed"/>
              </a:rPr>
              <a:t>COMMAND TOWER · LIVE SIGNAL MONITORING · PRODUCTION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6364224" y="512064"/>
            <a:ext cx="12700" cy="570585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vm-logo-h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" y="457200"/>
            <a:ext cx="2377440" cy="63841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84048" y="1115568"/>
            <a:ext cx="576072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887850"/>
                </a:solidFill>
                <a:latin typeface="Barlow Condensed"/>
              </a:rPr>
              <a:t>STRATEGIC READINESS PLATFORM · STARTUP TO FORTUNE 500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" y="1408176"/>
            <a:ext cx="5760720" cy="2084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Barlow Condensed"/>
              </a:rPr>
              <a:t>The response is ready
before the trigger fires.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" y="3584448"/>
            <a:ext cx="5760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99A5BB"/>
                </a:solidFill>
                <a:latin typeface="Barlow Condensed"/>
              </a:rPr>
              <a:t>Most enterprises plan to respond.
VaughnMartin is already executing.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84048" y="4553712"/>
            <a:ext cx="5760720" cy="420624"/>
          </a:xfrm>
          <a:prstGeom prst="rect">
            <a:avLst/>
          </a:prstGeom>
          <a:solidFill>
            <a:srgbClr val="182250"/>
          </a:solidFill>
          <a:ln w="10160">
            <a:solidFill>
              <a:srgbClr val="445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3776" y="4642612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9A84C"/>
                </a:solidFill>
                <a:latin typeface="Barlow Condensed"/>
              </a:rPr>
              <a:t>Activist Investor  ·  91% confidence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84048" y="5102352"/>
            <a:ext cx="5760720" cy="420624"/>
          </a:xfrm>
          <a:prstGeom prst="rect">
            <a:avLst/>
          </a:prstGeom>
          <a:solidFill>
            <a:srgbClr val="182250"/>
          </a:solidFill>
          <a:ln w="10160">
            <a:solidFill>
              <a:srgbClr val="445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3776" y="5191252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9A84C"/>
                </a:solidFill>
                <a:latin typeface="Barlow Condensed"/>
              </a:rPr>
              <a:t>Ransomware  ·  95% confidence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84048" y="5650992"/>
            <a:ext cx="5760720" cy="420624"/>
          </a:xfrm>
          <a:prstGeom prst="rect">
            <a:avLst/>
          </a:prstGeom>
          <a:solidFill>
            <a:srgbClr val="182250"/>
          </a:solidFill>
          <a:ln w="10160">
            <a:solidFill>
              <a:srgbClr val="445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3776" y="5739892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9A84C"/>
                </a:solidFill>
                <a:latin typeface="Barlow Condensed"/>
              </a:rPr>
              <a:t>Regulatory Inquiry  ·  87% confidence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254496"/>
            <a:ext cx="12191695" cy="475488"/>
          </a:xfrm>
          <a:prstGeom prst="rect">
            <a:avLst/>
          </a:prstGeom>
          <a:solidFill>
            <a:srgbClr val="0608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6318504"/>
            <a:ext cx="1127455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9A84C"/>
                </a:solidFill>
                <a:latin typeface="Barlow Condensed"/>
              </a:rPr>
              <a:t>AI monitors continuously.   Executives authorize decisively.   Teams execute.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0" y="6455664"/>
            <a:ext cx="10972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445070"/>
                </a:solidFill>
                <a:latin typeface="Calibri"/>
              </a:rPr>
              <a:t>01 / 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71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vm-logo-h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369635"/>
            <a:ext cx="1389888" cy="373224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29184" y="475488"/>
            <a:ext cx="5394960" cy="5687568"/>
          </a:xfrm>
          <a:prstGeom prst="rect">
            <a:avLst/>
          </a:prstGeom>
          <a:solidFill>
            <a:srgbClr val="0D1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3504" y="658368"/>
            <a:ext cx="109728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Barlow Condensed"/>
              </a:rPr>
              <a:t>THE REALITY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3504" y="1005840"/>
            <a:ext cx="32004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0" b="1">
                <a:solidFill>
                  <a:srgbClr val="C9A84C"/>
                </a:solidFill>
                <a:latin typeface="Barlow Condensed"/>
              </a:rPr>
              <a:t>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504" y="2798064"/>
            <a:ext cx="320040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Barlow Condensed"/>
              </a:rPr>
              <a:t>DAYS</a:t>
            </a:r>
          </a:p>
        </p:txBody>
      </p:sp>
      <p:sp>
        <p:nvSpPr>
          <p:cNvPr id="8" name="Rectangle 7"/>
          <p:cNvSpPr/>
          <p:nvPr/>
        </p:nvSpPr>
        <p:spPr>
          <a:xfrm>
            <a:off x="603504" y="3493008"/>
            <a:ext cx="4407408" cy="190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3657600"/>
            <a:ext cx="44805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99A5BB"/>
                </a:solidFill>
                <a:latin typeface="Barlow Condensed"/>
              </a:rPr>
              <a:t>Average mobilization time before execution begins.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63056" y="475488"/>
            <a:ext cx="5696712" cy="5687568"/>
          </a:xfrm>
          <a:prstGeom prst="rect">
            <a:avLst/>
          </a:prstGeom>
          <a:solidFill>
            <a:srgbClr val="0D1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37376" y="658368"/>
            <a:ext cx="109728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Barlow Condensed"/>
              </a:rPr>
              <a:t>THE READINESS QUESTION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7376" y="1005840"/>
            <a:ext cx="53035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C9A84C"/>
                </a:solidFill>
                <a:latin typeface="Barlow Condensed"/>
              </a:rPr>
              <a:t>Who calls who?
Where's the brief?
Who owns it? Who authorizes?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37376" y="3236976"/>
            <a:ext cx="5120640" cy="190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37376" y="3419856"/>
            <a:ext cx="5303520" cy="438912"/>
          </a:xfrm>
          <a:prstGeom prst="rect">
            <a:avLst/>
          </a:prstGeom>
          <a:solidFill>
            <a:srgbClr val="151F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65392" y="3493008"/>
            <a:ext cx="504748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Barlow Condensed"/>
              </a:rPr>
              <a:t>This is a readiness problem, not a talent problem.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37376" y="4005072"/>
            <a:ext cx="530352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9A5BB"/>
                </a:solidFill>
                <a:latin typeface="Barlow Condensed"/>
              </a:rPr>
              <a:t>— Coordination restarts from zero at every trigger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37376" y="4572000"/>
            <a:ext cx="530352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9A5BB"/>
                </a:solidFill>
                <a:latin typeface="Barlow Condensed"/>
              </a:rPr>
              <a:t>— The strategic window closes before execution begins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80176" y="365760"/>
            <a:ext cx="6350" cy="5961888"/>
          </a:xfrm>
          <a:prstGeom prst="rect">
            <a:avLst/>
          </a:prstGeom>
          <a:solidFill>
            <a:srgbClr val="1E2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0" y="6455664"/>
            <a:ext cx="10972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445070"/>
                </a:solidFill>
                <a:latin typeface="Calibri"/>
              </a:rPr>
              <a:t>02 / 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71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vm-logo-h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369635"/>
            <a:ext cx="1389888" cy="3732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20624"/>
            <a:ext cx="109728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Barlow Condensed"/>
              </a:rPr>
              <a:t>THE PROBLEM IS ALREADY HERE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94944"/>
            <a:ext cx="11274552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Barlow Condensed"/>
              </a:rPr>
              <a:t>One of these is forming in your organization right now</a:t>
            </a:r>
          </a:p>
        </p:txBody>
      </p:sp>
      <p:sp>
        <p:nvSpPr>
          <p:cNvPr id="6" name="Rectangle 5"/>
          <p:cNvSpPr/>
          <p:nvPr/>
        </p:nvSpPr>
        <p:spPr>
          <a:xfrm>
            <a:off x="347472" y="1499616"/>
            <a:ext cx="3758184" cy="4224528"/>
          </a:xfrm>
          <a:prstGeom prst="rect">
            <a:avLst/>
          </a:prstGeom>
          <a:solidFill>
            <a:srgbClr val="101842"/>
          </a:solidFill>
          <a:ln w="10160">
            <a:solidFill>
              <a:srgbClr val="2834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118104" y="1609344"/>
            <a:ext cx="877824" cy="402336"/>
          </a:xfrm>
          <a:prstGeom prst="rect">
            <a:avLst/>
          </a:prstGeom>
          <a:solidFill>
            <a:srgbClr val="060C28"/>
          </a:solidFill>
          <a:ln w="17780">
            <a:solidFill>
              <a:srgbClr val="2B8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118104" y="1609344"/>
            <a:ext cx="877824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B8A6E"/>
                </a:solidFill>
                <a:latin typeface="Barlow Condensed"/>
              </a:rPr>
              <a:t>95%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" y="1682496"/>
            <a:ext cx="2496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B8A6E"/>
                </a:solidFill>
                <a:latin typeface="Barlow Condensed"/>
              </a:rPr>
              <a:t>RISK &amp; RESILIENCE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64" y="2231136"/>
            <a:ext cx="3429000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Barlow Condensed"/>
              </a:rPr>
              <a:t>Ransomware
Attack Confirmed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64" y="3328416"/>
            <a:ext cx="3429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9A5BB"/>
                </a:solidFill>
                <a:latin typeface="Barlow Condensed"/>
              </a:rPr>
              <a:t>Signal · 248 data points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064" y="3749040"/>
            <a:ext cx="3429000" cy="50800"/>
          </a:xfrm>
          <a:prstGeom prst="rect">
            <a:avLst/>
          </a:prstGeom>
          <a:solidFill>
            <a:srgbClr val="1E2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12064" y="3749040"/>
            <a:ext cx="3257550" cy="50800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97680" y="1499616"/>
            <a:ext cx="3758184" cy="4224528"/>
          </a:xfrm>
          <a:prstGeom prst="rect">
            <a:avLst/>
          </a:prstGeom>
          <a:solidFill>
            <a:srgbClr val="101842"/>
          </a:solidFill>
          <a:ln w="10160">
            <a:solidFill>
              <a:srgbClr val="2834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068312" y="1609344"/>
            <a:ext cx="877824" cy="402336"/>
          </a:xfrm>
          <a:prstGeom prst="rect">
            <a:avLst/>
          </a:prstGeom>
          <a:solidFill>
            <a:srgbClr val="060C28"/>
          </a:solidFill>
          <a:ln w="1778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068312" y="1609344"/>
            <a:ext cx="877824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C9A84C"/>
                </a:solidFill>
                <a:latin typeface="Barlow Condensed"/>
              </a:rPr>
              <a:t>87%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62272" y="1682496"/>
            <a:ext cx="2496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B8A6E"/>
                </a:solidFill>
                <a:latin typeface="Barlow Condensed"/>
              </a:rPr>
              <a:t>REGULATORY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62272" y="2231136"/>
            <a:ext cx="3429000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Barlow Condensed"/>
              </a:rPr>
              <a:t>Regulatory
Inquiry Opened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62272" y="3328416"/>
            <a:ext cx="3429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9A5BB"/>
                </a:solidFill>
                <a:latin typeface="Barlow Condensed"/>
              </a:rPr>
              <a:t>Signal · threshold crossed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462272" y="3749040"/>
            <a:ext cx="3429000" cy="50800"/>
          </a:xfrm>
          <a:prstGeom prst="rect">
            <a:avLst/>
          </a:prstGeom>
          <a:solidFill>
            <a:srgbClr val="1E2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462272" y="3749040"/>
            <a:ext cx="2983230" cy="508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47888" y="1499616"/>
            <a:ext cx="3758184" cy="4224528"/>
          </a:xfrm>
          <a:prstGeom prst="rect">
            <a:avLst/>
          </a:prstGeom>
          <a:solidFill>
            <a:srgbClr val="101842"/>
          </a:solidFill>
          <a:ln w="10160">
            <a:solidFill>
              <a:srgbClr val="2834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1018520" y="1609344"/>
            <a:ext cx="877824" cy="402336"/>
          </a:xfrm>
          <a:prstGeom prst="rect">
            <a:avLst/>
          </a:prstGeom>
          <a:solidFill>
            <a:srgbClr val="060C28"/>
          </a:solidFill>
          <a:ln w="1778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018520" y="1609344"/>
            <a:ext cx="877824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C9A84C"/>
                </a:solidFill>
                <a:latin typeface="Barlow Condensed"/>
              </a:rPr>
              <a:t>82%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0" y="1682496"/>
            <a:ext cx="2496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B8A6E"/>
                </a:solidFill>
                <a:latin typeface="Barlow Condensed"/>
              </a:rPr>
              <a:t>GROWTH &amp; POSITIONING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0" y="2231136"/>
            <a:ext cx="3429000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Barlow Condensed"/>
              </a:rPr>
              <a:t>Market Entry
Window Opening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0" y="3328416"/>
            <a:ext cx="3429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9A5BB"/>
                </a:solidFill>
                <a:latin typeface="Barlow Condensed"/>
              </a:rPr>
              <a:t>Opportunity · live monitor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412480" y="3749040"/>
            <a:ext cx="3429000" cy="50800"/>
          </a:xfrm>
          <a:prstGeom prst="rect">
            <a:avLst/>
          </a:prstGeom>
          <a:solidFill>
            <a:srgbClr val="1E2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412480" y="3749040"/>
            <a:ext cx="2811780" cy="508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29184" y="5870448"/>
            <a:ext cx="11530584" cy="384048"/>
          </a:xfrm>
          <a:prstGeom prst="rect">
            <a:avLst/>
          </a:prstGeom>
          <a:solidFill>
            <a:srgbClr val="101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5925312"/>
            <a:ext cx="1127455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445880"/>
                </a:solidFill>
                <a:latin typeface="Barlow Condensed"/>
              </a:rPr>
              <a:t>221 triggers monitored  ·  248 data points  ·  refreshed every 15 minutes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72800" y="6455664"/>
            <a:ext cx="10972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445070"/>
                </a:solidFill>
                <a:latin typeface="Calibri"/>
              </a:rPr>
              <a:t>03 / 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71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vm-logo-h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369635"/>
            <a:ext cx="1389888" cy="3732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20624"/>
            <a:ext cx="109728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C9A84C"/>
                </a:solidFill>
                <a:latin typeface="Barlow Condensed"/>
              </a:rPr>
              <a:t>THE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731520"/>
            <a:ext cx="10360152" cy="10424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>
                <a:solidFill>
                  <a:srgbClr val="FFFFFF"/>
                </a:solidFill>
                <a:latin typeface="Barlow Condensed"/>
              </a:rPr>
              <a:t>The response is ready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719072"/>
            <a:ext cx="10360152" cy="10424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>
                <a:solidFill>
                  <a:srgbClr val="C9A84C"/>
                </a:solidFill>
                <a:latin typeface="Barlow Condensed"/>
              </a:rPr>
              <a:t>before the trigger fires.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798064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1">
                <a:solidFill>
                  <a:srgbClr val="99A5BB"/>
                </a:solidFill>
                <a:latin typeface="Barlow Condensed"/>
              </a:rPr>
              <a:t>Preparation  →  Readiness  →  Fearless</a:t>
            </a:r>
          </a:p>
        </p:txBody>
      </p:sp>
      <p:sp>
        <p:nvSpPr>
          <p:cNvPr id="8" name="Rectangle 7"/>
          <p:cNvSpPr/>
          <p:nvPr/>
        </p:nvSpPr>
        <p:spPr>
          <a:xfrm>
            <a:off x="3813048" y="3328416"/>
            <a:ext cx="4572000" cy="190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3511296"/>
            <a:ext cx="3657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C9A84C"/>
                </a:solidFill>
                <a:latin typeface="Barlow Condensed"/>
              </a:rPr>
              <a:t>170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590288"/>
            <a:ext cx="36576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Barlow Condensed"/>
              </a:rPr>
              <a:t>Readiness Protocols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61688" y="3511296"/>
            <a:ext cx="3657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C9A84C"/>
                </a:solidFill>
                <a:latin typeface="Barlow Condensed"/>
              </a:rPr>
              <a:t>221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61688" y="4590288"/>
            <a:ext cx="36576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Barlow Condensed"/>
              </a:rPr>
              <a:t>Strategic Triggers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0456" y="3511296"/>
            <a:ext cx="3657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C9A84C"/>
                </a:solidFill>
                <a:latin typeface="Barlow Condensed"/>
              </a:rPr>
              <a:t>12 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0456" y="4590288"/>
            <a:ext cx="36576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Barlow Condensed"/>
              </a:rPr>
              <a:t>Execution Window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828800" y="5577840"/>
            <a:ext cx="8531352" cy="475488"/>
          </a:xfrm>
          <a:prstGeom prst="rect">
            <a:avLst/>
          </a:prstGeom>
          <a:solidFill>
            <a:srgbClr val="0A0F2E"/>
          </a:solidFill>
          <a:ln w="10160">
            <a:solidFill>
              <a:srgbClr val="445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920240" y="5669280"/>
            <a:ext cx="834847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C9A84C"/>
                </a:solidFill>
                <a:latin typeface="Barlow Condensed"/>
              </a:rPr>
              <a:t>AI monitors.   Executives authorize.   Teams execute.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55664"/>
            <a:ext cx="10972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445070"/>
                </a:solidFill>
                <a:latin typeface="Calibri"/>
              </a:rPr>
              <a:t>04 / 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71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vm-logo-h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369635"/>
            <a:ext cx="1389888" cy="3732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20624"/>
            <a:ext cx="109728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Barlow Condensed"/>
              </a:rPr>
              <a:t>WHY THIS IS DEFENSIBLE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94944"/>
            <a:ext cx="112745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Barlow Condensed"/>
              </a:rPr>
              <a:t>The architecture that separates execution from mobilization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463040"/>
            <a:ext cx="11274552" cy="190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9184" y="1591056"/>
            <a:ext cx="5687568" cy="3840480"/>
          </a:xfrm>
          <a:prstGeom prst="rect">
            <a:avLst/>
          </a:prstGeom>
          <a:solidFill>
            <a:srgbClr val="1808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3504" y="1755648"/>
            <a:ext cx="5358384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8888"/>
                </a:solidFill>
                <a:latin typeface="Barlow Condensed"/>
              </a:rPr>
              <a:t>Old 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2084832"/>
            <a:ext cx="5358384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8888"/>
                </a:solidFill>
                <a:latin typeface="Barlow Condensed"/>
              </a:rPr>
              <a:t>✕  Faster notes from the same slow meetings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" y="2779776"/>
            <a:ext cx="5358384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8888"/>
                </a:solidFill>
                <a:latin typeface="Barlow Condensed"/>
              </a:rPr>
              <a:t>✕  No readiness architecture — triggers catch you cold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" y="3474720"/>
            <a:ext cx="5358384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8888"/>
                </a:solidFill>
                <a:latin typeface="Barlow Condensed"/>
              </a:rPr>
              <a:t>✕  Authority unclear when pressure arrives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4169664"/>
            <a:ext cx="5358384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8888"/>
                </a:solidFill>
                <a:latin typeface="Barlow Condensed"/>
              </a:rPr>
              <a:t>✕  30 days to mobilize before execution starts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72200" y="1591056"/>
            <a:ext cx="5687568" cy="3840480"/>
          </a:xfrm>
          <a:prstGeom prst="rect">
            <a:avLst/>
          </a:prstGeom>
          <a:solidFill>
            <a:srgbClr val="0818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1755648"/>
            <a:ext cx="5358384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9A84C"/>
                </a:solidFill>
                <a:latin typeface="Barlow Condensed"/>
              </a:rPr>
              <a:t>VaughnMartin Readiness 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2084832"/>
            <a:ext cx="5358384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6CC99"/>
                </a:solidFill>
                <a:latin typeface="Barlow Condensed"/>
              </a:rPr>
              <a:t>✓  Response pre-staged before the trigger fires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2779776"/>
            <a:ext cx="5358384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6CC99"/>
                </a:solidFill>
                <a:latin typeface="Barlow Condensed"/>
              </a:rPr>
              <a:t>✓  170 protocols · 221 triggers · ready before the moment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3474720"/>
            <a:ext cx="5358384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6CC99"/>
                </a:solidFill>
                <a:latin typeface="Barlow Condensed"/>
              </a:rPr>
              <a:t>✓  Executive authorization gate at every activation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4169664"/>
            <a:ext cx="5358384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6CC99"/>
                </a:solidFill>
                <a:latin typeface="Barlow Condensed"/>
              </a:rPr>
              <a:t>✓  12-minute execution window from signal to action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989320" y="1591056"/>
            <a:ext cx="6350" cy="3840480"/>
          </a:xfrm>
          <a:prstGeom prst="rect">
            <a:avLst/>
          </a:prstGeom>
          <a:solidFill>
            <a:srgbClr val="1E2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protocols-raw.png"/>
          <p:cNvPicPr>
            <a:picLocks noChangeAspect="1"/>
          </p:cNvPicPr>
          <p:nvPr/>
        </p:nvPicPr>
        <p:blipFill>
          <a:blip r:embed="rId3"/>
          <a:srcRect t="-471553" b="-471553"/>
          <a:stretch>
            <a:fillRect/>
          </a:stretch>
        </p:blipFill>
        <p:spPr>
          <a:xfrm>
            <a:off x="329184" y="5559552"/>
            <a:ext cx="11530584" cy="621792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329184" y="5559552"/>
            <a:ext cx="11530584" cy="621792"/>
          </a:xfrm>
          <a:prstGeom prst="rect">
            <a:avLst/>
          </a:prstGeom>
          <a:noFill/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29184" y="5559552"/>
            <a:ext cx="11530584" cy="621792"/>
          </a:xfrm>
          <a:prstGeom prst="rect">
            <a:avLst/>
          </a:prstGeom>
          <a:solidFill>
            <a:srgbClr val="06081A"/>
          </a:solidFill>
          <a:ln w="1016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5737352"/>
            <a:ext cx="11274552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C9A84C"/>
                </a:solidFill>
                <a:latin typeface="Barlow Condensed"/>
              </a:rPr>
              <a:t>LIVE PLATFORM  ·  170 Readiness Protocols  ·  startup to Fortune 500  ·  vaughnmartin.com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0" y="6455664"/>
            <a:ext cx="10972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445070"/>
                </a:solidFill>
                <a:latin typeface="Calibri"/>
              </a:rPr>
              <a:t>05 / 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71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vm-logo-h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369635"/>
            <a:ext cx="1389888" cy="3732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20624"/>
            <a:ext cx="109728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Barlow Condensed"/>
              </a:rPr>
              <a:t>PROOF OF PRODUCTION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94944"/>
            <a:ext cx="11274552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Barlow Condensed"/>
              </a:rPr>
              <a:t>From Signal to Authorized Execution in 12 Minutes</a:t>
            </a:r>
          </a:p>
        </p:txBody>
      </p:sp>
      <p:pic>
        <p:nvPicPr>
          <p:cNvPr id="6" name="Picture 5" descr="signals-raw.png"/>
          <p:cNvPicPr>
            <a:picLocks noChangeAspect="1"/>
          </p:cNvPicPr>
          <p:nvPr/>
        </p:nvPicPr>
        <p:blipFill>
          <a:blip r:embed="rId3"/>
          <a:srcRect t="-6" b="-6"/>
          <a:stretch>
            <a:fillRect/>
          </a:stretch>
        </p:blipFill>
        <p:spPr>
          <a:xfrm>
            <a:off x="329184" y="1481328"/>
            <a:ext cx="5623560" cy="3162857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29184" y="1481328"/>
            <a:ext cx="5623560" cy="3162857"/>
          </a:xfrm>
          <a:prstGeom prst="rect">
            <a:avLst/>
          </a:prstGeom>
          <a:noFill/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9184" y="4406441"/>
            <a:ext cx="5623560" cy="237744"/>
          </a:xfrm>
          <a:prstGeom prst="rect">
            <a:avLst/>
          </a:prstGeom>
          <a:solidFill>
            <a:srgbClr val="060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0624" y="4469941"/>
            <a:ext cx="5440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9A84C"/>
                </a:solidFill>
                <a:latin typeface="Barlow Condensed"/>
              </a:rPr>
              <a:t>LIVE TRIGGER DETECTION · CONFIDENCE SCORING · STARTUP TO FORTUNE 500</a:t>
            </a:r>
          </a:p>
        </p:txBody>
      </p:sp>
      <p:pic>
        <p:nvPicPr>
          <p:cNvPr id="10" name="Picture 9" descr="builder-raw.png"/>
          <p:cNvPicPr>
            <a:picLocks noChangeAspect="1"/>
          </p:cNvPicPr>
          <p:nvPr/>
        </p:nvPicPr>
        <p:blipFill>
          <a:blip r:embed="rId4"/>
          <a:srcRect t="-112" b="-112"/>
          <a:stretch>
            <a:fillRect/>
          </a:stretch>
        </p:blipFill>
        <p:spPr>
          <a:xfrm>
            <a:off x="6227064" y="1481328"/>
            <a:ext cx="5635447" cy="3162857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227064" y="1481328"/>
            <a:ext cx="5635447" cy="3162857"/>
          </a:xfrm>
          <a:prstGeom prst="rect">
            <a:avLst/>
          </a:prstGeom>
          <a:noFill/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27064" y="4406441"/>
            <a:ext cx="5635447" cy="237744"/>
          </a:xfrm>
          <a:prstGeom prst="rect">
            <a:avLst/>
          </a:prstGeom>
          <a:solidFill>
            <a:srgbClr val="060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18504" y="4469941"/>
            <a:ext cx="5452567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9A84C"/>
                </a:solidFill>
                <a:latin typeface="Barlow Condensed"/>
              </a:rPr>
              <a:t>PRE-STAGED PROTOCOL · STAKEHOLDERS · AUTHORITY · TASKS READY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4753913"/>
            <a:ext cx="12191695" cy="1957782"/>
          </a:xfrm>
          <a:prstGeom prst="rect">
            <a:avLst/>
          </a:prstGeom>
          <a:solidFill>
            <a:srgbClr val="0608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4845353"/>
            <a:ext cx="11274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C9A84C"/>
                </a:solidFill>
                <a:latin typeface="Barlow Condensed"/>
              </a:rPr>
              <a:t>AI monitors.     Executives authorize.     Teams execute.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393993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9A5BB"/>
                </a:solidFill>
                <a:latin typeface="Barlow Condensed"/>
              </a:rPr>
              <a:t>170 protocols  ·  221 triggers  ·  248 data points  ·  15-minute refresh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55664"/>
            <a:ext cx="10972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445070"/>
                </a:solidFill>
                <a:latin typeface="Calibri"/>
              </a:rPr>
              <a:t>06 / 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71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vm-logo-h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369635"/>
            <a:ext cx="1389888" cy="3732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20624"/>
            <a:ext cx="109728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Barlow Condensed"/>
              </a:rPr>
              <a:t>BUSINESS VALUE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94944"/>
            <a:ext cx="713232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Barlow Condensed"/>
              </a:rPr>
              <a:t>Readiness is not overhead.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9888"/>
            <a:ext cx="713232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C9A84C"/>
                </a:solidFill>
                <a:latin typeface="Barlow Condensed"/>
              </a:rPr>
              <a:t>It is value protection.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231136"/>
            <a:ext cx="11274552" cy="190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414016"/>
            <a:ext cx="5120640" cy="12435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1" i="0">
                <a:solidFill>
                  <a:srgbClr val="C9A84C"/>
                </a:solidFill>
                <a:latin typeface="Barlow Condensed"/>
              </a:rPr>
              <a:t>3,600×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547872"/>
            <a:ext cx="5120640" cy="33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9A5BB"/>
                </a:solidFill>
                <a:latin typeface="Barlow Condensed"/>
              </a:rPr>
              <a:t>Execution head start — 30 days compressed to 12 minutes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895344"/>
            <a:ext cx="5120640" cy="190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4096512"/>
            <a:ext cx="51206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9A84C"/>
                </a:solidFill>
                <a:latin typeface="Barlow Condensed"/>
              </a:rPr>
              <a:t>▶  Founding Partner: $75K / 90-day validation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663440"/>
            <a:ext cx="51206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Barlow Condensed"/>
              </a:rPr>
              <a:t>▶  Growth: $75K–$250K annually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230368"/>
            <a:ext cx="51206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B8A6E"/>
                </a:solidFill>
                <a:latin typeface="Barlow Condensed"/>
              </a:rPr>
              <a:t>▶  Cost of delay is often higher than cost of readiness.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6208" y="2359152"/>
            <a:ext cx="5623560" cy="3803904"/>
          </a:xfrm>
          <a:prstGeom prst="rect">
            <a:avLst/>
          </a:prstGeom>
          <a:solidFill>
            <a:srgbClr val="0D1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0528" y="2542032"/>
            <a:ext cx="109728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Barlow Condensed"/>
              </a:rPr>
              <a:t>COMMERCIAL LOGIC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93408" y="2743200"/>
            <a:ext cx="5084064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99A5BB"/>
                </a:solidFill>
                <a:latin typeface="Barlow Condensed"/>
              </a:rPr>
              <a:t>Replaces the $400K–$800K consulting retainer.
Break-even before the 2nd activation.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10528" y="3540760"/>
            <a:ext cx="5084064" cy="6350"/>
          </a:xfrm>
          <a:prstGeom prst="rect">
            <a:avLst/>
          </a:prstGeom>
          <a:solidFill>
            <a:srgbClr val="283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0528" y="3566160"/>
            <a:ext cx="210312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9A5BB"/>
                </a:solidFill>
                <a:latin typeface="Barlow Condensed"/>
              </a:rPr>
              <a:t>FOUNDING PARTNER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05088" y="3566160"/>
            <a:ext cx="283464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9A84C"/>
                </a:solidFill>
                <a:latin typeface="Barlow Condensed"/>
              </a:rPr>
              <a:t>$75K / 90 days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10528" y="4144264"/>
            <a:ext cx="5084064" cy="6350"/>
          </a:xfrm>
          <a:prstGeom prst="rect">
            <a:avLst/>
          </a:prstGeom>
          <a:solidFill>
            <a:srgbClr val="283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0528" y="4169664"/>
            <a:ext cx="210312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9A5BB"/>
                </a:solidFill>
                <a:latin typeface="Barlow Condensed"/>
              </a:rPr>
              <a:t>GROWTH TIER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05088" y="4169664"/>
            <a:ext cx="283464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Barlow Condensed"/>
              </a:rPr>
              <a:t>$75K–$250K annually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10528" y="4747768"/>
            <a:ext cx="5084064" cy="6350"/>
          </a:xfrm>
          <a:prstGeom prst="rect">
            <a:avLst/>
          </a:prstGeom>
          <a:solidFill>
            <a:srgbClr val="283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10528" y="4773168"/>
            <a:ext cx="210312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9A5BB"/>
                </a:solidFill>
                <a:latin typeface="Barlow Condensed"/>
              </a:rPr>
              <a:t>COHORT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05088" y="4773168"/>
            <a:ext cx="283464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Barlow Condensed"/>
              </a:rPr>
              <a:t>startup to Fortune 500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10528" y="5351272"/>
            <a:ext cx="5084064" cy="6350"/>
          </a:xfrm>
          <a:prstGeom prst="rect">
            <a:avLst/>
          </a:prstGeom>
          <a:solidFill>
            <a:srgbClr val="283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10528" y="5376672"/>
            <a:ext cx="210312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9A5BB"/>
                </a:solidFill>
                <a:latin typeface="Barlow Condensed"/>
              </a:rPr>
              <a:t>BOARD LINE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05088" y="5376672"/>
            <a:ext cx="283464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B8A6E"/>
                </a:solidFill>
                <a:latin typeface="Barlow Condensed"/>
              </a:rPr>
              <a:t>Cost of delay &gt; cost of readiness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53328" y="2176272"/>
            <a:ext cx="6350" cy="4078224"/>
          </a:xfrm>
          <a:prstGeom prst="rect">
            <a:avLst/>
          </a:prstGeom>
          <a:solidFill>
            <a:srgbClr val="1E2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972800" y="6455664"/>
            <a:ext cx="10972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445070"/>
                </a:solidFill>
                <a:latin typeface="Calibri"/>
              </a:rPr>
              <a:t>07 / 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71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vm-logo-h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369635"/>
            <a:ext cx="1389888" cy="3732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20624"/>
            <a:ext cx="109728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Barlow Condensed"/>
              </a:rPr>
              <a:t>BUILT. LIVE. IN PRODUCTION.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94944"/>
            <a:ext cx="112745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Barlow Condensed"/>
              </a:rPr>
              <a:t>Not a roadmap — operating now</a:t>
            </a:r>
          </a:p>
        </p:txBody>
      </p:sp>
      <p:sp>
        <p:nvSpPr>
          <p:cNvPr id="6" name="Rectangle 5"/>
          <p:cNvSpPr/>
          <p:nvPr/>
        </p:nvSpPr>
        <p:spPr>
          <a:xfrm>
            <a:off x="329184" y="1426464"/>
            <a:ext cx="2834640" cy="877824"/>
          </a:xfrm>
          <a:prstGeom prst="rect">
            <a:avLst/>
          </a:prstGeom>
          <a:solidFill>
            <a:srgbClr val="0E1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9184" y="1444752"/>
            <a:ext cx="28346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C9A84C"/>
                </a:solidFill>
                <a:latin typeface="Barlow Condensed"/>
              </a:rPr>
              <a:t>170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184" y="1956816"/>
            <a:ext cx="283464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9A5BB"/>
                </a:solidFill>
                <a:latin typeface="Barlow Condensed"/>
              </a:rPr>
              <a:t>Protocols</a:t>
            </a:r>
          </a:p>
        </p:txBody>
      </p:sp>
      <p:sp>
        <p:nvSpPr>
          <p:cNvPr id="9" name="Rectangle 8"/>
          <p:cNvSpPr/>
          <p:nvPr/>
        </p:nvSpPr>
        <p:spPr>
          <a:xfrm>
            <a:off x="3291840" y="1426464"/>
            <a:ext cx="2834640" cy="877824"/>
          </a:xfrm>
          <a:prstGeom prst="rect">
            <a:avLst/>
          </a:prstGeom>
          <a:solidFill>
            <a:srgbClr val="0E1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91840" y="1444752"/>
            <a:ext cx="28346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C9A84C"/>
                </a:solidFill>
                <a:latin typeface="Barlow Condensed"/>
              </a:rPr>
              <a:t>221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1956816"/>
            <a:ext cx="283464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9A5BB"/>
                </a:solidFill>
                <a:latin typeface="Barlow Condensed"/>
              </a:rPr>
              <a:t>Triggers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54496" y="1426464"/>
            <a:ext cx="2834640" cy="877824"/>
          </a:xfrm>
          <a:prstGeom prst="rect">
            <a:avLst/>
          </a:prstGeom>
          <a:solidFill>
            <a:srgbClr val="0E1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54496" y="1444752"/>
            <a:ext cx="28346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2B8A6E"/>
                </a:solidFill>
                <a:latin typeface="Barlow Condensed"/>
              </a:rPr>
              <a:t>248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54496" y="1956816"/>
            <a:ext cx="283464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9A5BB"/>
                </a:solidFill>
                <a:latin typeface="Barlow Condensed"/>
              </a:rPr>
              <a:t>Data Points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217152" y="1426464"/>
            <a:ext cx="2834640" cy="877824"/>
          </a:xfrm>
          <a:prstGeom prst="rect">
            <a:avLst/>
          </a:prstGeom>
          <a:solidFill>
            <a:srgbClr val="0E1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17152" y="1444752"/>
            <a:ext cx="28346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C9A84C"/>
                </a:solidFill>
                <a:latin typeface="Barlow Condensed"/>
              </a:rPr>
              <a:t>15m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17152" y="1956816"/>
            <a:ext cx="283464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9A5BB"/>
                </a:solidFill>
                <a:latin typeface="Barlow Condensed"/>
              </a:rPr>
              <a:t>Refresh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9184" y="2377440"/>
            <a:ext cx="5629503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Barlow Condensed"/>
              </a:rPr>
              <a:t>Signal Intelligence · Live Detection Feed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33007" y="2377440"/>
            <a:ext cx="5629503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Barlow Condensed"/>
              </a:rPr>
              <a:t>Live Activation Console · Execution in Progress</a:t>
            </a:r>
          </a:p>
        </p:txBody>
      </p:sp>
      <p:pic>
        <p:nvPicPr>
          <p:cNvPr id="20" name="Picture 19" descr="signals-raw.png"/>
          <p:cNvPicPr>
            <a:picLocks noChangeAspect="1"/>
          </p:cNvPicPr>
          <p:nvPr/>
        </p:nvPicPr>
        <p:blipFill>
          <a:blip r:embed="rId3"/>
          <a:srcRect t="-6" b="-6"/>
          <a:stretch>
            <a:fillRect/>
          </a:stretch>
        </p:blipFill>
        <p:spPr>
          <a:xfrm>
            <a:off x="329184" y="2633472"/>
            <a:ext cx="5629503" cy="3166199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329184" y="2633472"/>
            <a:ext cx="5629503" cy="3166199"/>
          </a:xfrm>
          <a:prstGeom prst="rect">
            <a:avLst/>
          </a:prstGeom>
          <a:noFill/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29184" y="5561927"/>
            <a:ext cx="5629503" cy="237744"/>
          </a:xfrm>
          <a:prstGeom prst="rect">
            <a:avLst/>
          </a:prstGeom>
          <a:solidFill>
            <a:srgbClr val="060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20624" y="5625427"/>
            <a:ext cx="5446623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9A84C"/>
                </a:solidFill>
                <a:latin typeface="Barlow Condensed"/>
              </a:rPr>
              <a:t>SIGNAL INTELLIGENCE FEED · LIVE DETECTIONS · VAUGHNMARTIN.COM</a:t>
            </a:r>
          </a:p>
        </p:txBody>
      </p:sp>
      <p:pic>
        <p:nvPicPr>
          <p:cNvPr id="24" name="Picture 23" descr="activation-raw.png"/>
          <p:cNvPicPr>
            <a:picLocks noChangeAspect="1"/>
          </p:cNvPicPr>
          <p:nvPr/>
        </p:nvPicPr>
        <p:blipFill>
          <a:blip r:embed="rId4"/>
          <a:srcRect t="-6" b="-6"/>
          <a:stretch>
            <a:fillRect/>
          </a:stretch>
        </p:blipFill>
        <p:spPr>
          <a:xfrm>
            <a:off x="6233007" y="2633472"/>
            <a:ext cx="5629503" cy="3166199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6233007" y="2633472"/>
            <a:ext cx="5629503" cy="3166199"/>
          </a:xfrm>
          <a:prstGeom prst="rect">
            <a:avLst/>
          </a:prstGeom>
          <a:noFill/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33007" y="5561927"/>
            <a:ext cx="5629503" cy="237744"/>
          </a:xfrm>
          <a:prstGeom prst="rect">
            <a:avLst/>
          </a:prstGeom>
          <a:solidFill>
            <a:srgbClr val="060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24447" y="5625427"/>
            <a:ext cx="5446623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9A84C"/>
                </a:solidFill>
                <a:latin typeface="Barlow Condensed"/>
              </a:rPr>
              <a:t>LIVE ACTIVATION CONSOLE · AUTHORIZED EXECUTION · VAUGHNMARTIN.COM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0" y="6455664"/>
            <a:ext cx="10972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445070"/>
                </a:solidFill>
                <a:latin typeface="Calibri"/>
              </a:rPr>
              <a:t>08 / 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0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71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vm-logo-h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369635"/>
            <a:ext cx="1389888" cy="373224"/>
          </a:xfrm>
          <a:prstGeom prst="rect">
            <a:avLst/>
          </a:prstGeom>
        </p:spPr>
      </p:pic>
      <p:pic>
        <p:nvPicPr>
          <p:cNvPr id="4" name="Picture 3" descr="activation-raw.png"/>
          <p:cNvPicPr>
            <a:picLocks noChangeAspect="1"/>
          </p:cNvPicPr>
          <p:nvPr/>
        </p:nvPicPr>
        <p:blipFill>
          <a:blip r:embed="rId3"/>
          <a:srcRect t="-6" b="-6"/>
          <a:stretch>
            <a:fillRect/>
          </a:stretch>
        </p:blipFill>
        <p:spPr>
          <a:xfrm>
            <a:off x="6400800" y="1848137"/>
            <a:ext cx="5458968" cy="307028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400800" y="1848137"/>
            <a:ext cx="5458968" cy="3070285"/>
          </a:xfrm>
          <a:prstGeom prst="rect">
            <a:avLst/>
          </a:prstGeom>
          <a:noFill/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0" y="4680678"/>
            <a:ext cx="5458968" cy="237744"/>
          </a:xfrm>
          <a:prstGeom prst="rect">
            <a:avLst/>
          </a:prstGeom>
          <a:solidFill>
            <a:srgbClr val="060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4744178"/>
            <a:ext cx="527608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9A84C"/>
                </a:solidFill>
                <a:latin typeface="Barlow Condensed"/>
              </a:rPr>
              <a:t>LIVE ACTIVATION CONSOLE · EXECUTION IN PROGRESS · PRODUCTION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6272784" y="512064"/>
            <a:ext cx="12700" cy="574243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475488"/>
            <a:ext cx="109728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444A68"/>
                </a:solidFill>
                <a:latin typeface="Barlow Condensed"/>
              </a:rPr>
              <a:t>WHY NOW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749808"/>
            <a:ext cx="5632704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A0F2E"/>
                </a:solidFill>
                <a:latin typeface="Barlow Condensed"/>
              </a:rPr>
              <a:t>AI capability is accelerating faster than enterprise readiness.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847088"/>
            <a:ext cx="5632704" cy="19050"/>
          </a:xfrm>
          <a:prstGeom prst="rect">
            <a:avLst/>
          </a:prstGeom>
          <a:solidFill>
            <a:srgbClr val="887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2066543"/>
            <a:ext cx="658368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C9A84C"/>
                </a:solidFill>
                <a:latin typeface="Barlow Condensed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066543"/>
            <a:ext cx="4901184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0A0F2E"/>
                </a:solidFill>
                <a:latin typeface="Barlow Condensed"/>
              </a:rPr>
              <a:t>AI capability accelerating. Enterprise mobilization readiness is not.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236975"/>
            <a:ext cx="658368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C9A84C"/>
                </a:solidFill>
                <a:latin typeface="Barlow Condense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3236975"/>
            <a:ext cx="4901184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0A0F2E"/>
                </a:solidFill>
                <a:latin typeface="Barlow Condensed"/>
              </a:rPr>
              <a:t>Execution readiness is now the competitive bottleneck.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407407"/>
            <a:ext cx="658368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C9A84C"/>
                </a:solidFill>
                <a:latin typeface="Barlow Condensed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407407"/>
            <a:ext cx="4901184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0A0F2E"/>
                </a:solidFill>
                <a:latin typeface="Barlow Condensed"/>
              </a:rPr>
              <a:t>Winners pair signal detection with governed 12-minute execution.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577840"/>
            <a:ext cx="5632704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99A5BB"/>
                </a:solidFill>
                <a:latin typeface="Barlow Condensed"/>
              </a:rPr>
              <a:t>Sources: Stanford HAI AI Index 2026  ·  Gartner Autonomous Business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0" y="6455664"/>
            <a:ext cx="10972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445070"/>
                </a:solidFill>
                <a:latin typeface="Calibri"/>
              </a:rPr>
              <a:t>09 / 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71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vm-logo-h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457200"/>
            <a:ext cx="1664208" cy="44688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176272" y="512064"/>
            <a:ext cx="109728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Barlow Condensed"/>
              </a:rPr>
              <a:t>THE ASK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9184" y="950976"/>
            <a:ext cx="8686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Barlow Condensed"/>
              </a:rPr>
              <a:t>Twelve founding partners. One defining cohort.</a:t>
            </a:r>
          </a:p>
        </p:txBody>
      </p:sp>
      <p:sp>
        <p:nvSpPr>
          <p:cNvPr id="6" name="Rectangle 5"/>
          <p:cNvSpPr/>
          <p:nvPr/>
        </p:nvSpPr>
        <p:spPr>
          <a:xfrm>
            <a:off x="329184" y="1737360"/>
            <a:ext cx="11530584" cy="190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9184" y="1883664"/>
            <a:ext cx="1810512" cy="1170432"/>
          </a:xfrm>
          <a:prstGeom prst="rect">
            <a:avLst/>
          </a:prstGeom>
          <a:solidFill>
            <a:srgbClr val="0D1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9184" y="1938528"/>
            <a:ext cx="1810512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C9A84C"/>
                </a:solidFill>
                <a:latin typeface="Barlow Condensed"/>
              </a:rPr>
              <a:t>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" y="2542032"/>
            <a:ext cx="181051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9A5BB"/>
                </a:solidFill>
                <a:latin typeface="Barlow Condensed"/>
              </a:rPr>
              <a:t>Founding
Partners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249424" y="1883664"/>
            <a:ext cx="1810512" cy="1170432"/>
          </a:xfrm>
          <a:prstGeom prst="rect">
            <a:avLst/>
          </a:prstGeom>
          <a:solidFill>
            <a:srgbClr val="0D1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249424" y="1938528"/>
            <a:ext cx="1810512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C9A84C"/>
                </a:solidFill>
                <a:latin typeface="Barlow Condensed"/>
              </a:rPr>
              <a:t>$75K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49424" y="2542032"/>
            <a:ext cx="181051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9A5BB"/>
                </a:solidFill>
                <a:latin typeface="Barlow Condensed"/>
              </a:rPr>
              <a:t>90-Day
Validation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69664" y="1883664"/>
            <a:ext cx="1810512" cy="1170432"/>
          </a:xfrm>
          <a:prstGeom prst="rect">
            <a:avLst/>
          </a:prstGeom>
          <a:solidFill>
            <a:srgbClr val="0D1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69664" y="1938528"/>
            <a:ext cx="1810512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C9A84C"/>
                </a:solidFill>
                <a:latin typeface="Barlow Condensed"/>
              </a:rPr>
              <a:t>F500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69664" y="2542032"/>
            <a:ext cx="181051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9A5BB"/>
                </a:solidFill>
                <a:latin typeface="Barlow Condensed"/>
              </a:rPr>
              <a:t>Startup to
Fortune 500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9184" y="3218688"/>
            <a:ext cx="544982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99A5BB"/>
                </a:solidFill>
                <a:latin typeface="Barlow Condensed"/>
              </a:rPr>
              <a:t>Partners who want readiness as competitive advantage.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9184" y="3749039"/>
            <a:ext cx="5449824" cy="6350"/>
          </a:xfrm>
          <a:prstGeom prst="rect">
            <a:avLst/>
          </a:prstGeom>
          <a:solidFill>
            <a:srgbClr val="283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9184" y="3803903"/>
            <a:ext cx="164592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9A5BB"/>
                </a:solidFill>
                <a:latin typeface="Barlow Condensed"/>
              </a:rPr>
              <a:t>PROGRAM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9184" y="3986783"/>
            <a:ext cx="54498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Barlow Condensed"/>
              </a:rPr>
              <a:t>Founding Partner · 90-Day Validation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9184" y="4270246"/>
            <a:ext cx="5449824" cy="6350"/>
          </a:xfrm>
          <a:prstGeom prst="rect">
            <a:avLst/>
          </a:prstGeom>
          <a:solidFill>
            <a:srgbClr val="283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9184" y="4325110"/>
            <a:ext cx="164592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9A5BB"/>
                </a:solidFill>
                <a:latin typeface="Barlow Condensed"/>
              </a:rPr>
              <a:t>COMMERCIAL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9184" y="4507990"/>
            <a:ext cx="54498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9A84C"/>
                </a:solidFill>
                <a:latin typeface="Barlow Condensed"/>
              </a:rPr>
              <a:t>$75K / 90 days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9184" y="4791453"/>
            <a:ext cx="5449824" cy="6350"/>
          </a:xfrm>
          <a:prstGeom prst="rect">
            <a:avLst/>
          </a:prstGeom>
          <a:solidFill>
            <a:srgbClr val="283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9184" y="4846317"/>
            <a:ext cx="164592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9A5BB"/>
                </a:solidFill>
                <a:latin typeface="Barlow Condensed"/>
              </a:rPr>
              <a:t>COHORT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9184" y="5029197"/>
            <a:ext cx="54498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Barlow Condensed"/>
              </a:rPr>
              <a:t>12 startup to Fortune 500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9184" y="5449824"/>
            <a:ext cx="5449824" cy="457200"/>
          </a:xfrm>
          <a:prstGeom prst="rect">
            <a:avLst/>
          </a:prstGeom>
          <a:solidFill>
            <a:srgbClr val="0A0F2E"/>
          </a:solidFill>
          <a:ln w="1016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0624" y="5522976"/>
            <a:ext cx="5266944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9A84C"/>
                </a:solidFill>
                <a:latin typeface="Barlow Condensed"/>
              </a:rPr>
              <a:t>Apply for Founding Partner Access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961888" y="1737360"/>
            <a:ext cx="6350" cy="4425696"/>
          </a:xfrm>
          <a:prstGeom prst="rect">
            <a:avLst/>
          </a:prstGeom>
          <a:solidFill>
            <a:srgbClr val="1E2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home-raw.png"/>
          <p:cNvPicPr>
            <a:picLocks noChangeAspect="1"/>
          </p:cNvPicPr>
          <p:nvPr/>
        </p:nvPicPr>
        <p:blipFill>
          <a:blip r:embed="rId3"/>
          <a:srcRect t="-9429" b="-9429"/>
          <a:stretch>
            <a:fillRect/>
          </a:stretch>
        </p:blipFill>
        <p:spPr>
          <a:xfrm>
            <a:off x="6144768" y="1737360"/>
            <a:ext cx="5641848" cy="2670048"/>
          </a:xfrm>
          <a:prstGeom prst="rect">
            <a:avLst/>
          </a:prstGeom>
        </p:spPr>
      </p:pic>
      <p:sp>
        <p:nvSpPr>
          <p:cNvPr id="30" name="Rectangle 29"/>
          <p:cNvSpPr/>
          <p:nvPr/>
        </p:nvSpPr>
        <p:spPr>
          <a:xfrm>
            <a:off x="6144768" y="1737360"/>
            <a:ext cx="5641848" cy="2670048"/>
          </a:xfrm>
          <a:prstGeom prst="rect">
            <a:avLst/>
          </a:prstGeom>
          <a:noFill/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144768" y="4169664"/>
            <a:ext cx="5641848" cy="237744"/>
          </a:xfrm>
          <a:prstGeom prst="rect">
            <a:avLst/>
          </a:prstGeom>
          <a:solidFill>
            <a:srgbClr val="060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36208" y="4233164"/>
            <a:ext cx="54589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9A84C"/>
                </a:solidFill>
                <a:latin typeface="Barlow Condensed"/>
              </a:rPr>
              <a:t>READINESS OS · PRODUCTION PLATFORM · VAUGHNMARTIN.COM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144768" y="4572000"/>
            <a:ext cx="5641848" cy="6350"/>
          </a:xfrm>
          <a:prstGeom prst="rect">
            <a:avLst/>
          </a:prstGeom>
          <a:solidFill>
            <a:srgbClr val="283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44768" y="4608576"/>
            <a:ext cx="146304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99A5BB"/>
                </a:solidFill>
                <a:latin typeface="Barlow Condensed"/>
              </a:rPr>
              <a:t>DELIVERY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99248" y="4608576"/>
            <a:ext cx="405993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Barlow Condensed"/>
              </a:rPr>
              <a:t>Right-sized by organization maturity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44768" y="4956048"/>
            <a:ext cx="5641848" cy="6350"/>
          </a:xfrm>
          <a:prstGeom prst="rect">
            <a:avLst/>
          </a:prstGeom>
          <a:solidFill>
            <a:srgbClr val="283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44768" y="4992624"/>
            <a:ext cx="146304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99A5BB"/>
                </a:solidFill>
                <a:latin typeface="Barlow Condensed"/>
              </a:rPr>
              <a:t>SECTORS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699248" y="4992624"/>
            <a:ext cx="405993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Barlow Condensed"/>
              </a:rPr>
              <a:t>All industries · 6 sector packs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144768" y="5340096"/>
            <a:ext cx="5641848" cy="6350"/>
          </a:xfrm>
          <a:prstGeom prst="rect">
            <a:avLst/>
          </a:prstGeom>
          <a:solidFill>
            <a:srgbClr val="283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144768" y="5376672"/>
            <a:ext cx="146304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99A5BB"/>
                </a:solidFill>
                <a:latin typeface="Barlow Condensed"/>
              </a:rPr>
              <a:t>RAISE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699248" y="5376672"/>
            <a:ext cx="405993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9A5BB"/>
                </a:solidFill>
                <a:latin typeface="Barlow Condensed"/>
              </a:rPr>
              <a:t>Open strategic raise · active conversations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144768" y="5724144"/>
            <a:ext cx="5641848" cy="6350"/>
          </a:xfrm>
          <a:prstGeom prst="rect">
            <a:avLst/>
          </a:prstGeom>
          <a:solidFill>
            <a:srgbClr val="283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144768" y="5760720"/>
            <a:ext cx="146304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99A5BB"/>
                </a:solidFill>
                <a:latin typeface="Barlow Condensed"/>
              </a:rPr>
              <a:t>URL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699248" y="5760720"/>
            <a:ext cx="405993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B8A6E"/>
                </a:solidFill>
                <a:latin typeface="Barlow Condensed"/>
              </a:rPr>
              <a:t>vaughnmartin.com/founding-partner-program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972800" y="6455664"/>
            <a:ext cx="10972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445070"/>
                </a:solidFill>
                <a:latin typeface="Calibri"/>
              </a:rPr>
              <a:t>10 / 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71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vm-logo-h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6088" y="6254496"/>
            <a:ext cx="1645920" cy="441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38912"/>
            <a:ext cx="1127455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C9A84C"/>
                </a:solidFill>
                <a:latin typeface="Barlow Condensed"/>
              </a:rPr>
              <a:t>Three lines. That's the pitch.</a:t>
            </a:r>
          </a:p>
        </p:txBody>
      </p:sp>
      <p:sp>
        <p:nvSpPr>
          <p:cNvPr id="5" name="Rectangle 4"/>
          <p:cNvSpPr/>
          <p:nvPr/>
        </p:nvSpPr>
        <p:spPr>
          <a:xfrm>
            <a:off x="603504" y="914400"/>
            <a:ext cx="10945368" cy="1426464"/>
          </a:xfrm>
          <a:prstGeom prst="rect">
            <a:avLst/>
          </a:prstGeom>
          <a:solidFill>
            <a:srgbClr val="0E1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03504" y="914400"/>
            <a:ext cx="63500" cy="142646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1042416"/>
            <a:ext cx="18288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9A5BB"/>
                </a:solidFill>
                <a:latin typeface="Barlow Condensed"/>
              </a:rPr>
              <a:t>PROBLEM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1353312"/>
            <a:ext cx="10460736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9A84C"/>
                </a:solidFill>
                <a:latin typeface="Barlow Condensed"/>
              </a:rPr>
              <a:t>Enterprise work was built for a world without AI — coordination delays exist because humans couldn't act fast enough. AI changed the constraint. The operating model hasn't.</a:t>
            </a:r>
          </a:p>
        </p:txBody>
      </p:sp>
      <p:sp>
        <p:nvSpPr>
          <p:cNvPr id="9" name="Rectangle 8"/>
          <p:cNvSpPr/>
          <p:nvPr/>
        </p:nvSpPr>
        <p:spPr>
          <a:xfrm>
            <a:off x="603504" y="2468880"/>
            <a:ext cx="10945368" cy="1426464"/>
          </a:xfrm>
          <a:prstGeom prst="rect">
            <a:avLst/>
          </a:prstGeom>
          <a:solidFill>
            <a:srgbClr val="0E1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03504" y="2468880"/>
            <a:ext cx="63500" cy="142646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2596896"/>
            <a:ext cx="18288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9A5BB"/>
                </a:solidFill>
                <a:latin typeface="Barlow Condensed"/>
              </a:rPr>
              <a:t>SOLUTION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2907792"/>
            <a:ext cx="10460736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9A84C"/>
                </a:solidFill>
                <a:latin typeface="Barlow Condensed"/>
              </a:rPr>
              <a:t>170 Readiness Protocols. 221 strategic triggers. The response pre-staged before the trigger fires. Executives authorize in minutes, not meetings.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3504" y="4023360"/>
            <a:ext cx="10945368" cy="1426464"/>
          </a:xfrm>
          <a:prstGeom prst="rect">
            <a:avLst/>
          </a:prstGeom>
          <a:solidFill>
            <a:srgbClr val="0E1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03504" y="4023360"/>
            <a:ext cx="63500" cy="1426464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" y="4151376"/>
            <a:ext cx="18288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9A5BB"/>
                </a:solidFill>
                <a:latin typeface="Barlow Condensed"/>
              </a:rPr>
              <a:t>OUTCOME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4462272"/>
            <a:ext cx="10460736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Barlow Condensed"/>
              </a:rPr>
              <a:t>Any organization prepared for every situation it will face is no longer afraid of what comes next. It is fearless.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645920" y="5614416"/>
            <a:ext cx="8933688" cy="566928"/>
          </a:xfrm>
          <a:prstGeom prst="rect">
            <a:avLst/>
          </a:prstGeom>
          <a:solidFill>
            <a:srgbClr val="0A0F2E"/>
          </a:solidFill>
          <a:ln w="1016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737360" y="5705856"/>
            <a:ext cx="875080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C9A84C"/>
                </a:solidFill>
                <a:latin typeface="Barlow Condensed"/>
              </a:rPr>
              <a:t>Apply for Founding Partner Access  ·  vaughnmartin.com/founding-partner-program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0" y="6455664"/>
            <a:ext cx="10972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445070"/>
                </a:solidFill>
                <a:latin typeface="Calibri"/>
              </a:rPr>
              <a:t>11 /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