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ower-raw.png"/>
          <p:cNvPicPr>
            <a:picLocks noChangeAspect="1"/>
          </p:cNvPicPr>
          <p:nvPr/>
        </p:nvPicPr>
        <p:blipFill>
          <a:blip r:embed="rId2"/>
          <a:srcRect l="23092" r="23092"/>
          <a:stretch>
            <a:fillRect/>
          </a:stretch>
        </p:blipFill>
        <p:spPr>
          <a:xfrm>
            <a:off x="6492240" y="512064"/>
            <a:ext cx="5458968" cy="570585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492240" y="512064"/>
            <a:ext cx="5458968" cy="5705856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92240" y="5980176"/>
            <a:ext cx="5458968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6043676"/>
            <a:ext cx="52760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COMMAND TOWER · LIVE SIGNAL MONITORING · PRODUCTION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364224" y="512064"/>
            <a:ext cx="12700" cy="570585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vm-logo-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57200"/>
            <a:ext cx="2377440" cy="63841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4048" y="1115568"/>
            <a:ext cx="576072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87850"/>
                </a:solidFill>
                <a:latin typeface="Barlow Condensed"/>
              </a:rPr>
              <a:t>STRATEGIC READINESS PLATFORM · STARTUP TO FORTUNE 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408176"/>
            <a:ext cx="5760720" cy="2084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Barlow Condensed"/>
              </a:rPr>
              <a:t>The response is ready
before the trigger fires.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3584448"/>
            <a:ext cx="57607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9A5BB"/>
                </a:solidFill>
                <a:latin typeface="Barlow Condensed"/>
              </a:rPr>
              <a:t>Every enterprise plans to respond. VaughnMartin ensures
the response is already staged when the moment arrives.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4553712"/>
            <a:ext cx="5760720" cy="420624"/>
          </a:xfrm>
          <a:prstGeom prst="rect">
            <a:avLst/>
          </a:prstGeom>
          <a:solidFill>
            <a:srgbClr val="182250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" y="4642612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Barlow Condensed"/>
              </a:rPr>
              <a:t>Activist Investor  ·  91% confidence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5102352"/>
            <a:ext cx="5760720" cy="420624"/>
          </a:xfrm>
          <a:prstGeom prst="rect">
            <a:avLst/>
          </a:prstGeom>
          <a:solidFill>
            <a:srgbClr val="182250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" y="5191252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Barlow Condensed"/>
              </a:rPr>
              <a:t>Ransomware  ·  95% confidence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" y="5650992"/>
            <a:ext cx="5760720" cy="420624"/>
          </a:xfrm>
          <a:prstGeom prst="rect">
            <a:avLst/>
          </a:prstGeom>
          <a:solidFill>
            <a:srgbClr val="182250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6" y="5739892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Barlow Condensed"/>
              </a:rPr>
              <a:t>Regulatory Inquiry  ·  87% confidence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254496"/>
            <a:ext cx="12191695" cy="475488"/>
          </a:xfrm>
          <a:prstGeom prst="rect">
            <a:avLst/>
          </a:prstGeom>
          <a:solidFill>
            <a:srgbClr val="060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318504"/>
            <a:ext cx="112745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Barlow Condensed"/>
              </a:rPr>
              <a:t>AI monitors continuously.   Executives authorize decisively.   Teams execute.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29184" y="475488"/>
            <a:ext cx="5394960" cy="5687568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3504" y="658368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REALITY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1005840"/>
            <a:ext cx="3200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C9A84C"/>
                </a:solidFill>
                <a:latin typeface="Barlow Condensed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2798064"/>
            <a:ext cx="32004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Barlow Condensed"/>
              </a:rPr>
              <a:t>DAYS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3493008"/>
            <a:ext cx="4407408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3657600"/>
            <a:ext cx="4480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99A5BB"/>
                </a:solidFill>
                <a:latin typeface="Barlow Condensed"/>
              </a:rPr>
              <a:t>Average mobilization time before execution begins.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63056" y="475488"/>
            <a:ext cx="5696712" cy="5687568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376" y="658368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READINESS 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376" y="1005840"/>
            <a:ext cx="5303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C9A84C"/>
                </a:solidFill>
                <a:latin typeface="Barlow Condensed"/>
              </a:rPr>
              <a:t>Who calls who?
Where's the brief?
Who owns it? Who authorizes?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37376" y="3236976"/>
            <a:ext cx="512064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37376" y="3419856"/>
            <a:ext cx="5303520" cy="438912"/>
          </a:xfrm>
          <a:prstGeom prst="rect">
            <a:avLst/>
          </a:prstGeom>
          <a:solidFill>
            <a:srgbClr val="151F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65392" y="3493008"/>
            <a:ext cx="5047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Barlow Condensed"/>
              </a:rPr>
              <a:t>This is a readiness problem, not a talent problem.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7376" y="4005072"/>
            <a:ext cx="53035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9A5BB"/>
                </a:solidFill>
                <a:latin typeface="Barlow Condensed"/>
              </a:rPr>
              <a:t>— Coordination restarts from zero at every trigger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4572000"/>
            <a:ext cx="53035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9A5BB"/>
                </a:solidFill>
                <a:latin typeface="Barlow Condensed"/>
              </a:rPr>
              <a:t>— The strategic window closes before execution begins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0176" y="365760"/>
            <a:ext cx="6350" cy="5961888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PROBLEM IS ALREADY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11274552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Barlow Condensed"/>
              </a:rPr>
              <a:t>One of these is forming in your organization right 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1499616"/>
            <a:ext cx="3758184" cy="4224528"/>
          </a:xfrm>
          <a:prstGeom prst="rect">
            <a:avLst/>
          </a:prstGeom>
          <a:solidFill>
            <a:srgbClr val="101842"/>
          </a:solidFill>
          <a:ln w="10160">
            <a:solidFill>
              <a:srgbClr val="283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118104" y="1609344"/>
            <a:ext cx="877824" cy="402336"/>
          </a:xfrm>
          <a:prstGeom prst="rect">
            <a:avLst/>
          </a:prstGeom>
          <a:solidFill>
            <a:srgbClr val="060C28"/>
          </a:solidFill>
          <a:ln w="1778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18104" y="1609344"/>
            <a:ext cx="8778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B8A6E"/>
                </a:solidFill>
                <a:latin typeface="Barlow Condensed"/>
              </a:rPr>
              <a:t>95%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682496"/>
            <a:ext cx="2496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RISK &amp; RESILIENCE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2231136"/>
            <a:ext cx="342900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Barlow Condensed"/>
              </a:rPr>
              <a:t>Ransomware
Attack Confirmed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3328416"/>
            <a:ext cx="3429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9A5BB"/>
                </a:solidFill>
                <a:latin typeface="Barlow Condensed"/>
              </a:rPr>
              <a:t>Signal · 248 data points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" y="3749040"/>
            <a:ext cx="3429000" cy="508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2064" y="3749040"/>
            <a:ext cx="3257550" cy="5080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1499616"/>
            <a:ext cx="3758184" cy="4224528"/>
          </a:xfrm>
          <a:prstGeom prst="rect">
            <a:avLst/>
          </a:prstGeom>
          <a:solidFill>
            <a:srgbClr val="101842"/>
          </a:solidFill>
          <a:ln w="10160">
            <a:solidFill>
              <a:srgbClr val="283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68312" y="1609344"/>
            <a:ext cx="877824" cy="402336"/>
          </a:xfrm>
          <a:prstGeom prst="rect">
            <a:avLst/>
          </a:prstGeom>
          <a:solidFill>
            <a:srgbClr val="060C28"/>
          </a:solidFill>
          <a:ln w="1778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68312" y="1609344"/>
            <a:ext cx="8778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9A84C"/>
                </a:solidFill>
                <a:latin typeface="Barlow Condensed"/>
              </a:rPr>
              <a:t>87%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1682496"/>
            <a:ext cx="2496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REGULATORY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2231136"/>
            <a:ext cx="342900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Barlow Condensed"/>
              </a:rPr>
              <a:t>Regulatory
Inquiry Opened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272" y="3328416"/>
            <a:ext cx="3429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9A5BB"/>
                </a:solidFill>
                <a:latin typeface="Barlow Condensed"/>
              </a:rPr>
              <a:t>Signal · threshold crossed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62272" y="3749040"/>
            <a:ext cx="3429000" cy="508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62272" y="3749040"/>
            <a:ext cx="2983230" cy="508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47888" y="1499616"/>
            <a:ext cx="3758184" cy="4224528"/>
          </a:xfrm>
          <a:prstGeom prst="rect">
            <a:avLst/>
          </a:prstGeom>
          <a:solidFill>
            <a:srgbClr val="101842"/>
          </a:solidFill>
          <a:ln w="10160">
            <a:solidFill>
              <a:srgbClr val="283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018520" y="1609344"/>
            <a:ext cx="877824" cy="402336"/>
          </a:xfrm>
          <a:prstGeom prst="rect">
            <a:avLst/>
          </a:prstGeom>
          <a:solidFill>
            <a:srgbClr val="060C28"/>
          </a:solidFill>
          <a:ln w="1778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18520" y="1609344"/>
            <a:ext cx="8778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9A84C"/>
                </a:solidFill>
                <a:latin typeface="Barlow Condensed"/>
              </a:rPr>
              <a:t>82%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1682496"/>
            <a:ext cx="2496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GROWTH &amp; POSITIONING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2231136"/>
            <a:ext cx="342900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Barlow Condensed"/>
              </a:rPr>
              <a:t>Market Entry
Window Opening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3328416"/>
            <a:ext cx="3429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9A5BB"/>
                </a:solidFill>
                <a:latin typeface="Barlow Condensed"/>
              </a:rPr>
              <a:t>Opportunity · live monitor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12480" y="3749040"/>
            <a:ext cx="3429000" cy="508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412480" y="3749040"/>
            <a:ext cx="2811780" cy="508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9184" y="5870448"/>
            <a:ext cx="11530584" cy="384048"/>
          </a:xfrm>
          <a:prstGeom prst="rect">
            <a:avLst/>
          </a:prstGeom>
          <a:solidFill>
            <a:srgbClr val="101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5925312"/>
            <a:ext cx="11274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45880"/>
                </a:solidFill>
                <a:latin typeface="Barlow Condensed"/>
              </a:rPr>
              <a:t>221 triggers monitored  ·  248 data points  ·  refreshed every 15 minutes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9A84C"/>
                </a:solidFill>
                <a:latin typeface="Barlow Condensed"/>
              </a:rPr>
              <a:t>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731520"/>
            <a:ext cx="10360152" cy="104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Barlow Condensed"/>
              </a:rPr>
              <a:t>The response is ready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19072"/>
            <a:ext cx="10360152" cy="104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C9A84C"/>
                </a:solidFill>
                <a:latin typeface="Barlow Condensed"/>
              </a:rPr>
              <a:t>before the trigger fires.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98064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99A5BB"/>
                </a:solidFill>
                <a:latin typeface="Barlow Condensed"/>
              </a:rPr>
              <a:t>Preparation  →  Readiness  →  Fearless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3048" y="3328416"/>
            <a:ext cx="457200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511296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C9A84C"/>
                </a:solidFill>
                <a:latin typeface="Barlow Condensed"/>
              </a:rPr>
              <a:t>170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590288"/>
            <a:ext cx="365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Barlow Condensed"/>
              </a:rPr>
              <a:t>Readiness Protocols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3511296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C9A84C"/>
                </a:solidFill>
                <a:latin typeface="Barlow Condensed"/>
              </a:rPr>
              <a:t>221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1688" y="4590288"/>
            <a:ext cx="365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Barlow Condensed"/>
              </a:rPr>
              <a:t>Strategic Triggers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0456" y="3511296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C9A84C"/>
                </a:solidFill>
                <a:latin typeface="Barlow Condensed"/>
              </a:rPr>
              <a:t>12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0456" y="4590288"/>
            <a:ext cx="365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Barlow Condensed"/>
              </a:rPr>
              <a:t>Execution Window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5577840"/>
            <a:ext cx="8531352" cy="475488"/>
          </a:xfrm>
          <a:prstGeom prst="rect">
            <a:avLst/>
          </a:prstGeom>
          <a:solidFill>
            <a:srgbClr val="0A0F2E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20240" y="5669280"/>
            <a:ext cx="834847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  <a:latin typeface="Barlow Condensed"/>
              </a:rPr>
              <a:t>AI monitors.   Executives authorize.   Teams execute.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WHY THIS IS DEFENSIBLE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112745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Barlow Condensed"/>
              </a:rPr>
              <a:t>The architecture that separates execution from mobilization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11274552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" y="1591056"/>
            <a:ext cx="5687568" cy="3840480"/>
          </a:xfrm>
          <a:prstGeom prst="rect">
            <a:avLst/>
          </a:prstGeom>
          <a:solidFill>
            <a:srgbClr val="1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1755648"/>
            <a:ext cx="5358384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888"/>
                </a:solidFill>
                <a:latin typeface="Barlow Condensed"/>
              </a:rPr>
              <a:t>Old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2084832"/>
            <a:ext cx="535838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Faster notes from the same slow meetings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2724912"/>
            <a:ext cx="535838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No readiness architecture before triggers fire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3364992"/>
            <a:ext cx="535838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Authority unclear when pressure arrives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4005072"/>
            <a:ext cx="535838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Governance added after the fact — if at 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4645152"/>
            <a:ext cx="535838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30-day mobilization before execution starts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1591056"/>
            <a:ext cx="5687568" cy="3840480"/>
          </a:xfrm>
          <a:prstGeom prst="rect">
            <a:avLst/>
          </a:prstGeom>
          <a:solidFill>
            <a:srgbClr val="081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755648"/>
            <a:ext cx="5358384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Barlow Condensed"/>
              </a:rPr>
              <a:t>VaughnMartin Readiness 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084832"/>
            <a:ext cx="535838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Response pre-staged before trigger fires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724912"/>
            <a:ext cx="535838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170 protocols mapped to 221 strategic triggers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364992"/>
            <a:ext cx="535838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Human authorization gate at every activation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4005072"/>
            <a:ext cx="535838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Audit trail built in — board-ready from day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645152"/>
            <a:ext cx="535838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12-minute execution window from signal to action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1591056"/>
            <a:ext cx="6350" cy="384048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rotocols-raw.png"/>
          <p:cNvPicPr>
            <a:picLocks noChangeAspect="1"/>
          </p:cNvPicPr>
          <p:nvPr/>
        </p:nvPicPr>
        <p:blipFill>
          <a:blip r:embed="rId3"/>
          <a:srcRect t="-471553" b="-471553"/>
          <a:stretch>
            <a:fillRect/>
          </a:stretch>
        </p:blipFill>
        <p:spPr>
          <a:xfrm>
            <a:off x="329184" y="5559552"/>
            <a:ext cx="11530584" cy="621792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329184" y="5559552"/>
            <a:ext cx="11530584" cy="621792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9184" y="5559552"/>
            <a:ext cx="11530584" cy="621792"/>
          </a:xfrm>
          <a:prstGeom prst="rect">
            <a:avLst/>
          </a:prstGeom>
          <a:solidFill>
            <a:srgbClr val="06081A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5737352"/>
            <a:ext cx="1127455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9A84C"/>
                </a:solidFill>
                <a:latin typeface="Barlow Condensed"/>
              </a:rPr>
              <a:t>LIVE PLATFORM  ·  170 Readiness Protocols  ·  startup to Fortune 500  ·  vaughnmartin.com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PROOF OF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11274552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Barlow Condensed"/>
              </a:rPr>
              <a:t>From Signal to Authorized Execution in 12 Minutes</a:t>
            </a:r>
          </a:p>
        </p:txBody>
      </p:sp>
      <p:pic>
        <p:nvPicPr>
          <p:cNvPr id="6" name="Picture 5" descr="signals-raw.png"/>
          <p:cNvPicPr>
            <a:picLocks noChangeAspect="1"/>
          </p:cNvPicPr>
          <p:nvPr/>
        </p:nvPicPr>
        <p:blipFill>
          <a:blip r:embed="rId3"/>
          <a:srcRect t="-6" b="-6"/>
          <a:stretch>
            <a:fillRect/>
          </a:stretch>
        </p:blipFill>
        <p:spPr>
          <a:xfrm>
            <a:off x="329184" y="1481328"/>
            <a:ext cx="5623560" cy="316285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29184" y="1481328"/>
            <a:ext cx="5623560" cy="3162857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9184" y="4406441"/>
            <a:ext cx="5623560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4469941"/>
            <a:ext cx="5440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LIVE TRIGGER DETECTION · CONFIDENCE SCORING · STARTUP TO FORTUNE 500</a:t>
            </a:r>
          </a:p>
        </p:txBody>
      </p:sp>
      <p:pic>
        <p:nvPicPr>
          <p:cNvPr id="10" name="Picture 9" descr="builder-raw.png"/>
          <p:cNvPicPr>
            <a:picLocks noChangeAspect="1"/>
          </p:cNvPicPr>
          <p:nvPr/>
        </p:nvPicPr>
        <p:blipFill>
          <a:blip r:embed="rId4"/>
          <a:srcRect t="-112" b="-112"/>
          <a:stretch>
            <a:fillRect/>
          </a:stretch>
        </p:blipFill>
        <p:spPr>
          <a:xfrm>
            <a:off x="6227064" y="1481328"/>
            <a:ext cx="5635447" cy="316285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27064" y="1481328"/>
            <a:ext cx="5635447" cy="3162857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7064" y="4406441"/>
            <a:ext cx="5635447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18504" y="4469941"/>
            <a:ext cx="545256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PRE-STAGED PROTOCOL · STAKEHOLDERS · AUTHORITY · TASKS READY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4753913"/>
            <a:ext cx="12191695" cy="1957782"/>
          </a:xfrm>
          <a:prstGeom prst="rect">
            <a:avLst/>
          </a:prstGeom>
          <a:solidFill>
            <a:srgbClr val="060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845353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9A84C"/>
                </a:solidFill>
                <a:latin typeface="Barlow Condensed"/>
              </a:rPr>
              <a:t>AI monitors.     Executives authorize.     Teams execute.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93993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9A5BB"/>
                </a:solidFill>
                <a:latin typeface="Barlow Condensed"/>
              </a:rPr>
              <a:t>170 protocols  ·  221 triggers  ·  248 data points  ·  15-minute refresh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BUSINESS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7132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arlow Condensed"/>
              </a:rPr>
              <a:t>Readiness is not overhead.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9888"/>
            <a:ext cx="7132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C9A84C"/>
                </a:solidFill>
                <a:latin typeface="Barlow Condensed"/>
              </a:rPr>
              <a:t>It is value protection.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31136"/>
            <a:ext cx="11274552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414016"/>
            <a:ext cx="5120640" cy="1243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C9A84C"/>
                </a:solidFill>
                <a:latin typeface="Barlow Condensed"/>
              </a:rPr>
              <a:t>3,600×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47872"/>
            <a:ext cx="512064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9A5BB"/>
                </a:solidFill>
                <a:latin typeface="Barlow Condensed"/>
              </a:rPr>
              <a:t>Execution head start — 30 days compressed to 12 minutes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895344"/>
            <a:ext cx="512064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096512"/>
            <a:ext cx="5120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A84C"/>
                </a:solidFill>
                <a:latin typeface="Barlow Condensed"/>
              </a:rPr>
              <a:t>▶  Founding Partner: $75K / 90-day 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663440"/>
            <a:ext cx="5120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Barlow Condensed"/>
              </a:rPr>
              <a:t>▶  Growth: $75K–$250K annually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230368"/>
            <a:ext cx="5120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B8A6E"/>
                </a:solidFill>
                <a:latin typeface="Barlow Condensed"/>
              </a:rPr>
              <a:t>▶  Cost of delay is often higher than cost of readiness.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2359152"/>
            <a:ext cx="5623560" cy="3803904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2542032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COMMERCIAL LOGIC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408" y="2743200"/>
            <a:ext cx="5084064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9A5BB"/>
                </a:solidFill>
                <a:latin typeface="Barlow Condensed"/>
              </a:rPr>
              <a:t>Replaces the $400K–$800K consulting retainer.
Break-even before the 2nd activation.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528" y="3540760"/>
            <a:ext cx="508406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3566160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FOUNDING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05088" y="3566160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9A84C"/>
                </a:solidFill>
                <a:latin typeface="Barlow Condensed"/>
              </a:rPr>
              <a:t>$75K / 90 days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10528" y="4144264"/>
            <a:ext cx="508406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4169664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GROWTH TIER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05088" y="4169664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Barlow Condensed"/>
              </a:rPr>
              <a:t>$75K–$250K annually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10528" y="4747768"/>
            <a:ext cx="508406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0528" y="4773168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COHORT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05088" y="4773168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Barlow Condensed"/>
              </a:rPr>
              <a:t>startup to Fortune 500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10528" y="5351272"/>
            <a:ext cx="508406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528" y="5376672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BOARD 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05088" y="5376672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B8A6E"/>
                </a:solidFill>
                <a:latin typeface="Barlow Condensed"/>
              </a:rPr>
              <a:t>Cost of delay &gt; cost of readiness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53328" y="2176272"/>
            <a:ext cx="6350" cy="4078224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BUILT. LIVE. IN PRODUCTION.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112745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Barlow Condensed"/>
              </a:rPr>
              <a:t>Not a roadmap — operating 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" y="1481328"/>
            <a:ext cx="2834640" cy="987552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1517904"/>
            <a:ext cx="2834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C9A84C"/>
                </a:solidFill>
                <a:latin typeface="Barlow Condensed"/>
              </a:rPr>
              <a:t>170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2103120"/>
            <a:ext cx="283464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9A5BB"/>
                </a:solidFill>
                <a:latin typeface="Barlow Condensed"/>
              </a:rPr>
              <a:t>Protocols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481328"/>
            <a:ext cx="2834640" cy="987552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1517904"/>
            <a:ext cx="2834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C9A84C"/>
                </a:solidFill>
                <a:latin typeface="Barlow Condensed"/>
              </a:rPr>
              <a:t>221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103120"/>
            <a:ext cx="283464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9A5BB"/>
                </a:solidFill>
                <a:latin typeface="Barlow Condensed"/>
              </a:rPr>
              <a:t>Triggers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54496" y="1481328"/>
            <a:ext cx="2834640" cy="987552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54496" y="1517904"/>
            <a:ext cx="2834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B8A6E"/>
                </a:solidFill>
                <a:latin typeface="Barlow Condensed"/>
              </a:rPr>
              <a:t>248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4496" y="2103120"/>
            <a:ext cx="283464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9A5BB"/>
                </a:solidFill>
                <a:latin typeface="Barlow Condensed"/>
              </a:rPr>
              <a:t>Data Points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17152" y="1481328"/>
            <a:ext cx="2834640" cy="987552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17152" y="1517904"/>
            <a:ext cx="2834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C9A84C"/>
                </a:solidFill>
                <a:latin typeface="Barlow Condensed"/>
              </a:rPr>
              <a:t>15m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17152" y="2103120"/>
            <a:ext cx="283464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9A5BB"/>
                </a:solidFill>
                <a:latin typeface="Barlow Condensed"/>
              </a:rPr>
              <a:t>Refresh</a:t>
            </a:r>
          </a:p>
        </p:txBody>
      </p:sp>
      <p:pic>
        <p:nvPicPr>
          <p:cNvPr id="18" name="Picture 17" descr="signals-raw.png"/>
          <p:cNvPicPr>
            <a:picLocks noChangeAspect="1"/>
          </p:cNvPicPr>
          <p:nvPr/>
        </p:nvPicPr>
        <p:blipFill>
          <a:blip r:embed="rId3"/>
          <a:srcRect t="-17871" b="-17871"/>
          <a:stretch>
            <a:fillRect/>
          </a:stretch>
        </p:blipFill>
        <p:spPr>
          <a:xfrm>
            <a:off x="329184" y="2633472"/>
            <a:ext cx="7370064" cy="3054096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329184" y="2633472"/>
            <a:ext cx="7370064" cy="3054096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9184" y="5449824"/>
            <a:ext cx="7370064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0624" y="5513324"/>
            <a:ext cx="7187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SIGNAL INTELLIGENCE FEED · LIVE DETECTIONS · VAUGHNMARTIN.COM</a:t>
            </a:r>
          </a:p>
        </p:txBody>
      </p:sp>
      <p:pic>
        <p:nvPicPr>
          <p:cNvPr id="22" name="Picture 21" descr="activation-raw.png"/>
          <p:cNvPicPr>
            <a:picLocks noChangeAspect="1"/>
          </p:cNvPicPr>
          <p:nvPr/>
        </p:nvPicPr>
        <p:blipFill>
          <a:blip r:embed="rId4"/>
          <a:srcRect l="14187" r="14187"/>
          <a:stretch>
            <a:fillRect/>
          </a:stretch>
        </p:blipFill>
        <p:spPr>
          <a:xfrm>
            <a:off x="7973568" y="2633472"/>
            <a:ext cx="3888943" cy="305409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7973568" y="2633472"/>
            <a:ext cx="3888943" cy="3054096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73568" y="5449824"/>
            <a:ext cx="3888943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65008" y="5513324"/>
            <a:ext cx="370606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LIVE ACTIVATION CONSOLE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pic>
        <p:nvPicPr>
          <p:cNvPr id="4" name="Picture 3" descr="home-raw.png"/>
          <p:cNvPicPr>
            <a:picLocks noChangeAspect="1"/>
          </p:cNvPicPr>
          <p:nvPr/>
        </p:nvPicPr>
        <p:blipFill>
          <a:blip r:embed="rId3"/>
          <a:srcRect t="-6" b="-6"/>
          <a:stretch>
            <a:fillRect/>
          </a:stretch>
        </p:blipFill>
        <p:spPr>
          <a:xfrm>
            <a:off x="6400800" y="1848137"/>
            <a:ext cx="5458968" cy="307028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0" y="1848137"/>
            <a:ext cx="5458968" cy="3070285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0" y="4680678"/>
            <a:ext cx="5458968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4744178"/>
            <a:ext cx="52760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READINESS OS · PRODUCTION PLATFORM · VAUGHNMARTIN.COM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2784" y="512064"/>
            <a:ext cx="12700" cy="5742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A68"/>
                </a:solidFill>
                <a:latin typeface="Barlow Condensed"/>
              </a:rPr>
              <a:t>WHY NOW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749808"/>
            <a:ext cx="5632704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A0F2E"/>
                </a:solidFill>
                <a:latin typeface="Barlow Condensed"/>
              </a:rPr>
              <a:t>AI capability is accelerating faster than enterprise readiness.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847088"/>
            <a:ext cx="5632704" cy="19050"/>
          </a:xfrm>
          <a:prstGeom prst="rect">
            <a:avLst/>
          </a:prstGeom>
          <a:solidFill>
            <a:srgbClr val="887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066543"/>
            <a:ext cx="658368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9A84C"/>
                </a:solidFill>
                <a:latin typeface="Barlow Condense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066543"/>
            <a:ext cx="490118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A0F2E"/>
                </a:solidFill>
                <a:latin typeface="Barlow Condensed"/>
              </a:rPr>
              <a:t>AI capability accelerating. Enterprise mobilization readiness is not.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36975"/>
            <a:ext cx="658368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9A84C"/>
                </a:solidFill>
                <a:latin typeface="Barlow Condense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236975"/>
            <a:ext cx="490118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A0F2E"/>
                </a:solidFill>
                <a:latin typeface="Barlow Condensed"/>
              </a:rPr>
              <a:t>Execution readiness is now the competitive bottleneck.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407407"/>
            <a:ext cx="658368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9A84C"/>
                </a:solidFill>
                <a:latin typeface="Barlow Condense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407407"/>
            <a:ext cx="490118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A0F2E"/>
                </a:solidFill>
                <a:latin typeface="Barlow Condensed"/>
              </a:rPr>
              <a:t>Winners pair signal detection with governed 12-minute execution.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577840"/>
            <a:ext cx="5632704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9A5BB"/>
                </a:solidFill>
                <a:latin typeface="Barlow Condensed"/>
              </a:rPr>
              <a:t>Sources: Stanford HAI AI Index 2026  ·  Gartner Autonomous Business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457200"/>
            <a:ext cx="1664208" cy="44688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176272" y="51206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" y="950976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Barlow Condensed"/>
              </a:rPr>
              <a:t>Twelve founding partners. One defining cohort.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" y="1737360"/>
            <a:ext cx="11530584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" y="1883664"/>
            <a:ext cx="1810512" cy="1170432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" y="1938528"/>
            <a:ext cx="181051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9A84C"/>
                </a:solidFill>
                <a:latin typeface="Barlow Condensed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2542032"/>
            <a:ext cx="18105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9A5BB"/>
                </a:solidFill>
                <a:latin typeface="Barlow Condensed"/>
              </a:rPr>
              <a:t>Founding
Partners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49424" y="1883664"/>
            <a:ext cx="1810512" cy="1170432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49424" y="1938528"/>
            <a:ext cx="181051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9A84C"/>
                </a:solidFill>
                <a:latin typeface="Barlow Condensed"/>
              </a:rPr>
              <a:t>$75K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9424" y="2542032"/>
            <a:ext cx="18105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9A5BB"/>
                </a:solidFill>
                <a:latin typeface="Barlow Condensed"/>
              </a:rPr>
              <a:t>90-Day
Validation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9664" y="1883664"/>
            <a:ext cx="1810512" cy="1170432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69664" y="1938528"/>
            <a:ext cx="181051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9A84C"/>
                </a:solidFill>
                <a:latin typeface="Barlow Condensed"/>
              </a:rPr>
              <a:t>F500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9664" y="2542032"/>
            <a:ext cx="18105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9A5BB"/>
                </a:solidFill>
                <a:latin typeface="Barlow Condensed"/>
              </a:rPr>
              <a:t>Startup to
Fortune 500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" y="3218688"/>
            <a:ext cx="544982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99A5BB"/>
                </a:solidFill>
                <a:latin typeface="Barlow Condensed"/>
              </a:rPr>
              <a:t>Partners who want readiness as competitive advantage.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" y="3749039"/>
            <a:ext cx="544982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" y="3803903"/>
            <a:ext cx="164592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PROGRAM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" y="3986783"/>
            <a:ext cx="5449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Barlow Condensed"/>
              </a:rPr>
              <a:t>Founding Partner · 90-Day Validation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9184" y="4270246"/>
            <a:ext cx="544982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9184" y="4325110"/>
            <a:ext cx="164592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COMMERCIAL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" y="4507990"/>
            <a:ext cx="5449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9A84C"/>
                </a:solidFill>
                <a:latin typeface="Barlow Condensed"/>
              </a:rPr>
              <a:t>$75K / 90 days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9184" y="4791453"/>
            <a:ext cx="544982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9184" y="4846317"/>
            <a:ext cx="164592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COHORT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" y="5029197"/>
            <a:ext cx="5449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Barlow Condensed"/>
              </a:rPr>
              <a:t>12 startup to Fortune 500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9184" y="5449824"/>
            <a:ext cx="5449824" cy="457200"/>
          </a:xfrm>
          <a:prstGeom prst="rect">
            <a:avLst/>
          </a:prstGeom>
          <a:solidFill>
            <a:srgbClr val="0A0F2E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0624" y="5522976"/>
            <a:ext cx="526694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Barlow Condensed"/>
              </a:rPr>
              <a:t>Apply for Founding Partner Access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61888" y="1737360"/>
            <a:ext cx="6350" cy="4425696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home-raw.png"/>
          <p:cNvPicPr>
            <a:picLocks noChangeAspect="1"/>
          </p:cNvPicPr>
          <p:nvPr/>
        </p:nvPicPr>
        <p:blipFill>
          <a:blip r:embed="rId3"/>
          <a:srcRect t="-9429" b="-9429"/>
          <a:stretch>
            <a:fillRect/>
          </a:stretch>
        </p:blipFill>
        <p:spPr>
          <a:xfrm>
            <a:off x="6144768" y="1737360"/>
            <a:ext cx="5641848" cy="2670048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144768" y="1737360"/>
            <a:ext cx="5641848" cy="2670048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44768" y="4169664"/>
            <a:ext cx="5641848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36208" y="4233164"/>
            <a:ext cx="54589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READINESS OS · PRODUCTION PLATFORM · VAUGHNMARTIN.COM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44768" y="4572000"/>
            <a:ext cx="5641848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4608576"/>
            <a:ext cx="14630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9A5BB"/>
                </a:solidFill>
                <a:latin typeface="Barlow Condensed"/>
              </a:rPr>
              <a:t>DELIVERY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99248" y="4608576"/>
            <a:ext cx="40599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Barlow Condensed"/>
              </a:rPr>
              <a:t>Right-sized by organization maturity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44768" y="4956048"/>
            <a:ext cx="5641848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44768" y="4992624"/>
            <a:ext cx="14630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9A5BB"/>
                </a:solidFill>
                <a:latin typeface="Barlow Condensed"/>
              </a:rPr>
              <a:t>SECTORS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99248" y="4992624"/>
            <a:ext cx="40599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Barlow Condensed"/>
              </a:rPr>
              <a:t>All industries · 6 sector packs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44768" y="5340096"/>
            <a:ext cx="5641848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44768" y="5376672"/>
            <a:ext cx="14630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9A5BB"/>
                </a:solidFill>
                <a:latin typeface="Barlow Condensed"/>
              </a:rPr>
              <a:t>RAISE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99248" y="5376672"/>
            <a:ext cx="40599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9A5BB"/>
                </a:solidFill>
                <a:latin typeface="Barlow Condensed"/>
              </a:rPr>
              <a:t>Open strategic raise · active conversations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44768" y="5724144"/>
            <a:ext cx="5641848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44768" y="5760720"/>
            <a:ext cx="14630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9A5BB"/>
                </a:solidFill>
                <a:latin typeface="Barlow Condensed"/>
              </a:rPr>
              <a:t>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99248" y="5760720"/>
            <a:ext cx="40599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B8A6E"/>
                </a:solidFill>
                <a:latin typeface="Barlow Condensed"/>
              </a:rPr>
              <a:t>vaughnmartin.com/founding-partner-program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6088" y="6254496"/>
            <a:ext cx="1645920" cy="441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38912"/>
            <a:ext cx="1127455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9A84C"/>
                </a:solidFill>
                <a:latin typeface="Barlow Condensed"/>
              </a:rPr>
              <a:t>Three lines. That's the pitch.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914400"/>
            <a:ext cx="10945368" cy="1426464"/>
          </a:xfrm>
          <a:prstGeom prst="rect">
            <a:avLst/>
          </a:prstGeom>
          <a:solidFill>
            <a:srgbClr val="0E1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4" y="914400"/>
            <a:ext cx="63500" cy="14264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042416"/>
            <a:ext cx="1828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353312"/>
            <a:ext cx="10460736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9A84C"/>
                </a:solidFill>
                <a:latin typeface="Barlow Condensed"/>
              </a:rPr>
              <a:t>Enterprise work was designed for a world without AI. Committees, cycles, and coordination delays exist because humans couldn't process information fast enough to act decisively.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2468880"/>
            <a:ext cx="10945368" cy="1426464"/>
          </a:xfrm>
          <a:prstGeom prst="rect">
            <a:avLst/>
          </a:prstGeom>
          <a:solidFill>
            <a:srgbClr val="0E1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" y="2468880"/>
            <a:ext cx="63500" cy="14264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596896"/>
            <a:ext cx="1828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907792"/>
            <a:ext cx="10460736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9A84C"/>
                </a:solidFill>
                <a:latin typeface="Barlow Condensed"/>
              </a:rPr>
              <a:t>VaughnMartin pre-stages every response. 170 Readiness Protocols map to 221 strategic triggers — so executives authorize in minutes, not meetings.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" y="4023360"/>
            <a:ext cx="10945368" cy="1426464"/>
          </a:xfrm>
          <a:prstGeom prst="rect">
            <a:avLst/>
          </a:prstGeom>
          <a:solidFill>
            <a:srgbClr val="0E1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3504" y="4023360"/>
            <a:ext cx="63500" cy="1426464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4151376"/>
            <a:ext cx="1828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OUTCOME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4462272"/>
            <a:ext cx="10460736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Barlow Condensed"/>
              </a:rPr>
              <a:t>Any organization prepared for every situation it will face is no longer afraid of strategic triggers. It is fearless.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5920" y="5614416"/>
            <a:ext cx="8933688" cy="566928"/>
          </a:xfrm>
          <a:prstGeom prst="rect">
            <a:avLst/>
          </a:prstGeom>
          <a:solidFill>
            <a:srgbClr val="0A0F2E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37360" y="5705856"/>
            <a:ext cx="87508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9A84C"/>
                </a:solidFill>
                <a:latin typeface="Barlow Condensed"/>
              </a:rPr>
              <a:t>Apply for Founding Partner Access  ·  vaughnmartin.com/founding-partner-program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