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ower-raw.png"/>
          <p:cNvPicPr>
            <a:picLocks noChangeAspect="1"/>
          </p:cNvPicPr>
          <p:nvPr/>
        </p:nvPicPr>
        <p:blipFill>
          <a:blip r:embed="rId2"/>
          <a:srcRect l="23092" r="23092"/>
          <a:stretch>
            <a:fillRect/>
          </a:stretch>
        </p:blipFill>
        <p:spPr>
          <a:xfrm>
            <a:off x="6492240" y="512064"/>
            <a:ext cx="5458968" cy="570585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92240" y="512064"/>
            <a:ext cx="5458968" cy="5705856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92240" y="5980176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6043676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COMMAND TOWER · LIVE SIGNAL MONITORING · 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64224" y="512064"/>
            <a:ext cx="12700" cy="570585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m-logo-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57200"/>
            <a:ext cx="2377440" cy="6384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4048" y="1115568"/>
            <a:ext cx="576072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7850"/>
                </a:solidFill>
                <a:latin typeface="Barlow Condensed"/>
              </a:rPr>
              <a:t>STRATEGIC READINESS PLATFORM · STARTUP TO FORTUNE 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5760720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Barlow Condensed"/>
              </a:rPr>
              <a:t>The response is ready
before the trigger fires.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584448"/>
            <a:ext cx="5760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A5BB"/>
                </a:solidFill>
                <a:latin typeface="Barlow Condensed"/>
              </a:rPr>
              <a:t>Every enterprise plans to respond. VaughnMartin ensures
the response is already staged when the moment arrives.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455371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464261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Activist Investor  ·  91% confidence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510235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519125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Ransomware  ·  95% confidence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565099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573989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Regulatory Inquiry  ·  87% confidence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254496"/>
            <a:ext cx="12191695" cy="475488"/>
          </a:xfrm>
          <a:prstGeom prst="rect">
            <a:avLst/>
          </a:prstGeom>
          <a:solidFill>
            <a:srgbClr val="06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318504"/>
            <a:ext cx="11274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AI monitors continuously.   Executives authorize decisively.   Teams execute.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29184" y="475488"/>
            <a:ext cx="5394960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005840"/>
            <a:ext cx="3200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C9A84C"/>
                </a:solidFill>
                <a:latin typeface="Barlow Condensed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798064"/>
            <a:ext cx="3200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Barlow Condensed"/>
              </a:rPr>
              <a:t>DAYS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493008"/>
            <a:ext cx="4407408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3657600"/>
            <a:ext cx="4480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Average mobilization time before execution begins.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475488"/>
            <a:ext cx="5696712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READINESS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376" y="100584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9A84C"/>
                </a:solidFill>
                <a:latin typeface="Barlow Condensed"/>
              </a:rPr>
              <a:t>Who calls who?
Where's the brief?
Who owns it? Who authorizes?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37376" y="3236976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7376" y="3419856"/>
            <a:ext cx="5303520" cy="438912"/>
          </a:xfrm>
          <a:prstGeom prst="rect">
            <a:avLst/>
          </a:prstGeom>
          <a:solidFill>
            <a:srgbClr val="151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3493008"/>
            <a:ext cx="5047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Barlow Condensed"/>
              </a:rPr>
              <a:t>This is a readiness problem, not a talent problem.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4005072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Coordination restarts from zero at every trigger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4572000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The strategic window closes before execution begins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0176" y="365760"/>
            <a:ext cx="6350" cy="5961888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PROBLEM IS ALREADY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Barlow Condensed"/>
              </a:rPr>
              <a:t>One of these is forming in your organization right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B8A6E"/>
                </a:solidFill>
                <a:latin typeface="Barlow Condensed"/>
              </a:rPr>
              <a:t>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Ransomware
Attack Confirmed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248 data 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3749040"/>
            <a:ext cx="3257550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REGULATORY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Regulatory
Inquiry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threshold crossed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62272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62272" y="3749040"/>
            <a:ext cx="298323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47888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GROWTH &amp; POSITIONING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Market Entry
Window Opening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Opportunity · live monitor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12480" y="3749040"/>
            <a:ext cx="281178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9184" y="5870448"/>
            <a:ext cx="11530584" cy="384048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925312"/>
            <a:ext cx="11274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5880"/>
                </a:solidFill>
                <a:latin typeface="Barlow Condensed"/>
              </a:rPr>
              <a:t>221 triggers monitored  ·  248 data points  ·  refreshed every 15 minutes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31520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Barlow Condensed"/>
              </a:rPr>
              <a:t>The response is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C9A84C"/>
                </a:solidFill>
                <a:latin typeface="Barlow Condensed"/>
              </a:rPr>
              <a:t>before the trigger fires.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98064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A5BB"/>
                </a:solidFill>
                <a:latin typeface="Barlow Condensed"/>
              </a:rPr>
              <a:t>Preparation  →  Readiness  →  Fearless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3048" y="3328416"/>
            <a:ext cx="45720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Readiness Protocols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Strategic Triggers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0456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  <a:latin typeface="Barlow Condensed"/>
              </a:rPr>
              <a:t>12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Execution 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5577840"/>
            <a:ext cx="8531352" cy="475488"/>
          </a:xfrm>
          <a:prstGeom prst="rect">
            <a:avLst/>
          </a:prstGeom>
          <a:solidFill>
            <a:srgbClr val="0A0F2E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5669280"/>
            <a:ext cx="83484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AI monitors.   Executives authorize.   Teams execute.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WHY THIS IS DEFENSIBLE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arlow Condensed"/>
              </a:rPr>
              <a:t>The architecture that separates execution from mobilization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1591056"/>
            <a:ext cx="5687568" cy="3840480"/>
          </a:xfrm>
          <a:prstGeom prst="rect">
            <a:avLst/>
          </a:prstGeom>
          <a:solidFill>
            <a:srgbClr val="1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888"/>
                </a:solidFill>
                <a:latin typeface="Barlow Condensed"/>
              </a:rPr>
              <a:t>Old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08483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Faster notes from the same slow meetings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72491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No readiness architecture before triggers 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336499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Authority unclear when pressure arrives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400507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Governance added after the fact — if at 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64515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30-day mobilization before execution starts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591056"/>
            <a:ext cx="5687568" cy="3840480"/>
          </a:xfrm>
          <a:prstGeom prst="rect">
            <a:avLst/>
          </a:prstGeom>
          <a:solidFill>
            <a:srgbClr val="08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VaughnMartin Readiness 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08483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Response pre-staged before trigger fires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2491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170 protocols mapped to 221 strategic triggers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36499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Human authorization gate at every activation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00507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Audit trail built in — board-ready from day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64515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12-minute execution window from signal to action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591056"/>
            <a:ext cx="6350" cy="384048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rotocols-raw.png"/>
          <p:cNvPicPr>
            <a:picLocks noChangeAspect="1"/>
          </p:cNvPicPr>
          <p:nvPr/>
        </p:nvPicPr>
        <p:blipFill>
          <a:blip r:embed="rId3"/>
          <a:srcRect t="-471553" b="-471553"/>
          <a:stretch>
            <a:fillRect/>
          </a:stretch>
        </p:blipFill>
        <p:spPr>
          <a:xfrm>
            <a:off x="329184" y="5559552"/>
            <a:ext cx="11530584" cy="621792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solidFill>
            <a:srgbClr val="0608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737352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LIVE PLATFORM  ·  170 Readiness Protocols  ·  startup to Fortune 500  ·  vaughnmartin.com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PROOF OF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Barlow Condensed"/>
              </a:rPr>
              <a:t>From Signal to Authorized Execution in 12 Minutes</a:t>
            </a:r>
          </a:p>
        </p:txBody>
      </p:sp>
      <p:pic>
        <p:nvPicPr>
          <p:cNvPr id="6" name="Picture 5" descr="signals-raw.png"/>
          <p:cNvPicPr>
            <a:picLocks noChangeAspect="1"/>
          </p:cNvPicPr>
          <p:nvPr/>
        </p:nvPicPr>
        <p:blipFill>
          <a:blip r:embed="rId3"/>
          <a:srcRect l="9670" r="9670"/>
          <a:stretch>
            <a:fillRect/>
          </a:stretch>
        </p:blipFill>
        <p:spPr>
          <a:xfrm>
            <a:off x="329184" y="1444752"/>
            <a:ext cx="5559552" cy="387705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29184" y="1444752"/>
            <a:ext cx="5559552" cy="3877056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184" y="5084064"/>
            <a:ext cx="5559552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5147564"/>
            <a:ext cx="5376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TRIGGER DETECTION · CONFIDENCE SCORING · STARTUP TO FORTUNE 500</a:t>
            </a:r>
          </a:p>
        </p:txBody>
      </p:sp>
      <p:pic>
        <p:nvPicPr>
          <p:cNvPr id="10" name="Picture 9" descr="builder-raw.png"/>
          <p:cNvPicPr>
            <a:picLocks noChangeAspect="1"/>
          </p:cNvPicPr>
          <p:nvPr/>
        </p:nvPicPr>
        <p:blipFill>
          <a:blip r:embed="rId4"/>
          <a:srcRect l="8655" r="8655"/>
          <a:stretch>
            <a:fillRect/>
          </a:stretch>
        </p:blipFill>
        <p:spPr>
          <a:xfrm>
            <a:off x="6163056" y="1444752"/>
            <a:ext cx="5699455" cy="387705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63056" y="1444752"/>
            <a:ext cx="5699455" cy="3877056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63056" y="5084064"/>
            <a:ext cx="5699455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5147564"/>
            <a:ext cx="551657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PRE-STAGED PROTOCOL · STAKEHOLDERS · AUTHORITY · TASKS READY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394960"/>
            <a:ext cx="12191695" cy="822960"/>
          </a:xfrm>
          <a:prstGeom prst="rect">
            <a:avLst/>
          </a:prstGeom>
          <a:solidFill>
            <a:srgbClr val="060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504688"/>
            <a:ext cx="112745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Barlow Condensed"/>
              </a:rPr>
              <a:t>AI monitors.     Executives authorize.     Teams execute.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980176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170 protocols  ·  221 triggers  ·  248 data points  ·  15-minute refresh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arlow Condensed"/>
              </a:rPr>
              <a:t>Readiness is not overhead.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9A84C"/>
                </a:solidFill>
                <a:latin typeface="Barlow Condensed"/>
              </a:rPr>
              <a:t>It is value protection.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31136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14016"/>
            <a:ext cx="512064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C9A84C"/>
                </a:solidFill>
                <a:latin typeface="Barlow Condensed"/>
              </a:rPr>
              <a:t>3,600×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47872"/>
            <a:ext cx="5120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Execution head start — 30 days compressed to 12 minutes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95344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96512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84C"/>
                </a:solidFill>
                <a:latin typeface="Barlow Condensed"/>
              </a:rPr>
              <a:t>▶  Founding Partner: $75K / 90-day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63440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▶  Growth: $75K–$250K annually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230368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B8A6E"/>
                </a:solidFill>
                <a:latin typeface="Barlow Condensed"/>
              </a:rPr>
              <a:t>▶  Cost of delay is often higher than cost of readiness.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359152"/>
            <a:ext cx="5623560" cy="3803904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2542032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COMMERCIAL 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743200"/>
            <a:ext cx="5084064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9A5BB"/>
                </a:solidFill>
                <a:latin typeface="Barlow Condensed"/>
              </a:rPr>
              <a:t>Replaces the $400K–$800K consulting retainer.
Break-even before the 2nd activation.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528" y="3540760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3566160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FOUNDING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3566160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10528" y="4144264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4169664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GROWTH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4169664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$75K–$250K annually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10528" y="4747768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4773168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4773168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10528" y="5351272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5376672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BOARD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5376672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B8A6E"/>
                </a:solidFill>
                <a:latin typeface="Barlow Condensed"/>
              </a:rPr>
              <a:t>Cost of delay &gt; cost of readiness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53328" y="2176272"/>
            <a:ext cx="6350" cy="4078224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BUILT. LIVE. IN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Barlow Condensed"/>
              </a:rPr>
              <a:t>Not a roadmap — operating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1481328"/>
            <a:ext cx="2834640" cy="98755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517904"/>
            <a:ext cx="2834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Protocols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481328"/>
            <a:ext cx="2834640" cy="98755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517904"/>
            <a:ext cx="2834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Triggers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4496" y="1481328"/>
            <a:ext cx="2834640" cy="98755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1517904"/>
            <a:ext cx="2834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Barlow Condensed"/>
              </a:rPr>
              <a:t>248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Data Points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17152" y="1481328"/>
            <a:ext cx="2834640" cy="98755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17152" y="1517904"/>
            <a:ext cx="2834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Barlow Condensed"/>
              </a:rPr>
              <a:t>15m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17152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Refresh</a:t>
            </a:r>
          </a:p>
        </p:txBody>
      </p:sp>
      <p:pic>
        <p:nvPicPr>
          <p:cNvPr id="18" name="Picture 17" descr="signals-raw.png"/>
          <p:cNvPicPr>
            <a:picLocks noChangeAspect="1"/>
          </p:cNvPicPr>
          <p:nvPr/>
        </p:nvPicPr>
        <p:blipFill>
          <a:blip r:embed="rId3"/>
          <a:srcRect t="-17871" b="-17871"/>
          <a:stretch>
            <a:fillRect/>
          </a:stretch>
        </p:blipFill>
        <p:spPr>
          <a:xfrm>
            <a:off x="329184" y="2633472"/>
            <a:ext cx="7370064" cy="305409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29184" y="2633472"/>
            <a:ext cx="7370064" cy="3054096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9184" y="5449824"/>
            <a:ext cx="7370064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5513324"/>
            <a:ext cx="7187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SIGNAL INTELLIGENCE FEED · LIVE DETECTIONS · VAUGHNMARTIN.COM</a:t>
            </a:r>
          </a:p>
        </p:txBody>
      </p:sp>
      <p:pic>
        <p:nvPicPr>
          <p:cNvPr id="22" name="Picture 21" descr="activation-raw.png"/>
          <p:cNvPicPr>
            <a:picLocks noChangeAspect="1"/>
          </p:cNvPicPr>
          <p:nvPr/>
        </p:nvPicPr>
        <p:blipFill>
          <a:blip r:embed="rId4"/>
          <a:srcRect l="14187" r="14187"/>
          <a:stretch>
            <a:fillRect/>
          </a:stretch>
        </p:blipFill>
        <p:spPr>
          <a:xfrm>
            <a:off x="7973568" y="2633472"/>
            <a:ext cx="3888943" cy="305409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973568" y="2633472"/>
            <a:ext cx="3888943" cy="3054096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73568" y="5449824"/>
            <a:ext cx="3888943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5008" y="5513324"/>
            <a:ext cx="370606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ACTIVATION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pic>
        <p:nvPicPr>
          <p:cNvPr id="4" name="Picture 3" descr="home-raw.png"/>
          <p:cNvPicPr>
            <a:picLocks noChangeAspect="1"/>
          </p:cNvPicPr>
          <p:nvPr/>
        </p:nvPicPr>
        <p:blipFill>
          <a:blip r:embed="rId3"/>
          <a:srcRect l="22831" r="22831"/>
          <a:stretch>
            <a:fillRect/>
          </a:stretch>
        </p:blipFill>
        <p:spPr>
          <a:xfrm>
            <a:off x="6400800" y="512064"/>
            <a:ext cx="5458968" cy="565099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0" y="512064"/>
            <a:ext cx="5458968" cy="565099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0" y="5925312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5988812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READINESS OS · PRODUCTION PLATFORM · VAUGHNMARTIN.COM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2784" y="512064"/>
            <a:ext cx="12700" cy="56509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A68"/>
                </a:solidFill>
                <a:latin typeface="Barlow Condensed"/>
              </a:rPr>
              <a:t>WHY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49808"/>
            <a:ext cx="563270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A0F2E"/>
                </a:solidFill>
                <a:latin typeface="Barlow Condensed"/>
              </a:rPr>
              <a:t>AI capability is accelerating faster than enterprise readiness.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47088"/>
            <a:ext cx="5632704" cy="19050"/>
          </a:xfrm>
          <a:prstGeom prst="rect">
            <a:avLst/>
          </a:prstGeom>
          <a:solidFill>
            <a:srgbClr val="887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66543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66543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AI capability accelerating. Enterprise mobilization readiness is 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36975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36975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Execution readiness is now the competitive bottleneck.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07407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407407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Winners pair signal detection with governed 12-minute execution.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577840"/>
            <a:ext cx="5632704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9A5BB"/>
                </a:solidFill>
                <a:latin typeface="Barlow Condensed"/>
              </a:rPr>
              <a:t>Sources: Stanford HAI AI Index 2026  ·  Gartner Autonomous Business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457200"/>
            <a:ext cx="1664208" cy="4468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76272" y="51206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" y="950976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Barlow Condensed"/>
              </a:rPr>
              <a:t>Twelve founding partners. One defining cohort.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1737360"/>
            <a:ext cx="11530584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Founding
Partners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4942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4942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$75K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942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90-Day
Validation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966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966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F500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Startup to
Fortune 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" y="3218688"/>
            <a:ext cx="544982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Partners who want readiness as competitive advantage.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" y="3749039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3803903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" y="3986783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Founding Partner · 90-Day Validation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" y="4270246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" y="4325110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COMMERCIAL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" y="4507990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" y="4791453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4846317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" y="5029197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12 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" y="5449824"/>
            <a:ext cx="5449824" cy="457200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5522976"/>
            <a:ext cx="52669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Apply for Founding Partner Access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61888" y="1737360"/>
            <a:ext cx="6350" cy="4425696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home-raw.png"/>
          <p:cNvPicPr>
            <a:picLocks noChangeAspect="1"/>
          </p:cNvPicPr>
          <p:nvPr/>
        </p:nvPicPr>
        <p:blipFill>
          <a:blip r:embed="rId3"/>
          <a:srcRect t="-9429" b="-9429"/>
          <a:stretch>
            <a:fillRect/>
          </a:stretch>
        </p:blipFill>
        <p:spPr>
          <a:xfrm>
            <a:off x="6144768" y="1737360"/>
            <a:ext cx="5641848" cy="2670048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144768" y="1737360"/>
            <a:ext cx="5641848" cy="2670048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44768" y="4169664"/>
            <a:ext cx="564184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4233164"/>
            <a:ext cx="54589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READINESS OS · PRODUCTION PLATFORM · VAUGHNMARTIN.COM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4572000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4608576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DELIVERY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8" y="4608576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Barlow Condensed"/>
              </a:rPr>
              <a:t>Right-sized by organization maturity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4956048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44768" y="4992624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SECTORS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99248" y="4992624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Barlow Condensed"/>
              </a:rPr>
              <a:t>All industries · 6 sector packs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44768" y="5340096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44768" y="5376672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RAISE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9248" y="5376672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Open strategic raise · active conversations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44768" y="5724144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44768" y="5760720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99248" y="5760720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B8A6E"/>
                </a:solidFill>
                <a:latin typeface="Barlow Condensed"/>
              </a:rPr>
              <a:t>vaughnmartin.com/founding-partner-program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6254496"/>
            <a:ext cx="1645920" cy="441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8912"/>
            <a:ext cx="112745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Three lines. That's the pitch.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91440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91440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04241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5331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Enterprise work was designed for a world without AI. Committees, cycles, and coordination delays exist because humans couldn't process information fast enough to act decisively.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46888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46888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9689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90779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VaughnMartin pre-stages every response. 170 Readiness Protocols map to 221 strategic triggers — so executives authorize in minutes, not meetings.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402336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" y="4023360"/>
            <a:ext cx="63500" cy="142646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15137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46227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Barlow Condensed"/>
              </a:rPr>
              <a:t>Any organization prepared for every situation it will face is no longer afraid of strategic triggers. It is fearless.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5614416"/>
            <a:ext cx="8933688" cy="566928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37360" y="5705856"/>
            <a:ext cx="8750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Apply for Founding Partner Access  ·  vaughnmartin.com/founding-partner-program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