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wer-raw.png"/>
          <p:cNvPicPr>
            <a:picLocks noChangeAspect="1"/>
          </p:cNvPicPr>
          <p:nvPr/>
        </p:nvPicPr>
        <p:blipFill>
          <a:blip r:embed="rId2"/>
          <a:srcRect t="-6" b="-6"/>
          <a:stretch>
            <a:fillRect/>
          </a:stretch>
        </p:blipFill>
        <p:spPr>
          <a:xfrm>
            <a:off x="6492240" y="1848137"/>
            <a:ext cx="5458968" cy="307028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92240" y="1848137"/>
            <a:ext cx="5458968" cy="3070285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92240" y="4680678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4744178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COMMAND TOWER · LIVE SIGNAL MONITORING ·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64224" y="512064"/>
            <a:ext cx="12700" cy="570585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m-logo-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57200"/>
            <a:ext cx="2377440" cy="6384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4048" y="1115568"/>
            <a:ext cx="57607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7850"/>
                </a:solidFill>
                <a:latin typeface="Barlow Condensed"/>
              </a:rPr>
              <a:t>STRATEGIC READINESS PLATFORM · STARTUP TO FORTUNE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408176"/>
            <a:ext cx="576072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Barlow Condensed"/>
              </a:rPr>
              <a:t>The response is ready
before the trigger fires.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58444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A5BB"/>
                </a:solidFill>
                <a:latin typeface="Barlow Condensed"/>
              </a:rPr>
              <a:t>Most enterprises plan to respond.
VaughnMartin is already executing.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55371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464261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Activist Investor  ·  91% confidence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510235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51912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Ransomware  ·  95% confidence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650992"/>
            <a:ext cx="5760720" cy="420624"/>
          </a:xfrm>
          <a:prstGeom prst="rect">
            <a:avLst/>
          </a:prstGeom>
          <a:solidFill>
            <a:srgbClr val="182250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" y="57398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Barlow Condensed"/>
              </a:rPr>
              <a:t>Regulatory Inquiry  ·  87% confidence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254496"/>
            <a:ext cx="12191695" cy="475488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18504"/>
            <a:ext cx="112745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AI monitors continuously.   Executives authorize decisively.   Teams execute.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9184" y="475488"/>
            <a:ext cx="5394960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0058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C9A84C"/>
                </a:solidFill>
                <a:latin typeface="Barlow Condensed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798064"/>
            <a:ext cx="3200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Barlow Condensed"/>
              </a:rPr>
              <a:t>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493008"/>
            <a:ext cx="4407408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3657600"/>
            <a:ext cx="4480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A5BB"/>
                </a:solidFill>
                <a:latin typeface="Barlow Condensed"/>
              </a:rPr>
              <a:t>Average mobilization time before execution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475488"/>
            <a:ext cx="5696712" cy="5687568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65836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READINESS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0058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C9A84C"/>
                </a:solidFill>
                <a:latin typeface="Barlow Condensed"/>
              </a:rPr>
              <a:t>Who calls who?
Where's the brief?
Who owns it? Who authorizes?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3236976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7376" y="3419856"/>
            <a:ext cx="5303520" cy="438912"/>
          </a:xfrm>
          <a:prstGeom prst="rect">
            <a:avLst/>
          </a:prstGeom>
          <a:solidFill>
            <a:srgbClr val="151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493008"/>
            <a:ext cx="50474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Barlow Condensed"/>
              </a:rPr>
              <a:t>This is a readiness problem, not a talent problem.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4005072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Every trigger restarts the mobilization clock from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535424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The window to act closes before execution begins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5065776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5BB"/>
                </a:solidFill>
                <a:latin typeface="Barlow Condensed"/>
              </a:rPr>
              <a:t>— Every enterprise has talent. None have pre-staged responses.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0176" y="365760"/>
            <a:ext cx="6350" cy="5961888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PROBLEM IS ALREADY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Barlow Condensed"/>
              </a:rPr>
              <a:t>One of these is forming in your organization right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2B8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B8A6E"/>
                </a:solidFill>
                <a:latin typeface="Barlow Condensed"/>
              </a:rPr>
              <a:t>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RISK &amp; RESILIENCE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Ransomware
Attack Confirmed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248 data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3749040"/>
            <a:ext cx="3257550" cy="5080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68312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87%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REGULATORY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Regulatory
Inquiry Opened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Signal · threshold crossed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2272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62272" y="3749040"/>
            <a:ext cx="298323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47888" y="1499616"/>
            <a:ext cx="3758184" cy="4224528"/>
          </a:xfrm>
          <a:prstGeom prst="rect">
            <a:avLst/>
          </a:prstGeom>
          <a:solidFill>
            <a:srgbClr val="101842"/>
          </a:solidFill>
          <a:ln w="10160">
            <a:solidFill>
              <a:srgbClr val="2834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solidFill>
            <a:srgbClr val="060C28"/>
          </a:solidFill>
          <a:ln w="1778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18520" y="1609344"/>
            <a:ext cx="877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82496"/>
            <a:ext cx="2496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B8A6E"/>
                </a:solidFill>
                <a:latin typeface="Barlow Condensed"/>
              </a:rPr>
              <a:t>GROWTH &amp; POSITIONING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31136"/>
            <a:ext cx="342900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Barlow Condensed"/>
              </a:rPr>
              <a:t>Market Entry
Window Opening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328416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A5BB"/>
                </a:solidFill>
                <a:latin typeface="Barlow Condensed"/>
              </a:rPr>
              <a:t>Opportunity · live monitor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3749040"/>
            <a:ext cx="3429000" cy="5080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3749040"/>
            <a:ext cx="2811780" cy="50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" y="5870448"/>
            <a:ext cx="11530584" cy="384048"/>
          </a:xfrm>
          <a:prstGeom prst="rect">
            <a:avLst/>
          </a:prstGeom>
          <a:solidFill>
            <a:srgbClr val="101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2531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45880"/>
                </a:solidFill>
                <a:latin typeface="Barlow Condensed"/>
              </a:rPr>
              <a:t>221 triggers monitored  ·  248 data points  ·  refreshed every 15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Barlow Condensed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Barlow Condensed"/>
              </a:rPr>
              <a:t>The response is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6015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C9A84C"/>
                </a:solidFill>
                <a:latin typeface="Barlow Condensed"/>
              </a:rPr>
              <a:t>before the trigger fires.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98064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9A5BB"/>
                </a:solidFill>
                <a:latin typeface="Barlow Condensed"/>
              </a:rPr>
              <a:t>Preparation  →  Readiness  →  Fearless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3048" y="3328416"/>
            <a:ext cx="457200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Readiness Protocols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Strategic Triggers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3511296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84C"/>
                </a:solidFill>
                <a:latin typeface="Barlow Condensed"/>
              </a:rPr>
              <a:t>12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4590288"/>
            <a:ext cx="3657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Barlow Condensed"/>
              </a:rPr>
              <a:t>Execution Window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5577840"/>
            <a:ext cx="8531352" cy="475488"/>
          </a:xfrm>
          <a:prstGeom prst="rect">
            <a:avLst/>
          </a:prstGeom>
          <a:solidFill>
            <a:srgbClr val="0A0F2E"/>
          </a:solidFill>
          <a:ln w="10160">
            <a:solidFill>
              <a:srgbClr val="445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5669280"/>
            <a:ext cx="8348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AI monitors.   Executives authorize.   Teams execute.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WHY THIS IS DEFENSIBLE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Barlow Condensed"/>
              </a:rPr>
              <a:t>The architecture that separates execution from mobilization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1591056"/>
            <a:ext cx="5687568" cy="3840480"/>
          </a:xfrm>
          <a:prstGeom prst="rect">
            <a:avLst/>
          </a:prstGeom>
          <a:solidFill>
            <a:srgbClr val="1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888"/>
                </a:solidFill>
                <a:latin typeface="Barlow Condensed"/>
              </a:rPr>
              <a:t>Old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Faster notes from the same slow meetings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No readiness architecture — triggers catch you cold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Authority unclear when pressure arrives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8888"/>
                </a:solidFill>
                <a:latin typeface="Barlow Condensed"/>
              </a:rPr>
              <a:t>✕  30 days to mobilize before execution starts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91056"/>
            <a:ext cx="5687568" cy="3840480"/>
          </a:xfrm>
          <a:prstGeom prst="rect">
            <a:avLst/>
          </a:prstGeom>
          <a:solidFill>
            <a:srgbClr val="08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358384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84C"/>
                </a:solidFill>
                <a:latin typeface="Barlow Condensed"/>
              </a:rPr>
              <a:t>VaughnMartin Readiness 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84832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Response pre-staged before the trigger fires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79776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170 protocols · 221 triggers · ready before the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74720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Executive authorization gate at every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4"/>
            <a:ext cx="535838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CC99"/>
                </a:solidFill>
                <a:latin typeface="Barlow Condensed"/>
              </a:rPr>
              <a:t>✓  12-minute execution window from signal to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591056"/>
            <a:ext cx="6350" cy="3840480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rotocols-raw.png"/>
          <p:cNvPicPr>
            <a:picLocks noChangeAspect="1"/>
          </p:cNvPicPr>
          <p:nvPr/>
        </p:nvPicPr>
        <p:blipFill>
          <a:blip r:embed="rId3"/>
          <a:srcRect t="-471553" b="-471553"/>
          <a:stretch>
            <a:fillRect/>
          </a:stretch>
        </p:blipFill>
        <p:spPr>
          <a:xfrm>
            <a:off x="329184" y="5559552"/>
            <a:ext cx="11530584" cy="62179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" y="5559552"/>
            <a:ext cx="11530584" cy="621792"/>
          </a:xfrm>
          <a:prstGeom prst="rect">
            <a:avLst/>
          </a:prstGeom>
          <a:solidFill>
            <a:srgbClr val="06081A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737352"/>
            <a:ext cx="112745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LIVE PLATFORM  ·  170 Readiness Protocols  ·  startup to Fortune 500  ·  vaughnmartin.com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PROOF OF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arlow Condensed"/>
              </a:rPr>
              <a:t>From Signal to Authorized Execution in 12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73455" y="1481328"/>
            <a:ext cx="1609344" cy="54864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455" y="1517904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Barlow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455" y="171907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arlow Condensed"/>
              </a:rPr>
              <a:t>Signal
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799" y="16459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543" y="1481328"/>
            <a:ext cx="1609344" cy="54864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0543" y="1517904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Barlow Condense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543" y="171907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arlow Condensed"/>
              </a:rPr>
              <a:t>Threat
Classified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9887" y="16459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7631" y="1481328"/>
            <a:ext cx="1609344" cy="54864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7631" y="1517904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Barlow Condense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7631" y="171907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arlow Condensed"/>
              </a:rPr>
              <a:t>Protocol
Matched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6975" y="16459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4719" y="1481328"/>
            <a:ext cx="1609344" cy="54864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4719" y="1517904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Barlow Condense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4719" y="171907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arlow Condensed"/>
              </a:rPr>
              <a:t>Team
Notified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4063" y="16459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1807" y="1481328"/>
            <a:ext cx="1609344" cy="548640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1807" y="1517904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Barlow Condense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1807" y="171907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arlow Condensed"/>
              </a:rPr>
              <a:t>Executive
Authorizes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1151" y="164592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Barlow Condensed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08895" y="1481328"/>
            <a:ext cx="1609344" cy="54864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8895" y="1517904"/>
            <a:ext cx="1609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84C"/>
                </a:solidFill>
                <a:latin typeface="Barlow Condensed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895" y="171907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Barlow Condensed"/>
              </a:rPr>
              <a:t>Response
Deploys
· 12 MIN ·</a:t>
            </a:r>
          </a:p>
        </p:txBody>
      </p:sp>
      <p:pic>
        <p:nvPicPr>
          <p:cNvPr id="29" name="Picture 28" descr="signals-raw.png"/>
          <p:cNvPicPr>
            <a:picLocks noChangeAspect="1"/>
          </p:cNvPicPr>
          <p:nvPr/>
        </p:nvPicPr>
        <p:blipFill>
          <a:blip r:embed="rId3"/>
          <a:srcRect t="-6" b="-6"/>
          <a:stretch>
            <a:fillRect/>
          </a:stretch>
        </p:blipFill>
        <p:spPr>
          <a:xfrm>
            <a:off x="329184" y="2176272"/>
            <a:ext cx="5623560" cy="3162857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329184" y="2176272"/>
            <a:ext cx="5623560" cy="3162857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" y="5101385"/>
            <a:ext cx="5623560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5164885"/>
            <a:ext cx="5440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LIVE TRIGGER DETECTION · CONFIDENCE SCORING · STARTUP TO FORTUNE 500</a:t>
            </a:r>
          </a:p>
        </p:txBody>
      </p:sp>
      <p:pic>
        <p:nvPicPr>
          <p:cNvPr id="33" name="Picture 32" descr="builder-raw.png"/>
          <p:cNvPicPr>
            <a:picLocks noChangeAspect="1"/>
          </p:cNvPicPr>
          <p:nvPr/>
        </p:nvPicPr>
        <p:blipFill>
          <a:blip r:embed="rId4"/>
          <a:srcRect t="-112" b="-112"/>
          <a:stretch>
            <a:fillRect/>
          </a:stretch>
        </p:blipFill>
        <p:spPr>
          <a:xfrm>
            <a:off x="6227064" y="2176272"/>
            <a:ext cx="5635447" cy="3162857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227064" y="2176272"/>
            <a:ext cx="5635447" cy="3162857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7064" y="5101385"/>
            <a:ext cx="5635447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5164885"/>
            <a:ext cx="545256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PRE-STAGED PROTOCOL · STAKEHOLDERS · AUTHORITY · TASKS READY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448857"/>
            <a:ext cx="12191695" cy="1262838"/>
          </a:xfrm>
          <a:prstGeom prst="rect">
            <a:avLst/>
          </a:prstGeom>
          <a:solidFill>
            <a:srgbClr val="060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540297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Barlow Condensed"/>
              </a:rPr>
              <a:t>AI monitors.     Executives authorize.     Teams execute.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088937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5BB"/>
                </a:solidFill>
                <a:latin typeface="Barlow Condensed"/>
              </a:rPr>
              <a:t>170 protocols  ·  221 triggers  ·  248 data points  ·  15-minute refresh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arlow Condensed"/>
              </a:rPr>
              <a:t>Readiness is not overhead.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71323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C9A84C"/>
                </a:solidFill>
                <a:latin typeface="Barlow Condensed"/>
              </a:rPr>
              <a:t>It is value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31136"/>
            <a:ext cx="11274552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14016"/>
            <a:ext cx="512064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9A84C"/>
                </a:solidFill>
                <a:latin typeface="Barlow Condensed"/>
              </a:rPr>
              <a:t>3,600×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47872"/>
            <a:ext cx="512064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5BB"/>
                </a:solidFill>
                <a:latin typeface="Barlow Condensed"/>
              </a:rPr>
              <a:t>Execution head start — 30 days compressed to 12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95344"/>
            <a:ext cx="5120640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96512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A84C"/>
                </a:solidFill>
                <a:latin typeface="Barlow Condensed"/>
              </a:rPr>
              <a:t>▶  Founding Partner: $75K / 90-day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▶  Growth: $75K–$250K annually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303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B8A6E"/>
                </a:solidFill>
                <a:latin typeface="Barlow Condensed"/>
              </a:rPr>
              <a:t>▶  Cost of delay is often higher than cost of readiness.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2359152"/>
            <a:ext cx="5623560" cy="3803904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542032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COMMERCIAL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743200"/>
            <a:ext cx="508406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9A5BB"/>
                </a:solidFill>
                <a:latin typeface="Barlow Condensed"/>
              </a:rPr>
              <a:t>Full platform deployment — 170 protocols configured, signals live, team onboarded.
Replaces the $400K–$800K consulting retainer. Break-even before the 2nd activation.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528" y="3540760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566160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FOUNDING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566160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Barlow Condensed"/>
              </a:rPr>
              <a:t>$75K / 90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528" y="4144264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4169664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GROWTH TIER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169664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$75K–$250K annually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4747768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4773168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773168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Barlow Condensed"/>
              </a:rPr>
              <a:t>startup to Fortune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0528" y="5351272"/>
            <a:ext cx="508406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5376672"/>
            <a:ext cx="2103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BOARD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5376672"/>
            <a:ext cx="28346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8A6E"/>
                </a:solidFill>
                <a:latin typeface="Barlow Condensed"/>
              </a:rPr>
              <a:t>Cost of delay &gt; cost of readiness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176272"/>
            <a:ext cx="6350" cy="4078224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2062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BUILT. LIVE. IN PRODUCTION.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94944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rlow Condensed"/>
              </a:rPr>
              <a:t>Not a roadmap — operating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Protocols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54496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8A6E"/>
                </a:solidFill>
                <a:latin typeface="Barlow Condensed"/>
              </a:rPr>
              <a:t>248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Data 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17152" y="1426464"/>
            <a:ext cx="2834640" cy="877824"/>
          </a:xfrm>
          <a:prstGeom prst="rect">
            <a:avLst/>
          </a:prstGeom>
          <a:solidFill>
            <a:srgbClr val="0E1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1444752"/>
            <a:ext cx="2834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84C"/>
                </a:solidFill>
                <a:latin typeface="Barlow Condensed"/>
              </a:rPr>
              <a:t>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1956816"/>
            <a:ext cx="2834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A5BB"/>
                </a:solidFill>
                <a:latin typeface="Barlow Condensed"/>
              </a:rPr>
              <a:t>Refresh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Signal Intelligence · Live Detection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3007" y="2377440"/>
            <a:ext cx="5629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Live Activation Console · Execution in Progress</a:t>
            </a:r>
          </a:p>
        </p:txBody>
      </p:sp>
      <p:pic>
        <p:nvPicPr>
          <p:cNvPr id="20" name="Picture 19" descr="signals-raw.png"/>
          <p:cNvPicPr>
            <a:picLocks noChangeAspect="1"/>
          </p:cNvPicPr>
          <p:nvPr/>
        </p:nvPicPr>
        <p:blipFill>
          <a:blip r:embed="rId3"/>
          <a:srcRect t="-6" b="-6"/>
          <a:stretch>
            <a:fillRect/>
          </a:stretch>
        </p:blipFill>
        <p:spPr>
          <a:xfrm>
            <a:off x="329184" y="2633472"/>
            <a:ext cx="5629503" cy="316619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29184" y="2633472"/>
            <a:ext cx="5629503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5625427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SIGNAL INTELLIGENCE FEED · LIVE DETECTIONS · VAUGHNMARTIN.COM</a:t>
            </a:r>
          </a:p>
        </p:txBody>
      </p:sp>
      <p:pic>
        <p:nvPicPr>
          <p:cNvPr id="24" name="Picture 23" descr="activation-raw.png"/>
          <p:cNvPicPr>
            <a:picLocks noChangeAspect="1"/>
          </p:cNvPicPr>
          <p:nvPr/>
        </p:nvPicPr>
        <p:blipFill>
          <a:blip r:embed="rId4"/>
          <a:srcRect t="-6" b="-6"/>
          <a:stretch>
            <a:fillRect/>
          </a:stretch>
        </p:blipFill>
        <p:spPr>
          <a:xfrm>
            <a:off x="6233007" y="2633472"/>
            <a:ext cx="5629503" cy="3166199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233007" y="2633472"/>
            <a:ext cx="5629503" cy="3166199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5561927"/>
            <a:ext cx="5629503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4447" y="5625427"/>
            <a:ext cx="54466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LIVE ACTIVATION CONSOLE · AUTHORIZED EXECUTION · VAUGHNMARTIN.COM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369635"/>
            <a:ext cx="1389888" cy="373224"/>
          </a:xfrm>
          <a:prstGeom prst="rect">
            <a:avLst/>
          </a:prstGeom>
        </p:spPr>
      </p:pic>
      <p:pic>
        <p:nvPicPr>
          <p:cNvPr id="4" name="Picture 3" descr="activation-raw.png"/>
          <p:cNvPicPr>
            <a:picLocks noChangeAspect="1"/>
          </p:cNvPicPr>
          <p:nvPr/>
        </p:nvPicPr>
        <p:blipFill>
          <a:blip r:embed="rId3"/>
          <a:srcRect t="-6" b="-6"/>
          <a:stretch>
            <a:fillRect/>
          </a:stretch>
        </p:blipFill>
        <p:spPr>
          <a:xfrm>
            <a:off x="6400800" y="1848137"/>
            <a:ext cx="5458968" cy="30702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0" y="1848137"/>
            <a:ext cx="5458968" cy="3070285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4680678"/>
            <a:ext cx="545896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4744178"/>
            <a:ext cx="5276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LIVE ACTIVATION CONSOLE · EXECUTION IN PROGRESS ·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4" y="512064"/>
            <a:ext cx="12700" cy="5742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44A68"/>
                </a:solidFill>
                <a:latin typeface="Barlow Condensed"/>
              </a:rPr>
              <a:t>WHY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49808"/>
            <a:ext cx="5632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A0F2E"/>
                </a:solidFill>
                <a:latin typeface="Barlow Condensed"/>
              </a:rPr>
              <a:t>AI capability is accelerating faster than enterprise readiness.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5632704" cy="19050"/>
          </a:xfrm>
          <a:prstGeom prst="rect">
            <a:avLst/>
          </a:prstGeom>
          <a:solidFill>
            <a:srgbClr val="88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3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066543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F2E"/>
                </a:solidFill>
                <a:latin typeface="Barlow Condensed"/>
              </a:rPr>
              <a:t>AI capability accelerating. Enterprise mobilization readiness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36975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36975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F2E"/>
                </a:solidFill>
                <a:latin typeface="Barlow Condensed"/>
              </a:rPr>
              <a:t>Execution readiness is now the competitive bottleneck.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07407"/>
            <a:ext cx="65836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4C"/>
                </a:solidFill>
                <a:latin typeface="Barlow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407407"/>
            <a:ext cx="490118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A0F2E"/>
                </a:solidFill>
                <a:latin typeface="Barlow Condensed"/>
              </a:rPr>
              <a:t>Winners pair signal detection with governed 12-minute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5632704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9A5BB"/>
                </a:solidFill>
                <a:latin typeface="Barlow Condensed"/>
              </a:rPr>
              <a:t>Sources: Stanford HAI AI Index 2026  ·  Gartner Autonomous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457200"/>
            <a:ext cx="1664208" cy="446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6272" y="512064"/>
            <a:ext cx="109728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Barlow Condensed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950976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Barlow Condensed"/>
              </a:rPr>
              <a:t>Twelve founding partners. One defining cohort.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" y="1737360"/>
            <a:ext cx="11530584" cy="190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" y="1883664"/>
            <a:ext cx="1810512" cy="1170432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938528"/>
            <a:ext cx="18105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84C"/>
                </a:solidFill>
                <a:latin typeface="Barlow Condensed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2542032"/>
            <a:ext cx="1810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5BB"/>
                </a:solidFill>
                <a:latin typeface="Barlow Condensed"/>
              </a:rPr>
              <a:t>Founding
Partners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9424" y="1883664"/>
            <a:ext cx="1810512" cy="1170432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9424" y="1938528"/>
            <a:ext cx="18105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84C"/>
                </a:solidFill>
                <a:latin typeface="Barlow Condensed"/>
              </a:rPr>
              <a:t>$75K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424" y="2542032"/>
            <a:ext cx="1810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5BB"/>
                </a:solidFill>
                <a:latin typeface="Barlow Condensed"/>
              </a:rPr>
              <a:t>90-Day
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664" y="1883664"/>
            <a:ext cx="1810512" cy="1170432"/>
          </a:xfrm>
          <a:prstGeom prst="rect">
            <a:avLst/>
          </a:prstGeom>
          <a:solidFill>
            <a:srgbClr val="0D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4" y="1938528"/>
            <a:ext cx="18105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9A84C"/>
                </a:solidFill>
                <a:latin typeface="Barlow Condensed"/>
              </a:rPr>
              <a:t>F500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2542032"/>
            <a:ext cx="18105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A5BB"/>
                </a:solidFill>
                <a:latin typeface="Barlow Condensed"/>
              </a:rPr>
              <a:t>Startup to
Fortune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" y="3218688"/>
            <a:ext cx="5449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9A5BB"/>
                </a:solidFill>
                <a:latin typeface="Barlow Condensed"/>
              </a:rPr>
              <a:t>Partners who want readiness as competitive advantage.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" y="3749039"/>
            <a:ext cx="544982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803903"/>
            <a:ext cx="1645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" y="3986783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Founding Partner · 90-Day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4270246"/>
            <a:ext cx="544982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4325110"/>
            <a:ext cx="1645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COMMERCIAL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" y="4507990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84C"/>
                </a:solidFill>
                <a:latin typeface="Barlow Condensed"/>
              </a:rPr>
              <a:t>$75K / 90 days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" y="4791453"/>
            <a:ext cx="5449824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4846317"/>
            <a:ext cx="16459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COHORT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5029197"/>
            <a:ext cx="5449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Barlow Condensed"/>
              </a:rPr>
              <a:t>12 startup to Fortune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" y="5449824"/>
            <a:ext cx="5449824" cy="457200"/>
          </a:xfrm>
          <a:prstGeom prst="rect">
            <a:avLst/>
          </a:prstGeom>
          <a:solidFill>
            <a:srgbClr val="0A0F2E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5522976"/>
            <a:ext cx="52669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Barlow Condensed"/>
              </a:rPr>
              <a:t>Apply for Founding Partner Access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1737360"/>
            <a:ext cx="6350" cy="4425696"/>
          </a:xfrm>
          <a:prstGeom prst="rect">
            <a:avLst/>
          </a:prstGeom>
          <a:solidFill>
            <a:srgbClr val="1E2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home-raw.png"/>
          <p:cNvPicPr>
            <a:picLocks noChangeAspect="1"/>
          </p:cNvPicPr>
          <p:nvPr/>
        </p:nvPicPr>
        <p:blipFill>
          <a:blip r:embed="rId3"/>
          <a:srcRect t="-9429" b="-9429"/>
          <a:stretch>
            <a:fillRect/>
          </a:stretch>
        </p:blipFill>
        <p:spPr>
          <a:xfrm>
            <a:off x="6144768" y="1737360"/>
            <a:ext cx="5641848" cy="267004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144768" y="1737360"/>
            <a:ext cx="5641848" cy="2670048"/>
          </a:xfrm>
          <a:prstGeom prst="rect">
            <a:avLst/>
          </a:prstGeom>
          <a:noFill/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4169664"/>
            <a:ext cx="5641848" cy="237744"/>
          </a:xfrm>
          <a:prstGeom prst="rect">
            <a:avLst/>
          </a:prstGeom>
          <a:solidFill>
            <a:srgbClr val="06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4233164"/>
            <a:ext cx="54589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Barlow Condensed"/>
              </a:rPr>
              <a:t>READINESS OS · PRODUCTION PLATFORM · VAUGHNMARTIN.COM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44768" y="4572000"/>
            <a:ext cx="5641848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44768" y="4608576"/>
            <a:ext cx="1463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A5BB"/>
                </a:solidFill>
                <a:latin typeface="Barlow Condensed"/>
              </a:rPr>
              <a:t>DELIVERY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4608576"/>
            <a:ext cx="4059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Barlow Condensed"/>
              </a:rPr>
              <a:t>Right-sized by organization maturity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4956048"/>
            <a:ext cx="5641848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4992624"/>
            <a:ext cx="1463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A5BB"/>
                </a:solidFill>
                <a:latin typeface="Barlow Condensed"/>
              </a:rPr>
              <a:t>SECTORS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4992624"/>
            <a:ext cx="4059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Barlow Condensed"/>
              </a:rPr>
              <a:t>All industries · 6 sector packs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4768" y="5340096"/>
            <a:ext cx="5641848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5376672"/>
            <a:ext cx="1463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A5BB"/>
                </a:solidFill>
                <a:latin typeface="Barlow Condensed"/>
              </a:rPr>
              <a:t>RAISE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5376672"/>
            <a:ext cx="4059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A5BB"/>
                </a:solidFill>
                <a:latin typeface="Barlow Condensed"/>
              </a:rPr>
              <a:t>Open strategic raise · active conversations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4768" y="5724144"/>
            <a:ext cx="5641848" cy="6350"/>
          </a:xfrm>
          <a:prstGeom prst="rect">
            <a:avLst/>
          </a:prstGeom>
          <a:solidFill>
            <a:srgbClr val="28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5760720"/>
            <a:ext cx="14630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9A5BB"/>
                </a:solidFill>
                <a:latin typeface="Barlow Condensed"/>
              </a:rPr>
              <a:t>URL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5760720"/>
            <a:ext cx="4059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B8A6E"/>
                </a:solidFill>
                <a:latin typeface="Barlow Condensed"/>
              </a:rPr>
              <a:t>vaughnmartin.com/founding-partner-program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vm-logo-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6254496"/>
            <a:ext cx="1645920" cy="441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8912"/>
            <a:ext cx="11274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84C"/>
                </a:solidFill>
                <a:latin typeface="Barlow Condensed"/>
              </a:rPr>
              <a:t>Three lines. That's the pitch.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91440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91440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04241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5331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Enterprise work was built for a world without AI — coordination delays exist because humans couldn't act fast enough. AI changed the constraint. The operating model hasn't.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6888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468880"/>
            <a:ext cx="63500" cy="14264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9689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0779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9A84C"/>
                </a:solidFill>
                <a:latin typeface="Barlow Condensed"/>
              </a:rPr>
              <a:t>170 Readiness Protocols. 221 strategic triggers. The response pre-staged before the trigger fires. Executives authorize in minutes, not meetings.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4023360"/>
            <a:ext cx="10945368" cy="1426464"/>
          </a:xfrm>
          <a:prstGeom prst="rect">
            <a:avLst/>
          </a:prstGeom>
          <a:solidFill>
            <a:srgbClr val="0E1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4023360"/>
            <a:ext cx="63500" cy="1426464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51376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A5BB"/>
                </a:solidFill>
                <a:latin typeface="Barlow Condensed"/>
              </a:rP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62272"/>
            <a:ext cx="1046073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Barlow Condensed"/>
              </a:rPr>
              <a:t>Any organization prepared for every situation it will face is no longer afraid of what comes next. It is fearless.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5614416"/>
            <a:ext cx="8933688" cy="566928"/>
          </a:xfrm>
          <a:prstGeom prst="rect">
            <a:avLst/>
          </a:prstGeom>
          <a:solidFill>
            <a:srgbClr val="0A0F2E"/>
          </a:solidFill>
          <a:ln w="1016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5705856"/>
            <a:ext cx="8750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9A84C"/>
                </a:solidFill>
                <a:latin typeface="Barlow Condensed"/>
              </a:rPr>
              <a:t>Apply for Founding Partner Access  ·  vaughnmartin.com/founding-partner-program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1097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445070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