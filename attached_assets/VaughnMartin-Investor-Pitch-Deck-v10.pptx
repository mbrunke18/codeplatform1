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VAUGHNMARTIN · READINESS 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Cormorant Garamond"/>
              </a:rPr>
              <a:t>When a strategic trigger fires in your organization—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2591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C9A84C"/>
                </a:solidFill>
                <a:latin typeface="Cormorant Garamond"/>
              </a:rPr>
              <a:t>are you executing in 12 minutes or organizing from scratch?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725912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99A5BB"/>
                </a:solidFill>
                <a:latin typeface="Cormorant Garamond"/>
              </a:rPr>
              <a:t>Signal advantage before execution advantage.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03320"/>
            <a:ext cx="3017520" cy="420624"/>
          </a:xfrm>
          <a:prstGeom prst="rect">
            <a:avLst/>
          </a:prstGeom>
          <a:solidFill>
            <a:srgbClr val="182250"/>
          </a:solidFill>
          <a:ln w="1270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792220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· 91%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3703320"/>
            <a:ext cx="3017520" cy="420624"/>
          </a:xfrm>
          <a:prstGeom prst="rect">
            <a:avLst/>
          </a:prstGeom>
          <a:solidFill>
            <a:srgbClr val="182250"/>
          </a:solidFill>
          <a:ln w="1270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792220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Ransomware · 95%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703320"/>
            <a:ext cx="3017520" cy="420624"/>
          </a:xfrm>
          <a:prstGeom prst="rect">
            <a:avLst/>
          </a:prstGeom>
          <a:solidFill>
            <a:srgbClr val="182250"/>
          </a:solidFill>
          <a:ln w="1270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3792220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· 87%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88952" cy="50292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33679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502920"/>
            <a:ext cx="5349240" cy="60350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C9A84C"/>
                </a:solidFill>
                <a:latin typeface="Cormorant Garamond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383280"/>
            <a:ext cx="429768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47872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A5BB"/>
                </a:solidFill>
                <a:latin typeface="Cormorant Garamond"/>
              </a:rPr>
              <a:t>Mobilization time before any execution begins.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502920"/>
            <a:ext cx="5696712" cy="60350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6858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C9A84C"/>
                </a:solidFill>
                <a:latin typeface="Cormorant Garamond"/>
              </a:rPr>
              <a:t>Who calls who?
Where's the brief?
Who owns it? Who authorizes?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18688"/>
            <a:ext cx="50292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3383280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438144"/>
            <a:ext cx="5084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50208"/>
            <a:ext cx="3200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Barlow Condensed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950208"/>
            <a:ext cx="4937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 Condensed"/>
              </a:rPr>
              <a:t>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44568"/>
            <a:ext cx="3200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Barlow Condensed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4544568"/>
            <a:ext cx="4937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 Condensed"/>
              </a:rPr>
              <a:t>The strategic window closes before execution begins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365760"/>
            <a:ext cx="19050" cy="640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ormorant Garamond"/>
              </a:rPr>
              <a:t>One of these is forming in your organization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627632"/>
            <a:ext cx="3749039" cy="420624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52928" y="176479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92224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21992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rmorant Garamond"/>
              </a:rPr>
              <a:t>Ransomware
Attack Confirmed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Signal detected · 248 data 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419856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3248863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627632"/>
            <a:ext cx="3749039" cy="420624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03136" y="176479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1792224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221992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rmorant Garamond"/>
              </a:rPr>
              <a:t>Regulatory
Inquiry Opened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338328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Signal detected · threshold crossed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98848" y="3840480"/>
            <a:ext cx="3419856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98848" y="3840480"/>
            <a:ext cx="2975274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627632"/>
            <a:ext cx="3749039" cy="4206240"/>
          </a:xfrm>
          <a:prstGeom prst="rect">
            <a:avLst/>
          </a:prstGeom>
          <a:solidFill>
            <a:srgbClr val="101842"/>
          </a:solidFill>
          <a:ln w="1270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53344" y="176479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1792224"/>
            <a:ext cx="2286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2221992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rmorant Garamond"/>
              </a:rPr>
              <a:t>Market Entry
Window Opening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6" y="3383280"/>
            <a:ext cx="338328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Opportunity signal · live monitoring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49056" y="3840480"/>
            <a:ext cx="3419856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3840480"/>
            <a:ext cx="2804281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6007608"/>
            <a:ext cx="11457432" cy="438912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486400" cy="3474720"/>
          </a:xfrm>
          <a:prstGeom prst="rect">
            <a:avLst/>
          </a:prstGeom>
          <a:solidFill>
            <a:srgbClr val="101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49808"/>
            <a:ext cx="103601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ormorant Garamon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C9A84C"/>
                </a:solidFill>
                <a:latin typeface="Cormorant Garamon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60152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Cormorant Garamon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291840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C9A84C"/>
                </a:solidFill>
                <a:latin typeface="Cormorant Garamond"/>
              </a:rPr>
              <a:t>170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C9A84C"/>
                </a:solidFill>
                <a:latin typeface="Cormorant Garamond"/>
              </a:rPr>
              <a:t>221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3429000"/>
            <a:ext cx="356616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5661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C9A84C"/>
                </a:solidFill>
                <a:latin typeface="Cormorant Garamond"/>
              </a:rPr>
              <a:t>12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17720"/>
            <a:ext cx="35661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270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20240" y="5641848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7455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rmorant Garamond"/>
              </a:rPr>
              <a:t>Built into the architecture — not bolted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627632"/>
            <a:ext cx="2816352" cy="3657600"/>
          </a:xfrm>
          <a:prstGeom prst="rect">
            <a:avLst/>
          </a:prstGeom>
          <a:solidFill>
            <a:srgbClr val="0F163C"/>
          </a:solidFill>
          <a:ln w="12700">
            <a:solidFill>
              <a:srgbClr val="28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810512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Barlow Condensed"/>
              </a:rPr>
              <a:t>[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2286000"/>
            <a:ext cx="24140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Barlow Condensed"/>
              </a:rPr>
              <a:t>PRE-STAGED PROTOCOLS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3017520"/>
            <a:ext cx="24140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170 protocols ready before the trigger fires.
Zero ramp-up. Zero coordination delay.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627632"/>
            <a:ext cx="2816352" cy="3657600"/>
          </a:xfrm>
          <a:prstGeom prst="rect">
            <a:avLst/>
          </a:prstGeom>
          <a:solidFill>
            <a:srgbClr val="0F163C"/>
          </a:solidFill>
          <a:ln w="12700">
            <a:solidFill>
              <a:srgbClr val="28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810512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Barlow Condensed"/>
              </a:rPr>
              <a:t> →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286000"/>
            <a:ext cx="24140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Barlow Condensed"/>
              </a:rPr>
              <a:t>TRIGGER-TO-PROTOCOL MAPPING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017520"/>
            <a:ext cx="24140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221 triggers mapped to exact protocol,
stakeholders, and tasks. Detection becomes execution.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627632"/>
            <a:ext cx="2816352" cy="3657600"/>
          </a:xfrm>
          <a:prstGeom prst="rect">
            <a:avLst/>
          </a:prstGeom>
          <a:solidFill>
            <a:srgbClr val="0F163C"/>
          </a:solidFill>
          <a:ln w="12700">
            <a:solidFill>
              <a:srgbClr val="28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810512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Barlow Condensed"/>
              </a:rPr>
              <a:t> ○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24140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Barlow Condensed"/>
              </a:rPr>
              <a:t>HUMAN AUTHORIZATION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3017520"/>
            <a:ext cx="24140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No protocol activates without executive sign-off.
Decision velocity preserved. Human authority intact.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2016" y="1627632"/>
            <a:ext cx="2816352" cy="3657600"/>
          </a:xfrm>
          <a:prstGeom prst="rect">
            <a:avLst/>
          </a:prstGeom>
          <a:solidFill>
            <a:srgbClr val="0F163C"/>
          </a:solidFill>
          <a:ln w="12700">
            <a:solidFill>
              <a:srgbClr val="28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3184" y="1810512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Barlow Condensed"/>
              </a:rPr>
              <a:t> ■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2286000"/>
            <a:ext cx="241401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Barlow Condensed"/>
              </a:rPr>
              <a:t>AUDIT &amp; GOVERNANCE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3017520"/>
            <a:ext cx="24140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Every activation logged, attributed, and
board-reportable. Governance built in, not added later.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440680"/>
            <a:ext cx="11457432" cy="658368"/>
          </a:xfrm>
          <a:prstGeom prst="rect">
            <a:avLst/>
          </a:prstGeom>
          <a:solidFill>
            <a:srgbClr val="0A1030"/>
          </a:solidFill>
          <a:ln w="12700">
            <a:solidFill>
              <a:srgbClr val="28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1383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9A5BB"/>
                </a:solidFill>
                <a:latin typeface="Barlow Condensed"/>
              </a:rPr>
              <a:t>Three years to build. Proprietary IDEA Framework. The orchestration layer above the Microsoft stack.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ormorant Garamond"/>
              </a:rPr>
              <a:t>From Signal to Authorized Execution in 12 Minutes</a:t>
            </a:r>
          </a:p>
        </p:txBody>
      </p:sp>
      <p:pic>
        <p:nvPicPr>
          <p:cNvPr id="5" name="Picture 4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5733288" cy="38587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20040" y="1417320"/>
            <a:ext cx="5733288" cy="385876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5001768"/>
            <a:ext cx="5733288" cy="27432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052568"/>
            <a:ext cx="5550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trigger detected with confidence scoring</a:t>
            </a:r>
          </a:p>
        </p:txBody>
      </p:sp>
      <p:pic>
        <p:nvPicPr>
          <p:cNvPr id="9" name="Picture 8" descr="pptx_how_execut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1417320"/>
            <a:ext cx="5733288" cy="38587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35624" y="1417320"/>
            <a:ext cx="5733288" cy="385876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35624" y="5001768"/>
            <a:ext cx="5733288" cy="27432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7064" y="5052568"/>
            <a:ext cx="5550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Pre-staged protocol, stakeholders, authority &amp; tasks ready before pressure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431536"/>
            <a:ext cx="12188952" cy="749808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504688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080760"/>
            <a:ext cx="1127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refreshed every 15 minutes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73152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ormorant Garamond"/>
              </a:rPr>
              <a:t>Readiness is not overhead.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73152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9A84C"/>
                </a:solidFill>
                <a:latin typeface="Cormorant Garamond"/>
              </a:rPr>
              <a:t>It is value protection.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04288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87168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Cormorant Garamond"/>
              </a:rPr>
              <a:t>3,600×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50292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vs. old mobilization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77639"/>
            <a:ext cx="50292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274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▶  Growth tiers: $75K–$250K annually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94376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▶  If one strategic window is preserved, readiness pays for itself quickly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450592"/>
            <a:ext cx="5605272" cy="4078224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560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8892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Cormorant Garamond"/>
              </a:rPr>
              <a:t>Replaces the $400K–$800K consulting retainer.
Break-even before the 2nd activation.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613912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9312"/>
            <a:ext cx="21945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63931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217416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242816"/>
            <a:ext cx="21945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242816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820920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846320"/>
            <a:ext cx="21945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84632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424424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449824"/>
            <a:ext cx="21945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44982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ormorant Garamond"/>
              </a:rPr>
              <a:t>Not a roadmap — operating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81328"/>
            <a:ext cx="2834640" cy="1024128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27048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170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28416" y="1481328"/>
            <a:ext cx="2834640" cy="1024128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8416" y="1527048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221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28416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481328"/>
            <a:ext cx="2834640" cy="1024128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1527048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Cormorant Garamond"/>
              </a:rPr>
              <a:t>248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53728" y="1481328"/>
            <a:ext cx="2834640" cy="1024128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53728" y="1527048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Cormorant Garamond"/>
              </a:rPr>
              <a:t>15m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670048"/>
            <a:ext cx="6035040" cy="347472"/>
          </a:xfrm>
          <a:prstGeom prst="rect">
            <a:avLst/>
          </a:prstGeom>
          <a:solidFill>
            <a:srgbClr val="12221C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2706624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B8A6E"/>
                </a:solidFill>
                <a:latin typeface="Barlow Condensed"/>
              </a:rPr>
              <a:t>●  Signal Detection Active · Updated Every 15 Minutes · vaughnmartin.com</a:t>
            </a:r>
          </a:p>
        </p:txBody>
      </p:sp>
      <p:pic>
        <p:nvPicPr>
          <p:cNvPr id="19" name="Picture 18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172968"/>
            <a:ext cx="11548872" cy="335584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20040" y="3172968"/>
            <a:ext cx="11548872" cy="33558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6254496"/>
            <a:ext cx="11548872" cy="274320"/>
          </a:xfrm>
          <a:prstGeom prst="rect">
            <a:avLst/>
          </a:prstGeom>
          <a:solidFill>
            <a:srgbClr val="08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305296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feed · vaughnmartin.com · Live detections · 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C66"/>
                </a:solidFill>
                <a:latin typeface="Barlow Condensed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4552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F2E"/>
                </a:solidFill>
                <a:latin typeface="Cormorant Garamond"/>
              </a:rPr>
              <a:t>AI capability is accelerating faster than enterprise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47088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29968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02996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48"/>
                </a:solidFill>
                <a:latin typeface="Barlow Condensed"/>
              </a:rPr>
              <a:t>Organizations can detect more than ever, but still mobilize too slowly.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27248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12724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48"/>
                </a:solidFill>
                <a:latin typeface="Barlow Condensed"/>
              </a:rPr>
              <a:t>Governance and execution readiness are now the competitive bottleneck.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24528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2245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48"/>
                </a:solidFill>
                <a:latin typeface="Barlow Condensed"/>
              </a:rPr>
              <a:t>The winners will be companies that pair AI sensing with governed execution speed.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76672"/>
            <a:ext cx="11274552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502920"/>
            <a:ext cx="5349240" cy="60350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ormorant Garamond"/>
              </a:rPr>
              <a:t>Twelve founding partners.
One defining cohort.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992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A5BB"/>
                </a:solidFill>
                <a:latin typeface="Cormorant Garamond"/>
              </a:rPr>
              <a:t>Partners who want readiness as competitive advantage.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30752"/>
            <a:ext cx="43891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88620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2E0"/>
                </a:solidFill>
                <a:latin typeface="Barlow Condensed"/>
              </a:rPr>
              <a:t>We're not looking for customers.
We're selecting partners who will define the category.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502920"/>
            <a:ext cx="5696712" cy="60350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6858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PROGRAM DETAILS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071880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097280"/>
            <a:ext cx="19202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097280"/>
            <a:ext cx="31089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67992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93392"/>
            <a:ext cx="19202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993392"/>
            <a:ext cx="31089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864104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89504"/>
            <a:ext cx="19202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89504"/>
            <a:ext cx="31089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12 startup to Fortune 500 organizations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760216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785616"/>
            <a:ext cx="19202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85616"/>
            <a:ext cx="31089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Right-sized by company maturity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656328"/>
            <a:ext cx="5120640" cy="1016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681728"/>
            <a:ext cx="19202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681728"/>
            <a:ext cx="31089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9A5BB"/>
                </a:solidFill>
                <a:latin typeface="Barlow Condensed"/>
              </a:rPr>
              <a:t>Open strategic raise · conversations underway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486400"/>
            <a:ext cx="5120640" cy="502920"/>
          </a:xfrm>
          <a:prstGeom prst="rect">
            <a:avLst/>
          </a:prstGeom>
          <a:solidFill>
            <a:srgbClr val="0A0F2E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5559552"/>
            <a:ext cx="4937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365760"/>
            <a:ext cx="19050" cy="640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10908792" cy="1417320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50800" cy="1417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70940"/>
            <a:ext cx="16459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26464"/>
            <a:ext cx="104241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9A84C"/>
                </a:solidFill>
                <a:latin typeface="Barlow Condensed"/>
              </a:rPr>
              <a:t>Enterprises detect more signals, but still mobilize too slowly.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78608"/>
            <a:ext cx="10908792" cy="1417320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78608"/>
            <a:ext cx="50800" cy="1417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708"/>
            <a:ext cx="16459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104241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9A84C"/>
                </a:solidFill>
                <a:latin typeface="Barlow Condensed"/>
              </a:rPr>
              <a:t>VaughnMartin pre-stages response so executives authorize in minutes.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10908792" cy="1417320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151376"/>
            <a:ext cx="50800" cy="14173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16476"/>
            <a:ext cx="164592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104241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Barlow Condensed"/>
              </a:rPr>
              <a:t>Earlier detection + faster execution protects value before the window closes.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45920" y="5806440"/>
            <a:ext cx="8897112" cy="603504"/>
          </a:xfrm>
          <a:prstGeom prst="rect">
            <a:avLst/>
          </a:prstGeom>
          <a:solidFill>
            <a:srgbClr val="0A0F2E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888736"/>
            <a:ext cx="8714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74552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868"/>
                </a:solidFill>
                <a:latin typeface="Cormorant Garamond"/>
              </a:rPr>
              <a:t>“Strategic triggers are inevitable. Delay is optional.”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91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5070"/>
                </a:solidFill>
                <a:latin typeface="Barlow Condensed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