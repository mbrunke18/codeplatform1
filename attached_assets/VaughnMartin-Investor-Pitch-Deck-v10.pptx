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VAUGHNMARTIN · READINESS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430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Barlow Condensed"/>
              </a:rPr>
              <a:t>When a strategic trigger fires in your organization—are you executing in 12 minutes or organizing from scratch?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4368"/>
            <a:ext cx="10543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99A5BB"/>
                </a:solidFill>
                <a:latin typeface="Barlow Condensed"/>
              </a:rPr>
              <a:t>Signal advantage before execution advantage.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712463"/>
            <a:ext cx="310896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74903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712463"/>
            <a:ext cx="310896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74903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12463"/>
            <a:ext cx="310896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374903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72784"/>
            <a:ext cx="12191695" cy="521207"/>
          </a:xfrm>
          <a:prstGeom prst="rect">
            <a:avLst/>
          </a:prstGeom>
          <a:solidFill>
            <a:srgbClr val="08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345936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AI monitors continuously.     Executives authorize decisively.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438912"/>
            <a:ext cx="5394960" cy="601675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40080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98755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3511296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3675887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Barlow Condensed"/>
              </a:rPr>
              <a:t>Mobilization time before execution begins.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438912"/>
            <a:ext cx="5687568" cy="601675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640080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987552"/>
            <a:ext cx="5285232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
Who authorizes?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3310128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7376" y="3493008"/>
            <a:ext cx="5285232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4059936"/>
            <a:ext cx="52852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626864"/>
            <a:ext cx="52852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0176" y="329184"/>
            <a:ext cx="6350" cy="621792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536192"/>
            <a:ext cx="3758184" cy="431596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170078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9544" y="1645920"/>
            <a:ext cx="804672" cy="402336"/>
          </a:xfrm>
          <a:prstGeom prst="rect">
            <a:avLst/>
          </a:prstGeom>
          <a:solidFill>
            <a:srgbClr val="081030"/>
          </a:solidFill>
          <a:ln w="1016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9544" y="1645920"/>
            <a:ext cx="8046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2249424"/>
            <a:ext cx="34290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43814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detected · 248 data points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3192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393192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36192"/>
            <a:ext cx="3758184" cy="431596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70078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59752" y="1645920"/>
            <a:ext cx="804672" cy="402336"/>
          </a:xfrm>
          <a:prstGeom prst="rect">
            <a:avLst/>
          </a:prstGeom>
          <a:solidFill>
            <a:srgbClr val="081030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1645920"/>
            <a:ext cx="8046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49424"/>
            <a:ext cx="34290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343814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detected · threshold crossed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62272" y="393192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393192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1536192"/>
            <a:ext cx="3758184" cy="431596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70078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109960" y="1645920"/>
            <a:ext cx="804672" cy="402336"/>
          </a:xfrm>
          <a:prstGeom prst="rect">
            <a:avLst/>
          </a:prstGeom>
          <a:solidFill>
            <a:srgbClr val="081030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45920"/>
            <a:ext cx="8046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9424"/>
            <a:ext cx="34290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43814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signal · live monitoring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393192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12480" y="393192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" y="5980176"/>
            <a:ext cx="11530584" cy="402336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035040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330952" cy="3657600"/>
          </a:xfrm>
          <a:prstGeom prst="rect">
            <a:avLst/>
          </a:prstGeom>
          <a:solidFill>
            <a:srgbClr val="101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49808"/>
            <a:ext cx="103601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59552"/>
            <a:ext cx="8531352" cy="493776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41848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9184" y="1572768"/>
            <a:ext cx="5486400" cy="484632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737360"/>
            <a:ext cx="5120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66"/>
                </a:solidFill>
                <a:latin typeface="Barlow Condensed"/>
              </a:rPr>
              <a:t>Old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103120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61488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before triggers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419856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4078224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Governance added after the fact — if at 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736592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30-day mobilization cycle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3368" y="1572768"/>
            <a:ext cx="5486400" cy="484632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737360"/>
            <a:ext cx="5120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103120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761488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mapped to 221 strategic triggers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7688" y="3419856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Human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4078224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Audit trail built into execution — board-ready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4736592"/>
            <a:ext cx="5120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9048" y="1572768"/>
            <a:ext cx="6350" cy="50292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5" name="Picture 4" descr="signals-raw.png"/>
          <p:cNvPicPr>
            <a:picLocks noChangeAspect="1"/>
          </p:cNvPicPr>
          <p:nvPr/>
        </p:nvPicPr>
        <p:blipFill>
          <a:blip r:embed="rId2"/>
          <a:srcRect l="9635" r="9635"/>
          <a:stretch>
            <a:fillRect/>
          </a:stretch>
        </p:blipFill>
        <p:spPr>
          <a:xfrm>
            <a:off x="329184" y="1444752"/>
            <a:ext cx="5669280" cy="39502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9184" y="1444752"/>
            <a:ext cx="5669280" cy="395020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5157216"/>
            <a:ext cx="5669280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522071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DETECTED WITH CONFIDENCE SCORING</a:t>
            </a:r>
          </a:p>
        </p:txBody>
      </p:sp>
      <p:pic>
        <p:nvPicPr>
          <p:cNvPr id="9" name="Picture 8" descr="builder-raw.png"/>
          <p:cNvPicPr>
            <a:picLocks noChangeAspect="1"/>
          </p:cNvPicPr>
          <p:nvPr/>
        </p:nvPicPr>
        <p:blipFill>
          <a:blip r:embed="rId3"/>
          <a:srcRect l="9635" r="9635"/>
          <a:stretch>
            <a:fillRect/>
          </a:stretch>
        </p:blipFill>
        <p:spPr>
          <a:xfrm>
            <a:off x="6190488" y="1444752"/>
            <a:ext cx="5669280" cy="395020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90488" y="1444752"/>
            <a:ext cx="5669280" cy="395020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5157216"/>
            <a:ext cx="5669280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522071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541264"/>
            <a:ext cx="12191695" cy="78638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63056"/>
            <a:ext cx="1127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9424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32304"/>
            <a:ext cx="51206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84448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vs. old mobilization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31920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133087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18303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03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395728"/>
            <a:ext cx="5641848" cy="411480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7860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98064"/>
            <a:ext cx="51023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613912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63931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4235704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26110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26110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57496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882896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882896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479288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550468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50468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176272"/>
            <a:ext cx="6350" cy="433425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1463040"/>
            <a:ext cx="2834640" cy="1042415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1508760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2139696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463040"/>
            <a:ext cx="2834640" cy="1042415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08760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39696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463040"/>
            <a:ext cx="2834640" cy="1042415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508760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2139696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17152" y="1463040"/>
            <a:ext cx="2834640" cy="1042415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7152" y="1508760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2139696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2651760"/>
            <a:ext cx="6309360" cy="347472"/>
          </a:xfrm>
          <a:prstGeom prst="rect">
            <a:avLst/>
          </a:prstGeom>
          <a:solidFill>
            <a:srgbClr val="102018"/>
          </a:solidFill>
          <a:ln w="1016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269748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B8A6E"/>
                </a:solidFill>
                <a:latin typeface="Barlow Condensed"/>
              </a:rPr>
              <a:t>●  Signal Detection Active  ·  Updated Every 15 Minutes  ·  vaughnmartin.com</a:t>
            </a:r>
          </a:p>
        </p:txBody>
      </p:sp>
      <p:pic>
        <p:nvPicPr>
          <p:cNvPr id="19" name="Picture 18" descr="signals-raw.png"/>
          <p:cNvPicPr>
            <a:picLocks noChangeAspect="1"/>
          </p:cNvPicPr>
          <p:nvPr/>
        </p:nvPicPr>
        <p:blipFill>
          <a:blip r:embed="rId2"/>
          <a:srcRect t="24482" b="24482"/>
          <a:stretch>
            <a:fillRect/>
          </a:stretch>
        </p:blipFill>
        <p:spPr>
          <a:xfrm>
            <a:off x="329184" y="3145536"/>
            <a:ext cx="11530584" cy="331012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29184" y="3145536"/>
            <a:ext cx="11530584" cy="331012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" y="6217920"/>
            <a:ext cx="11530584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6281420"/>
            <a:ext cx="11347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VAUGHNMARTIN.COM · LIVE DETECTIONS · 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10512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29968"/>
            <a:ext cx="621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2029968"/>
            <a:ext cx="10579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A0F2E"/>
                </a:solidFill>
                <a:latin typeface="Barlow Condensed"/>
              </a:rPr>
              <a:t>AI capability is accelerating. Enterprise mobilization readiness is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63824"/>
            <a:ext cx="621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163824"/>
            <a:ext cx="10579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A0F2E"/>
                </a:solidFill>
                <a:latin typeface="Barlow Condensed"/>
              </a:rPr>
              <a:t>Execution readiness is now the competitive bottleneck — not information access.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621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297680"/>
            <a:ext cx="10579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A0F2E"/>
                </a:solidFill>
                <a:latin typeface="Barlow Condensed"/>
              </a:rPr>
              <a:t>Winners will pair AI sensing with governed 12-minute execution.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31536"/>
            <a:ext cx="1127455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438912"/>
            <a:ext cx="4297680" cy="601675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40080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987552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
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889504"/>
            <a:ext cx="3749039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3054096"/>
            <a:ext cx="3840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 Condensed"/>
              </a:rPr>
              <a:t>Partners who want readiness
as competitive advantage.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4133087"/>
            <a:ext cx="3749039" cy="493776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2062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384048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Open strategic raise · conversations underway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91456" y="438912"/>
            <a:ext cx="4224528" cy="601675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65776" y="640080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PROGRAM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095756"/>
            <a:ext cx="3749039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5776" y="1133856"/>
            <a:ext cx="17373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1426464"/>
            <a:ext cx="3749039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5776" y="2028444"/>
            <a:ext cx="3749039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2066544"/>
            <a:ext cx="17373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359152"/>
            <a:ext cx="3749039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5776" y="2961132"/>
            <a:ext cx="3749039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999232"/>
            <a:ext cx="17373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291840"/>
            <a:ext cx="3749039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65776" y="3893820"/>
            <a:ext cx="3749039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3931920"/>
            <a:ext cx="17373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224528"/>
            <a:ext cx="3749039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5776" y="4826508"/>
            <a:ext cx="3749039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4864608"/>
            <a:ext cx="17373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5157216"/>
            <a:ext cx="3749039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Right-sized by maturity</a:t>
            </a:r>
          </a:p>
        </p:txBody>
      </p:sp>
      <p:pic>
        <p:nvPicPr>
          <p:cNvPr id="28" name="Picture 27" descr="home-raw.png"/>
          <p:cNvPicPr>
            <a:picLocks noChangeAspect="1"/>
          </p:cNvPicPr>
          <p:nvPr/>
        </p:nvPicPr>
        <p:blipFill>
          <a:blip r:embed="rId2"/>
          <a:srcRect l="37519" r="37519"/>
          <a:stretch>
            <a:fillRect/>
          </a:stretch>
        </p:blipFill>
        <p:spPr>
          <a:xfrm>
            <a:off x="9180576" y="438912"/>
            <a:ext cx="2670048" cy="60167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180576" y="438912"/>
            <a:ext cx="2670048" cy="601675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80576" y="6217920"/>
            <a:ext cx="2670048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72016" y="6281420"/>
            <a:ext cx="2487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26864" y="347472"/>
            <a:ext cx="6350" cy="621792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15984" y="347472"/>
            <a:ext cx="6350" cy="621792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896112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3504" y="896112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60704"/>
            <a:ext cx="1828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898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Enterprises detect more signals but still mobilize too slowly.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33472"/>
            <a:ext cx="1828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62656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VaughnMartin pre-stages response so executives authorize in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041648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" y="4041648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828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35424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Barlow Condensed"/>
              </a:rPr>
              <a:t>Earlier detection + faster execution protects value before the window closes.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20" y="5742432"/>
            <a:ext cx="8933688" cy="603504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833872"/>
            <a:ext cx="8750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74552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04868"/>
                </a:solidFill>
                <a:latin typeface="Barlow Condensed"/>
              </a:rPr>
              <a:t>"Strategic triggers are inevitable. Delay is optional."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