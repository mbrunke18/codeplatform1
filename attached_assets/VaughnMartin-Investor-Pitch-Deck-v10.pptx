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ower-raw.png"/>
          <p:cNvPicPr>
            <a:picLocks noChangeAspect="1"/>
          </p:cNvPicPr>
          <p:nvPr/>
        </p:nvPicPr>
        <p:blipFill>
          <a:blip r:embed="rId2"/>
          <a:srcRect l="25816" r="25816"/>
          <a:stretch>
            <a:fillRect/>
          </a:stretch>
        </p:blipFill>
        <p:spPr>
          <a:xfrm>
            <a:off x="6766560" y="73152"/>
            <a:ext cx="5330952" cy="6199632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400800" y="73152"/>
            <a:ext cx="1645920" cy="6199632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766560" y="73152"/>
            <a:ext cx="5330952" cy="6199632"/>
          </a:xfrm>
          <a:prstGeom prst="rect">
            <a:avLst/>
          </a:prstGeom>
          <a:noFill/>
          <a:ln w="10160">
            <a:solidFill>
              <a:srgbClr val="2834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m-logo-h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" y="420624"/>
            <a:ext cx="2286000" cy="61383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20624" y="987552"/>
            <a:ext cx="59436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87850"/>
                </a:solidFill>
                <a:latin typeface="Barlow Condensed"/>
              </a:rPr>
              <a:t>STRATEGIC READINESS PLATFORM · STARTUP TO FORTUNE 500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" y="1316736"/>
            <a:ext cx="6126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Barlow Condensed"/>
              </a:rPr>
              <a:t>When a strategic trigger fires—are you executing in 12 minutes or organizing from scratch?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" y="3767328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99A5BB"/>
                </a:solidFill>
                <a:latin typeface="Barlow Condensed"/>
              </a:rPr>
              <a:t>Signal advantage before execution advantage.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" y="4407408"/>
            <a:ext cx="5120640" cy="438912"/>
          </a:xfrm>
          <a:prstGeom prst="rect">
            <a:avLst/>
          </a:prstGeom>
          <a:solidFill>
            <a:srgbClr val="182250"/>
          </a:solidFill>
          <a:ln w="10160">
            <a:solidFill>
              <a:srgbClr val="445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4509008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9A84C"/>
                </a:solidFill>
                <a:latin typeface="Barlow Condensed"/>
              </a:rPr>
              <a:t>Activist Investor · 91%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" y="4974336"/>
            <a:ext cx="5120640" cy="438912"/>
          </a:xfrm>
          <a:prstGeom prst="rect">
            <a:avLst/>
          </a:prstGeom>
          <a:solidFill>
            <a:srgbClr val="182250"/>
          </a:solidFill>
          <a:ln w="10160">
            <a:solidFill>
              <a:srgbClr val="445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5075936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9A84C"/>
                </a:solidFill>
                <a:latin typeface="Barlow Condensed"/>
              </a:rPr>
              <a:t>Ransomware · 95%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0624" y="5541264"/>
            <a:ext cx="5120640" cy="438912"/>
          </a:xfrm>
          <a:prstGeom prst="rect">
            <a:avLst/>
          </a:prstGeom>
          <a:solidFill>
            <a:srgbClr val="182250"/>
          </a:solidFill>
          <a:ln w="10160">
            <a:solidFill>
              <a:srgbClr val="445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5642864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9A84C"/>
                </a:solidFill>
                <a:latin typeface="Barlow Condensed"/>
              </a:rPr>
              <a:t>Regulatory · 87%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291072"/>
            <a:ext cx="12191695" cy="502920"/>
          </a:xfrm>
          <a:prstGeom prst="rect">
            <a:avLst/>
          </a:prstGeom>
          <a:solidFill>
            <a:srgbClr val="080A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345936"/>
            <a:ext cx="1127455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9A84C"/>
                </a:solidFill>
                <a:latin typeface="Barlow Condensed"/>
              </a:rPr>
              <a:t>AI monitors continuously.     Executives authorize decisively.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87930"/>
            <a:ext cx="1389888" cy="37321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29184" y="438912"/>
            <a:ext cx="5394960" cy="5760720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3504" y="640080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THE REALITY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987552"/>
            <a:ext cx="3200400" cy="1993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C9A84C"/>
                </a:solidFill>
                <a:latin typeface="Barlow Condensed"/>
              </a:rPr>
              <a:t>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" y="2779776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Barlow Condensed"/>
              </a:rPr>
              <a:t>DAYS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" y="3474720"/>
            <a:ext cx="4407408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" y="3639312"/>
            <a:ext cx="4480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99A5BB"/>
                </a:solidFill>
                <a:latin typeface="Barlow Condensed"/>
              </a:rPr>
              <a:t>Mobilization time before execution begins.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63056" y="438912"/>
            <a:ext cx="5687568" cy="5760720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376" y="640080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THE READINESS QUESTION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376" y="987552"/>
            <a:ext cx="5285232" cy="2176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C9A84C"/>
                </a:solidFill>
                <a:latin typeface="Barlow Condensed"/>
              </a:rPr>
              <a:t>Who calls who?
Where's the brief?
Who owns it? Who authorizes?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37376" y="3273552"/>
            <a:ext cx="512064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37376" y="3456432"/>
            <a:ext cx="5285232" cy="438912"/>
          </a:xfrm>
          <a:prstGeom prst="rect">
            <a:avLst/>
          </a:prstGeom>
          <a:solidFill>
            <a:srgbClr val="151F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65392" y="3529584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Barlow Condensed"/>
              </a:rPr>
              <a:t>This is a readiness problem, not a talent problem.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37376" y="4023360"/>
            <a:ext cx="528523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9A5BB"/>
                </a:solidFill>
                <a:latin typeface="Barlow Condensed"/>
              </a:rPr>
              <a:t>— Coordination restarts from zero at every trigger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7376" y="4590288"/>
            <a:ext cx="528523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9A5BB"/>
                </a:solidFill>
                <a:latin typeface="Barlow Condensed"/>
              </a:rPr>
              <a:t>— The strategic window closes before execution begins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0176" y="329184"/>
            <a:ext cx="6350" cy="603504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87930"/>
            <a:ext cx="1389888" cy="3732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THE PROBLEM IS ALREADY 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94944"/>
            <a:ext cx="11274552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Barlow Condensed"/>
              </a:rPr>
              <a:t>One of these is forming in your organization right now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1499616"/>
            <a:ext cx="3758184" cy="4224528"/>
          </a:xfrm>
          <a:prstGeom prst="rect">
            <a:avLst/>
          </a:prstGeom>
          <a:solidFill>
            <a:srgbClr val="101842"/>
          </a:solidFill>
          <a:ln w="10160">
            <a:solidFill>
              <a:srgbClr val="283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1664208"/>
            <a:ext cx="2560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Barlow Condensed"/>
              </a:rPr>
              <a:t>RISK &amp; RESILIENCE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3191256" y="1591056"/>
            <a:ext cx="822960" cy="402336"/>
          </a:xfrm>
          <a:prstGeom prst="rect">
            <a:avLst/>
          </a:prstGeom>
          <a:solidFill>
            <a:srgbClr val="060C28"/>
          </a:solidFill>
          <a:ln w="15240">
            <a:solidFill>
              <a:srgbClr val="2B8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91256" y="1591056"/>
            <a:ext cx="822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B8A6E"/>
                </a:solidFill>
                <a:latin typeface="Barlow Condensed"/>
              </a:rPr>
              <a:t>95%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2212848"/>
            <a:ext cx="342900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Barlow Condensed"/>
              </a:rPr>
              <a:t>Ransomware
Attack Confirmed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" y="3291840"/>
            <a:ext cx="3429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9A5BB"/>
                </a:solidFill>
                <a:latin typeface="Barlow Condensed"/>
              </a:rPr>
              <a:t>Signal · 248 data points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" y="3712464"/>
            <a:ext cx="3429000" cy="5080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2064" y="3712464"/>
            <a:ext cx="3257550" cy="50800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1499616"/>
            <a:ext cx="3758184" cy="4224528"/>
          </a:xfrm>
          <a:prstGeom prst="rect">
            <a:avLst/>
          </a:prstGeom>
          <a:solidFill>
            <a:srgbClr val="101842"/>
          </a:solidFill>
          <a:ln w="10160">
            <a:solidFill>
              <a:srgbClr val="283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62272" y="1664208"/>
            <a:ext cx="2560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Barlow Condensed"/>
              </a:rPr>
              <a:t>REGULATORY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41464" y="1591056"/>
            <a:ext cx="822960" cy="402336"/>
          </a:xfrm>
          <a:prstGeom prst="rect">
            <a:avLst/>
          </a:prstGeom>
          <a:solidFill>
            <a:srgbClr val="060C28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41464" y="1591056"/>
            <a:ext cx="822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9A84C"/>
                </a:solidFill>
                <a:latin typeface="Barlow Condensed"/>
              </a:rPr>
              <a:t>87%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2212848"/>
            <a:ext cx="342900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Barlow Condensed"/>
              </a:rPr>
              <a:t>Regulatory
Inquiry Opened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2272" y="3291840"/>
            <a:ext cx="3429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9A5BB"/>
                </a:solidFill>
                <a:latin typeface="Barlow Condensed"/>
              </a:rPr>
              <a:t>Signal · threshold crossed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62272" y="3712464"/>
            <a:ext cx="3429000" cy="5080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462272" y="3712464"/>
            <a:ext cx="2983230" cy="508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47888" y="1499616"/>
            <a:ext cx="3758184" cy="4224528"/>
          </a:xfrm>
          <a:prstGeom prst="rect">
            <a:avLst/>
          </a:prstGeom>
          <a:solidFill>
            <a:srgbClr val="101842"/>
          </a:solidFill>
          <a:ln w="10160">
            <a:solidFill>
              <a:srgbClr val="2834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1664208"/>
            <a:ext cx="2560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B8A6E"/>
                </a:solidFill>
                <a:latin typeface="Barlow Condensed"/>
              </a:rPr>
              <a:t>GROWTH &amp; POSITIONING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091672" y="1591056"/>
            <a:ext cx="822960" cy="402336"/>
          </a:xfrm>
          <a:prstGeom prst="rect">
            <a:avLst/>
          </a:prstGeom>
          <a:solidFill>
            <a:srgbClr val="060C28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091672" y="1591056"/>
            <a:ext cx="822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9A84C"/>
                </a:solidFill>
                <a:latin typeface="Barlow Condensed"/>
              </a:rPr>
              <a:t>82%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2212848"/>
            <a:ext cx="342900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Barlow Condensed"/>
              </a:rPr>
              <a:t>Market Entry
Window Opening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3291840"/>
            <a:ext cx="3429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9A5BB"/>
                </a:solidFill>
                <a:latin typeface="Barlow Condensed"/>
              </a:rPr>
              <a:t>Opportunity · live monitor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12480" y="3712464"/>
            <a:ext cx="3429000" cy="5080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412480" y="3712464"/>
            <a:ext cx="2811780" cy="508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29184" y="5888736"/>
            <a:ext cx="11530584" cy="402336"/>
          </a:xfrm>
          <a:prstGeom prst="rect">
            <a:avLst/>
          </a:prstGeom>
          <a:solidFill>
            <a:srgbClr val="101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5943600"/>
            <a:ext cx="1127455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45880"/>
                </a:solidFill>
                <a:latin typeface="Barlow Condensed"/>
              </a:rPr>
              <a:t>221 triggers monitored  ·  248 data points  ·  refreshed every 15 minutes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87930"/>
            <a:ext cx="1389888" cy="37321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858000" y="0"/>
            <a:ext cx="5330952" cy="3657600"/>
          </a:xfrm>
          <a:prstGeom prst="rect">
            <a:avLst/>
          </a:prstGeom>
          <a:solidFill>
            <a:srgbClr val="101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9A84C"/>
                </a:solidFill>
                <a:latin typeface="Barlow Condensed"/>
              </a:rPr>
              <a:t>THE ANSWER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749808"/>
            <a:ext cx="10360152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Barlow Condensed"/>
              </a:rPr>
              <a:t>The response is ready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700784"/>
            <a:ext cx="10360152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C9A84C"/>
                </a:solidFill>
                <a:latin typeface="Barlow Condensed"/>
              </a:rPr>
              <a:t>before the trigger fires.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61488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99A5BB"/>
                </a:solidFill>
                <a:latin typeface="Barlow Condensed"/>
              </a:rPr>
              <a:t>Preparation  →  Readiness  →  Fearless</a:t>
            </a:r>
          </a:p>
        </p:txBody>
      </p:sp>
      <p:sp>
        <p:nvSpPr>
          <p:cNvPr id="9" name="Rectangle 8"/>
          <p:cNvSpPr/>
          <p:nvPr/>
        </p:nvSpPr>
        <p:spPr>
          <a:xfrm>
            <a:off x="3813048" y="3310128"/>
            <a:ext cx="457200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3493008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C9A84C"/>
                </a:solidFill>
                <a:latin typeface="Barlow Condensed"/>
              </a:rPr>
              <a:t>170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572000"/>
            <a:ext cx="365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Barlow Condensed"/>
              </a:rPr>
              <a:t>Readiness Protocols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61688" y="3493008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C9A84C"/>
                </a:solidFill>
                <a:latin typeface="Barlow Condensed"/>
              </a:rPr>
              <a:t>221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61688" y="4572000"/>
            <a:ext cx="365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Barlow Condensed"/>
              </a:rPr>
              <a:t>Strategic Triggers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0456" y="3493008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C9A84C"/>
                </a:solidFill>
                <a:latin typeface="Barlow Condensed"/>
              </a:rPr>
              <a:t>12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0456" y="4572000"/>
            <a:ext cx="365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Barlow Condensed"/>
              </a:rPr>
              <a:t>Execution Window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0" y="5559552"/>
            <a:ext cx="8531352" cy="475488"/>
          </a:xfrm>
          <a:prstGeom prst="rect">
            <a:avLst/>
          </a:prstGeom>
          <a:solidFill>
            <a:srgbClr val="0A0F2E"/>
          </a:solidFill>
          <a:ln w="10160">
            <a:solidFill>
              <a:srgbClr val="445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920240" y="5641848"/>
            <a:ext cx="834847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9A84C"/>
                </a:solidFill>
                <a:latin typeface="Barlow Condensed"/>
              </a:rPr>
              <a:t>AI monitors.   Executives authorize.   Teams execute.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87930"/>
            <a:ext cx="1389888" cy="3732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WHY THIS IS DEFENSIBLE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94944"/>
            <a:ext cx="112745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Barlow Condensed"/>
              </a:rPr>
              <a:t>The architecture that separates execution from mobilization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44752"/>
            <a:ext cx="11274552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9184" y="1554480"/>
            <a:ext cx="5486400" cy="4462272"/>
          </a:xfrm>
          <a:prstGeom prst="rect">
            <a:avLst/>
          </a:prstGeom>
          <a:solidFill>
            <a:srgbClr val="18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3504" y="1719072"/>
            <a:ext cx="51206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8888"/>
                </a:solidFill>
                <a:latin typeface="Barlow Condensed"/>
              </a:rPr>
              <a:t>Old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2066543"/>
            <a:ext cx="5120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8888"/>
                </a:solidFill>
                <a:latin typeface="Barlow Condensed"/>
              </a:rPr>
              <a:t>✕  Faster notes from the same slow meetings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2670047"/>
            <a:ext cx="5120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8888"/>
                </a:solidFill>
                <a:latin typeface="Barlow Condensed"/>
              </a:rPr>
              <a:t>✕  No readiness architecture before triggers fire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" y="3273551"/>
            <a:ext cx="5120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8888"/>
                </a:solidFill>
                <a:latin typeface="Barlow Condensed"/>
              </a:rPr>
              <a:t>✕  Authority unclear when pressure arrives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3877055"/>
            <a:ext cx="5120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8888"/>
                </a:solidFill>
                <a:latin typeface="Barlow Condensed"/>
              </a:rPr>
              <a:t>✕  Governance added after the fact — if at 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" y="4480559"/>
            <a:ext cx="5120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8888"/>
                </a:solidFill>
                <a:latin typeface="Barlow Condensed"/>
              </a:rPr>
              <a:t>✕  30-day mobilization before execution starts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73368" y="1554480"/>
            <a:ext cx="5486400" cy="4462272"/>
          </a:xfrm>
          <a:prstGeom prst="rect">
            <a:avLst/>
          </a:prstGeom>
          <a:solidFill>
            <a:srgbClr val="0818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47688" y="1719072"/>
            <a:ext cx="51206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9A84C"/>
                </a:solidFill>
                <a:latin typeface="Barlow Condensed"/>
              </a:rPr>
              <a:t>VaughnMartin Readiness 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7688" y="2066543"/>
            <a:ext cx="5120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CC99"/>
                </a:solidFill>
                <a:latin typeface="Barlow Condensed"/>
              </a:rPr>
              <a:t>✓  Response pre-staged before trigger fires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7688" y="2670047"/>
            <a:ext cx="5120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CC99"/>
                </a:solidFill>
                <a:latin typeface="Barlow Condensed"/>
              </a:rPr>
              <a:t>✓  170 protocols mapped to 221 strategic triggers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7688" y="3273551"/>
            <a:ext cx="5120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CC99"/>
                </a:solidFill>
                <a:latin typeface="Barlow Condensed"/>
              </a:rPr>
              <a:t>✓  Human authorization gate at every activation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47688" y="3877055"/>
            <a:ext cx="5120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CC99"/>
                </a:solidFill>
                <a:latin typeface="Barlow Condensed"/>
              </a:rPr>
              <a:t>✓  Audit trail built in — board-ready from day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7688" y="4480559"/>
            <a:ext cx="5120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6CC99"/>
                </a:solidFill>
                <a:latin typeface="Barlow Condensed"/>
              </a:rPr>
              <a:t>✓  12-minute execution window from signal to action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9048" y="1554480"/>
            <a:ext cx="6350" cy="4462272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protocols-raw.png"/>
          <p:cNvPicPr>
            <a:picLocks noChangeAspect="1"/>
          </p:cNvPicPr>
          <p:nvPr/>
        </p:nvPicPr>
        <p:blipFill>
          <a:blip r:embed="rId3"/>
          <a:srcRect t="46193" b="46193"/>
          <a:stretch>
            <a:fillRect/>
          </a:stretch>
        </p:blipFill>
        <p:spPr>
          <a:xfrm>
            <a:off x="329184" y="5522976"/>
            <a:ext cx="11530584" cy="49377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329184" y="5522976"/>
            <a:ext cx="11530584" cy="493776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9184" y="5522976"/>
            <a:ext cx="11530584" cy="493776"/>
          </a:xfrm>
          <a:prstGeom prst="rect">
            <a:avLst/>
          </a:prstGeom>
          <a:solidFill>
            <a:srgbClr val="0A0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5624576"/>
            <a:ext cx="1127455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9A84C"/>
                </a:solidFill>
                <a:latin typeface="Barlow Condensed"/>
              </a:rPr>
              <a:t>LIVE PLATFORM  ·  170 Readiness Protocols  ·  Startup to Fortune 500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87930"/>
            <a:ext cx="1389888" cy="3732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PROOF OF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94944"/>
            <a:ext cx="11274552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Barlow Condensed"/>
              </a:rPr>
              <a:t>From Signal to Authorized Execution in 12 Minutes</a:t>
            </a:r>
          </a:p>
        </p:txBody>
      </p:sp>
      <p:pic>
        <p:nvPicPr>
          <p:cNvPr id="6" name="Picture 5" descr="signals-raw.png"/>
          <p:cNvPicPr>
            <a:picLocks noChangeAspect="1"/>
          </p:cNvPicPr>
          <p:nvPr/>
        </p:nvPicPr>
        <p:blipFill>
          <a:blip r:embed="rId3"/>
          <a:srcRect l="8679" r="8679"/>
          <a:stretch>
            <a:fillRect/>
          </a:stretch>
        </p:blipFill>
        <p:spPr>
          <a:xfrm>
            <a:off x="329184" y="1444752"/>
            <a:ext cx="5669280" cy="385876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29184" y="1444752"/>
            <a:ext cx="5669280" cy="3858768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9184" y="5065776"/>
            <a:ext cx="5669280" cy="237744"/>
          </a:xfrm>
          <a:prstGeom prst="rect">
            <a:avLst/>
          </a:prstGeom>
          <a:solidFill>
            <a:srgbClr val="080C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" y="5129276"/>
            <a:ext cx="5486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LIVE TRIGGER DETECTED WITH CONFIDENCE SCORING</a:t>
            </a:r>
          </a:p>
        </p:txBody>
      </p:sp>
      <p:pic>
        <p:nvPicPr>
          <p:cNvPr id="10" name="Picture 9" descr="builder-raw.png"/>
          <p:cNvPicPr>
            <a:picLocks noChangeAspect="1"/>
          </p:cNvPicPr>
          <p:nvPr/>
        </p:nvPicPr>
        <p:blipFill>
          <a:blip r:embed="rId4"/>
          <a:srcRect l="8679" r="8679"/>
          <a:stretch>
            <a:fillRect/>
          </a:stretch>
        </p:blipFill>
        <p:spPr>
          <a:xfrm>
            <a:off x="6190488" y="1444752"/>
            <a:ext cx="5669280" cy="385876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190488" y="1444752"/>
            <a:ext cx="5669280" cy="3858768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0488" y="5065776"/>
            <a:ext cx="5669280" cy="237744"/>
          </a:xfrm>
          <a:prstGeom prst="rect">
            <a:avLst/>
          </a:prstGeom>
          <a:solidFill>
            <a:srgbClr val="080C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81928" y="5129276"/>
            <a:ext cx="5486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PRE-STAGED PROTOCOL · STAKEHOLDERS · AUTHORITY · TASKS READY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5449824"/>
            <a:ext cx="12191695" cy="786384"/>
          </a:xfrm>
          <a:prstGeom prst="rect">
            <a:avLst/>
          </a:prstGeom>
          <a:solidFill>
            <a:srgbClr val="080C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5559552"/>
            <a:ext cx="112745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C9A84C"/>
                </a:solidFill>
                <a:latin typeface="Barlow Condensed"/>
              </a:rPr>
              <a:t>AI monitors.     Executives authorize.     Teams execute.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089904"/>
            <a:ext cx="1127455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9A5BB"/>
                </a:solidFill>
                <a:latin typeface="Barlow Condensed"/>
              </a:rPr>
              <a:t>170 protocols  ·  221 triggers  ·  248 data points  ·  15-minute refresh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87930"/>
            <a:ext cx="1389888" cy="3732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BUSINESS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94944"/>
            <a:ext cx="71323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Barlow Condensed"/>
              </a:rPr>
              <a:t>Readiness is not overhead.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71323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C9A84C"/>
                </a:solidFill>
                <a:latin typeface="Barlow Condensed"/>
              </a:rPr>
              <a:t>It is value protection.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212848"/>
            <a:ext cx="11274552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395728"/>
            <a:ext cx="5120640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C9A84C"/>
                </a:solidFill>
                <a:latin typeface="Barlow Condensed"/>
              </a:rPr>
              <a:t>3,600×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529584"/>
            <a:ext cx="512064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9A5BB"/>
                </a:solidFill>
                <a:latin typeface="Barlow Condensed"/>
              </a:rPr>
              <a:t>Execution head start vs. old mobilization model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877056"/>
            <a:ext cx="512064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078224"/>
            <a:ext cx="5120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9A84C"/>
                </a:solidFill>
                <a:latin typeface="Barlow Condensed"/>
              </a:rPr>
              <a:t>▶  Founding Partner: $75K / 90-day validation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645152"/>
            <a:ext cx="5120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Barlow Condensed"/>
              </a:rPr>
              <a:t>▶  Growth: $75K–$250K annually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212080"/>
            <a:ext cx="512064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B8A6E"/>
                </a:solidFill>
                <a:latin typeface="Barlow Condensed"/>
              </a:rPr>
              <a:t>▶  Cost of delay is often higher than cost of readiness.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2340864"/>
            <a:ext cx="5641848" cy="3858768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252374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COMMERCIAL LOGIC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2724912"/>
            <a:ext cx="5102352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99A5BB"/>
                </a:solidFill>
                <a:latin typeface="Barlow Condensed"/>
              </a:rPr>
              <a:t>Replaces the $400K–$800K consulting retainer.
Break-even before the 2nd activation.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3522472"/>
            <a:ext cx="5120640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3547872"/>
            <a:ext cx="210312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FOUNDING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3547872"/>
            <a:ext cx="28346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9A84C"/>
                </a:solidFill>
                <a:latin typeface="Barlow Condensed"/>
              </a:rPr>
              <a:t>$75K / 90 days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92240" y="4125976"/>
            <a:ext cx="5120640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4151376"/>
            <a:ext cx="210312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GROWTH TIER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4151376"/>
            <a:ext cx="28346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Barlow Condensed"/>
              </a:rPr>
              <a:t>$75K–$250K annually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4729480"/>
            <a:ext cx="5120640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4754880"/>
            <a:ext cx="210312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COHORT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4754880"/>
            <a:ext cx="28346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Barlow Condensed"/>
              </a:rPr>
              <a:t>startup to Fortune 500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92240" y="5332984"/>
            <a:ext cx="5120640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5358384"/>
            <a:ext cx="210312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BOARD 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5358384"/>
            <a:ext cx="28346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B8A6E"/>
                </a:solidFill>
                <a:latin typeface="Barlow Condensed"/>
              </a:rPr>
              <a:t>Cost of delay &gt; cost of readiness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35040" y="2157984"/>
            <a:ext cx="6350" cy="4096512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87930"/>
            <a:ext cx="1389888" cy="3732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BUILT. LIVE. IN PRODUCTION.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94944"/>
            <a:ext cx="112745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Barlow Condensed"/>
              </a:rPr>
              <a:t>Not a roadmap — operating now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" y="1463040"/>
            <a:ext cx="2834640" cy="1005840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" y="1499616"/>
            <a:ext cx="28346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C9A84C"/>
                </a:solidFill>
                <a:latin typeface="Barlow Condensed"/>
              </a:rPr>
              <a:t>170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" y="2103120"/>
            <a:ext cx="283464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9A5BB"/>
                </a:solidFill>
                <a:latin typeface="Barlow Condensed"/>
              </a:rPr>
              <a:t>Protocols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1463040"/>
            <a:ext cx="2834640" cy="1005840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0" y="1499616"/>
            <a:ext cx="28346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C9A84C"/>
                </a:solidFill>
                <a:latin typeface="Barlow Condensed"/>
              </a:rPr>
              <a:t>221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103120"/>
            <a:ext cx="283464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9A5BB"/>
                </a:solidFill>
                <a:latin typeface="Barlow Condensed"/>
              </a:rPr>
              <a:t>Triggers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54496" y="1463040"/>
            <a:ext cx="2834640" cy="1005840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54496" y="1499616"/>
            <a:ext cx="28346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2B8A6E"/>
                </a:solidFill>
                <a:latin typeface="Barlow Condensed"/>
              </a:rPr>
              <a:t>248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4496" y="2103120"/>
            <a:ext cx="283464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9A5BB"/>
                </a:solidFill>
                <a:latin typeface="Barlow Condensed"/>
              </a:rPr>
              <a:t>Data Points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217152" y="1463040"/>
            <a:ext cx="2834640" cy="1005840"/>
          </a:xfrm>
          <a:prstGeom prst="rect">
            <a:avLst/>
          </a:prstGeom>
          <a:solidFill>
            <a:srgbClr val="0E1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17152" y="1499616"/>
            <a:ext cx="283464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C9A84C"/>
                </a:solidFill>
                <a:latin typeface="Barlow Condensed"/>
              </a:rPr>
              <a:t>15m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17152" y="2103120"/>
            <a:ext cx="283464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99A5BB"/>
                </a:solidFill>
                <a:latin typeface="Barlow Condensed"/>
              </a:rPr>
              <a:t>Refresh</a:t>
            </a:r>
          </a:p>
        </p:txBody>
      </p:sp>
      <p:pic>
        <p:nvPicPr>
          <p:cNvPr id="18" name="Picture 17" descr="signals-raw.png"/>
          <p:cNvPicPr>
            <a:picLocks noChangeAspect="1"/>
          </p:cNvPicPr>
          <p:nvPr/>
        </p:nvPicPr>
        <p:blipFill>
          <a:blip r:embed="rId3"/>
          <a:srcRect t="14990" b="14990"/>
          <a:stretch>
            <a:fillRect/>
          </a:stretch>
        </p:blipFill>
        <p:spPr>
          <a:xfrm>
            <a:off x="329184" y="2633472"/>
            <a:ext cx="7754112" cy="3054096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329184" y="2633472"/>
            <a:ext cx="7754112" cy="3054096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9184" y="5449824"/>
            <a:ext cx="7754112" cy="237744"/>
          </a:xfrm>
          <a:prstGeom prst="rect">
            <a:avLst/>
          </a:prstGeom>
          <a:solidFill>
            <a:srgbClr val="080C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0624" y="5513324"/>
            <a:ext cx="75712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SIGNAL INTELLIGENCE FEED · LIVE DETECTIONS · VAUGHNMARTIN.COM</a:t>
            </a:r>
          </a:p>
        </p:txBody>
      </p:sp>
      <p:pic>
        <p:nvPicPr>
          <p:cNvPr id="22" name="Picture 21" descr="activation-raw.png"/>
          <p:cNvPicPr>
            <a:picLocks noChangeAspect="1"/>
          </p:cNvPicPr>
          <p:nvPr/>
        </p:nvPicPr>
        <p:blipFill>
          <a:blip r:embed="rId4"/>
          <a:srcRect l="16570" r="16570"/>
          <a:stretch>
            <a:fillRect/>
          </a:stretch>
        </p:blipFill>
        <p:spPr>
          <a:xfrm>
            <a:off x="8229600" y="2633472"/>
            <a:ext cx="3630168" cy="305409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8229600" y="2633472"/>
            <a:ext cx="3630168" cy="3054096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29600" y="5449824"/>
            <a:ext cx="3630168" cy="237744"/>
          </a:xfrm>
          <a:prstGeom prst="rect">
            <a:avLst/>
          </a:prstGeom>
          <a:solidFill>
            <a:srgbClr val="080C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21040" y="5513324"/>
            <a:ext cx="344728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LIVE ACTIVATION CONSOLE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6387930"/>
            <a:ext cx="1389888" cy="373210"/>
          </a:xfrm>
          <a:prstGeom prst="rect">
            <a:avLst/>
          </a:prstGeom>
        </p:spPr>
      </p:pic>
      <p:pic>
        <p:nvPicPr>
          <p:cNvPr id="4" name="Picture 3" descr="home-raw.png"/>
          <p:cNvPicPr>
            <a:picLocks noChangeAspect="1"/>
          </p:cNvPicPr>
          <p:nvPr/>
        </p:nvPicPr>
        <p:blipFill>
          <a:blip r:embed="rId3"/>
          <a:srcRect l="26285" r="26285"/>
          <a:stretch>
            <a:fillRect/>
          </a:stretch>
        </p:blipFill>
        <p:spPr>
          <a:xfrm>
            <a:off x="6858000" y="73152"/>
            <a:ext cx="5212080" cy="618134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858000" y="73152"/>
            <a:ext cx="5212080" cy="6181344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0" y="73152"/>
            <a:ext cx="1097280" cy="6181344"/>
          </a:xfrm>
          <a:prstGeom prst="rect">
            <a:avLst/>
          </a:prstGeom>
          <a:solidFill>
            <a:srgbClr val="F2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38912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444A68"/>
                </a:solidFill>
                <a:latin typeface="Barlow Condensed"/>
              </a:rPr>
              <a:t>WHY NOW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94944"/>
            <a:ext cx="612648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A0F2E"/>
                </a:solidFill>
                <a:latin typeface="Barlow Condensed"/>
              </a:rPr>
              <a:t>AI capability is accelerating faster than enterprise readiness.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10512"/>
            <a:ext cx="6126480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029968"/>
            <a:ext cx="62179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9A84C"/>
                </a:solidFill>
                <a:latin typeface="Barlow Condense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" y="2029968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A0F2E"/>
                </a:solidFill>
                <a:latin typeface="Barlow Condensed"/>
              </a:rPr>
              <a:t>AI capability accelerating. Enterprise mobilization readiness is not.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163824"/>
            <a:ext cx="62179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9A84C"/>
                </a:solidFill>
                <a:latin typeface="Barlow Condense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144" y="3163824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A0F2E"/>
                </a:solidFill>
                <a:latin typeface="Barlow Condensed"/>
              </a:rPr>
              <a:t>Execution readiness is now the competitive bottleneck.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297680"/>
            <a:ext cx="62179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9A84C"/>
                </a:solidFill>
                <a:latin typeface="Barlow Condense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" y="4297680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A0F2E"/>
                </a:solidFill>
                <a:latin typeface="Barlow Condensed"/>
              </a:rPr>
              <a:t>Winners pair AI sensing with governed 12-minute execution speed.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449824"/>
            <a:ext cx="612648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99A5BB"/>
                </a:solidFill>
                <a:latin typeface="Barlow Condensed"/>
              </a:rPr>
              <a:t>Sources: Stanford HAI AI Index 2026  ·  Gartner Autonomous Business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09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" y="420624"/>
            <a:ext cx="1828800" cy="49106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542032" y="420624"/>
            <a:ext cx="109728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9A84C"/>
                </a:solidFill>
                <a:latin typeface="Barlow Condensed"/>
              </a:rPr>
              <a:t>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2032" y="676656"/>
            <a:ext cx="8924544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Barlow Condensed"/>
              </a:rPr>
              <a:t>Twelve founding partners. One defining cohort.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" y="1664208"/>
            <a:ext cx="11530584" cy="190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9184" y="1810512"/>
            <a:ext cx="1719072" cy="1170432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184" y="1865376"/>
            <a:ext cx="171907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9A84C"/>
                </a:solidFill>
                <a:latin typeface="Barlow Condensed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" y="2468880"/>
            <a:ext cx="171907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9A5BB"/>
                </a:solidFill>
                <a:latin typeface="Barlow Condensed"/>
              </a:rPr>
              <a:t>Founding
Partners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94560" y="1810512"/>
            <a:ext cx="1719072" cy="1170432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94560" y="1865376"/>
            <a:ext cx="171907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9A84C"/>
                </a:solidFill>
                <a:latin typeface="Barlow Condensed"/>
              </a:rPr>
              <a:t>$75K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2468880"/>
            <a:ext cx="171907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9A5BB"/>
                </a:solidFill>
                <a:latin typeface="Barlow Condensed"/>
              </a:rPr>
              <a:t>90-Day
Validation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59936" y="1810512"/>
            <a:ext cx="1719072" cy="1170432"/>
          </a:xfrm>
          <a:prstGeom prst="rect">
            <a:avLst/>
          </a:prstGeom>
          <a:solidFill>
            <a:srgbClr val="0D1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59936" y="1865376"/>
            <a:ext cx="171907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9A84C"/>
                </a:solidFill>
                <a:latin typeface="Barlow Condensed"/>
              </a:rPr>
              <a:t>F500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59936" y="2468880"/>
            <a:ext cx="1719072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99A5BB"/>
                </a:solidFill>
                <a:latin typeface="Barlow Condensed"/>
              </a:rPr>
              <a:t>Startup to
Fortune 500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" y="3145536"/>
            <a:ext cx="566928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99A5BB"/>
                </a:solidFill>
                <a:latin typeface="Barlow Condensed"/>
              </a:rPr>
              <a:t>Partners who want readiness as competitive advantage.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" y="3760215"/>
            <a:ext cx="5577840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184" y="3785615"/>
            <a:ext cx="164592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PROGRAM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" y="4023359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Barlow Condensed"/>
              </a:rPr>
              <a:t>Founding Partner · 90-Day Validation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9184" y="4418583"/>
            <a:ext cx="5577840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9184" y="4443983"/>
            <a:ext cx="164592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COMMERCIAL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" y="4681727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9A84C"/>
                </a:solidFill>
                <a:latin typeface="Barlow Condensed"/>
              </a:rPr>
              <a:t>$75K / 90 days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9184" y="5076951"/>
            <a:ext cx="5577840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9184" y="5102351"/>
            <a:ext cx="164592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COHORT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9184" y="5340095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Barlow Condensed"/>
              </a:rPr>
              <a:t>12 startup to Fortune 500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9184" y="5779008"/>
            <a:ext cx="5577840" cy="457200"/>
          </a:xfrm>
          <a:prstGeom prst="rect">
            <a:avLst/>
          </a:prstGeom>
          <a:solidFill>
            <a:srgbClr val="0A0F2E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0624" y="5893308"/>
            <a:ext cx="5394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9A84C"/>
                </a:solidFill>
                <a:latin typeface="Barlow Condensed"/>
              </a:rPr>
              <a:t>Apply for Founding Partner Access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1664208"/>
            <a:ext cx="6350" cy="4572000"/>
          </a:xfrm>
          <a:prstGeom prst="rect">
            <a:avLst/>
          </a:prstGeom>
          <a:solidFill>
            <a:srgbClr val="1E27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home-raw.png"/>
          <p:cNvPicPr>
            <a:picLocks noChangeAspect="1"/>
          </p:cNvPicPr>
          <p:nvPr/>
        </p:nvPicPr>
        <p:blipFill>
          <a:blip r:embed="rId3"/>
          <a:srcRect t="7933" b="7933"/>
          <a:stretch>
            <a:fillRect/>
          </a:stretch>
        </p:blipFill>
        <p:spPr>
          <a:xfrm>
            <a:off x="6217920" y="1810512"/>
            <a:ext cx="5641848" cy="2670048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6217920" y="1810512"/>
            <a:ext cx="5641848" cy="2670048"/>
          </a:xfrm>
          <a:prstGeom prst="rect">
            <a:avLst/>
          </a:prstGeom>
          <a:noFill/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17920" y="4242816"/>
            <a:ext cx="5641848" cy="237744"/>
          </a:xfrm>
          <a:prstGeom prst="rect">
            <a:avLst/>
          </a:prstGeom>
          <a:solidFill>
            <a:srgbClr val="080C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4306316"/>
            <a:ext cx="54589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9A84C"/>
                </a:solidFill>
                <a:latin typeface="Barlow Condensed"/>
              </a:rPr>
              <a:t>READINESS OS · PRODUCTION PLATFORM · VAUGHNMARTIN.COM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4601464"/>
            <a:ext cx="5577840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17920" y="4626864"/>
            <a:ext cx="14630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99A5BB"/>
                </a:solidFill>
                <a:latin typeface="Barlow Condensed"/>
              </a:rPr>
              <a:t>DELIVERY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4626864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Barlow Condensed"/>
              </a:rPr>
              <a:t>Right-sized by organization maturity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5003800"/>
            <a:ext cx="5577840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17920" y="5029200"/>
            <a:ext cx="14630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99A5BB"/>
                </a:solidFill>
                <a:latin typeface="Barlow Condensed"/>
              </a:rPr>
              <a:t>SECTORS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502920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Barlow Condensed"/>
              </a:rPr>
              <a:t>All industries · 6 sector packs available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17920" y="5406136"/>
            <a:ext cx="5577840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17920" y="5431536"/>
            <a:ext cx="14630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99A5BB"/>
                </a:solidFill>
                <a:latin typeface="Barlow Condensed"/>
              </a:rPr>
              <a:t>RAISE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5431536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9A5BB"/>
                </a:solidFill>
                <a:latin typeface="Barlow Condensed"/>
              </a:rPr>
              <a:t>Open strategic raise · active conversations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17920" y="5808472"/>
            <a:ext cx="5577840" cy="6350"/>
          </a:xfrm>
          <a:prstGeom prst="rect">
            <a:avLst/>
          </a:prstGeom>
          <a:solidFill>
            <a:srgbClr val="2834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17920" y="5833872"/>
            <a:ext cx="146304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99A5BB"/>
                </a:solidFill>
                <a:latin typeface="Barlow Condensed"/>
              </a:rPr>
              <a:t>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0" y="5833872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B8A6E"/>
                </a:solidFill>
                <a:latin typeface="Barlow Condensed"/>
              </a:rPr>
              <a:t>vaughnmartin.com/founding-partner-program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715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vm-logo-h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4648" y="6236208"/>
            <a:ext cx="1828800" cy="49106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20624"/>
            <a:ext cx="1127455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9A84C"/>
                </a:solidFill>
                <a:latin typeface="Barlow Condensed"/>
              </a:rPr>
              <a:t>Three lines. That's the pitch.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" y="896112"/>
            <a:ext cx="10945368" cy="1389888"/>
          </a:xfrm>
          <a:prstGeom prst="rect">
            <a:avLst/>
          </a:prstGeom>
          <a:solidFill>
            <a:srgbClr val="0E1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3504" y="896112"/>
            <a:ext cx="63500" cy="138988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042416"/>
            <a:ext cx="1828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371600"/>
            <a:ext cx="1051560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9A84C"/>
                </a:solidFill>
                <a:latin typeface="Barlow Condensed"/>
              </a:rPr>
              <a:t>Enterprises detect more signals but still mobilize too slowly.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2432304"/>
            <a:ext cx="10945368" cy="1389888"/>
          </a:xfrm>
          <a:prstGeom prst="rect">
            <a:avLst/>
          </a:prstGeom>
          <a:solidFill>
            <a:srgbClr val="0E1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3504" y="2432304"/>
            <a:ext cx="63500" cy="138988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578608"/>
            <a:ext cx="1828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SOLUTION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907792"/>
            <a:ext cx="1051560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C9A84C"/>
                </a:solidFill>
                <a:latin typeface="Barlow Condensed"/>
              </a:rPr>
              <a:t>VaughnMartin pre-stages response so executives authorize in minutes.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" y="3968496"/>
            <a:ext cx="10945368" cy="1389888"/>
          </a:xfrm>
          <a:prstGeom prst="rect">
            <a:avLst/>
          </a:prstGeom>
          <a:solidFill>
            <a:srgbClr val="0E16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3504" y="3968496"/>
            <a:ext cx="63500" cy="1389888"/>
          </a:xfrm>
          <a:prstGeom prst="rect">
            <a:avLst/>
          </a:prstGeom>
          <a:solidFill>
            <a:srgbClr val="2B8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114800"/>
            <a:ext cx="18288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9A5BB"/>
                </a:solidFill>
                <a:latin typeface="Barlow Condensed"/>
              </a:rPr>
              <a:t>OUTCOME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443984"/>
            <a:ext cx="10515600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0">
                <a:solidFill>
                  <a:srgbClr val="FFFFFF"/>
                </a:solidFill>
                <a:latin typeface="Barlow Condensed"/>
              </a:rPr>
              <a:t>Earlier detection + faster execution protects value before the window closes.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5920" y="5614416"/>
            <a:ext cx="8933688" cy="566928"/>
          </a:xfrm>
          <a:prstGeom prst="rect">
            <a:avLst/>
          </a:prstGeom>
          <a:solidFill>
            <a:srgbClr val="0A0F2E"/>
          </a:solidFill>
          <a:ln w="1016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37360" y="5705856"/>
            <a:ext cx="875080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9A84C"/>
                </a:solidFill>
                <a:latin typeface="Barlow Condensed"/>
              </a:rPr>
              <a:t>Apply for Founding Partner Access  ·  vaughnmartin.com/founding-partner-program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55664"/>
            <a:ext cx="10972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445070"/>
                </a:solidFill>
                <a:latin typeface="Calibri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