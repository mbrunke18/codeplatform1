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VAUGHNMARTIN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Fortune 1000 company</a:t>
            </a:r>
            <a:endParaRPr lang="en-US" sz="44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deployed AI.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Nothing changed.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bottleneck was never technology.</a:t>
            </a:r>
            <a:endParaRPr lang="en-US" sz="20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was coordination infrastructure.</a:t>
            </a:r>
            <a:endParaRPr lang="en-US" sz="2000" dirty="0"/>
          </a:p>
          <a:p>
            <a:pPr indent="0" marL="0">
              <a:lnSpc>
                <a:spcPts val="2800"/>
              </a:lnSpc>
              <a:buNone/>
            </a:pPr>
            <a:endParaRPr lang="en-US" sz="20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built it.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a strategic trigger fires,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enterprises don't execute.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 mobilize.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822960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37744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640080" y="3566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0" y="2560320"/>
            <a:ext cx="5760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0A0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the right people are in the right room</a:t>
            </a: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0A0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an aligned plan.</a:t>
            </a: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0A0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to solve the problem.</a:t>
            </a: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0A0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to start.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coordination gap costs enterprises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$14–37 million per year.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651760" cy="18288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0116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$1.5–2M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time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9718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Mobilization meetings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828800"/>
            <a:ext cx="2651760" cy="18288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20116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$8–20M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91840" y="2606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latency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91840" y="29718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share erosion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828800"/>
            <a:ext cx="2651760" cy="18288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20116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$5–15M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126480" y="2606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 failure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26480" y="29718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execution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McKinsey: 23% more market share for 72-hour responders  •  HBR: 67% of strategies fail due to poor execution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Spencer Stuart: $23M average executive departure cost  •  BCG: 0.5–1% synergy loss per day of M&amp;A delay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can't fix coordination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during a crisis.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8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have to build it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2B8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the crisis arrives.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35661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i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spent 5 years on Stanford's sideline. 40 seconds between plays. 80,000 fans.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i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didn't execute because we were faster. We executed because every decision was already made.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Readiness OS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 infrastructure for the Fortune 1000.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2011680" cy="201168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1945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170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2880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Playbooks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Pre-staged across 9 domains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51760" y="2011680"/>
            <a:ext cx="2011680" cy="201168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0" name="Text 8"/>
          <p:cNvSpPr/>
          <p:nvPr/>
        </p:nvSpPr>
        <p:spPr>
          <a:xfrm>
            <a:off x="2651760" y="21945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221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2651760" y="2880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51760" y="3246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Monitored every 15 minutes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2011680"/>
            <a:ext cx="2011680" cy="201168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21945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248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4846320" y="2880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Points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3246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8 signal sources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040880" y="2011680"/>
            <a:ext cx="2011680" cy="201168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0" y="21945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7040880" y="2880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3246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coordinated execution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8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days → 12 minutes  =  3,600× Execution Head Start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monitors. Executives decide.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Execution pre-staged.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874520"/>
            <a:ext cx="457200" cy="457200"/>
          </a:xfrm>
          <a:prstGeom prst="rect">
            <a:avLst/>
          </a:prstGeom>
          <a:solidFill>
            <a:srgbClr val="0A0F2E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90195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8872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46888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detected.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221 triggers monitored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9 domains.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91840" y="173736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29000" y="1874520"/>
            <a:ext cx="457200" cy="457200"/>
          </a:xfrm>
          <a:prstGeom prst="rect">
            <a:avLst/>
          </a:prstGeom>
          <a:solidFill>
            <a:srgbClr val="0A0F2E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90195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02336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246888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authorization.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judgment,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pre-staged options.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26480" y="173736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63640" y="1874520"/>
            <a:ext cx="457200" cy="457200"/>
          </a:xfrm>
          <a:prstGeom prst="rect">
            <a:avLst/>
          </a:prstGeom>
          <a:solidFill>
            <a:srgbClr val="0A0F2E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90195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85800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63640" y="246888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Coordinated response.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deploy to named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 with deadlines.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solidFill>
            <a:srgbClr val="2B8A6E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44805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ASSESS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011680" y="44805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Board-ready documentation. Proof of readiness. Lessons captured.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6:47 AM TUESDAY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CFO just resigned.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chair calling. Earnings in 11 days. Competitor offered.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3931920" cy="2286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920240"/>
            <a:ext cx="3931920" cy="4114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9659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READINESS OS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Board notified: 24–48 hours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7706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Interim coverage: 3–5 days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11810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Search firm: 1 week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46557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Stock impact: 3–5% drop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8130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Total exposure: $23M+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1920240"/>
            <a:ext cx="3931920" cy="2286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4" name="Shape 12"/>
          <p:cNvSpPr/>
          <p:nvPr/>
        </p:nvSpPr>
        <p:spPr>
          <a:xfrm>
            <a:off x="4754880" y="1920240"/>
            <a:ext cx="3931920" cy="411480"/>
          </a:xfrm>
          <a:prstGeom prst="rect">
            <a:avLst/>
          </a:prstGeom>
          <a:solidFill>
            <a:srgbClr val="2B8A6E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9659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READINESS OS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2423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Board notified: 2 hours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27706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Interim designated: Same day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311810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Search firm: Before EOD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346557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Stock impact: 1–2% contained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38130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Value protected: $9–14M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8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demo: vaughnmartin.com/executive-departure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170 playbooks encoding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20+ years of Fortune 500 expertise.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40233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replicable by AI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Playbooks encode institutional judgment —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to notify first, what to pre-approve,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sequence stakeholders under pressure.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783080"/>
            <a:ext cx="40233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buildable by consulting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6320" y="22860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McKinsey charges $2M+ for 18-month process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mapping. We deliver 170 playbooks Day One.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output is a report. Ours is infrastructure.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291840"/>
            <a:ext cx="8229600" cy="1188720"/>
          </a:xfrm>
          <a:prstGeom prst="rect">
            <a:avLst/>
          </a:prstGeom>
          <a:solidFill>
            <a:srgbClr val="0A0F2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429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Research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7490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Kerry Huang's 408-firm study: Technology alone has zero statistical relationship with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collaboration improvement. Ownership comes from participation in preparation — not assignment.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FOUNDER-MARKET FIT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didn't theorize this problem.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lived it for 20 years.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73152" cy="8229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737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years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2057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Stanford Football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2860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coordination under pressure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73152" cy="8229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743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20+ years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85800" y="3063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Fortune 500 Operations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32918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Ford • Toyota • Lockheed Martin • Schwab • Vantiv • Boyd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9776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pattern. Different scale. On the sideline: 40 seconds to execute. In the enterprise: 30 days.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built the infrastructure that closes the gap.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Annual SaaS. Land with one domain.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Expand across nine.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26517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8745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$75K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/year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9718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domains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playbooks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monitoring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737360"/>
            <a:ext cx="26517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8745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21945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$150K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291840" y="2651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/year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29718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domains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playbooks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triggers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737360"/>
            <a:ext cx="26517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18745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0" y="21945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$250K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126480" y="2651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/year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26480" y="29718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domains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170 playbooks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integration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2B8A6E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coordinated executive transition pays for the platform for 5 years.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PROJECTIONS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Path to $8M+ ARR by Year 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517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25880"/>
            <a:ext cx="2651760" cy="457200"/>
          </a:xfrm>
          <a:prstGeom prst="rect">
            <a:avLst/>
          </a:prstGeom>
          <a:solidFill>
            <a:srgbClr val="0A0F2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8988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$625K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28800" y="27889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2461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Rate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28800" y="32461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Founder-led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7033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Size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37033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91840" y="1325880"/>
            <a:ext cx="26517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91840" y="1325880"/>
            <a:ext cx="2651760" cy="457200"/>
          </a:xfrm>
          <a:prstGeom prst="rect">
            <a:avLst/>
          </a:prstGeom>
          <a:solidFill>
            <a:srgbClr val="2B8A6E"/>
          </a:solidFill>
          <a:ln/>
        </p:spPr>
      </p:sp>
      <p:sp>
        <p:nvSpPr>
          <p:cNvPr id="17" name="Text 15"/>
          <p:cNvSpPr/>
          <p:nvPr/>
        </p:nvSpPr>
        <p:spPr>
          <a:xfrm>
            <a:off x="3291840" y="138988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18745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$3.75M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3291840" y="23774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0" y="27889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63440" y="27889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474720" y="32461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Rate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63440" y="32461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2-3/month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74720" y="37033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Size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63440" y="37033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26480" y="1325880"/>
            <a:ext cx="26517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1325880"/>
            <a:ext cx="2651760" cy="4572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8" name="Text 26"/>
          <p:cNvSpPr/>
          <p:nvPr/>
        </p:nvSpPr>
        <p:spPr>
          <a:xfrm>
            <a:off x="6126480" y="138988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3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126480" y="18745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$8M+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6126480" y="23774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09360" y="27889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498080" y="27889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09360" y="32461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Rate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498080" y="32461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3/month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309360" y="37033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Size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498080" y="37033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57200" y="4526280"/>
            <a:ext cx="8229600" cy="502920"/>
          </a:xfrm>
          <a:prstGeom prst="rect">
            <a:avLst/>
          </a:prstGeom>
          <a:solidFill>
            <a:srgbClr val="0A0F2E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 Gross Margin  •  $125K Land → $175K Expand  •  90% Retention  •  &lt;12mo CAC Payback  •  LTV:CAC &gt;5×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BUILD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Scaling to support 2-3 new customers/month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447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0" y="144475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83280" y="144475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23360" y="144475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0" y="14447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Hires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8229600" cy="484632"/>
          </a:xfrm>
          <a:prstGeom prst="rect">
            <a:avLst/>
          </a:prstGeom>
          <a:solidFill>
            <a:srgbClr val="0F1424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0116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0" y="20116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20116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023360" y="20116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8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2011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Sales (M3), AEs, SDRs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450592"/>
            <a:ext cx="8229600" cy="484632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5420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Success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43200" y="254203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83280" y="254203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023360" y="254203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8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46320" y="25420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CSMs, Onboarding Specialists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980944"/>
            <a:ext cx="8229600" cy="484632"/>
          </a:xfrm>
          <a:prstGeom prst="rect">
            <a:avLst/>
          </a:prstGeom>
          <a:solidFill>
            <a:srgbClr val="0F1424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07238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743200" y="3072384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383280" y="3072384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023360" y="3072384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8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46320" y="307238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Platform, Integrations, Support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511296"/>
            <a:ext cx="8229600" cy="484632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60273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743200" y="3602736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383280" y="3602736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023360" y="3602736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8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846320" y="360273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RevOps, Finance, IT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4041648"/>
            <a:ext cx="8229600" cy="484632"/>
          </a:xfrm>
          <a:prstGeom prst="rect">
            <a:avLst/>
          </a:prstGeom>
          <a:solidFill>
            <a:srgbClr val="0F1424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413308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2743200" y="4133088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383280" y="4133088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023360" y="4133088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8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846320" y="41330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 (M12), VP Eng (M18)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4572000"/>
            <a:ext cx="8229600" cy="502920"/>
          </a:xfrm>
          <a:prstGeom prst="rect">
            <a:avLst/>
          </a:prstGeom>
          <a:solidFill>
            <a:srgbClr val="2B8A6E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" y="4663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TEAM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2743200" y="46634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3383280" y="46634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023360" y="46634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846320" y="4663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Sales-led growth with strong CS investment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$2.5M Seed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18-month runway to $3.75M ARR and Series A.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2011680" cy="13716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423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154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Sales, 4 AEs, 2 SDRs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51760" y="2286000"/>
            <a:ext cx="2011680" cy="13716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0" name="Text 8"/>
          <p:cNvSpPr/>
          <p:nvPr/>
        </p:nvSpPr>
        <p:spPr>
          <a:xfrm>
            <a:off x="2651760" y="2423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651760" y="2834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51760" y="3154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engineers, integrations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2286000"/>
            <a:ext cx="2011680" cy="13716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2423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846320" y="2834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Success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3154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CSMs, onboarding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040880" y="2286000"/>
            <a:ext cx="2011680" cy="13716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0" y="2423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040880" y="2834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G&amp;A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3154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Ops, legal, finance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840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Milestones: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M6: 5 customers, $625K ARR  •  M12: 15 customers, $1.9M ARR  •  M18: 30 customers, $3.75M ARR, Series A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VAUGHNMARTIN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next strategic trigger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already forming.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enterprise that prepares for every situation</a:t>
            </a:r>
            <a:endParaRPr lang="en-US" sz="18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it'll face is no longer afraid of strategic triggers.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response is ready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the trigger fires.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8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vaughnmartin.com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Marty Brunke  •  martinbrunke@vaughnmartin.com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VaughnMartin - Readiness OS</dc:title>
  <dc:subject>PptxGenJS Presentation</dc:subject>
  <dc:creator>Marty Brunke</dc:creator>
  <cp:lastModifiedBy>Marty Brunke</cp:lastModifiedBy>
  <cp:revision>1</cp:revision>
  <dcterms:created xsi:type="dcterms:W3CDTF">2026-04-10T18:04:23Z</dcterms:created>
  <dcterms:modified xsi:type="dcterms:W3CDTF">2026-04-10T18:04:23Z</dcterms:modified>
</cp:coreProperties>
</file>