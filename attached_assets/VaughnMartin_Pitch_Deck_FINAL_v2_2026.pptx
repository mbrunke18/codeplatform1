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30-day mobilization baseline — VaughnMartin operational research across 20 years Fortune 1000 experience. McKinsey Organizational Agility Research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All five phases live in production — VaughnMartin Readiness OS, Rev 31, May 2026. vaughnmartin.com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Competitor positioning — Signal Labs April 2026, ServiceNow documentation, Microsoft Copilot Work Trend Index 2026, McKinsey public advisory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12-minute activation — VaughnMartin Readiness OS platform specification. 3,600× = 43,200 min ÷ 12 min. vaughnmartin.com/how-it-executes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Platform in production — vaughnmartin.com. Rev 31, May 2026. Built 2023. Executive brief at vaughnmartin.com/executive-brief.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$61.3M estimated annual value — VaughnMartin ROI Calculator, Enterprise 5K–25K employees. vaughnmartin.com/roi-calculator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REFERENCE:
Capital requirements — VaughnMartin internal analysis. Founding Partner Program: 12 seats, 2026 cohort. vaughnmartin.com/founding-partner-program.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ORGANIZATIONS FIND OUT TOO LATE.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THOSE THAT DON'T STILL TAKE 30 DAYS TO RESPOND.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50592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DETECTION GAP  Most organizations find out about strategic triggers after the window has closed — signals unmonitored, thresholds undefined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MOBILIZATION GAP  Even when detected, the first 30 days are spent figuring out who owns the response — before execution even begins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BOTH GAPS COMPOUND  Find out late. Mobilize slowly. The trigger keeps moving while the organization stands still.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5844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  ·  </a:t>
            </a:r>
            <a:pPr indent="0" marL="0">
              <a:buNone/>
            </a:pPr>
            <a:r>
              <a:rPr lang="en-US" sz="8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coordination failures put an estimated $4.4T in annual value at risk. Preparation Infrastructure is the unclaimed software layer.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organizations do not have a strategy problem. They have a detection and mobilization problem. The trigger fires — and they find out late. Then they spend 30 days figuring out who decides."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7" name="Picture 36" descr="s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97864"/>
            <a:ext cx="484632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FROM BOTH WORLDS.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173736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865376"/>
            <a:ext cx="36576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coaching major college football at Stanford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inside Ford, Toyota, Lockheed Martin, Charles Schwab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discipline that wins games was missing from enterprise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2023 to close that gap permanently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"Very few people get exposure to both worlds at the depth where those lessons translate directly into each other. I did. And I built the infrastructure that closes it."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4261104" y="109728"/>
            <a:ext cx="4709160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7408" y="256032"/>
            <a:ext cx="4416552" cy="2084832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256032"/>
            <a:ext cx="441655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347472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STANFORD UNIVERSITY · 5 YEARS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53712" y="53035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COACHING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3712" y="841248"/>
            <a:ext cx="41239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college football is a billion-dollar operation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40-second play clock — full organizational coordination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architecture built before game day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response pre-staged before pressure arrives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preparation IS the execution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40196" y="2395728"/>
            <a:ext cx="950976" cy="384048"/>
          </a:xfrm>
          <a:prstGeom prst="rect">
            <a:avLst/>
          </a:prstGeom>
          <a:solidFill>
            <a:srgbClr val="2B8A6E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0196" y="239572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INTERSECTION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407408" y="2816352"/>
            <a:ext cx="4416552" cy="202996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07408" y="2816352"/>
            <a:ext cx="4416552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37" name="Text 35"/>
          <p:cNvSpPr/>
          <p:nvPr/>
        </p:nvSpPr>
        <p:spPr>
          <a:xfrm>
            <a:off x="4553712" y="2907792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FORTUNE 1000 OPERATIONS · 20 YEARS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53712" y="3090672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LEADERSHIP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53712" y="3401568"/>
            <a:ext cx="412394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· Toyota · Lockheed Martin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Schwab · Boyd Gaming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the 30-day mobilization failure repeat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preparation gap — different trigger, same delay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Readiness OS in 2023 to end that pattern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 OS: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FULL ADVANTAGE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OPERATING SYSTEM.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77440"/>
            <a:ext cx="36576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MAP  Define every trigger, threshold, and escalation path on your terms. 221 trigger patterns across 9 strategic domains — defined before pressure arrives.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MONITOR  248+ data points. 16 signal categories checked every 15 minutes. Signals surfaced before they go public — detection on your terms.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DECIDE  Four real choices including Stand Down. System monitors signals continuously. Executives authorize. Always.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EXECUTE  Roles, budgets, internal comms, external comms, PR. Full coordinated response in 12 minutes.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  <a:p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LEARN  Close-Out Gate encodes every activation into future protocols. +18% readiness improvement per cycle.</a:t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b="1" spc="1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4590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OS gives organizations end-to-end advantage: detect on your terms, decide with authority, execute in 12 minutes, and improve every cycle.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5" name="Picture 34" descr="s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97864"/>
            <a:ext cx="484632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 COMPOUNDS.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COMPETITORS START AT ZERO.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19456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22576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encodes what held — preparation compounds over time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intelligence calibrated to each organization's specific readiness state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intelligence no competitor can replicate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has Microsoft's AI stack. None have the operating model to use it. Readiness OS is that layer — not a replacement, an orchestrator."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sp>
        <p:nvSpPr>
          <p:cNvPr id="28" name="Shape 25"/>
          <p:cNvSpPr/>
          <p:nvPr/>
        </p:nvSpPr>
        <p:spPr>
          <a:xfrm>
            <a:off x="4261104" y="109728"/>
            <a:ext cx="4709160" cy="4937760"/>
          </a:xfrm>
          <a:prstGeom prst="rect">
            <a:avLst/>
          </a:prstGeom>
          <a:solidFill>
            <a:srgbClr val="080C25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25696" y="237744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COMPETITORS STOP SHORT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389120" y="4754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89120" y="4754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2" name="Text 29"/>
          <p:cNvSpPr/>
          <p:nvPr/>
        </p:nvSpPr>
        <p:spPr>
          <a:xfrm>
            <a:off x="4480560" y="5120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 Labs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480560" y="6766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signal. Stops before the response is staged.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389120" y="9326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89120" y="9326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36" name="Text 33"/>
          <p:cNvSpPr/>
          <p:nvPr/>
        </p:nvSpPr>
        <p:spPr>
          <a:xfrm>
            <a:off x="4480560" y="9692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480560" y="11338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workflows after alignment. We pre-stage the alignment.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389120" y="13898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89120" y="13898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40" name="Text 37"/>
          <p:cNvSpPr/>
          <p:nvPr/>
        </p:nvSpPr>
        <p:spPr>
          <a:xfrm>
            <a:off x="4480560" y="14264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Copilot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480560" y="15910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intelligence. None have the operating model to use it. We are that layer.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389120" y="1847088"/>
            <a:ext cx="4453128" cy="393192"/>
          </a:xfrm>
          <a:prstGeom prst="rect">
            <a:avLst/>
          </a:prstGeom>
          <a:solidFill>
            <a:srgbClr val="0D1535"/>
          </a:solidFill>
          <a:ln w="6350">
            <a:solidFill>
              <a:srgbClr val="1E2A4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89120" y="1847088"/>
            <a:ext cx="36576" cy="393192"/>
          </a:xfrm>
          <a:prstGeom prst="rect">
            <a:avLst/>
          </a:prstGeom>
          <a:solidFill>
            <a:srgbClr val="C03030"/>
          </a:solidFill>
          <a:ln/>
        </p:spPr>
      </p:sp>
      <p:sp>
        <p:nvSpPr>
          <p:cNvPr id="44" name="Text 41"/>
          <p:cNvSpPr/>
          <p:nvPr/>
        </p:nvSpPr>
        <p:spPr>
          <a:xfrm>
            <a:off x="4480560" y="1883664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McKinsey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480560" y="2048256"/>
            <a:ext cx="42336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after the trigger fires. We were ready before it.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389120" y="2340864"/>
            <a:ext cx="4453128" cy="2194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7" name="Text 44"/>
          <p:cNvSpPr/>
          <p:nvPr/>
        </p:nvSpPr>
        <p:spPr>
          <a:xfrm>
            <a:off x="4425696" y="2414016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A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MOAT — WHAT MAKES US HARD TO CATCH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38912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2B8A6E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389120" y="2670048"/>
            <a:ext cx="1399032" cy="36576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50" name="Text 47"/>
          <p:cNvSpPr/>
          <p:nvPr/>
        </p:nvSpPr>
        <p:spPr>
          <a:xfrm>
            <a:off x="448056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Loop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48056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 encodes learning after every activation. Preparation compounds continuously.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85216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852160" y="2670048"/>
            <a:ext cx="1399032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4" name="Text 51"/>
          <p:cNvSpPr/>
          <p:nvPr/>
        </p:nvSpPr>
        <p:spPr>
          <a:xfrm>
            <a:off x="594360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 Context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94360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confidence + preparedness score. No generic platform replicates this.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7315200" y="2670048"/>
            <a:ext cx="1399032" cy="2304288"/>
          </a:xfrm>
          <a:prstGeom prst="rect">
            <a:avLst/>
          </a:prstGeom>
          <a:solidFill>
            <a:srgbClr val="0D1535"/>
          </a:solidFill>
          <a:ln w="19050">
            <a:solidFill>
              <a:srgbClr val="3BAF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315200" y="2670048"/>
            <a:ext cx="1399032" cy="36576"/>
          </a:xfrm>
          <a:prstGeom prst="rect">
            <a:avLst/>
          </a:prstGeom>
          <a:solidFill>
            <a:srgbClr val="3BAF8A"/>
          </a:solidFill>
          <a:ln/>
        </p:spPr>
      </p:sp>
      <p:sp>
        <p:nvSpPr>
          <p:cNvPr id="58" name="Text 55"/>
          <p:cNvSpPr/>
          <p:nvPr/>
        </p:nvSpPr>
        <p:spPr>
          <a:xfrm>
            <a:off x="7406640" y="2761488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Encoding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Permanence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406640" y="3236976"/>
            <a:ext cx="12161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of activations creates an intelligence layer competitors cannot offer on day one.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2B8A6E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TRIGGER TO COORDINATED EXECUTION IN MINUTES.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33172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50592"/>
            <a:ext cx="36576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detected — confidence scored against 221 trigger patterns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protocol staged across relevant domains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notified with context and decision brief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authorizes — four real choices including Stand Down. No action deploys without explicit authorization.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</a:t>
            </a:r>
            <a:pPr indent="0" marL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launches — 12 minutes from signal to live 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key change is that coordination is pre-built, so when the trigger fires, execution starts."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vaughnmartin.com/how-it-executes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6" name="Picture 35" descr="s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97864"/>
            <a:ext cx="484632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— NOW, NOT ROADMAP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SAME TRIGGER.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ENTIRELY DIFFERENT OUTCOME.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SCENARIOS. REAL NUMBERS.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51760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RANSOMWARE ($14B company)  Without: $47M in regulatory penalties, customer notification Day 14.  With: $0 in penalties, systems isolated in 12 minutes, notification in 4 hours.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ACTIVIST INVESTOR ($28B company)  Without: Board seat conceded, stock -11%.  With: No concessions, stock +4% recovery — company response issued before Elliott's first press statement.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SUPPLY CHAIN COLLAPSE ($8B company)  Without: $47M in production losses + $12M in customer penalties, 7 weeks disruption.  With: $0 losses, $0 penalties, continuity maintained.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"Same trigger. Same company. $47M in penalties or $0. 7 weeks of disruption or 0 days. The only variable: whether the response was pre-staged before the trigger fired."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vaughnmartin.com/executive-brief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6" name="Picture 35" descr="s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97864"/>
            <a:ext cx="484632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 EXISTING RESPONSE SPEND WITH EXECUTION INFRASTRUCTURE.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20040" y="2523744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651760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Every enterprise has already invested in Microsoft's AI stack — Readiness OS is the operating model layer that makes that investment executable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Readiness OS shifts existing response budgets from reactive to pre-staged — no new budget category required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Estimated $61.3M annual value for enterprises facing 3+ strategic triggers — modeled from live ROI data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36576" cy="548640"/>
          </a:xfrm>
          <a:prstGeom prst="rect">
            <a:avLst/>
          </a:prstGeom>
          <a:solidFill>
            <a:srgbClr val="3A4A6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96512"/>
            <a:ext cx="3520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already paid for the stack. We are not asking for new budget — we are completing an investment already made."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vaughnmartin.com/roi-calculator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6" name="Picture 35" descr="s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97864"/>
            <a:ext cx="484632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33088" cy="5143500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133088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" y="841248"/>
            <a:ext cx="3474720" cy="3474720"/>
          </a:xfrm>
          <a:prstGeom prst="ellipse">
            <a:avLst/>
          </a:prstGeom>
          <a:ln w="25400">
            <a:solidFill>
              <a:srgbClr val="C4CD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667" y="1049731"/>
            <a:ext cx="3057754" cy="3057754"/>
          </a:xfrm>
          <a:prstGeom prst="ellipse">
            <a:avLst/>
          </a:prstGeom>
          <a:ln w="10160">
            <a:solidFill>
              <a:srgbClr val="C4C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5034" y="1492758"/>
            <a:ext cx="1303020" cy="2171700"/>
          </a:xfrm>
          <a:prstGeom prst="rect">
            <a:avLst/>
          </a:prstGeom>
          <a:ln w="15240">
            <a:solidFill>
              <a:srgbClr val="C4CD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228600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4C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289304" y="2816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400" kern="0" dirty="0">
                <a:solidFill>
                  <a:srgbClr val="C4CD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822960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1" name="Shape 9"/>
          <p:cNvSpPr/>
          <p:nvPr/>
        </p:nvSpPr>
        <p:spPr>
          <a:xfrm>
            <a:off x="2029968" y="4187952"/>
            <a:ext cx="73152" cy="16459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3" name="Shape 11"/>
          <p:cNvSpPr/>
          <p:nvPr/>
        </p:nvSpPr>
        <p:spPr>
          <a:xfrm>
            <a:off x="3675888" y="2542032"/>
            <a:ext cx="164592" cy="73152"/>
          </a:xfrm>
          <a:prstGeom prst="rect">
            <a:avLst/>
          </a:prstGeom>
          <a:solidFill>
            <a:srgbClr val="C4CDD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28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· 08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"/>
            <a:ext cx="36576" cy="1828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" y="438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+ CLOSE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768096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CATEGORY CREATION: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PREPARATION INFRASTRUCTURE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2011680"/>
            <a:ext cx="502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21408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Up to $1,000,000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hardening + enterprise controls</a:t>
            </a:r>
            <a:endParaRPr lang="en-US" sz="11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0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conversions + Repeatable GTM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18-MO RUNWAY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Mo.6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partners recurring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Mo.9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complete  ·  </a:t>
            </a:r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Mo.12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GTM + proof stories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20040" y="34198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PRICING  ·  </a:t>
            </a:r>
            <a:pPr indent="0" marL="0"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$75K–$250K/yr  ·  Growth from $75K  ·  Annual recurring  ·  No per-seat pricing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0040" y="363931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RESPONSE IS READY BEFORE THE TRIGGER FIRES.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" y="416966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enterprise has AI capability. Very few have mobilization readiness. We built that layer."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4773168"/>
            <a:ext cx="329184" cy="329184"/>
          </a:xfrm>
          <a:prstGeom prst="rect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47823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4944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4944" y="4937760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2B8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OS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206240" y="91440"/>
            <a:ext cx="4800600" cy="4956048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06240" y="91440"/>
            <a:ext cx="4800600" cy="310896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25112" y="182880"/>
            <a:ext cx="118872" cy="118872"/>
          </a:xfrm>
          <a:prstGeom prst="rect">
            <a:avLst/>
          </a:prstGeom>
          <a:solidFill>
            <a:srgbClr val="FF5F57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98848" y="182880"/>
            <a:ext cx="118872" cy="118872"/>
          </a:xfrm>
          <a:prstGeom prst="rect">
            <a:avLst/>
          </a:prstGeom>
          <a:solidFill>
            <a:srgbClr val="FEBC2E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72584" y="182880"/>
            <a:ext cx="118872" cy="118872"/>
          </a:xfrm>
          <a:prstGeom prst="rect">
            <a:avLst/>
          </a:prstGeom>
          <a:solidFill>
            <a:srgbClr val="28C84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01184" y="155448"/>
            <a:ext cx="3072384" cy="182880"/>
          </a:xfrm>
          <a:prstGeom prst="rect">
            <a:avLst/>
          </a:prstGeom>
          <a:solidFill>
            <a:srgbClr val="1A1A30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37760" y="15544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vaughnmartin.com/founding-partner-program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1535"/>
          </a:solidFill>
          <a:ln/>
        </p:spPr>
      </p:sp>
      <p:pic>
        <p:nvPicPr>
          <p:cNvPr id="38" name="Picture 37" descr="s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197864"/>
            <a:ext cx="484632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0F2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37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SOURCES &amp; REFERENCES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0" y="274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VaughnMartin Readiness OS  ·  Investor Pitch  · 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9494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" y="69494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" y="749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 &amp; 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29768" y="87782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30-Day Mobilization Baseline &amp; $4.4T Market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104241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operational research — 20 years direct experience across Ford, Toyota, Lockheed Martin, Charles Schwab, and Boyd Gaming. McKinsey Organizational Agility Research (2025). $4.4T enterprise value at risk from coordination failures.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040" y="211226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" y="21671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29768" y="22951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Metrics — Five Phases All Live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45973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Readiness OS production system, Rev 31, May 2026. All five phases (Map, Monitor, Decide, Execute, Learn) live in production. 248+ data points across 16 signal categories. 221 triggers. 170 Protocols. vaughnmartin.com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0040" y="352958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9768" y="35844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12-Minute Activation &amp; 3,600× Head Start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9768" y="387705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platform performance specification. Calculation: 30 days × 24 hrs × 60 min = 43,200 min ÷ 12 min = 3,600×. Baseline is average Fortune 1000 cross-functional mobilization cycle. vaughnmartin.com/how-it-executes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69494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663440" y="69494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773168" y="74980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73168" y="87782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$61.3M Estimated Annual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104241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ROI Calculator — Enterprise profile (5K–25K employees), 3+ strategic triggers annually. Value modeled on time saved × enterprise coordination cost rate. Publicly interactive: vaughnmartin.com/roi-calculator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11226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663440" y="211226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73168" y="216712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73168" y="229514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Positioning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45973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Labs: company materials, April 2026. ServiceNow: platform documentation. Microsoft Copilot: Work Trend Index 2026. McKinsey: public advisory positioning.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529584"/>
            <a:ext cx="4160520" cy="1362456"/>
          </a:xfrm>
          <a:prstGeom prst="rect">
            <a:avLst/>
          </a:prstGeom>
          <a:solidFill>
            <a:srgbClr val="E2E8F2"/>
          </a:solidFill>
          <a:ln w="6350">
            <a:solidFill>
              <a:srgbClr val="C4CDD9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663440" y="3529584"/>
            <a:ext cx="36576" cy="136245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773168" y="3584448"/>
            <a:ext cx="3977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8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3712464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5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Capital Requirements — Up to $1,000,000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877056"/>
            <a:ext cx="3977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 internal capital requirements analysis, May 2026. Founding Partner Program: 12 seats, 2026 cohort. vaughnmartin.com/founding-partner-program. Platform built 2023, in production now.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0F2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20040" y="5047488"/>
            <a:ext cx="85039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A8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platform metrics are live production figures verifiable at vaughnmartin.com  ·  Financial projections are estimates based on VaughnMartin ROI methodology  ·  Confidential — For Investor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Readiness OS — Investor Pitch</dc:title>
  <dc:subject>PptxGenJS Presentation</dc:subject>
  <dc:creator>VaughnMartin</dc:creator>
  <cp:lastModifiedBy>VaughnMartin</cp:lastModifiedBy>
  <cp:revision>1</cp:revision>
  <dcterms:created xsi:type="dcterms:W3CDTF">2026-05-18T15:40:59Z</dcterms:created>
  <dcterms:modified xsi:type="dcterms:W3CDTF">2026-05-18T15:40:59Z</dcterms:modified>
</cp:coreProperties>
</file>