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HOOK:</a:t>
            </a:r>
          </a:p>
          <a:p>
            <a:r>
              <a:t>"Every company in your portfolio has built an AI stack to process information faster. Yet when a critical strategic trigger fires, it still takes 30 days of committee meetings to act.</a:t>
            </a:r>
          </a:p>
          <a:p/>
          <a:p>
            <a:r>
              <a:t>We engineered the operating model that closes that gap permanently. A 3,600× execution head start — the response is fully pre-staged before the crisis hits.</a:t>
            </a:r>
          </a:p>
          <a:p/>
          <a:p>
            <a:r>
              <a:t>This is NOT an efficiency tool. This is a defense and offense system for a volatile world."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a:t>
            </a:r>
          </a:p>
          <a:p>
            <a:r>
              <a:t>"The market thinks companies have a strategy problem. They don't. They have an architecture problem. Leadership spends the first two or three weeks just figuring out who has the authority to make the first move. That 30-day delay is an existential window that activists, regulators, or competitors completely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a:t>
            </a:r>
          </a:p>
          <a:p>
            <a:r>
              <a:t>"I am the only person in enterprise software at this intersection of depth. At Stanford the response is pre-staged before the snap. VaughnMartin closes that gap permanently for the enterprise."</a:t>
            </a:r>
          </a:p>
          <a:p/>
          <a:p>
            <a:r>
              <a:t>KEY LINE: "This is the moat you cannot replicate from a job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a:t>
            </a:r>
          </a:p>
          <a:p>
            <a:r>
              <a:t>"When a ransomware signal hits, in less than 120 seconds it delivers a board-ready execution brief with pre-approved communication streams and a mapped authority chain. The AI monitors, but humans decide. 30 days of chaos becomes a 12-minute executive sign-off."</a:t>
            </a:r>
          </a:p>
          <a:p/>
          <a:p>
            <a:r>
              <a:t>KEY: "The system stages the choice in seconds. The executive must click authorize."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a:t>
            </a:r>
          </a:p>
          <a:p>
            <a:r>
              <a:t>"VaughnMartin is the orchestration layer that pre-stages the alignment before any competitor is even called. And because our system encodes the results of every activation, the data moat becomes completely uncatchable by month 18."</a:t>
            </a:r>
          </a:p>
          <a:p/>
          <a:p>
            <a:r>
              <a:t>FATAL TRAP: "Can't ServiceNow add this?" → "No. They track the work. We engineer the capability to do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a:t>
            </a:r>
          </a:p>
          <a:p>
            <a:r>
              <a:t>"The system doesn't autonomously rogue-execute. In less than 120 seconds, it delivers a board-ready brief. The AI monitors, but humans decide."</a:t>
            </a:r>
          </a:p>
          <a:p/>
          <a:p>
            <a:r>
              <a:t>SAY AT STEP 4: "Four real choices — including Stand Down. No action deploys without explicit executive authorization. Human authority is preserved at every point."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a:t>
            </a:r>
          </a:p>
          <a:p>
            <a:r>
              <a:t>"Pull out your phone right now. Go to vaughnmartin.com/how-it-executes. Watch the 12-minute execution chain run live. This is not a roadmap — it is live and testable today."</a:t>
            </a:r>
          </a:p>
          <a:p/>
          <a:p>
            <a:r>
              <a:t>FRAMING: "Same trigger. Same company. Entirely different outcome. The only variable is whether the response was pre-staged before the trigger fired."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a:t>
            </a:r>
          </a:p>
          <a:p>
            <a:r>
              <a:t>"Enterprises are already burning millions on reactive, post-trigger consulting retainers and fire-drills. We are simply converting that wasteful, panic-driven spend into repeatable software infrastructure. The $75K Founding Partner fee is a trivial reallocation of waste that already exists in the budget — and it pays for itself the first time a trigger fires."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(CLOSE):</a:t>
            </a:r>
          </a:p>
          <a:p>
            <a:r>
              <a:t>"The platform is live. 12 Founding Partner seats. Cohort forming now. This is a limited ticket onto a fast-moving train.</a:t>
            </a:r>
          </a:p>
          <a:p/>
          <a:p>
            <a:r>
              <a:t>PREPARATION → READINESS → FEARLESS.</a:t>
            </a:r>
          </a:p>
          <a:p/>
          <a:p>
            <a:r>
              <a:t>Any organization prepared for every situation it expects to face is no longer afraid — it is fearless. That is the endpoint. Not speed. Fearless.</a:t>
            </a:r>
          </a:p>
          <a:p/>
          <a:p>
            <a:r>
              <a:t>Let's build the future of fearless execution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jp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jp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jp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12864"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94576" y="0"/>
            <a:ext cx="5486" cy="685800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footer.png"/>
          <p:cNvPicPr>
            <a:picLocks noChangeAspect="1"/>
          </p:cNvPicPr>
          <p:nvPr/>
        </p:nvPicPr>
        <p:blipFill>
          <a:blip r:embed="rId3"/>
          <a:stretch>
            <a:fillRect/>
          </a:stretch>
        </p:blipFill>
        <p:spPr>
          <a:xfrm>
            <a:off x="438912" y="402336"/>
            <a:ext cx="2323490" cy="585216"/>
          </a:xfrm>
          <a:prstGeom prst="rect">
            <a:avLst/>
          </a:prstGeom>
        </p:spPr>
      </p:pic>
      <p:sp>
        <p:nvSpPr>
          <p:cNvPr id="6" name="Rectangle 5"/>
          <p:cNvSpPr/>
          <p:nvPr/>
        </p:nvSpPr>
        <p:spPr>
          <a:xfrm>
            <a:off x="438912" y="1042415"/>
            <a:ext cx="621792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8912" y="475488"/>
            <a:ext cx="6217920" cy="201168"/>
          </a:xfrm>
          <a:prstGeom prst="rect">
            <a:avLst/>
          </a:prstGeom>
          <a:noFill/>
        </p:spPr>
        <p:txBody>
          <a:bodyPr wrap="square">
            <a:spAutoFit/>
          </a:bodyPr>
          <a:lstStyle/>
          <a:p>
            <a:pPr algn="l"/>
            <a:r>
              <a:rPr sz="750" b="1" i="0">
                <a:solidFill>
                  <a:srgbClr val="2B8A6E"/>
                </a:solidFill>
                <a:latin typeface="Calibri"/>
              </a:rPr>
              <a:t>●  MONITORING ACTIVE  ·  1 SIGNAL DETECTED  ·  SYSTEM ARMED</a:t>
            </a:r>
          </a:p>
        </p:txBody>
      </p:sp>
      <p:sp>
        <p:nvSpPr>
          <p:cNvPr id="8" name="TextBox 7"/>
          <p:cNvSpPr txBox="1"/>
          <p:nvPr/>
        </p:nvSpPr>
        <p:spPr>
          <a:xfrm>
            <a:off x="438912" y="1152144"/>
            <a:ext cx="6400800" cy="969264"/>
          </a:xfrm>
          <a:prstGeom prst="rect">
            <a:avLst/>
          </a:prstGeom>
          <a:noFill/>
        </p:spPr>
        <p:txBody>
          <a:bodyPr wrap="square">
            <a:spAutoFit/>
          </a:bodyPr>
          <a:lstStyle/>
          <a:p>
            <a:pPr algn="l"/>
            <a:r>
              <a:rPr sz="4600" b="0" i="0">
                <a:solidFill>
                  <a:srgbClr val="FFFFFF"/>
                </a:solidFill>
                <a:latin typeface="Georgia"/>
              </a:rPr>
              <a:t>The Response Is Ready</a:t>
            </a:r>
          </a:p>
        </p:txBody>
      </p:sp>
      <p:sp>
        <p:nvSpPr>
          <p:cNvPr id="9" name="TextBox 8"/>
          <p:cNvSpPr txBox="1"/>
          <p:nvPr/>
        </p:nvSpPr>
        <p:spPr>
          <a:xfrm>
            <a:off x="438912" y="2121408"/>
            <a:ext cx="6400800" cy="969264"/>
          </a:xfrm>
          <a:prstGeom prst="rect">
            <a:avLst/>
          </a:prstGeom>
          <a:noFill/>
        </p:spPr>
        <p:txBody>
          <a:bodyPr wrap="square">
            <a:spAutoFit/>
          </a:bodyPr>
          <a:lstStyle/>
          <a:p>
            <a:pPr algn="l"/>
            <a:r>
              <a:rPr sz="4600" b="0" i="1">
                <a:solidFill>
                  <a:srgbClr val="C9A84C"/>
                </a:solidFill>
                <a:latin typeface="Georgia"/>
              </a:rPr>
              <a:t>before the trigger fires.</a:t>
            </a:r>
          </a:p>
        </p:txBody>
      </p:sp>
      <p:sp>
        <p:nvSpPr>
          <p:cNvPr id="10" name="TextBox 9"/>
          <p:cNvSpPr txBox="1"/>
          <p:nvPr/>
        </p:nvSpPr>
        <p:spPr>
          <a:xfrm>
            <a:off x="438912" y="3163824"/>
            <a:ext cx="6217920" cy="237744"/>
          </a:xfrm>
          <a:prstGeom prst="rect">
            <a:avLst/>
          </a:prstGeom>
          <a:noFill/>
        </p:spPr>
        <p:txBody>
          <a:bodyPr wrap="square">
            <a:spAutoFit/>
          </a:bodyPr>
          <a:lstStyle/>
          <a:p>
            <a:pPr algn="l"/>
            <a:r>
              <a:rPr sz="950" b="1" i="0">
                <a:solidFill>
                  <a:srgbClr val="AAB4CC"/>
                </a:solidFill>
                <a:latin typeface="Calibri"/>
              </a:rPr>
              <a:t>Defense + Offense System  ·  Startup to Fortune 500</a:t>
            </a:r>
          </a:p>
        </p:txBody>
      </p:sp>
      <p:sp>
        <p:nvSpPr>
          <p:cNvPr id="11" name="TextBox 10"/>
          <p:cNvSpPr txBox="1"/>
          <p:nvPr/>
        </p:nvSpPr>
        <p:spPr>
          <a:xfrm>
            <a:off x="438912" y="3419856"/>
            <a:ext cx="6217920" cy="219456"/>
          </a:xfrm>
          <a:prstGeom prst="rect">
            <a:avLst/>
          </a:prstGeom>
          <a:noFill/>
        </p:spPr>
        <p:txBody>
          <a:bodyPr wrap="square">
            <a:spAutoFit/>
          </a:bodyPr>
          <a:lstStyle/>
          <a:p>
            <a:pPr algn="l"/>
            <a:r>
              <a:rPr sz="900" b="0" i="0">
                <a:solidFill>
                  <a:srgbClr val="AAB4CC"/>
                </a:solidFill>
                <a:latin typeface="Calibri"/>
              </a:rPr>
              <a:t>Preparation Infrastructure for a Volatile World</a:t>
            </a:r>
          </a:p>
        </p:txBody>
      </p:sp>
      <p:sp>
        <p:nvSpPr>
          <p:cNvPr id="12" name="Rectangle 11"/>
          <p:cNvSpPr/>
          <p:nvPr/>
        </p:nvSpPr>
        <p:spPr>
          <a:xfrm>
            <a:off x="438912" y="3730752"/>
            <a:ext cx="6217920" cy="16459"/>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 y="3895344"/>
            <a:ext cx="1444752" cy="475488"/>
          </a:xfrm>
          <a:prstGeom prst="rect">
            <a:avLst/>
          </a:prstGeom>
          <a:noFill/>
        </p:spPr>
        <p:txBody>
          <a:bodyPr wrap="square">
            <a:spAutoFit/>
          </a:bodyPr>
          <a:lstStyle/>
          <a:p>
            <a:pPr algn="l"/>
            <a:r>
              <a:rPr sz="2800" b="1" i="0">
                <a:solidFill>
                  <a:srgbClr val="C9A84C"/>
                </a:solidFill>
                <a:latin typeface="Calibri"/>
              </a:rPr>
              <a:t>12 MIN</a:t>
            </a:r>
          </a:p>
        </p:txBody>
      </p:sp>
      <p:sp>
        <p:nvSpPr>
          <p:cNvPr id="14" name="TextBox 13"/>
          <p:cNvSpPr txBox="1"/>
          <p:nvPr/>
        </p:nvSpPr>
        <p:spPr>
          <a:xfrm>
            <a:off x="438912" y="4389120"/>
            <a:ext cx="1444752" cy="201168"/>
          </a:xfrm>
          <a:prstGeom prst="rect">
            <a:avLst/>
          </a:prstGeom>
          <a:noFill/>
        </p:spPr>
        <p:txBody>
          <a:bodyPr wrap="square">
            <a:spAutoFit/>
          </a:bodyPr>
          <a:lstStyle/>
          <a:p>
            <a:pPr algn="l"/>
            <a:r>
              <a:rPr sz="750" b="0" i="0">
                <a:solidFill>
                  <a:srgbClr val="AAB4CC"/>
                </a:solidFill>
                <a:latin typeface="Calibri"/>
              </a:rPr>
              <a:t>trigger to execution</a:t>
            </a:r>
          </a:p>
        </p:txBody>
      </p:sp>
      <p:sp>
        <p:nvSpPr>
          <p:cNvPr id="15" name="Rectangle 14"/>
          <p:cNvSpPr/>
          <p:nvPr/>
        </p:nvSpPr>
        <p:spPr>
          <a:xfrm>
            <a:off x="1901952" y="3895344"/>
            <a:ext cx="12801" cy="64008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975104" y="3895344"/>
            <a:ext cx="1444752" cy="475488"/>
          </a:xfrm>
          <a:prstGeom prst="rect">
            <a:avLst/>
          </a:prstGeom>
          <a:noFill/>
        </p:spPr>
        <p:txBody>
          <a:bodyPr wrap="square">
            <a:spAutoFit/>
          </a:bodyPr>
          <a:lstStyle/>
          <a:p>
            <a:pPr algn="l"/>
            <a:r>
              <a:rPr sz="2800" b="1" i="0">
                <a:solidFill>
                  <a:srgbClr val="C9A84C"/>
                </a:solidFill>
                <a:latin typeface="Calibri"/>
              </a:rPr>
              <a:t>3,600×</a:t>
            </a:r>
          </a:p>
        </p:txBody>
      </p:sp>
      <p:sp>
        <p:nvSpPr>
          <p:cNvPr id="17" name="TextBox 16"/>
          <p:cNvSpPr txBox="1"/>
          <p:nvPr/>
        </p:nvSpPr>
        <p:spPr>
          <a:xfrm>
            <a:off x="1975104" y="4389120"/>
            <a:ext cx="1444752" cy="201168"/>
          </a:xfrm>
          <a:prstGeom prst="rect">
            <a:avLst/>
          </a:prstGeom>
          <a:noFill/>
        </p:spPr>
        <p:txBody>
          <a:bodyPr wrap="square">
            <a:spAutoFit/>
          </a:bodyPr>
          <a:lstStyle/>
          <a:p>
            <a:pPr algn="l"/>
            <a:r>
              <a:rPr sz="750" b="0" i="0">
                <a:solidFill>
                  <a:srgbClr val="AAB4CC"/>
                </a:solidFill>
                <a:latin typeface="Calibri"/>
              </a:rPr>
              <a:t>execution head start</a:t>
            </a:r>
          </a:p>
        </p:txBody>
      </p:sp>
      <p:sp>
        <p:nvSpPr>
          <p:cNvPr id="18" name="Rectangle 17"/>
          <p:cNvSpPr/>
          <p:nvPr/>
        </p:nvSpPr>
        <p:spPr>
          <a:xfrm>
            <a:off x="3438144" y="3895344"/>
            <a:ext cx="12801" cy="64008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11296" y="3895344"/>
            <a:ext cx="1444752" cy="475488"/>
          </a:xfrm>
          <a:prstGeom prst="rect">
            <a:avLst/>
          </a:prstGeom>
          <a:noFill/>
        </p:spPr>
        <p:txBody>
          <a:bodyPr wrap="square">
            <a:spAutoFit/>
          </a:bodyPr>
          <a:lstStyle/>
          <a:p>
            <a:pPr algn="l"/>
            <a:r>
              <a:rPr sz="2800" b="1" i="0">
                <a:solidFill>
                  <a:srgbClr val="C9A84C"/>
                </a:solidFill>
                <a:latin typeface="Calibri"/>
              </a:rPr>
              <a:t>170</a:t>
            </a:r>
          </a:p>
        </p:txBody>
      </p:sp>
      <p:sp>
        <p:nvSpPr>
          <p:cNvPr id="20" name="TextBox 19"/>
          <p:cNvSpPr txBox="1"/>
          <p:nvPr/>
        </p:nvSpPr>
        <p:spPr>
          <a:xfrm>
            <a:off x="3511296" y="4389120"/>
            <a:ext cx="1444752" cy="201168"/>
          </a:xfrm>
          <a:prstGeom prst="rect">
            <a:avLst/>
          </a:prstGeom>
          <a:noFill/>
        </p:spPr>
        <p:txBody>
          <a:bodyPr wrap="square">
            <a:spAutoFit/>
          </a:bodyPr>
          <a:lstStyle/>
          <a:p>
            <a:pPr algn="l"/>
            <a:r>
              <a:rPr sz="750" b="0" i="0">
                <a:solidFill>
                  <a:srgbClr val="AAB4CC"/>
                </a:solidFill>
                <a:latin typeface="Calibri"/>
              </a:rPr>
              <a:t>Readiness Protocols</a:t>
            </a:r>
          </a:p>
        </p:txBody>
      </p:sp>
      <p:sp>
        <p:nvSpPr>
          <p:cNvPr id="21" name="Rectangle 20"/>
          <p:cNvSpPr/>
          <p:nvPr/>
        </p:nvSpPr>
        <p:spPr>
          <a:xfrm>
            <a:off x="4974336" y="3895344"/>
            <a:ext cx="12801" cy="64008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895344"/>
            <a:ext cx="1444752" cy="475488"/>
          </a:xfrm>
          <a:prstGeom prst="rect">
            <a:avLst/>
          </a:prstGeom>
          <a:noFill/>
        </p:spPr>
        <p:txBody>
          <a:bodyPr wrap="square">
            <a:spAutoFit/>
          </a:bodyPr>
          <a:lstStyle/>
          <a:p>
            <a:pPr algn="l"/>
            <a:r>
              <a:rPr sz="2800" b="1" i="0">
                <a:solidFill>
                  <a:srgbClr val="C9A84C"/>
                </a:solidFill>
                <a:latin typeface="Calibri"/>
              </a:rPr>
              <a:t>221</a:t>
            </a:r>
          </a:p>
        </p:txBody>
      </p:sp>
      <p:sp>
        <p:nvSpPr>
          <p:cNvPr id="23" name="TextBox 22"/>
          <p:cNvSpPr txBox="1"/>
          <p:nvPr/>
        </p:nvSpPr>
        <p:spPr>
          <a:xfrm>
            <a:off x="5047488" y="4389120"/>
            <a:ext cx="1444752" cy="201168"/>
          </a:xfrm>
          <a:prstGeom prst="rect">
            <a:avLst/>
          </a:prstGeom>
          <a:noFill/>
        </p:spPr>
        <p:txBody>
          <a:bodyPr wrap="square">
            <a:spAutoFit/>
          </a:bodyPr>
          <a:lstStyle/>
          <a:p>
            <a:pPr algn="l"/>
            <a:r>
              <a:rPr sz="750" b="0" i="0">
                <a:solidFill>
                  <a:srgbClr val="AAB4CC"/>
                </a:solidFill>
                <a:latin typeface="Calibri"/>
              </a:rPr>
              <a:t>trigger patterns</a:t>
            </a:r>
          </a:p>
        </p:txBody>
      </p:sp>
      <p:sp>
        <p:nvSpPr>
          <p:cNvPr id="24" name="Rectangle 23"/>
          <p:cNvSpPr/>
          <p:nvPr/>
        </p:nvSpPr>
        <p:spPr>
          <a:xfrm>
            <a:off x="438912" y="4645152"/>
            <a:ext cx="621792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4718304"/>
            <a:ext cx="6217920" cy="219456"/>
          </a:xfrm>
          <a:prstGeom prst="rect">
            <a:avLst/>
          </a:prstGeom>
          <a:noFill/>
        </p:spPr>
        <p:txBody>
          <a:bodyPr wrap="square">
            <a:spAutoFit/>
          </a:bodyPr>
          <a:lstStyle/>
          <a:p>
            <a:pPr algn="l"/>
            <a:r>
              <a:rPr sz="800" b="1" i="0">
                <a:solidFill>
                  <a:srgbClr val="AAB4CC"/>
                </a:solidFill>
                <a:latin typeface="Calibri"/>
              </a:rPr>
              <a:t>INVESTOR BRIEF  ·  MAY 2026  ·  CONFIDENTIAL</a:t>
            </a:r>
          </a:p>
        </p:txBody>
      </p:sp>
      <p:pic>
        <p:nvPicPr>
          <p:cNvPr id="26" name="Picture 25" descr="vm_seal_clean.png"/>
          <p:cNvPicPr>
            <a:picLocks noChangeAspect="1"/>
          </p:cNvPicPr>
          <p:nvPr/>
        </p:nvPicPr>
        <p:blipFill>
          <a:blip r:embed="rId4"/>
          <a:stretch>
            <a:fillRect/>
          </a:stretch>
        </p:blipFill>
        <p:spPr>
          <a:xfrm>
            <a:off x="7022592" y="256032"/>
            <a:ext cx="4956048" cy="4956048"/>
          </a:xfrm>
          <a:prstGeom prst="rect">
            <a:avLst/>
          </a:prstGeom>
        </p:spPr>
      </p:pic>
      <p:sp>
        <p:nvSpPr>
          <p:cNvPr id="27" name="TextBox 26"/>
          <p:cNvSpPr txBox="1"/>
          <p:nvPr/>
        </p:nvSpPr>
        <p:spPr>
          <a:xfrm>
            <a:off x="7022592" y="5285232"/>
            <a:ext cx="4956048" cy="256032"/>
          </a:xfrm>
          <a:prstGeom prst="rect">
            <a:avLst/>
          </a:prstGeom>
          <a:noFill/>
        </p:spPr>
        <p:txBody>
          <a:bodyPr wrap="square">
            <a:spAutoFit/>
          </a:bodyPr>
          <a:lstStyle/>
          <a:p>
            <a:pPr algn="ctr"/>
            <a:r>
              <a:rPr sz="1000" b="1" i="0">
                <a:solidFill>
                  <a:srgbClr val="C9A84C"/>
                </a:solidFill>
                <a:latin typeface="Calibri"/>
              </a:rPr>
              <a:t>ANTE IGNEM PARATUS</a:t>
            </a:r>
          </a:p>
        </p:txBody>
      </p:sp>
      <p:sp>
        <p:nvSpPr>
          <p:cNvPr id="28" name="TextBox 27"/>
          <p:cNvSpPr txBox="1"/>
          <p:nvPr/>
        </p:nvSpPr>
        <p:spPr>
          <a:xfrm>
            <a:off x="7022592" y="5559552"/>
            <a:ext cx="4956048" cy="201168"/>
          </a:xfrm>
          <a:prstGeom prst="rect">
            <a:avLst/>
          </a:prstGeom>
          <a:noFill/>
        </p:spPr>
        <p:txBody>
          <a:bodyPr wrap="square">
            <a:spAutoFit/>
          </a:bodyPr>
          <a:lstStyle/>
          <a:p>
            <a:pPr algn="ctr"/>
            <a:r>
              <a:rPr sz="900" b="0" i="1">
                <a:solidFill>
                  <a:srgbClr val="AAB4CC"/>
                </a:solidFill>
                <a:latin typeface="Georgia"/>
              </a:rPr>
              <a:t>Prepared Before the Fire</a:t>
            </a:r>
          </a:p>
        </p:txBody>
      </p:sp>
      <p:sp>
        <p:nvSpPr>
          <p:cNvPr id="29" name="Rectangle 28"/>
          <p:cNvSpPr/>
          <p:nvPr/>
        </p:nvSpPr>
        <p:spPr>
          <a:xfrm>
            <a:off x="7406640" y="5833872"/>
            <a:ext cx="4169663" cy="43891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0" y="5888736"/>
            <a:ext cx="4169663" cy="329184"/>
          </a:xfrm>
          <a:prstGeom prst="rect">
            <a:avLst/>
          </a:prstGeom>
          <a:noFill/>
        </p:spPr>
        <p:txBody>
          <a:bodyPr wrap="square">
            <a:spAutoFit/>
          </a:bodyPr>
          <a:lstStyle/>
          <a:p>
            <a:pPr algn="ctr"/>
            <a:r>
              <a:rPr sz="950" b="1" i="0">
                <a:solidFill>
                  <a:srgbClr val="04071E"/>
                </a:solidFill>
                <a:latin typeface="Calibri"/>
              </a:rPr>
              <a:t>REQUEST FOUNDING PARTNER ACCESS  →</a:t>
            </a:r>
          </a:p>
        </p:txBody>
      </p:sp>
      <p:sp>
        <p:nvSpPr>
          <p:cNvPr id="31" name="Rectangle 30"/>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34" name="TextBox 33"/>
          <p:cNvSpPr txBox="1"/>
          <p:nvPr/>
        </p:nvSpPr>
        <p:spPr>
          <a:xfrm>
            <a:off x="2194560" y="6592824"/>
            <a:ext cx="9628632" cy="182880"/>
          </a:xfrm>
          <a:prstGeom prst="rect">
            <a:avLst/>
          </a:prstGeom>
          <a:noFill/>
        </p:spPr>
        <p:txBody>
          <a:bodyPr wrap="square">
            <a:spAutoFit/>
          </a:bodyPr>
          <a:lstStyle/>
          <a:p>
            <a:pPr algn="r"/>
            <a:r>
              <a:rPr sz="750" b="0" i="0">
                <a:solidFill>
                  <a:srgbClr val="AAB4CC"/>
                </a:solidFill>
                <a:latin typeface="Calibri"/>
              </a:rPr>
              <a:t>CONFIDENTIAL  ·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547104"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41617" y="0"/>
            <a:ext cx="5486" cy="685800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01  /  08</a:t>
            </a:r>
          </a:p>
        </p:txBody>
      </p:sp>
      <p:sp>
        <p:nvSpPr>
          <p:cNvPr id="7" name="Rectangle 6"/>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10" name="TextBox 9"/>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01  /  08</a:t>
            </a:r>
          </a:p>
        </p:txBody>
      </p:sp>
      <p:sp>
        <p:nvSpPr>
          <p:cNvPr id="11" name="TextBox 10"/>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a:t>
            </a:r>
          </a:p>
        </p:txBody>
      </p:sp>
      <p:sp>
        <p:nvSpPr>
          <p:cNvPr id="12" name="Rectangle 11"/>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01168"/>
            <a:ext cx="5760720" cy="164592"/>
          </a:xfrm>
          <a:prstGeom prst="rect">
            <a:avLst/>
          </a:prstGeom>
          <a:noFill/>
        </p:spPr>
        <p:txBody>
          <a:bodyPr wrap="square">
            <a:spAutoFit/>
          </a:bodyPr>
          <a:lstStyle/>
          <a:p>
            <a:pPr algn="l"/>
            <a:r>
              <a:rPr sz="750" b="1" i="0">
                <a:solidFill>
                  <a:srgbClr val="C9A84C"/>
                </a:solidFill>
                <a:latin typeface="Calibri"/>
              </a:rPr>
              <a:t>   THE PROBLEM</a:t>
            </a:r>
          </a:p>
        </p:txBody>
      </p:sp>
      <p:sp>
        <p:nvSpPr>
          <p:cNvPr id="14" name="TextBox 13"/>
          <p:cNvSpPr txBox="1"/>
          <p:nvPr/>
        </p:nvSpPr>
        <p:spPr>
          <a:xfrm>
            <a:off x="384048" y="365760"/>
            <a:ext cx="5943600" cy="435864"/>
          </a:xfrm>
          <a:prstGeom prst="rect">
            <a:avLst/>
          </a:prstGeom>
          <a:noFill/>
        </p:spPr>
        <p:txBody>
          <a:bodyPr wrap="square">
            <a:spAutoFit/>
          </a:bodyPr>
          <a:lstStyle/>
          <a:p>
            <a:pPr algn="l"/>
            <a:r>
              <a:rPr sz="2600" b="1" i="0">
                <a:solidFill>
                  <a:srgbClr val="FFFFFF"/>
                </a:solidFill>
                <a:latin typeface="Calibri"/>
              </a:rPr>
              <a:t>THE 30-DAY</a:t>
            </a:r>
          </a:p>
        </p:txBody>
      </p:sp>
      <p:sp>
        <p:nvSpPr>
          <p:cNvPr id="15" name="TextBox 14"/>
          <p:cNvSpPr txBox="1"/>
          <p:nvPr/>
        </p:nvSpPr>
        <p:spPr>
          <a:xfrm>
            <a:off x="384048" y="801624"/>
            <a:ext cx="5943600" cy="435864"/>
          </a:xfrm>
          <a:prstGeom prst="rect">
            <a:avLst/>
          </a:prstGeom>
          <a:noFill/>
        </p:spPr>
        <p:txBody>
          <a:bodyPr wrap="square">
            <a:spAutoFit/>
          </a:bodyPr>
          <a:lstStyle/>
          <a:p>
            <a:pPr algn="l"/>
            <a:r>
              <a:rPr sz="2600" b="1" i="0">
                <a:solidFill>
                  <a:srgbClr val="C9A84C"/>
                </a:solidFill>
                <a:latin typeface="Calibri"/>
              </a:rPr>
              <a:t>MOBILIZATION BLACK HOLE.</a:t>
            </a:r>
          </a:p>
        </p:txBody>
      </p:sp>
      <p:sp>
        <p:nvSpPr>
          <p:cNvPr id="16" name="Rectangle 15"/>
          <p:cNvSpPr/>
          <p:nvPr/>
        </p:nvSpPr>
        <p:spPr>
          <a:xfrm>
            <a:off x="384048" y="1328928"/>
            <a:ext cx="61264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4048" y="1474927"/>
            <a:ext cx="2596896" cy="1536192"/>
          </a:xfrm>
          <a:prstGeom prst="rect">
            <a:avLst/>
          </a:prstGeom>
          <a:solidFill>
            <a:srgbClr val="1F66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84048" y="1474927"/>
            <a:ext cx="2596896" cy="2377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 y="1529791"/>
            <a:ext cx="2377440" cy="201168"/>
          </a:xfrm>
          <a:prstGeom prst="rect">
            <a:avLst/>
          </a:prstGeom>
          <a:noFill/>
        </p:spPr>
        <p:txBody>
          <a:bodyPr wrap="square">
            <a:spAutoFit/>
          </a:bodyPr>
          <a:lstStyle/>
          <a:p>
            <a:pPr algn="l"/>
            <a:r>
              <a:rPr sz="800" b="1" i="0">
                <a:solidFill>
                  <a:srgbClr val="2B8A6E"/>
                </a:solidFill>
                <a:latin typeface="Calibri"/>
              </a:rPr>
              <a:t>DETECTION</a:t>
            </a:r>
          </a:p>
        </p:txBody>
      </p:sp>
      <p:sp>
        <p:nvSpPr>
          <p:cNvPr id="20" name="TextBox 19"/>
          <p:cNvSpPr txBox="1"/>
          <p:nvPr/>
        </p:nvSpPr>
        <p:spPr>
          <a:xfrm>
            <a:off x="512064" y="1749247"/>
            <a:ext cx="2377440" cy="621792"/>
          </a:xfrm>
          <a:prstGeom prst="rect">
            <a:avLst/>
          </a:prstGeom>
          <a:noFill/>
        </p:spPr>
        <p:txBody>
          <a:bodyPr wrap="square">
            <a:spAutoFit/>
          </a:bodyPr>
          <a:lstStyle/>
          <a:p>
            <a:pPr algn="l"/>
            <a:r>
              <a:rPr sz="3400" b="1" i="0">
                <a:solidFill>
                  <a:srgbClr val="FFFFFF"/>
                </a:solidFill>
                <a:latin typeface="Calibri"/>
              </a:rPr>
              <a:t>&lt; 1 SEC</a:t>
            </a:r>
          </a:p>
        </p:txBody>
      </p:sp>
      <p:sp>
        <p:nvSpPr>
          <p:cNvPr id="21" name="TextBox 20"/>
          <p:cNvSpPr txBox="1"/>
          <p:nvPr/>
        </p:nvSpPr>
        <p:spPr>
          <a:xfrm>
            <a:off x="512064" y="2389327"/>
            <a:ext cx="2377440" cy="548640"/>
          </a:xfrm>
          <a:prstGeom prst="rect">
            <a:avLst/>
          </a:prstGeom>
          <a:noFill/>
        </p:spPr>
        <p:txBody>
          <a:bodyPr wrap="square">
            <a:spAutoFit/>
          </a:bodyPr>
          <a:lstStyle/>
          <a:p>
            <a:pPr algn="l"/>
            <a:r>
              <a:rPr sz="850" b="0" i="0">
                <a:solidFill>
                  <a:srgbClr val="CCFFEE"/>
                </a:solidFill>
                <a:latin typeface="Calibri"/>
              </a:rPr>
              <a:t>Signal identified.
Pattern matched.
Protocol staged.
Score computed.</a:t>
            </a:r>
          </a:p>
        </p:txBody>
      </p:sp>
      <p:sp>
        <p:nvSpPr>
          <p:cNvPr id="22" name="TextBox 21"/>
          <p:cNvSpPr txBox="1"/>
          <p:nvPr/>
        </p:nvSpPr>
        <p:spPr>
          <a:xfrm>
            <a:off x="3035808" y="1895551"/>
            <a:ext cx="457200" cy="548640"/>
          </a:xfrm>
          <a:prstGeom prst="rect">
            <a:avLst/>
          </a:prstGeom>
          <a:noFill/>
        </p:spPr>
        <p:txBody>
          <a:bodyPr wrap="square">
            <a:spAutoFit/>
          </a:bodyPr>
          <a:lstStyle/>
          <a:p>
            <a:pPr algn="ctr"/>
            <a:r>
              <a:rPr sz="2600" b="1" i="0">
                <a:solidFill>
                  <a:srgbClr val="C9A84C"/>
                </a:solidFill>
                <a:latin typeface="Calibri"/>
              </a:rPr>
              <a:t>→</a:t>
            </a:r>
          </a:p>
        </p:txBody>
      </p:sp>
      <p:sp>
        <p:nvSpPr>
          <p:cNvPr id="23" name="Rectangle 22"/>
          <p:cNvSpPr/>
          <p:nvPr/>
        </p:nvSpPr>
        <p:spPr>
          <a:xfrm>
            <a:off x="3529584" y="1474927"/>
            <a:ext cx="2487168" cy="1536192"/>
          </a:xfrm>
          <a:prstGeom prst="rect">
            <a:avLst/>
          </a:prstGeom>
          <a:solidFill>
            <a:srgbClr val="3A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529584" y="1474927"/>
            <a:ext cx="2487168" cy="23774"/>
          </a:xfrm>
          <a:prstGeom prst="rect">
            <a:avLst/>
          </a:prstGeom>
          <a:solidFill>
            <a:srgbClr val="FF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0" y="1529791"/>
            <a:ext cx="2286000" cy="201168"/>
          </a:xfrm>
          <a:prstGeom prst="rect">
            <a:avLst/>
          </a:prstGeom>
          <a:noFill/>
        </p:spPr>
        <p:txBody>
          <a:bodyPr wrap="square">
            <a:spAutoFit/>
          </a:bodyPr>
          <a:lstStyle/>
          <a:p>
            <a:pPr algn="l"/>
            <a:r>
              <a:rPr sz="800" b="1" i="0">
                <a:solidFill>
                  <a:srgbClr val="FF6666"/>
                </a:solidFill>
                <a:latin typeface="Calibri"/>
              </a:rPr>
              <a:t>MOBILIZATION</a:t>
            </a:r>
          </a:p>
        </p:txBody>
      </p:sp>
      <p:sp>
        <p:nvSpPr>
          <p:cNvPr id="26" name="TextBox 25"/>
          <p:cNvSpPr txBox="1"/>
          <p:nvPr/>
        </p:nvSpPr>
        <p:spPr>
          <a:xfrm>
            <a:off x="3657600" y="1749247"/>
            <a:ext cx="2286000" cy="621792"/>
          </a:xfrm>
          <a:prstGeom prst="rect">
            <a:avLst/>
          </a:prstGeom>
          <a:noFill/>
        </p:spPr>
        <p:txBody>
          <a:bodyPr wrap="square">
            <a:spAutoFit/>
          </a:bodyPr>
          <a:lstStyle/>
          <a:p>
            <a:pPr algn="l"/>
            <a:r>
              <a:rPr sz="3400" b="1" i="0">
                <a:solidFill>
                  <a:srgbClr val="FF8888"/>
                </a:solidFill>
                <a:latin typeface="Calibri"/>
              </a:rPr>
              <a:t>30 DAYS</a:t>
            </a:r>
          </a:p>
        </p:txBody>
      </p:sp>
      <p:sp>
        <p:nvSpPr>
          <p:cNvPr id="27" name="TextBox 26"/>
          <p:cNvSpPr txBox="1"/>
          <p:nvPr/>
        </p:nvSpPr>
        <p:spPr>
          <a:xfrm>
            <a:off x="3657600" y="2389327"/>
            <a:ext cx="2286000" cy="548640"/>
          </a:xfrm>
          <a:prstGeom prst="rect">
            <a:avLst/>
          </a:prstGeom>
          <a:noFill/>
        </p:spPr>
        <p:txBody>
          <a:bodyPr wrap="square">
            <a:spAutoFit/>
          </a:bodyPr>
          <a:lstStyle/>
          <a:p>
            <a:pPr algn="l"/>
            <a:r>
              <a:rPr sz="850" b="0" i="0">
                <a:solidFill>
                  <a:srgbClr val="FFCCCC"/>
                </a:solidFill>
                <a:latin typeface="Calibri"/>
              </a:rPr>
              <a:t>Who decides?
Who calls who?
Who owns it?
Who authorizes?</a:t>
            </a:r>
          </a:p>
        </p:txBody>
      </p:sp>
      <p:sp>
        <p:nvSpPr>
          <p:cNvPr id="28" name="TextBox 27"/>
          <p:cNvSpPr txBox="1"/>
          <p:nvPr/>
        </p:nvSpPr>
        <p:spPr>
          <a:xfrm>
            <a:off x="384048" y="3157423"/>
            <a:ext cx="5852160" cy="365760"/>
          </a:xfrm>
          <a:prstGeom prst="rect">
            <a:avLst/>
          </a:prstGeom>
          <a:noFill/>
        </p:spPr>
        <p:txBody>
          <a:bodyPr wrap="square">
            <a:spAutoFit/>
          </a:bodyPr>
          <a:lstStyle/>
          <a:p>
            <a:pPr algn="l"/>
            <a:r>
              <a:rPr sz="1050" b="0" i="0">
                <a:solidFill>
                  <a:srgbClr val="FFFFFF"/>
                </a:solidFill>
                <a:latin typeface="Calibri"/>
              </a:rPr>
              <a:t>▸  Startup to Fortune 500 — same trigger, identical 30-day drift</a:t>
            </a:r>
          </a:p>
        </p:txBody>
      </p:sp>
      <p:sp>
        <p:nvSpPr>
          <p:cNvPr id="29" name="TextBox 28"/>
          <p:cNvSpPr txBox="1"/>
          <p:nvPr/>
        </p:nvSpPr>
        <p:spPr>
          <a:xfrm>
            <a:off x="384048" y="3559759"/>
            <a:ext cx="5852160" cy="365760"/>
          </a:xfrm>
          <a:prstGeom prst="rect">
            <a:avLst/>
          </a:prstGeom>
          <a:noFill/>
        </p:spPr>
        <p:txBody>
          <a:bodyPr wrap="square">
            <a:spAutoFit/>
          </a:bodyPr>
          <a:lstStyle/>
          <a:p>
            <a:pPr algn="l"/>
            <a:r>
              <a:rPr sz="1050" b="0" i="0">
                <a:solidFill>
                  <a:srgbClr val="FFFFFF"/>
                </a:solidFill>
                <a:latin typeface="Calibri"/>
              </a:rPr>
              <a:t>▸  The delay is not execution — it is mobilization architecture</a:t>
            </a:r>
          </a:p>
        </p:txBody>
      </p:sp>
      <p:sp>
        <p:nvSpPr>
          <p:cNvPr id="30" name="TextBox 29"/>
          <p:cNvSpPr txBox="1"/>
          <p:nvPr/>
        </p:nvSpPr>
        <p:spPr>
          <a:xfrm>
            <a:off x="384048" y="3962095"/>
            <a:ext cx="5852160" cy="365760"/>
          </a:xfrm>
          <a:prstGeom prst="rect">
            <a:avLst/>
          </a:prstGeom>
          <a:noFill/>
        </p:spPr>
        <p:txBody>
          <a:bodyPr wrap="square">
            <a:spAutoFit/>
          </a:bodyPr>
          <a:lstStyle/>
          <a:p>
            <a:pPr algn="l"/>
            <a:r>
              <a:rPr sz="1050" b="0" i="0">
                <a:solidFill>
                  <a:srgbClr val="FFFFFF"/>
                </a:solidFill>
                <a:latin typeface="Calibri"/>
              </a:rPr>
              <a:t>▸  Every day of drift: a window activists, regulators, competitors own</a:t>
            </a:r>
          </a:p>
        </p:txBody>
      </p:sp>
      <p:sp>
        <p:nvSpPr>
          <p:cNvPr id="31" name="Rectangle 30"/>
          <p:cNvSpPr/>
          <p:nvPr/>
        </p:nvSpPr>
        <p:spPr>
          <a:xfrm>
            <a:off x="384048" y="4455871"/>
            <a:ext cx="5760720" cy="6949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4048" y="4455871"/>
            <a:ext cx="5760720" cy="21945"/>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2064" y="4501591"/>
            <a:ext cx="5559552" cy="256032"/>
          </a:xfrm>
          <a:prstGeom prst="rect">
            <a:avLst/>
          </a:prstGeom>
          <a:noFill/>
        </p:spPr>
        <p:txBody>
          <a:bodyPr wrap="square">
            <a:spAutoFit/>
          </a:bodyPr>
          <a:lstStyle/>
          <a:p>
            <a:pPr algn="l"/>
            <a:r>
              <a:rPr sz="1050" b="1" i="0">
                <a:solidFill>
                  <a:srgbClr val="C9A84C"/>
                </a:solidFill>
                <a:latin typeface="Calibri"/>
              </a:rPr>
              <a:t>$4.4T AT RISK ANNUALLY — COORDINATION FAILURES</a:t>
            </a:r>
          </a:p>
        </p:txBody>
      </p:sp>
      <p:sp>
        <p:nvSpPr>
          <p:cNvPr id="34" name="TextBox 33"/>
          <p:cNvSpPr txBox="1"/>
          <p:nvPr/>
        </p:nvSpPr>
        <p:spPr>
          <a:xfrm>
            <a:off x="512064" y="4785055"/>
            <a:ext cx="5559552" cy="274320"/>
          </a:xfrm>
          <a:prstGeom prst="rect">
            <a:avLst/>
          </a:prstGeom>
          <a:noFill/>
        </p:spPr>
        <p:txBody>
          <a:bodyPr wrap="square">
            <a:spAutoFit/>
          </a:bodyPr>
          <a:lstStyle/>
          <a:p>
            <a:pPr algn="l"/>
            <a:r>
              <a:rPr sz="900" b="0" i="0">
                <a:solidFill>
                  <a:srgbClr val="AAB4CC"/>
                </a:solidFill>
                <a:latin typeface="Calibri"/>
              </a:rPr>
              <a:t>The 30-day mobilization gap is an architecture problem. We eliminate it permanently.</a:t>
            </a:r>
          </a:p>
        </p:txBody>
      </p:sp>
      <p:sp>
        <p:nvSpPr>
          <p:cNvPr id="35" name="Rectangle 34"/>
          <p:cNvSpPr/>
          <p:nvPr/>
        </p:nvSpPr>
        <p:spPr>
          <a:xfrm>
            <a:off x="6528816" y="402336"/>
            <a:ext cx="5550408" cy="6108192"/>
          </a:xfrm>
          <a:prstGeom prst="rect">
            <a:avLst/>
          </a:prstGeom>
          <a:solidFill>
            <a:srgbClr val="020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37376" y="347472"/>
            <a:ext cx="36576" cy="610819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hq_command_tower.jpg"/>
          <p:cNvPicPr>
            <a:picLocks noChangeAspect="1"/>
          </p:cNvPicPr>
          <p:nvPr/>
        </p:nvPicPr>
        <p:blipFill>
          <a:blip r:embed="rId4"/>
          <a:stretch>
            <a:fillRect/>
          </a:stretch>
        </p:blipFill>
        <p:spPr>
          <a:xfrm>
            <a:off x="6473952" y="347472"/>
            <a:ext cx="5550408" cy="610819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02  /  08</a:t>
            </a:r>
          </a:p>
        </p:txBody>
      </p:sp>
      <p:sp>
        <p:nvSpPr>
          <p:cNvPr id="6" name="Rectangle 5"/>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9" name="TextBox 8"/>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02  /  08</a:t>
            </a:r>
          </a:p>
        </p:txBody>
      </p:sp>
      <p:sp>
        <p:nvSpPr>
          <p:cNvPr id="10" name="TextBox 9"/>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a:t>
            </a:r>
          </a:p>
        </p:txBody>
      </p:sp>
      <p:sp>
        <p:nvSpPr>
          <p:cNvPr id="11" name="Rectangle 10"/>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01168"/>
            <a:ext cx="11521440" cy="164592"/>
          </a:xfrm>
          <a:prstGeom prst="rect">
            <a:avLst/>
          </a:prstGeom>
          <a:noFill/>
        </p:spPr>
        <p:txBody>
          <a:bodyPr wrap="square">
            <a:spAutoFit/>
          </a:bodyPr>
          <a:lstStyle/>
          <a:p>
            <a:pPr algn="l"/>
            <a:r>
              <a:rPr sz="750" b="1" i="0">
                <a:solidFill>
                  <a:srgbClr val="C9A84C"/>
                </a:solidFill>
                <a:latin typeface="Calibri"/>
              </a:rPr>
              <a:t>   THE FOUNDER</a:t>
            </a:r>
          </a:p>
        </p:txBody>
      </p:sp>
      <p:sp>
        <p:nvSpPr>
          <p:cNvPr id="13" name="TextBox 12"/>
          <p:cNvSpPr txBox="1"/>
          <p:nvPr/>
        </p:nvSpPr>
        <p:spPr>
          <a:xfrm>
            <a:off x="384048" y="365760"/>
            <a:ext cx="11521440" cy="469392"/>
          </a:xfrm>
          <a:prstGeom prst="rect">
            <a:avLst/>
          </a:prstGeom>
          <a:noFill/>
        </p:spPr>
        <p:txBody>
          <a:bodyPr wrap="square">
            <a:spAutoFit/>
          </a:bodyPr>
          <a:lstStyle/>
          <a:p>
            <a:pPr algn="l"/>
            <a:r>
              <a:rPr sz="2800" b="1" i="0">
                <a:solidFill>
                  <a:srgbClr val="C9A84C"/>
                </a:solidFill>
                <a:latin typeface="Calibri"/>
              </a:rPr>
              <a:t>THE ONLY TEAM ALIVE</a:t>
            </a:r>
          </a:p>
        </p:txBody>
      </p:sp>
      <p:sp>
        <p:nvSpPr>
          <p:cNvPr id="14" name="TextBox 13"/>
          <p:cNvSpPr txBox="1"/>
          <p:nvPr/>
        </p:nvSpPr>
        <p:spPr>
          <a:xfrm>
            <a:off x="384048" y="835152"/>
            <a:ext cx="11521440" cy="469392"/>
          </a:xfrm>
          <a:prstGeom prst="rect">
            <a:avLst/>
          </a:prstGeom>
          <a:noFill/>
        </p:spPr>
        <p:txBody>
          <a:bodyPr wrap="square">
            <a:spAutoFit/>
          </a:bodyPr>
          <a:lstStyle/>
          <a:p>
            <a:pPr algn="l"/>
            <a:r>
              <a:rPr sz="2800" b="1" i="0">
                <a:solidFill>
                  <a:srgbClr val="FFFFFF"/>
                </a:solidFill>
                <a:latin typeface="Calibri"/>
              </a:rPr>
              <a:t>THAT COULD BUILD THIS.</a:t>
            </a:r>
          </a:p>
        </p:txBody>
      </p:sp>
      <p:sp>
        <p:nvSpPr>
          <p:cNvPr id="15" name="Rectangle 14"/>
          <p:cNvSpPr/>
          <p:nvPr/>
        </p:nvSpPr>
        <p:spPr>
          <a:xfrm>
            <a:off x="384048" y="1395984"/>
            <a:ext cx="11411712"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4048" y="1542592"/>
            <a:ext cx="5394960" cy="256032"/>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1579168"/>
            <a:ext cx="5248656" cy="201168"/>
          </a:xfrm>
          <a:prstGeom prst="rect">
            <a:avLst/>
          </a:prstGeom>
          <a:noFill/>
        </p:spPr>
        <p:txBody>
          <a:bodyPr wrap="square">
            <a:spAutoFit/>
          </a:bodyPr>
          <a:lstStyle/>
          <a:p>
            <a:pPr algn="l"/>
            <a:r>
              <a:rPr sz="800" b="1" i="0">
                <a:solidFill>
                  <a:srgbClr val="C9A84C"/>
                </a:solidFill>
                <a:latin typeface="Calibri"/>
              </a:rPr>
              <a:t>FORTUNE 500 OPERATIONS  ·  20 YEARS</a:t>
            </a:r>
          </a:p>
        </p:txBody>
      </p:sp>
      <p:sp>
        <p:nvSpPr>
          <p:cNvPr id="18" name="TextBox 17"/>
          <p:cNvSpPr txBox="1"/>
          <p:nvPr/>
        </p:nvSpPr>
        <p:spPr>
          <a:xfrm>
            <a:off x="493776" y="1871776"/>
            <a:ext cx="5248656" cy="347472"/>
          </a:xfrm>
          <a:prstGeom prst="rect">
            <a:avLst/>
          </a:prstGeom>
          <a:noFill/>
        </p:spPr>
        <p:txBody>
          <a:bodyPr wrap="square">
            <a:spAutoFit/>
          </a:bodyPr>
          <a:lstStyle/>
          <a:p>
            <a:pPr algn="l"/>
            <a:r>
              <a:rPr sz="1000" b="0" i="0">
                <a:solidFill>
                  <a:srgbClr val="FFFFFF"/>
                </a:solidFill>
                <a:latin typeface="Calibri"/>
              </a:rPr>
              <a:t>·  Ford · Toyota · Lockheed Martin · Charles Schwab</a:t>
            </a:r>
          </a:p>
        </p:txBody>
      </p:sp>
      <p:sp>
        <p:nvSpPr>
          <p:cNvPr id="19" name="TextBox 18"/>
          <p:cNvSpPr txBox="1"/>
          <p:nvPr/>
        </p:nvSpPr>
        <p:spPr>
          <a:xfrm>
            <a:off x="493776" y="2274112"/>
            <a:ext cx="5248656" cy="347472"/>
          </a:xfrm>
          <a:prstGeom prst="rect">
            <a:avLst/>
          </a:prstGeom>
          <a:noFill/>
        </p:spPr>
        <p:txBody>
          <a:bodyPr wrap="square">
            <a:spAutoFit/>
          </a:bodyPr>
          <a:lstStyle/>
          <a:p>
            <a:pPr algn="l"/>
            <a:r>
              <a:rPr sz="1000" b="0" i="0">
                <a:solidFill>
                  <a:srgbClr val="FFFFFF"/>
                </a:solidFill>
                <a:latin typeface="Calibri"/>
              </a:rPr>
              <a:t>·  Watched the 30-day mobilization failure repeat across every vertical</a:t>
            </a:r>
          </a:p>
        </p:txBody>
      </p:sp>
      <p:sp>
        <p:nvSpPr>
          <p:cNvPr id="20" name="TextBox 19"/>
          <p:cNvSpPr txBox="1"/>
          <p:nvPr/>
        </p:nvSpPr>
        <p:spPr>
          <a:xfrm>
            <a:off x="493776" y="2676448"/>
            <a:ext cx="5248656" cy="347472"/>
          </a:xfrm>
          <a:prstGeom prst="rect">
            <a:avLst/>
          </a:prstGeom>
          <a:noFill/>
        </p:spPr>
        <p:txBody>
          <a:bodyPr wrap="square">
            <a:spAutoFit/>
          </a:bodyPr>
          <a:lstStyle/>
          <a:p>
            <a:pPr algn="l"/>
            <a:r>
              <a:rPr sz="1000" b="0" i="0">
                <a:solidFill>
                  <a:srgbClr val="FFFFFF"/>
                </a:solidFill>
                <a:latin typeface="Calibri"/>
              </a:rPr>
              <a:t>·  Same architecture gap — different trigger, identical delay</a:t>
            </a:r>
          </a:p>
        </p:txBody>
      </p:sp>
      <p:sp>
        <p:nvSpPr>
          <p:cNvPr id="21" name="TextBox 20"/>
          <p:cNvSpPr txBox="1"/>
          <p:nvPr/>
        </p:nvSpPr>
        <p:spPr>
          <a:xfrm>
            <a:off x="493776" y="3078784"/>
            <a:ext cx="5248656" cy="347472"/>
          </a:xfrm>
          <a:prstGeom prst="rect">
            <a:avLst/>
          </a:prstGeom>
          <a:noFill/>
        </p:spPr>
        <p:txBody>
          <a:bodyPr wrap="square">
            <a:spAutoFit/>
          </a:bodyPr>
          <a:lstStyle/>
          <a:p>
            <a:pPr algn="l"/>
            <a:r>
              <a:rPr sz="1000" b="0" i="0">
                <a:solidFill>
                  <a:srgbClr val="FFFFFF"/>
                </a:solidFill>
                <a:latin typeface="Calibri"/>
              </a:rPr>
              <a:t>·  Built Readiness OS in 2023 to eliminate this pattern permanently</a:t>
            </a:r>
          </a:p>
        </p:txBody>
      </p:sp>
      <p:sp>
        <p:nvSpPr>
          <p:cNvPr id="22" name="Rectangle 21"/>
          <p:cNvSpPr/>
          <p:nvPr/>
        </p:nvSpPr>
        <p:spPr>
          <a:xfrm>
            <a:off x="6492240" y="1542592"/>
            <a:ext cx="5394960" cy="256032"/>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1968" y="1579168"/>
            <a:ext cx="5248656" cy="201168"/>
          </a:xfrm>
          <a:prstGeom prst="rect">
            <a:avLst/>
          </a:prstGeom>
          <a:noFill/>
        </p:spPr>
        <p:txBody>
          <a:bodyPr wrap="square">
            <a:spAutoFit/>
          </a:bodyPr>
          <a:lstStyle/>
          <a:p>
            <a:pPr algn="l"/>
            <a:r>
              <a:rPr sz="800" b="1" i="0">
                <a:solidFill>
                  <a:srgbClr val="2B8A6E"/>
                </a:solidFill>
                <a:latin typeface="Calibri"/>
              </a:rPr>
              <a:t>STANFORD UNIVERSITY  ·  FOOTBALL COACHING  ·  5 YEARS</a:t>
            </a:r>
          </a:p>
        </p:txBody>
      </p:sp>
      <p:sp>
        <p:nvSpPr>
          <p:cNvPr id="24" name="TextBox 23"/>
          <p:cNvSpPr txBox="1"/>
          <p:nvPr/>
        </p:nvSpPr>
        <p:spPr>
          <a:xfrm>
            <a:off x="6601968" y="1871776"/>
            <a:ext cx="5248656" cy="347472"/>
          </a:xfrm>
          <a:prstGeom prst="rect">
            <a:avLst/>
          </a:prstGeom>
          <a:noFill/>
        </p:spPr>
        <p:txBody>
          <a:bodyPr wrap="square">
            <a:spAutoFit/>
          </a:bodyPr>
          <a:lstStyle/>
          <a:p>
            <a:pPr algn="l"/>
            <a:r>
              <a:rPr sz="1000" b="0" i="0">
                <a:solidFill>
                  <a:srgbClr val="FFFFFF"/>
                </a:solidFill>
                <a:latin typeface="Calibri"/>
              </a:rPr>
              <a:t>·  Major college football — billion-dollar coordinated operation</a:t>
            </a:r>
          </a:p>
        </p:txBody>
      </p:sp>
      <p:sp>
        <p:nvSpPr>
          <p:cNvPr id="25" name="TextBox 24"/>
          <p:cNvSpPr txBox="1"/>
          <p:nvPr/>
        </p:nvSpPr>
        <p:spPr>
          <a:xfrm>
            <a:off x="6601968" y="2274112"/>
            <a:ext cx="5248656" cy="347472"/>
          </a:xfrm>
          <a:prstGeom prst="rect">
            <a:avLst/>
          </a:prstGeom>
          <a:noFill/>
        </p:spPr>
        <p:txBody>
          <a:bodyPr wrap="square">
            <a:spAutoFit/>
          </a:bodyPr>
          <a:lstStyle/>
          <a:p>
            <a:pPr algn="l"/>
            <a:r>
              <a:rPr sz="1000" b="0" i="0">
                <a:solidFill>
                  <a:srgbClr val="FFFFFF"/>
                </a:solidFill>
                <a:latin typeface="Calibri"/>
              </a:rPr>
              <a:t>·  40-second play clock — full team response, zero committee meetings</a:t>
            </a:r>
          </a:p>
        </p:txBody>
      </p:sp>
      <p:sp>
        <p:nvSpPr>
          <p:cNvPr id="26" name="TextBox 25"/>
          <p:cNvSpPr txBox="1"/>
          <p:nvPr/>
        </p:nvSpPr>
        <p:spPr>
          <a:xfrm>
            <a:off x="6601968" y="2676448"/>
            <a:ext cx="5248656" cy="347472"/>
          </a:xfrm>
          <a:prstGeom prst="rect">
            <a:avLst/>
          </a:prstGeom>
          <a:noFill/>
        </p:spPr>
        <p:txBody>
          <a:bodyPr wrap="square">
            <a:spAutoFit/>
          </a:bodyPr>
          <a:lstStyle/>
          <a:p>
            <a:pPr algn="l"/>
            <a:r>
              <a:rPr sz="1000" b="0" i="0">
                <a:solidFill>
                  <a:srgbClr val="FFFFFF"/>
                </a:solidFill>
                <a:latin typeface="Calibri"/>
              </a:rPr>
              <a:t>·  You don't design the play after the snap — the response is pre-staged</a:t>
            </a:r>
          </a:p>
        </p:txBody>
      </p:sp>
      <p:sp>
        <p:nvSpPr>
          <p:cNvPr id="27" name="TextBox 26"/>
          <p:cNvSpPr txBox="1"/>
          <p:nvPr/>
        </p:nvSpPr>
        <p:spPr>
          <a:xfrm>
            <a:off x="6601968" y="3078784"/>
            <a:ext cx="5248656" cy="347472"/>
          </a:xfrm>
          <a:prstGeom prst="rect">
            <a:avLst/>
          </a:prstGeom>
          <a:noFill/>
        </p:spPr>
        <p:txBody>
          <a:bodyPr wrap="square">
            <a:spAutoFit/>
          </a:bodyPr>
          <a:lstStyle/>
          <a:p>
            <a:pPr algn="l"/>
            <a:r>
              <a:rPr sz="1000" b="0" i="0">
                <a:solidFill>
                  <a:srgbClr val="FFFFFF"/>
                </a:solidFill>
                <a:latin typeface="Calibri"/>
              </a:rPr>
              <a:t>·  That preparation architecture is the foundation of Readiness OS</a:t>
            </a:r>
          </a:p>
        </p:txBody>
      </p:sp>
      <p:sp>
        <p:nvSpPr>
          <p:cNvPr id="28" name="Rectangle 27"/>
          <p:cNvSpPr/>
          <p:nvPr/>
        </p:nvSpPr>
        <p:spPr>
          <a:xfrm>
            <a:off x="384048" y="3590848"/>
            <a:ext cx="11411712" cy="274320"/>
          </a:xfrm>
          <a:prstGeom prst="rect">
            <a:avLst/>
          </a:prstGeom>
          <a:solidFill>
            <a:srgbClr val="141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2064" y="3636568"/>
            <a:ext cx="11228832" cy="201168"/>
          </a:xfrm>
          <a:prstGeom prst="rect">
            <a:avLst/>
          </a:prstGeom>
          <a:noFill/>
        </p:spPr>
        <p:txBody>
          <a:bodyPr wrap="square">
            <a:spAutoFit/>
          </a:bodyPr>
          <a:lstStyle/>
          <a:p>
            <a:pPr algn="ctr"/>
            <a:r>
              <a:rPr sz="850" b="1" i="0">
                <a:solidFill>
                  <a:srgbClr val="C9A84C"/>
                </a:solidFill>
                <a:latin typeface="Calibri"/>
              </a:rPr>
              <a:t>THE INTERSECTION — PREPARATION DISCIPLINE THAT WINS UNDER PRESSURE WAS MISSING FROM ENTERPRISE</a:t>
            </a:r>
          </a:p>
        </p:txBody>
      </p:sp>
      <p:sp>
        <p:nvSpPr>
          <p:cNvPr id="30" name="Rectangle 29"/>
          <p:cNvSpPr/>
          <p:nvPr/>
        </p:nvSpPr>
        <p:spPr>
          <a:xfrm>
            <a:off x="384048" y="3974896"/>
            <a:ext cx="1141171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8" y="4057192"/>
            <a:ext cx="11411712" cy="804672"/>
          </a:xfrm>
          <a:prstGeom prst="rect">
            <a:avLst/>
          </a:prstGeom>
          <a:noFill/>
        </p:spPr>
        <p:txBody>
          <a:bodyPr wrap="square">
            <a:spAutoFit/>
          </a:bodyPr>
          <a:lstStyle/>
          <a:p>
            <a:pPr algn="l"/>
            <a:r>
              <a:rPr sz="1000" b="0" i="1">
                <a:solidFill>
                  <a:srgbClr val="AAB4CC"/>
                </a:solidFill>
                <a:latin typeface="Georgia"/>
              </a:rPr>
              <a:t>"I spent 20 years at Ford and Lockheed Martin watching the same 30-day mobilization failure repeat across every vertical. And 5 years at Stanford — 40 seconds to orchestrate a multi-million dollar operation under extreme pressure. You don't huddle after the snap. The response is pre-staged. I built that architecture into software for the enterprise."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547104"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41617" y="0"/>
            <a:ext cx="5486" cy="685800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03  /  08</a:t>
            </a:r>
          </a:p>
        </p:txBody>
      </p:sp>
      <p:sp>
        <p:nvSpPr>
          <p:cNvPr id="7" name="Rectangle 6"/>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10" name="TextBox 9"/>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03  /  08</a:t>
            </a:r>
          </a:p>
        </p:txBody>
      </p:sp>
      <p:sp>
        <p:nvSpPr>
          <p:cNvPr id="11" name="TextBox 10"/>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vaughnmartin.com/how-it-executes</a:t>
            </a:r>
          </a:p>
        </p:txBody>
      </p:sp>
      <p:sp>
        <p:nvSpPr>
          <p:cNvPr id="12" name="Rectangle 11"/>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01168"/>
            <a:ext cx="5760720" cy="164592"/>
          </a:xfrm>
          <a:prstGeom prst="rect">
            <a:avLst/>
          </a:prstGeom>
          <a:noFill/>
        </p:spPr>
        <p:txBody>
          <a:bodyPr wrap="square">
            <a:spAutoFit/>
          </a:bodyPr>
          <a:lstStyle/>
          <a:p>
            <a:pPr algn="l"/>
            <a:r>
              <a:rPr sz="750" b="1" i="0">
                <a:solidFill>
                  <a:srgbClr val="C9A84C"/>
                </a:solidFill>
                <a:latin typeface="Calibri"/>
              </a:rPr>
              <a:t>   THE PRODUCT</a:t>
            </a:r>
          </a:p>
        </p:txBody>
      </p:sp>
      <p:sp>
        <p:nvSpPr>
          <p:cNvPr id="14" name="TextBox 13"/>
          <p:cNvSpPr txBox="1"/>
          <p:nvPr/>
        </p:nvSpPr>
        <p:spPr>
          <a:xfrm>
            <a:off x="384048" y="365760"/>
            <a:ext cx="5943600" cy="251460"/>
          </a:xfrm>
          <a:prstGeom prst="rect">
            <a:avLst/>
          </a:prstGeom>
          <a:noFill/>
        </p:spPr>
        <p:txBody>
          <a:bodyPr wrap="square">
            <a:spAutoFit/>
          </a:bodyPr>
          <a:lstStyle/>
          <a:p>
            <a:pPr algn="l"/>
            <a:r>
              <a:rPr sz="1500" b="1" i="0">
                <a:solidFill>
                  <a:srgbClr val="C9A84C"/>
                </a:solidFill>
                <a:latin typeface="Calibri"/>
              </a:rPr>
              <a:t>READINESS OS:</a:t>
            </a:r>
          </a:p>
        </p:txBody>
      </p:sp>
      <p:sp>
        <p:nvSpPr>
          <p:cNvPr id="15" name="TextBox 14"/>
          <p:cNvSpPr txBox="1"/>
          <p:nvPr/>
        </p:nvSpPr>
        <p:spPr>
          <a:xfrm>
            <a:off x="384048" y="617220"/>
            <a:ext cx="5943600" cy="402336"/>
          </a:xfrm>
          <a:prstGeom prst="rect">
            <a:avLst/>
          </a:prstGeom>
          <a:noFill/>
        </p:spPr>
        <p:txBody>
          <a:bodyPr wrap="square">
            <a:spAutoFit/>
          </a:bodyPr>
          <a:lstStyle/>
          <a:p>
            <a:pPr algn="l"/>
            <a:r>
              <a:rPr sz="2400" b="1" i="0">
                <a:solidFill>
                  <a:srgbClr val="FFFFFF"/>
                </a:solidFill>
                <a:latin typeface="Calibri"/>
              </a:rPr>
              <a:t>THE RESPONSE IS READY</a:t>
            </a:r>
          </a:p>
        </p:txBody>
      </p:sp>
      <p:sp>
        <p:nvSpPr>
          <p:cNvPr id="16" name="TextBox 15"/>
          <p:cNvSpPr txBox="1"/>
          <p:nvPr/>
        </p:nvSpPr>
        <p:spPr>
          <a:xfrm>
            <a:off x="384048" y="1019556"/>
            <a:ext cx="5943600" cy="402336"/>
          </a:xfrm>
          <a:prstGeom prst="rect">
            <a:avLst/>
          </a:prstGeom>
          <a:noFill/>
        </p:spPr>
        <p:txBody>
          <a:bodyPr wrap="square">
            <a:spAutoFit/>
          </a:bodyPr>
          <a:lstStyle/>
          <a:p>
            <a:pPr algn="l"/>
            <a:r>
              <a:rPr sz="2400" b="1" i="0">
                <a:solidFill>
                  <a:srgbClr val="C9A84C"/>
                </a:solidFill>
                <a:latin typeface="Calibri"/>
              </a:rPr>
              <a:t>BEFORE THE TRIGGER FIRES.</a:t>
            </a:r>
          </a:p>
        </p:txBody>
      </p:sp>
      <p:sp>
        <p:nvSpPr>
          <p:cNvPr id="17" name="Rectangle 16"/>
          <p:cNvSpPr/>
          <p:nvPr/>
        </p:nvSpPr>
        <p:spPr>
          <a:xfrm>
            <a:off x="384048" y="1513332"/>
            <a:ext cx="61264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1659636"/>
            <a:ext cx="5852160" cy="365760"/>
          </a:xfrm>
          <a:prstGeom prst="rect">
            <a:avLst/>
          </a:prstGeom>
          <a:noFill/>
        </p:spPr>
        <p:txBody>
          <a:bodyPr wrap="square">
            <a:spAutoFit/>
          </a:bodyPr>
          <a:lstStyle/>
          <a:p>
            <a:pPr algn="l"/>
            <a:r>
              <a:rPr sz="1050" b="0" i="0">
                <a:solidFill>
                  <a:srgbClr val="FFFFFF"/>
                </a:solidFill>
                <a:latin typeface="Calibri"/>
              </a:rPr>
              <a:t>▸  170 Readiness Protocols — Growth &amp; Positioning, Risk &amp; Resilience, Transformation</a:t>
            </a:r>
          </a:p>
        </p:txBody>
      </p:sp>
      <p:sp>
        <p:nvSpPr>
          <p:cNvPr id="19" name="TextBox 18"/>
          <p:cNvSpPr txBox="1"/>
          <p:nvPr/>
        </p:nvSpPr>
        <p:spPr>
          <a:xfrm>
            <a:off x="384048" y="2061972"/>
            <a:ext cx="5852160" cy="365760"/>
          </a:xfrm>
          <a:prstGeom prst="rect">
            <a:avLst/>
          </a:prstGeom>
          <a:noFill/>
        </p:spPr>
        <p:txBody>
          <a:bodyPr wrap="square">
            <a:spAutoFit/>
          </a:bodyPr>
          <a:lstStyle/>
          <a:p>
            <a:pPr algn="l"/>
            <a:r>
              <a:rPr sz="1050" b="0" i="0">
                <a:solidFill>
                  <a:srgbClr val="FFFFFF"/>
                </a:solidFill>
                <a:latin typeface="Calibri"/>
              </a:rPr>
              <a:t>▸  221 trigger patterns monitored across 8 live data sources continuously</a:t>
            </a:r>
          </a:p>
        </p:txBody>
      </p:sp>
      <p:sp>
        <p:nvSpPr>
          <p:cNvPr id="20" name="TextBox 19"/>
          <p:cNvSpPr txBox="1"/>
          <p:nvPr/>
        </p:nvSpPr>
        <p:spPr>
          <a:xfrm>
            <a:off x="384048" y="2464308"/>
            <a:ext cx="5852160" cy="365760"/>
          </a:xfrm>
          <a:prstGeom prst="rect">
            <a:avLst/>
          </a:prstGeom>
          <a:noFill/>
        </p:spPr>
        <p:txBody>
          <a:bodyPr wrap="square">
            <a:spAutoFit/>
          </a:bodyPr>
          <a:lstStyle/>
          <a:p>
            <a:pPr algn="l"/>
            <a:r>
              <a:rPr sz="1050" b="0" i="0">
                <a:solidFill>
                  <a:srgbClr val="FFFFFF"/>
                </a:solidFill>
                <a:latin typeface="Calibri"/>
              </a:rPr>
              <a:t>▸  248+ data points confidence-scored every 15 minutes</a:t>
            </a:r>
          </a:p>
        </p:txBody>
      </p:sp>
      <p:sp>
        <p:nvSpPr>
          <p:cNvPr id="21" name="TextBox 20"/>
          <p:cNvSpPr txBox="1"/>
          <p:nvPr/>
        </p:nvSpPr>
        <p:spPr>
          <a:xfrm>
            <a:off x="384048" y="2866644"/>
            <a:ext cx="5852160" cy="365760"/>
          </a:xfrm>
          <a:prstGeom prst="rect">
            <a:avLst/>
          </a:prstGeom>
          <a:noFill/>
        </p:spPr>
        <p:txBody>
          <a:bodyPr wrap="square">
            <a:spAutoFit/>
          </a:bodyPr>
          <a:lstStyle/>
          <a:p>
            <a:pPr algn="l"/>
            <a:r>
              <a:rPr sz="1050" b="0" i="0">
                <a:solidFill>
                  <a:srgbClr val="FFFFFF"/>
                </a:solidFill>
                <a:latin typeface="Calibri"/>
              </a:rPr>
              <a:t>▸  AI monitors. Executives authorize. No protocol fires without sign-off.</a:t>
            </a:r>
          </a:p>
        </p:txBody>
      </p:sp>
      <p:sp>
        <p:nvSpPr>
          <p:cNvPr id="22" name="TextBox 21"/>
          <p:cNvSpPr txBox="1"/>
          <p:nvPr/>
        </p:nvSpPr>
        <p:spPr>
          <a:xfrm>
            <a:off x="384048" y="3268979"/>
            <a:ext cx="5852160" cy="365760"/>
          </a:xfrm>
          <a:prstGeom prst="rect">
            <a:avLst/>
          </a:prstGeom>
          <a:noFill/>
        </p:spPr>
        <p:txBody>
          <a:bodyPr wrap="square">
            <a:spAutoFit/>
          </a:bodyPr>
          <a:lstStyle/>
          <a:p>
            <a:pPr algn="l"/>
            <a:r>
              <a:rPr sz="1050" b="0" i="0">
                <a:solidFill>
                  <a:srgbClr val="FFFFFF"/>
                </a:solidFill>
                <a:latin typeface="Calibri"/>
              </a:rPr>
              <a:t>▸  Configuration onboarding — not a consulting project. 90 days to live.</a:t>
            </a:r>
          </a:p>
        </p:txBody>
      </p:sp>
      <p:sp>
        <p:nvSpPr>
          <p:cNvPr id="23" name="Rectangle 22"/>
          <p:cNvSpPr/>
          <p:nvPr/>
        </p:nvSpPr>
        <p:spPr>
          <a:xfrm>
            <a:off x="384048" y="3781044"/>
            <a:ext cx="6126480" cy="60350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84048" y="3781044"/>
            <a:ext cx="6126480" cy="21945"/>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2064" y="3835907"/>
            <a:ext cx="5943600" cy="219456"/>
          </a:xfrm>
          <a:prstGeom prst="rect">
            <a:avLst/>
          </a:prstGeom>
          <a:noFill/>
        </p:spPr>
        <p:txBody>
          <a:bodyPr wrap="square">
            <a:spAutoFit/>
          </a:bodyPr>
          <a:lstStyle/>
          <a:p>
            <a:pPr algn="l"/>
            <a:r>
              <a:rPr sz="1100" b="1" i="0">
                <a:solidFill>
                  <a:srgbClr val="2B8A6E"/>
                </a:solidFill>
                <a:latin typeface="Calibri"/>
              </a:rPr>
              <a:t>THE SYSTEM STAGES THE CHOICE IN SECONDS.</a:t>
            </a:r>
          </a:p>
        </p:txBody>
      </p:sp>
      <p:sp>
        <p:nvSpPr>
          <p:cNvPr id="26" name="TextBox 25"/>
          <p:cNvSpPr txBox="1"/>
          <p:nvPr/>
        </p:nvSpPr>
        <p:spPr>
          <a:xfrm>
            <a:off x="512064" y="4091939"/>
            <a:ext cx="5943600" cy="219456"/>
          </a:xfrm>
          <a:prstGeom prst="rect">
            <a:avLst/>
          </a:prstGeom>
          <a:noFill/>
        </p:spPr>
        <p:txBody>
          <a:bodyPr wrap="square">
            <a:spAutoFit/>
          </a:bodyPr>
          <a:lstStyle/>
          <a:p>
            <a:pPr algn="l"/>
            <a:r>
              <a:rPr sz="1100" b="1" i="0">
                <a:solidFill>
                  <a:srgbClr val="2B8A6E"/>
                </a:solidFill>
                <a:latin typeface="Calibri"/>
              </a:rPr>
              <a:t>THE EXECUTIVE MUST CLICK AUTHORIZE.</a:t>
            </a:r>
          </a:p>
        </p:txBody>
      </p:sp>
      <p:sp>
        <p:nvSpPr>
          <p:cNvPr id="27" name="Rectangle 26"/>
          <p:cNvSpPr/>
          <p:nvPr/>
        </p:nvSpPr>
        <p:spPr>
          <a:xfrm>
            <a:off x="384048" y="4512564"/>
            <a:ext cx="557784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4576572"/>
            <a:ext cx="5760720" cy="713232"/>
          </a:xfrm>
          <a:prstGeom prst="rect">
            <a:avLst/>
          </a:prstGeom>
          <a:noFill/>
        </p:spPr>
        <p:txBody>
          <a:bodyPr wrap="square">
            <a:spAutoFit/>
          </a:bodyPr>
          <a:lstStyle/>
          <a:p>
            <a:pPr algn="l"/>
            <a:r>
              <a:rPr sz="900" b="0" i="1">
                <a:solidFill>
                  <a:srgbClr val="AAB4CC"/>
                </a:solidFill>
                <a:latin typeface="Georgia"/>
              </a:rPr>
              <a:t>"Every enterprise has Microsoft's AI stack. None have the operating model to use it. Readiness OS is that operating model — not a replacement, the orchestrator above it."</a:t>
            </a:r>
          </a:p>
        </p:txBody>
      </p:sp>
      <p:sp>
        <p:nvSpPr>
          <p:cNvPr id="29" name="Rectangle 28"/>
          <p:cNvSpPr/>
          <p:nvPr/>
        </p:nvSpPr>
        <p:spPr>
          <a:xfrm>
            <a:off x="6528816" y="402336"/>
            <a:ext cx="5550408" cy="6108192"/>
          </a:xfrm>
          <a:prstGeom prst="rect">
            <a:avLst/>
          </a:prstGeom>
          <a:solidFill>
            <a:srgbClr val="020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37376" y="347472"/>
            <a:ext cx="36576" cy="610819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hq_executes_chain.jpg"/>
          <p:cNvPicPr>
            <a:picLocks noChangeAspect="1"/>
          </p:cNvPicPr>
          <p:nvPr/>
        </p:nvPicPr>
        <p:blipFill>
          <a:blip r:embed="rId4"/>
          <a:stretch>
            <a:fillRect/>
          </a:stretch>
        </p:blipFill>
        <p:spPr>
          <a:xfrm>
            <a:off x="6473952" y="347472"/>
            <a:ext cx="5550408" cy="610819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04  /  08</a:t>
            </a:r>
          </a:p>
        </p:txBody>
      </p:sp>
      <p:sp>
        <p:nvSpPr>
          <p:cNvPr id="6" name="Rectangle 5"/>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9" name="TextBox 8"/>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04  /  08</a:t>
            </a:r>
          </a:p>
        </p:txBody>
      </p:sp>
      <p:sp>
        <p:nvSpPr>
          <p:cNvPr id="10" name="TextBox 9"/>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a:t>
            </a:r>
          </a:p>
        </p:txBody>
      </p:sp>
      <p:sp>
        <p:nvSpPr>
          <p:cNvPr id="11" name="Rectangle 10"/>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01168"/>
            <a:ext cx="11521440" cy="164592"/>
          </a:xfrm>
          <a:prstGeom prst="rect">
            <a:avLst/>
          </a:prstGeom>
          <a:noFill/>
        </p:spPr>
        <p:txBody>
          <a:bodyPr wrap="square">
            <a:spAutoFit/>
          </a:bodyPr>
          <a:lstStyle/>
          <a:p>
            <a:pPr algn="l"/>
            <a:r>
              <a:rPr sz="750" b="1" i="0">
                <a:solidFill>
                  <a:srgbClr val="C9A84C"/>
                </a:solidFill>
                <a:latin typeface="Calibri"/>
              </a:rPr>
              <a:t>   WHY WE WIN</a:t>
            </a:r>
          </a:p>
        </p:txBody>
      </p:sp>
      <p:sp>
        <p:nvSpPr>
          <p:cNvPr id="13" name="TextBox 12"/>
          <p:cNvSpPr txBox="1"/>
          <p:nvPr/>
        </p:nvSpPr>
        <p:spPr>
          <a:xfrm>
            <a:off x="384048" y="365760"/>
            <a:ext cx="11521440" cy="502920"/>
          </a:xfrm>
          <a:prstGeom prst="rect">
            <a:avLst/>
          </a:prstGeom>
          <a:noFill/>
        </p:spPr>
        <p:txBody>
          <a:bodyPr wrap="square">
            <a:spAutoFit/>
          </a:bodyPr>
          <a:lstStyle/>
          <a:p>
            <a:pPr algn="l"/>
            <a:r>
              <a:rPr sz="3000" b="1" i="0">
                <a:solidFill>
                  <a:srgbClr val="FFFFFF"/>
                </a:solidFill>
                <a:latin typeface="Calibri"/>
              </a:rPr>
              <a:t>THE MOAT COMPOUNDS.</a:t>
            </a:r>
          </a:p>
        </p:txBody>
      </p:sp>
      <p:sp>
        <p:nvSpPr>
          <p:cNvPr id="14" name="TextBox 13"/>
          <p:cNvSpPr txBox="1"/>
          <p:nvPr/>
        </p:nvSpPr>
        <p:spPr>
          <a:xfrm>
            <a:off x="384048" y="868680"/>
            <a:ext cx="11521440" cy="335280"/>
          </a:xfrm>
          <a:prstGeom prst="rect">
            <a:avLst/>
          </a:prstGeom>
          <a:noFill/>
        </p:spPr>
        <p:txBody>
          <a:bodyPr wrap="square">
            <a:spAutoFit/>
          </a:bodyPr>
          <a:lstStyle/>
          <a:p>
            <a:pPr algn="l"/>
            <a:r>
              <a:rPr sz="2000" b="1" i="0">
                <a:solidFill>
                  <a:srgbClr val="AAB4CC"/>
                </a:solidFill>
                <a:latin typeface="Calibri"/>
              </a:rPr>
              <a:t>COMPETITORS START AT ZERO.</a:t>
            </a:r>
          </a:p>
        </p:txBody>
      </p:sp>
      <p:sp>
        <p:nvSpPr>
          <p:cNvPr id="15" name="Rectangle 14"/>
          <p:cNvSpPr/>
          <p:nvPr/>
        </p:nvSpPr>
        <p:spPr>
          <a:xfrm>
            <a:off x="384048" y="1295400"/>
            <a:ext cx="11411712"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 y="1442008"/>
            <a:ext cx="5394960" cy="201168"/>
          </a:xfrm>
          <a:prstGeom prst="rect">
            <a:avLst/>
          </a:prstGeom>
          <a:noFill/>
        </p:spPr>
        <p:txBody>
          <a:bodyPr wrap="square">
            <a:spAutoFit/>
          </a:bodyPr>
          <a:lstStyle/>
          <a:p>
            <a:pPr algn="l"/>
            <a:r>
              <a:rPr sz="800" b="1" i="0">
                <a:solidFill>
                  <a:srgbClr val="C9A84C"/>
                </a:solidFill>
                <a:latin typeface="Calibri"/>
              </a:rPr>
              <a:t>THEY STOP AT ROUTING. WE PRE-STAGE THE ALIGNMENT.</a:t>
            </a:r>
          </a:p>
        </p:txBody>
      </p:sp>
      <p:sp>
        <p:nvSpPr>
          <p:cNvPr id="17" name="TextBox 16"/>
          <p:cNvSpPr txBox="1"/>
          <p:nvPr/>
        </p:nvSpPr>
        <p:spPr>
          <a:xfrm>
            <a:off x="384048" y="1679752"/>
            <a:ext cx="1847088" cy="256032"/>
          </a:xfrm>
          <a:prstGeom prst="rect">
            <a:avLst/>
          </a:prstGeom>
          <a:noFill/>
        </p:spPr>
        <p:txBody>
          <a:bodyPr wrap="square">
            <a:spAutoFit/>
          </a:bodyPr>
          <a:lstStyle/>
          <a:p>
            <a:pPr algn="l"/>
            <a:r>
              <a:rPr sz="950" b="1" i="0">
                <a:solidFill>
                  <a:srgbClr val="C9A84C"/>
                </a:solidFill>
                <a:latin typeface="Calibri"/>
              </a:rPr>
              <a:t>Signal Labs</a:t>
            </a:r>
          </a:p>
        </p:txBody>
      </p:sp>
      <p:sp>
        <p:nvSpPr>
          <p:cNvPr id="18" name="TextBox 17"/>
          <p:cNvSpPr txBox="1"/>
          <p:nvPr/>
        </p:nvSpPr>
        <p:spPr>
          <a:xfrm>
            <a:off x="2304288" y="1679752"/>
            <a:ext cx="3566160" cy="256032"/>
          </a:xfrm>
          <a:prstGeom prst="rect">
            <a:avLst/>
          </a:prstGeom>
          <a:noFill/>
        </p:spPr>
        <p:txBody>
          <a:bodyPr wrap="square">
            <a:spAutoFit/>
          </a:bodyPr>
          <a:lstStyle/>
          <a:p>
            <a:pPr algn="l"/>
            <a:r>
              <a:rPr sz="950" b="0" i="0">
                <a:solidFill>
                  <a:srgbClr val="AAB4CC"/>
                </a:solidFill>
                <a:latin typeface="Calibri"/>
              </a:rPr>
              <a:t>Routes the signal. Stops before the response is staged.</a:t>
            </a:r>
          </a:p>
        </p:txBody>
      </p:sp>
      <p:sp>
        <p:nvSpPr>
          <p:cNvPr id="19" name="Rectangle 18"/>
          <p:cNvSpPr/>
          <p:nvPr/>
        </p:nvSpPr>
        <p:spPr>
          <a:xfrm>
            <a:off x="384048" y="1954072"/>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4048" y="2045512"/>
            <a:ext cx="1847088" cy="256032"/>
          </a:xfrm>
          <a:prstGeom prst="rect">
            <a:avLst/>
          </a:prstGeom>
          <a:noFill/>
        </p:spPr>
        <p:txBody>
          <a:bodyPr wrap="square">
            <a:spAutoFit/>
          </a:bodyPr>
          <a:lstStyle/>
          <a:p>
            <a:pPr algn="l"/>
            <a:r>
              <a:rPr sz="950" b="1" i="0">
                <a:solidFill>
                  <a:srgbClr val="C9A84C"/>
                </a:solidFill>
                <a:latin typeface="Calibri"/>
              </a:rPr>
              <a:t>ServiceNow</a:t>
            </a:r>
          </a:p>
        </p:txBody>
      </p:sp>
      <p:sp>
        <p:nvSpPr>
          <p:cNvPr id="21" name="TextBox 20"/>
          <p:cNvSpPr txBox="1"/>
          <p:nvPr/>
        </p:nvSpPr>
        <p:spPr>
          <a:xfrm>
            <a:off x="2304288" y="2045512"/>
            <a:ext cx="3566160" cy="256032"/>
          </a:xfrm>
          <a:prstGeom prst="rect">
            <a:avLst/>
          </a:prstGeom>
          <a:noFill/>
        </p:spPr>
        <p:txBody>
          <a:bodyPr wrap="square">
            <a:spAutoFit/>
          </a:bodyPr>
          <a:lstStyle/>
          <a:p>
            <a:pPr algn="l"/>
            <a:r>
              <a:rPr sz="950" b="0" i="0">
                <a:solidFill>
                  <a:srgbClr val="AAB4CC"/>
                </a:solidFill>
                <a:latin typeface="Calibri"/>
              </a:rPr>
              <a:t>Async workflow router — post-alignment only. We pre-stage the alignment.</a:t>
            </a:r>
          </a:p>
        </p:txBody>
      </p:sp>
      <p:sp>
        <p:nvSpPr>
          <p:cNvPr id="22" name="Rectangle 21"/>
          <p:cNvSpPr/>
          <p:nvPr/>
        </p:nvSpPr>
        <p:spPr>
          <a:xfrm>
            <a:off x="384048" y="2319832"/>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2411272"/>
            <a:ext cx="1847088" cy="256032"/>
          </a:xfrm>
          <a:prstGeom prst="rect">
            <a:avLst/>
          </a:prstGeom>
          <a:noFill/>
        </p:spPr>
        <p:txBody>
          <a:bodyPr wrap="square">
            <a:spAutoFit/>
          </a:bodyPr>
          <a:lstStyle/>
          <a:p>
            <a:pPr algn="l"/>
            <a:r>
              <a:rPr sz="950" b="1" i="0">
                <a:solidFill>
                  <a:srgbClr val="C9A84C"/>
                </a:solidFill>
                <a:latin typeface="Calibri"/>
              </a:rPr>
              <a:t>Microsoft Copilot</a:t>
            </a:r>
          </a:p>
        </p:txBody>
      </p:sp>
      <p:sp>
        <p:nvSpPr>
          <p:cNvPr id="24" name="TextBox 23"/>
          <p:cNvSpPr txBox="1"/>
          <p:nvPr/>
        </p:nvSpPr>
        <p:spPr>
          <a:xfrm>
            <a:off x="2304288" y="2411272"/>
            <a:ext cx="3566160" cy="256032"/>
          </a:xfrm>
          <a:prstGeom prst="rect">
            <a:avLst/>
          </a:prstGeom>
          <a:noFill/>
        </p:spPr>
        <p:txBody>
          <a:bodyPr wrap="square">
            <a:spAutoFit/>
          </a:bodyPr>
          <a:lstStyle/>
          <a:p>
            <a:pPr algn="l"/>
            <a:r>
              <a:rPr sz="950" b="0" i="0">
                <a:solidFill>
                  <a:srgbClr val="AAB4CC"/>
                </a:solidFill>
                <a:latin typeface="Calibri"/>
              </a:rPr>
              <a:t>Produces intelligence. We pre-stage the org response to it.</a:t>
            </a:r>
          </a:p>
        </p:txBody>
      </p:sp>
      <p:sp>
        <p:nvSpPr>
          <p:cNvPr id="25" name="Rectangle 24"/>
          <p:cNvSpPr/>
          <p:nvPr/>
        </p:nvSpPr>
        <p:spPr>
          <a:xfrm>
            <a:off x="384048" y="2685592"/>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84048" y="2777032"/>
            <a:ext cx="1847088" cy="256032"/>
          </a:xfrm>
          <a:prstGeom prst="rect">
            <a:avLst/>
          </a:prstGeom>
          <a:noFill/>
        </p:spPr>
        <p:txBody>
          <a:bodyPr wrap="square">
            <a:spAutoFit/>
          </a:bodyPr>
          <a:lstStyle/>
          <a:p>
            <a:pPr algn="l"/>
            <a:r>
              <a:rPr sz="950" b="1" i="0">
                <a:solidFill>
                  <a:srgbClr val="C9A84C"/>
                </a:solidFill>
                <a:latin typeface="Calibri"/>
              </a:rPr>
              <a:t>McKinsey</a:t>
            </a:r>
          </a:p>
        </p:txBody>
      </p:sp>
      <p:sp>
        <p:nvSpPr>
          <p:cNvPr id="27" name="TextBox 26"/>
          <p:cNvSpPr txBox="1"/>
          <p:nvPr/>
        </p:nvSpPr>
        <p:spPr>
          <a:xfrm>
            <a:off x="2304288" y="2777032"/>
            <a:ext cx="3566160" cy="256032"/>
          </a:xfrm>
          <a:prstGeom prst="rect">
            <a:avLst/>
          </a:prstGeom>
          <a:noFill/>
        </p:spPr>
        <p:txBody>
          <a:bodyPr wrap="square">
            <a:spAutoFit/>
          </a:bodyPr>
          <a:lstStyle/>
          <a:p>
            <a:pPr algn="l"/>
            <a:r>
              <a:rPr sz="950" b="0" i="0">
                <a:solidFill>
                  <a:srgbClr val="AAB4CC"/>
                </a:solidFill>
                <a:latin typeface="Calibri"/>
              </a:rPr>
              <a:t>Arrives after the trigger fires. We were ready before the first call.</a:t>
            </a:r>
          </a:p>
        </p:txBody>
      </p:sp>
      <p:sp>
        <p:nvSpPr>
          <p:cNvPr id="28" name="Rectangle 27"/>
          <p:cNvSpPr/>
          <p:nvPr/>
        </p:nvSpPr>
        <p:spPr>
          <a:xfrm>
            <a:off x="384048" y="3051352"/>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84048" y="3215944"/>
            <a:ext cx="5486400" cy="310896"/>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 y="3279952"/>
            <a:ext cx="5321808" cy="201168"/>
          </a:xfrm>
          <a:prstGeom prst="rect">
            <a:avLst/>
          </a:prstGeom>
          <a:noFill/>
        </p:spPr>
        <p:txBody>
          <a:bodyPr wrap="square">
            <a:spAutoFit/>
          </a:bodyPr>
          <a:lstStyle/>
          <a:p>
            <a:pPr algn="l"/>
            <a:r>
              <a:rPr sz="1000" b="1" i="1">
                <a:solidFill>
                  <a:srgbClr val="C9A84C"/>
                </a:solidFill>
                <a:latin typeface="Georgia"/>
              </a:rPr>
              <a:t>"They track the work. We engineer the capability to do it."</a:t>
            </a:r>
          </a:p>
        </p:txBody>
      </p:sp>
      <p:sp>
        <p:nvSpPr>
          <p:cNvPr id="31" name="TextBox 30"/>
          <p:cNvSpPr txBox="1"/>
          <p:nvPr/>
        </p:nvSpPr>
        <p:spPr>
          <a:xfrm>
            <a:off x="6492240" y="1442008"/>
            <a:ext cx="5394960" cy="201168"/>
          </a:xfrm>
          <a:prstGeom prst="rect">
            <a:avLst/>
          </a:prstGeom>
          <a:noFill/>
        </p:spPr>
        <p:txBody>
          <a:bodyPr wrap="square">
            <a:spAutoFit/>
          </a:bodyPr>
          <a:lstStyle/>
          <a:p>
            <a:pPr algn="l"/>
            <a:r>
              <a:rPr sz="800" b="1" i="0">
                <a:solidFill>
                  <a:srgbClr val="C9A84C"/>
                </a:solidFill>
                <a:latin typeface="Calibri"/>
              </a:rPr>
              <a:t>THE MOAT — WHAT MAKES US UNCATCHABLE</a:t>
            </a:r>
          </a:p>
        </p:txBody>
      </p:sp>
      <p:sp>
        <p:nvSpPr>
          <p:cNvPr id="32" name="Rectangle 31"/>
          <p:cNvSpPr/>
          <p:nvPr/>
        </p:nvSpPr>
        <p:spPr>
          <a:xfrm>
            <a:off x="6492240" y="1679752"/>
            <a:ext cx="5449824" cy="256032"/>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01968" y="1716328"/>
            <a:ext cx="5230368" cy="201168"/>
          </a:xfrm>
          <a:prstGeom prst="rect">
            <a:avLst/>
          </a:prstGeom>
          <a:noFill/>
        </p:spPr>
        <p:txBody>
          <a:bodyPr wrap="square">
            <a:spAutoFit/>
          </a:bodyPr>
          <a:lstStyle/>
          <a:p>
            <a:pPr algn="l"/>
            <a:r>
              <a:rPr sz="1000" b="1" i="0">
                <a:solidFill>
                  <a:srgbClr val="C9A84C"/>
                </a:solidFill>
                <a:latin typeface="Calibri"/>
              </a:rPr>
              <a:t>Compounding Loop</a:t>
            </a:r>
          </a:p>
        </p:txBody>
      </p:sp>
      <p:sp>
        <p:nvSpPr>
          <p:cNvPr id="34" name="TextBox 33"/>
          <p:cNvSpPr txBox="1"/>
          <p:nvPr/>
        </p:nvSpPr>
        <p:spPr>
          <a:xfrm>
            <a:off x="6601968" y="1972360"/>
            <a:ext cx="5230368" cy="530352"/>
          </a:xfrm>
          <a:prstGeom prst="rect">
            <a:avLst/>
          </a:prstGeom>
          <a:noFill/>
        </p:spPr>
        <p:txBody>
          <a:bodyPr wrap="square">
            <a:spAutoFit/>
          </a:bodyPr>
          <a:lstStyle/>
          <a:p>
            <a:pPr algn="l"/>
            <a:r>
              <a:rPr sz="950" b="0" i="0">
                <a:solidFill>
                  <a:srgbClr val="AAB4CC"/>
                </a:solidFill>
                <a:latin typeface="Calibri"/>
              </a:rPr>
              <a:t>Every activation encodes what held. Preparation compounds permanently.</a:t>
            </a:r>
          </a:p>
        </p:txBody>
      </p:sp>
      <p:sp>
        <p:nvSpPr>
          <p:cNvPr id="35" name="Rectangle 34"/>
          <p:cNvSpPr/>
          <p:nvPr/>
        </p:nvSpPr>
        <p:spPr>
          <a:xfrm>
            <a:off x="6492240" y="2557576"/>
            <a:ext cx="5449824"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92240" y="2886760"/>
            <a:ext cx="5449824" cy="256032"/>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01968" y="2923336"/>
            <a:ext cx="5230368" cy="201168"/>
          </a:xfrm>
          <a:prstGeom prst="rect">
            <a:avLst/>
          </a:prstGeom>
          <a:noFill/>
        </p:spPr>
        <p:txBody>
          <a:bodyPr wrap="square">
            <a:spAutoFit/>
          </a:bodyPr>
          <a:lstStyle/>
          <a:p>
            <a:pPr algn="l"/>
            <a:r>
              <a:rPr sz="1000" b="1" i="0">
                <a:solidFill>
                  <a:srgbClr val="C9A84C"/>
                </a:solidFill>
                <a:latin typeface="Calibri"/>
              </a:rPr>
              <a:t>Org Context Intelligence</a:t>
            </a:r>
          </a:p>
        </p:txBody>
      </p:sp>
      <p:sp>
        <p:nvSpPr>
          <p:cNvPr id="38" name="TextBox 37"/>
          <p:cNvSpPr txBox="1"/>
          <p:nvPr/>
        </p:nvSpPr>
        <p:spPr>
          <a:xfrm>
            <a:off x="6601968" y="3179368"/>
            <a:ext cx="5230368" cy="530352"/>
          </a:xfrm>
          <a:prstGeom prst="rect">
            <a:avLst/>
          </a:prstGeom>
          <a:noFill/>
        </p:spPr>
        <p:txBody>
          <a:bodyPr wrap="square">
            <a:spAutoFit/>
          </a:bodyPr>
          <a:lstStyle/>
          <a:p>
            <a:pPr algn="l"/>
            <a:r>
              <a:rPr sz="950" b="0" i="0">
                <a:solidFill>
                  <a:srgbClr val="AAB4CC"/>
                </a:solidFill>
                <a:latin typeface="Calibri"/>
              </a:rPr>
              <a:t>Signal confidence + preparedness score unique to each org. Not replicable.</a:t>
            </a:r>
          </a:p>
        </p:txBody>
      </p:sp>
      <p:sp>
        <p:nvSpPr>
          <p:cNvPr id="39" name="Rectangle 38"/>
          <p:cNvSpPr/>
          <p:nvPr/>
        </p:nvSpPr>
        <p:spPr>
          <a:xfrm>
            <a:off x="6492240" y="3764584"/>
            <a:ext cx="5449824"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92240" y="4093768"/>
            <a:ext cx="5449824" cy="256032"/>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4130344"/>
            <a:ext cx="5230368" cy="201168"/>
          </a:xfrm>
          <a:prstGeom prst="rect">
            <a:avLst/>
          </a:prstGeom>
          <a:noFill/>
        </p:spPr>
        <p:txBody>
          <a:bodyPr wrap="square">
            <a:spAutoFit/>
          </a:bodyPr>
          <a:lstStyle/>
          <a:p>
            <a:pPr algn="l"/>
            <a:r>
              <a:rPr sz="1000" b="1" i="0">
                <a:solidFill>
                  <a:srgbClr val="C9A84C"/>
                </a:solidFill>
                <a:latin typeface="Calibri"/>
              </a:rPr>
              <a:t>Encoding Permanence</a:t>
            </a:r>
          </a:p>
        </p:txBody>
      </p:sp>
      <p:sp>
        <p:nvSpPr>
          <p:cNvPr id="42" name="TextBox 41"/>
          <p:cNvSpPr txBox="1"/>
          <p:nvPr/>
        </p:nvSpPr>
        <p:spPr>
          <a:xfrm>
            <a:off x="6601968" y="4386376"/>
            <a:ext cx="5230368" cy="530352"/>
          </a:xfrm>
          <a:prstGeom prst="rect">
            <a:avLst/>
          </a:prstGeom>
          <a:noFill/>
        </p:spPr>
        <p:txBody>
          <a:bodyPr wrap="square">
            <a:spAutoFit/>
          </a:bodyPr>
          <a:lstStyle/>
          <a:p>
            <a:pPr algn="l"/>
            <a:r>
              <a:rPr sz="950" b="0" i="0">
                <a:solidFill>
                  <a:srgbClr val="AAB4CC"/>
                </a:solidFill>
                <a:latin typeface="Calibri"/>
              </a:rPr>
              <a:t>18 months of activations creates an intelligence layer competitors cannot match on day one.</a:t>
            </a:r>
          </a:p>
        </p:txBody>
      </p:sp>
      <p:sp>
        <p:nvSpPr>
          <p:cNvPr id="43" name="Rectangle 42"/>
          <p:cNvSpPr/>
          <p:nvPr/>
        </p:nvSpPr>
        <p:spPr>
          <a:xfrm>
            <a:off x="384048" y="5410504"/>
            <a:ext cx="1141171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4048" y="5492800"/>
            <a:ext cx="11411712" cy="749808"/>
          </a:xfrm>
          <a:prstGeom prst="rect">
            <a:avLst/>
          </a:prstGeom>
          <a:noFill/>
        </p:spPr>
        <p:txBody>
          <a:bodyPr wrap="square">
            <a:spAutoFit/>
          </a:bodyPr>
          <a:lstStyle/>
          <a:p>
            <a:pPr algn="l"/>
            <a:r>
              <a:rPr sz="950" b="0" i="1">
                <a:solidFill>
                  <a:srgbClr val="AAB4CC"/>
                </a:solidFill>
                <a:latin typeface="Georgia"/>
              </a:rPr>
              <a:t>"Signal Labs routes the signal. ServiceNow runs the workflow. McKinsey arrives after the trigger. VaughnMartin had the response pre-staged before any of them were called — and the data moat becomes completely uncatchable by month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547104"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41617" y="0"/>
            <a:ext cx="5486" cy="685800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05  /  08</a:t>
            </a:r>
          </a:p>
        </p:txBody>
      </p:sp>
      <p:sp>
        <p:nvSpPr>
          <p:cNvPr id="7" name="Rectangle 6"/>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10" name="TextBox 9"/>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05  /  08</a:t>
            </a:r>
          </a:p>
        </p:txBody>
      </p:sp>
      <p:sp>
        <p:nvSpPr>
          <p:cNvPr id="11" name="TextBox 10"/>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vaughnmartin.com/how-it-executes</a:t>
            </a:r>
          </a:p>
        </p:txBody>
      </p:sp>
      <p:sp>
        <p:nvSpPr>
          <p:cNvPr id="12" name="Rectangle 11"/>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01168"/>
            <a:ext cx="5760720" cy="164592"/>
          </a:xfrm>
          <a:prstGeom prst="rect">
            <a:avLst/>
          </a:prstGeom>
          <a:noFill/>
        </p:spPr>
        <p:txBody>
          <a:bodyPr wrap="square">
            <a:spAutoFit/>
          </a:bodyPr>
          <a:lstStyle/>
          <a:p>
            <a:pPr algn="l"/>
            <a:r>
              <a:rPr sz="750" b="1" i="0">
                <a:solidFill>
                  <a:srgbClr val="C9A84C"/>
                </a:solidFill>
                <a:latin typeface="Calibri"/>
              </a:rPr>
              <a:t>   HOW IT WORKS</a:t>
            </a:r>
          </a:p>
        </p:txBody>
      </p:sp>
      <p:sp>
        <p:nvSpPr>
          <p:cNvPr id="14" name="TextBox 13"/>
          <p:cNvSpPr txBox="1"/>
          <p:nvPr/>
        </p:nvSpPr>
        <p:spPr>
          <a:xfrm>
            <a:off x="384048" y="365760"/>
            <a:ext cx="5943600" cy="435864"/>
          </a:xfrm>
          <a:prstGeom prst="rect">
            <a:avLst/>
          </a:prstGeom>
          <a:noFill/>
        </p:spPr>
        <p:txBody>
          <a:bodyPr wrap="square">
            <a:spAutoFit/>
          </a:bodyPr>
          <a:lstStyle/>
          <a:p>
            <a:pPr algn="l"/>
            <a:r>
              <a:rPr sz="2600" b="1" i="0">
                <a:solidFill>
                  <a:srgbClr val="FFFFFF"/>
                </a:solidFill>
                <a:latin typeface="Calibri"/>
              </a:rPr>
              <a:t>FROM TRIGGER TO</a:t>
            </a:r>
          </a:p>
        </p:txBody>
      </p:sp>
      <p:sp>
        <p:nvSpPr>
          <p:cNvPr id="15" name="TextBox 14"/>
          <p:cNvSpPr txBox="1"/>
          <p:nvPr/>
        </p:nvSpPr>
        <p:spPr>
          <a:xfrm>
            <a:off x="384048" y="801624"/>
            <a:ext cx="5943600" cy="435864"/>
          </a:xfrm>
          <a:prstGeom prst="rect">
            <a:avLst/>
          </a:prstGeom>
          <a:noFill/>
        </p:spPr>
        <p:txBody>
          <a:bodyPr wrap="square">
            <a:spAutoFit/>
          </a:bodyPr>
          <a:lstStyle/>
          <a:p>
            <a:pPr algn="l"/>
            <a:r>
              <a:rPr sz="2600" b="1" i="0">
                <a:solidFill>
                  <a:srgbClr val="C9A84C"/>
                </a:solidFill>
                <a:latin typeface="Calibri"/>
              </a:rPr>
              <a:t>EXECUTION IN 12 MINUTES.</a:t>
            </a:r>
          </a:p>
        </p:txBody>
      </p:sp>
      <p:sp>
        <p:nvSpPr>
          <p:cNvPr id="16" name="Rectangle 15"/>
          <p:cNvSpPr/>
          <p:nvPr/>
        </p:nvSpPr>
        <p:spPr>
          <a:xfrm>
            <a:off x="384048" y="1328928"/>
            <a:ext cx="61264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4048" y="1474927"/>
            <a:ext cx="457200" cy="457200"/>
          </a:xfrm>
          <a:prstGeom prst="rect">
            <a:avLst/>
          </a:prstGeom>
          <a:noFill/>
        </p:spPr>
        <p:txBody>
          <a:bodyPr wrap="square">
            <a:spAutoFit/>
          </a:bodyPr>
          <a:lstStyle/>
          <a:p>
            <a:pPr algn="l"/>
            <a:r>
              <a:rPr sz="1500" b="1" i="0">
                <a:solidFill>
                  <a:srgbClr val="C9A84C"/>
                </a:solidFill>
                <a:latin typeface="Calibri"/>
              </a:rPr>
              <a:t>①</a:t>
            </a:r>
          </a:p>
        </p:txBody>
      </p:sp>
      <p:sp>
        <p:nvSpPr>
          <p:cNvPr id="18" name="TextBox 17"/>
          <p:cNvSpPr txBox="1"/>
          <p:nvPr/>
        </p:nvSpPr>
        <p:spPr>
          <a:xfrm>
            <a:off x="877824" y="1520647"/>
            <a:ext cx="5577840" cy="384048"/>
          </a:xfrm>
          <a:prstGeom prst="rect">
            <a:avLst/>
          </a:prstGeom>
          <a:noFill/>
        </p:spPr>
        <p:txBody>
          <a:bodyPr wrap="square">
            <a:spAutoFit/>
          </a:bodyPr>
          <a:lstStyle/>
          <a:p>
            <a:pPr algn="l"/>
            <a:r>
              <a:rPr sz="1050" b="0" i="0">
                <a:solidFill>
                  <a:srgbClr val="C9A84C"/>
                </a:solidFill>
                <a:latin typeface="Calibri"/>
              </a:rPr>
              <a:t>Signal detected — confidence-scored against 221 live trigger patterns</a:t>
            </a:r>
          </a:p>
        </p:txBody>
      </p:sp>
      <p:sp>
        <p:nvSpPr>
          <p:cNvPr id="19" name="TextBox 18"/>
          <p:cNvSpPr txBox="1"/>
          <p:nvPr/>
        </p:nvSpPr>
        <p:spPr>
          <a:xfrm>
            <a:off x="384048" y="1996135"/>
            <a:ext cx="457200" cy="457200"/>
          </a:xfrm>
          <a:prstGeom prst="rect">
            <a:avLst/>
          </a:prstGeom>
          <a:noFill/>
        </p:spPr>
        <p:txBody>
          <a:bodyPr wrap="square">
            <a:spAutoFit/>
          </a:bodyPr>
          <a:lstStyle/>
          <a:p>
            <a:pPr algn="l"/>
            <a:r>
              <a:rPr sz="1500" b="1" i="0">
                <a:solidFill>
                  <a:srgbClr val="C9A84C"/>
                </a:solidFill>
                <a:latin typeface="Calibri"/>
              </a:rPr>
              <a:t>②</a:t>
            </a:r>
          </a:p>
        </p:txBody>
      </p:sp>
      <p:sp>
        <p:nvSpPr>
          <p:cNvPr id="20" name="TextBox 19"/>
          <p:cNvSpPr txBox="1"/>
          <p:nvPr/>
        </p:nvSpPr>
        <p:spPr>
          <a:xfrm>
            <a:off x="877824" y="2041855"/>
            <a:ext cx="5577840" cy="384048"/>
          </a:xfrm>
          <a:prstGeom prst="rect">
            <a:avLst/>
          </a:prstGeom>
          <a:noFill/>
        </p:spPr>
        <p:txBody>
          <a:bodyPr wrap="square">
            <a:spAutoFit/>
          </a:bodyPr>
          <a:lstStyle/>
          <a:p>
            <a:pPr algn="l"/>
            <a:r>
              <a:rPr sz="1050" b="0" i="0">
                <a:solidFill>
                  <a:srgbClr val="FFFFFF"/>
                </a:solidFill>
                <a:latin typeface="Calibri"/>
              </a:rPr>
              <a:t>Matching Readiness Protocol staged — tasks assigned, stakeholders mapped</a:t>
            </a:r>
          </a:p>
        </p:txBody>
      </p:sp>
      <p:sp>
        <p:nvSpPr>
          <p:cNvPr id="21" name="TextBox 20"/>
          <p:cNvSpPr txBox="1"/>
          <p:nvPr/>
        </p:nvSpPr>
        <p:spPr>
          <a:xfrm>
            <a:off x="384048" y="2517343"/>
            <a:ext cx="457200" cy="457200"/>
          </a:xfrm>
          <a:prstGeom prst="rect">
            <a:avLst/>
          </a:prstGeom>
          <a:noFill/>
        </p:spPr>
        <p:txBody>
          <a:bodyPr wrap="square">
            <a:spAutoFit/>
          </a:bodyPr>
          <a:lstStyle/>
          <a:p>
            <a:pPr algn="l"/>
            <a:r>
              <a:rPr sz="1500" b="1" i="0">
                <a:solidFill>
                  <a:srgbClr val="C9A84C"/>
                </a:solidFill>
                <a:latin typeface="Calibri"/>
              </a:rPr>
              <a:t>③</a:t>
            </a:r>
          </a:p>
        </p:txBody>
      </p:sp>
      <p:sp>
        <p:nvSpPr>
          <p:cNvPr id="22" name="TextBox 21"/>
          <p:cNvSpPr txBox="1"/>
          <p:nvPr/>
        </p:nvSpPr>
        <p:spPr>
          <a:xfrm>
            <a:off x="877824" y="2563063"/>
            <a:ext cx="5577840" cy="384048"/>
          </a:xfrm>
          <a:prstGeom prst="rect">
            <a:avLst/>
          </a:prstGeom>
          <a:noFill/>
        </p:spPr>
        <p:txBody>
          <a:bodyPr wrap="square">
            <a:spAutoFit/>
          </a:bodyPr>
          <a:lstStyle/>
          <a:p>
            <a:pPr algn="l"/>
            <a:r>
              <a:rPr sz="1050" b="0" i="0">
                <a:solidFill>
                  <a:srgbClr val="FFFFFF"/>
                </a:solidFill>
                <a:latin typeface="Calibri"/>
              </a:rPr>
              <a:t>Board-ready execution brief delivered in &lt; 120 seconds — authority chain mapped</a:t>
            </a:r>
          </a:p>
        </p:txBody>
      </p:sp>
      <p:sp>
        <p:nvSpPr>
          <p:cNvPr id="23" name="TextBox 22"/>
          <p:cNvSpPr txBox="1"/>
          <p:nvPr/>
        </p:nvSpPr>
        <p:spPr>
          <a:xfrm>
            <a:off x="384048" y="3038551"/>
            <a:ext cx="457200" cy="457200"/>
          </a:xfrm>
          <a:prstGeom prst="rect">
            <a:avLst/>
          </a:prstGeom>
          <a:noFill/>
        </p:spPr>
        <p:txBody>
          <a:bodyPr wrap="square">
            <a:spAutoFit/>
          </a:bodyPr>
          <a:lstStyle/>
          <a:p>
            <a:pPr algn="l"/>
            <a:r>
              <a:rPr sz="1500" b="1" i="0">
                <a:solidFill>
                  <a:srgbClr val="C9A84C"/>
                </a:solidFill>
                <a:latin typeface="Calibri"/>
              </a:rPr>
              <a:t>④</a:t>
            </a:r>
          </a:p>
        </p:txBody>
      </p:sp>
      <p:sp>
        <p:nvSpPr>
          <p:cNvPr id="24" name="TextBox 23"/>
          <p:cNvSpPr txBox="1"/>
          <p:nvPr/>
        </p:nvSpPr>
        <p:spPr>
          <a:xfrm>
            <a:off x="877824" y="3084271"/>
            <a:ext cx="5577840" cy="384048"/>
          </a:xfrm>
          <a:prstGeom prst="rect">
            <a:avLst/>
          </a:prstGeom>
          <a:noFill/>
        </p:spPr>
        <p:txBody>
          <a:bodyPr wrap="square">
            <a:spAutoFit/>
          </a:bodyPr>
          <a:lstStyle/>
          <a:p>
            <a:pPr algn="l"/>
            <a:r>
              <a:rPr sz="1050" b="0" i="0">
                <a:solidFill>
                  <a:srgbClr val="2B8A6E"/>
                </a:solidFill>
                <a:latin typeface="Calibri"/>
              </a:rPr>
              <a:t>Executive authorizes — four real choices including Stand Down. No autonomous action.</a:t>
            </a:r>
          </a:p>
        </p:txBody>
      </p:sp>
      <p:sp>
        <p:nvSpPr>
          <p:cNvPr id="25" name="TextBox 24"/>
          <p:cNvSpPr txBox="1"/>
          <p:nvPr/>
        </p:nvSpPr>
        <p:spPr>
          <a:xfrm>
            <a:off x="384048" y="3559759"/>
            <a:ext cx="457200" cy="457200"/>
          </a:xfrm>
          <a:prstGeom prst="rect">
            <a:avLst/>
          </a:prstGeom>
          <a:noFill/>
        </p:spPr>
        <p:txBody>
          <a:bodyPr wrap="square">
            <a:spAutoFit/>
          </a:bodyPr>
          <a:lstStyle/>
          <a:p>
            <a:pPr algn="l"/>
            <a:r>
              <a:rPr sz="1500" b="1" i="0">
                <a:solidFill>
                  <a:srgbClr val="C9A84C"/>
                </a:solidFill>
                <a:latin typeface="Calibri"/>
              </a:rPr>
              <a:t>⑤</a:t>
            </a:r>
          </a:p>
        </p:txBody>
      </p:sp>
      <p:sp>
        <p:nvSpPr>
          <p:cNvPr id="26" name="TextBox 25"/>
          <p:cNvSpPr txBox="1"/>
          <p:nvPr/>
        </p:nvSpPr>
        <p:spPr>
          <a:xfrm>
            <a:off x="877824" y="3605479"/>
            <a:ext cx="5577840" cy="384048"/>
          </a:xfrm>
          <a:prstGeom prst="rect">
            <a:avLst/>
          </a:prstGeom>
          <a:noFill/>
        </p:spPr>
        <p:txBody>
          <a:bodyPr wrap="square">
            <a:spAutoFit/>
          </a:bodyPr>
          <a:lstStyle/>
          <a:p>
            <a:pPr algn="l"/>
            <a:r>
              <a:rPr sz="1050" b="0" i="0">
                <a:solidFill>
                  <a:srgbClr val="C9A84C"/>
                </a:solidFill>
                <a:latin typeface="Calibri"/>
              </a:rPr>
              <a:t>Response live — 12 minutes from signal to coordinated organizational execution</a:t>
            </a:r>
          </a:p>
        </p:txBody>
      </p:sp>
      <p:sp>
        <p:nvSpPr>
          <p:cNvPr id="27" name="Rectangle 26"/>
          <p:cNvSpPr/>
          <p:nvPr/>
        </p:nvSpPr>
        <p:spPr>
          <a:xfrm>
            <a:off x="384048" y="4208983"/>
            <a:ext cx="5760720" cy="658368"/>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84048" y="4208983"/>
            <a:ext cx="5760720" cy="21945"/>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2064" y="4254703"/>
            <a:ext cx="5559552" cy="256032"/>
          </a:xfrm>
          <a:prstGeom prst="rect">
            <a:avLst/>
          </a:prstGeom>
          <a:noFill/>
        </p:spPr>
        <p:txBody>
          <a:bodyPr wrap="square">
            <a:spAutoFit/>
          </a:bodyPr>
          <a:lstStyle/>
          <a:p>
            <a:pPr algn="l"/>
            <a:r>
              <a:rPr sz="1050" b="1" i="0">
                <a:solidFill>
                  <a:srgbClr val="C9A84C"/>
                </a:solidFill>
                <a:latin typeface="Calibri"/>
              </a:rPr>
              <a:t>3,600×  EXECUTION HEAD START</a:t>
            </a:r>
          </a:p>
        </p:txBody>
      </p:sp>
      <p:sp>
        <p:nvSpPr>
          <p:cNvPr id="30" name="TextBox 29"/>
          <p:cNvSpPr txBox="1"/>
          <p:nvPr/>
        </p:nvSpPr>
        <p:spPr>
          <a:xfrm>
            <a:off x="512064" y="4538167"/>
            <a:ext cx="5559552" cy="274320"/>
          </a:xfrm>
          <a:prstGeom prst="rect">
            <a:avLst/>
          </a:prstGeom>
          <a:noFill/>
        </p:spPr>
        <p:txBody>
          <a:bodyPr wrap="square">
            <a:spAutoFit/>
          </a:bodyPr>
          <a:lstStyle/>
          <a:p>
            <a:pPr algn="l"/>
            <a:r>
              <a:rPr sz="900" b="0" i="0">
                <a:solidFill>
                  <a:srgbClr val="AAB4CC"/>
                </a:solidFill>
                <a:latin typeface="Calibri"/>
              </a:rPr>
              <a:t>30 days of mobilization compressed to 12 minutes  ·  startup to Fortune 500</a:t>
            </a:r>
          </a:p>
        </p:txBody>
      </p:sp>
      <p:sp>
        <p:nvSpPr>
          <p:cNvPr id="31" name="Rectangle 30"/>
          <p:cNvSpPr/>
          <p:nvPr/>
        </p:nvSpPr>
        <p:spPr>
          <a:xfrm>
            <a:off x="384048" y="4995367"/>
            <a:ext cx="557784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5059375"/>
            <a:ext cx="5760720" cy="713232"/>
          </a:xfrm>
          <a:prstGeom prst="rect">
            <a:avLst/>
          </a:prstGeom>
          <a:noFill/>
        </p:spPr>
        <p:txBody>
          <a:bodyPr wrap="square">
            <a:spAutoFit/>
          </a:bodyPr>
          <a:lstStyle/>
          <a:p>
            <a:pPr algn="l"/>
            <a:r>
              <a:rPr sz="900" b="0" i="1">
                <a:solidFill>
                  <a:srgbClr val="AAB4CC"/>
                </a:solidFill>
                <a:latin typeface="Georgia"/>
              </a:rPr>
              <a:t>"The AI monitors, but humans decide. We turn 30 days of unmanaged chaos and a potential $47M penalty into a controlled, 12-minute executive sign-off."</a:t>
            </a:r>
          </a:p>
        </p:txBody>
      </p:sp>
      <p:sp>
        <p:nvSpPr>
          <p:cNvPr id="33" name="Rectangle 32"/>
          <p:cNvSpPr/>
          <p:nvPr/>
        </p:nvSpPr>
        <p:spPr>
          <a:xfrm>
            <a:off x="6528816" y="402336"/>
            <a:ext cx="5550408" cy="6108192"/>
          </a:xfrm>
          <a:prstGeom prst="rect">
            <a:avLst/>
          </a:prstGeom>
          <a:solidFill>
            <a:srgbClr val="020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47472"/>
            <a:ext cx="36576" cy="610819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hq_12min_scenarios.jpg"/>
          <p:cNvPicPr>
            <a:picLocks noChangeAspect="1"/>
          </p:cNvPicPr>
          <p:nvPr/>
        </p:nvPicPr>
        <p:blipFill>
          <a:blip r:embed="rId4"/>
          <a:stretch>
            <a:fillRect/>
          </a:stretch>
        </p:blipFill>
        <p:spPr>
          <a:xfrm>
            <a:off x="6473952" y="347472"/>
            <a:ext cx="5550408" cy="61081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547104"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41617" y="0"/>
            <a:ext cx="5486" cy="685800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06  /  08</a:t>
            </a:r>
          </a:p>
        </p:txBody>
      </p:sp>
      <p:sp>
        <p:nvSpPr>
          <p:cNvPr id="7" name="Rectangle 6"/>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10" name="TextBox 9"/>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06  /  08</a:t>
            </a:r>
          </a:p>
        </p:txBody>
      </p:sp>
      <p:sp>
        <p:nvSpPr>
          <p:cNvPr id="11" name="TextBox 10"/>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vaughnmartin.com/proof-story</a:t>
            </a:r>
          </a:p>
        </p:txBody>
      </p:sp>
      <p:sp>
        <p:nvSpPr>
          <p:cNvPr id="12" name="Rectangle 11"/>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01168"/>
            <a:ext cx="5760720" cy="164592"/>
          </a:xfrm>
          <a:prstGeom prst="rect">
            <a:avLst/>
          </a:prstGeom>
          <a:noFill/>
        </p:spPr>
        <p:txBody>
          <a:bodyPr wrap="square">
            <a:spAutoFit/>
          </a:bodyPr>
          <a:lstStyle/>
          <a:p>
            <a:pPr algn="l"/>
            <a:r>
              <a:rPr sz="750" b="1" i="0">
                <a:solidFill>
                  <a:srgbClr val="C9A84C"/>
                </a:solidFill>
                <a:latin typeface="Calibri"/>
              </a:rPr>
              <a:t>   PROOF — NOW, NOT ROADMAP</a:t>
            </a:r>
          </a:p>
        </p:txBody>
      </p:sp>
      <p:sp>
        <p:nvSpPr>
          <p:cNvPr id="14" name="TextBox 13"/>
          <p:cNvSpPr txBox="1"/>
          <p:nvPr/>
        </p:nvSpPr>
        <p:spPr>
          <a:xfrm>
            <a:off x="384048" y="365760"/>
            <a:ext cx="5943600" cy="603504"/>
          </a:xfrm>
          <a:prstGeom prst="rect">
            <a:avLst/>
          </a:prstGeom>
          <a:noFill/>
        </p:spPr>
        <p:txBody>
          <a:bodyPr wrap="square">
            <a:spAutoFit/>
          </a:bodyPr>
          <a:lstStyle/>
          <a:p>
            <a:pPr algn="l"/>
            <a:r>
              <a:rPr sz="3600" b="1" i="0">
                <a:solidFill>
                  <a:srgbClr val="FFFFFF"/>
                </a:solidFill>
                <a:latin typeface="Calibri"/>
              </a:rPr>
              <a:t>BUILT.</a:t>
            </a:r>
          </a:p>
        </p:txBody>
      </p:sp>
      <p:sp>
        <p:nvSpPr>
          <p:cNvPr id="15" name="TextBox 14"/>
          <p:cNvSpPr txBox="1"/>
          <p:nvPr/>
        </p:nvSpPr>
        <p:spPr>
          <a:xfrm>
            <a:off x="384048" y="969264"/>
            <a:ext cx="5943600" cy="603504"/>
          </a:xfrm>
          <a:prstGeom prst="rect">
            <a:avLst/>
          </a:prstGeom>
          <a:noFill/>
        </p:spPr>
        <p:txBody>
          <a:bodyPr wrap="square">
            <a:spAutoFit/>
          </a:bodyPr>
          <a:lstStyle/>
          <a:p>
            <a:pPr algn="l"/>
            <a:r>
              <a:rPr sz="3600" b="1" i="0">
                <a:solidFill>
                  <a:srgbClr val="C9A84C"/>
                </a:solidFill>
                <a:latin typeface="Calibri"/>
              </a:rPr>
              <a:t>LIVE.</a:t>
            </a:r>
          </a:p>
        </p:txBody>
      </p:sp>
      <p:sp>
        <p:nvSpPr>
          <p:cNvPr id="16" name="TextBox 15"/>
          <p:cNvSpPr txBox="1"/>
          <p:nvPr/>
        </p:nvSpPr>
        <p:spPr>
          <a:xfrm>
            <a:off x="384048" y="1572768"/>
            <a:ext cx="5943600" cy="335280"/>
          </a:xfrm>
          <a:prstGeom prst="rect">
            <a:avLst/>
          </a:prstGeom>
          <a:noFill/>
        </p:spPr>
        <p:txBody>
          <a:bodyPr wrap="square">
            <a:spAutoFit/>
          </a:bodyPr>
          <a:lstStyle/>
          <a:p>
            <a:pPr algn="l"/>
            <a:r>
              <a:rPr sz="2000" b="1" i="0">
                <a:solidFill>
                  <a:srgbClr val="AAB4CC"/>
                </a:solidFill>
                <a:latin typeface="Calibri"/>
              </a:rPr>
              <a:t>IN PRODUCTION NOW.</a:t>
            </a:r>
          </a:p>
        </p:txBody>
      </p:sp>
      <p:sp>
        <p:nvSpPr>
          <p:cNvPr id="17" name="Rectangle 16"/>
          <p:cNvSpPr/>
          <p:nvPr/>
        </p:nvSpPr>
        <p:spPr>
          <a:xfrm>
            <a:off x="384048" y="1999488"/>
            <a:ext cx="61264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2146096"/>
            <a:ext cx="5852160" cy="365760"/>
          </a:xfrm>
          <a:prstGeom prst="rect">
            <a:avLst/>
          </a:prstGeom>
          <a:noFill/>
        </p:spPr>
        <p:txBody>
          <a:bodyPr wrap="square">
            <a:spAutoFit/>
          </a:bodyPr>
          <a:lstStyle/>
          <a:p>
            <a:pPr algn="l"/>
            <a:r>
              <a:rPr sz="1050" b="0" i="0">
                <a:solidFill>
                  <a:srgbClr val="FFFFFF"/>
                </a:solidFill>
                <a:latin typeface="Calibri"/>
              </a:rPr>
              <a:t>▸  Production platform live — vaughnmartin.com</a:t>
            </a:r>
          </a:p>
        </p:txBody>
      </p:sp>
      <p:sp>
        <p:nvSpPr>
          <p:cNvPr id="19" name="TextBox 18"/>
          <p:cNvSpPr txBox="1"/>
          <p:nvPr/>
        </p:nvSpPr>
        <p:spPr>
          <a:xfrm>
            <a:off x="384048" y="2548432"/>
            <a:ext cx="5852160" cy="365760"/>
          </a:xfrm>
          <a:prstGeom prst="rect">
            <a:avLst/>
          </a:prstGeom>
          <a:noFill/>
        </p:spPr>
        <p:txBody>
          <a:bodyPr wrap="square">
            <a:spAutoFit/>
          </a:bodyPr>
          <a:lstStyle/>
          <a:p>
            <a:pPr algn="l"/>
            <a:r>
              <a:rPr sz="1050" b="0" i="0">
                <a:solidFill>
                  <a:srgbClr val="FFFFFF"/>
                </a:solidFill>
                <a:latin typeface="Calibri"/>
              </a:rPr>
              <a:t>▸  170 protocols active  ·  221 triggers monitored  ·  248+ data points scored</a:t>
            </a:r>
          </a:p>
        </p:txBody>
      </p:sp>
      <p:sp>
        <p:nvSpPr>
          <p:cNvPr id="20" name="TextBox 19"/>
          <p:cNvSpPr txBox="1"/>
          <p:nvPr/>
        </p:nvSpPr>
        <p:spPr>
          <a:xfrm>
            <a:off x="384048" y="2950768"/>
            <a:ext cx="5852160" cy="365760"/>
          </a:xfrm>
          <a:prstGeom prst="rect">
            <a:avLst/>
          </a:prstGeom>
          <a:noFill/>
        </p:spPr>
        <p:txBody>
          <a:bodyPr wrap="square">
            <a:spAutoFit/>
          </a:bodyPr>
          <a:lstStyle/>
          <a:p>
            <a:pPr algn="l"/>
            <a:r>
              <a:rPr sz="1050" b="0" i="0">
                <a:solidFill>
                  <a:srgbClr val="FFFFFF"/>
                </a:solidFill>
                <a:latin typeface="Calibri"/>
              </a:rPr>
              <a:t>▸  Full execution walkthrough — vaughnmartin.com/how-it-executes</a:t>
            </a:r>
          </a:p>
        </p:txBody>
      </p:sp>
      <p:sp>
        <p:nvSpPr>
          <p:cNvPr id="21" name="TextBox 20"/>
          <p:cNvSpPr txBox="1"/>
          <p:nvPr/>
        </p:nvSpPr>
        <p:spPr>
          <a:xfrm>
            <a:off x="384048" y="3353104"/>
            <a:ext cx="5852160" cy="365760"/>
          </a:xfrm>
          <a:prstGeom prst="rect">
            <a:avLst/>
          </a:prstGeom>
          <a:noFill/>
        </p:spPr>
        <p:txBody>
          <a:bodyPr wrap="square">
            <a:spAutoFit/>
          </a:bodyPr>
          <a:lstStyle/>
          <a:p>
            <a:pPr algn="l"/>
            <a:r>
              <a:rPr sz="1050" b="0" i="0">
                <a:solidFill>
                  <a:srgbClr val="FFFFFF"/>
                </a:solidFill>
                <a:latin typeface="Calibri"/>
              </a:rPr>
              <a:t>▸  12-Minute Test Drive — 7 real scenarios, live and runnable right now</a:t>
            </a:r>
          </a:p>
        </p:txBody>
      </p:sp>
      <p:sp>
        <p:nvSpPr>
          <p:cNvPr id="22" name="TextBox 21"/>
          <p:cNvSpPr txBox="1"/>
          <p:nvPr/>
        </p:nvSpPr>
        <p:spPr>
          <a:xfrm>
            <a:off x="384048" y="3755440"/>
            <a:ext cx="5852160" cy="365760"/>
          </a:xfrm>
          <a:prstGeom prst="rect">
            <a:avLst/>
          </a:prstGeom>
          <a:noFill/>
        </p:spPr>
        <p:txBody>
          <a:bodyPr wrap="square">
            <a:spAutoFit/>
          </a:bodyPr>
          <a:lstStyle/>
          <a:p>
            <a:pPr algn="l"/>
            <a:r>
              <a:rPr sz="1050" b="0" i="0">
                <a:solidFill>
                  <a:srgbClr val="FFFFFF"/>
                </a:solidFill>
                <a:latin typeface="Calibri"/>
              </a:rPr>
              <a:t>▸  Founding Partner cohort open — 90-day validation partnership</a:t>
            </a:r>
          </a:p>
        </p:txBody>
      </p:sp>
      <p:sp>
        <p:nvSpPr>
          <p:cNvPr id="23" name="Rectangle 22"/>
          <p:cNvSpPr/>
          <p:nvPr/>
        </p:nvSpPr>
        <p:spPr>
          <a:xfrm>
            <a:off x="384048" y="4304080"/>
            <a:ext cx="557784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4368088"/>
            <a:ext cx="5760720" cy="713232"/>
          </a:xfrm>
          <a:prstGeom prst="rect">
            <a:avLst/>
          </a:prstGeom>
          <a:noFill/>
        </p:spPr>
        <p:txBody>
          <a:bodyPr wrap="square">
            <a:spAutoFit/>
          </a:bodyPr>
          <a:lstStyle/>
          <a:p>
            <a:pPr algn="l"/>
            <a:r>
              <a:rPr sz="900" b="0" i="1">
                <a:solidFill>
                  <a:srgbClr val="AAB4CC"/>
                </a:solidFill>
                <a:latin typeface="Georgia"/>
              </a:rPr>
              <a:t>"Same trigger. Same company. Entirely different outcome. The only variable: whether the response was pre-staged before the trigger fired."</a:t>
            </a:r>
          </a:p>
        </p:txBody>
      </p:sp>
      <p:sp>
        <p:nvSpPr>
          <p:cNvPr id="25" name="TextBox 24"/>
          <p:cNvSpPr txBox="1"/>
          <p:nvPr/>
        </p:nvSpPr>
        <p:spPr>
          <a:xfrm>
            <a:off x="384048" y="5108752"/>
            <a:ext cx="5760720" cy="182880"/>
          </a:xfrm>
          <a:prstGeom prst="rect">
            <a:avLst/>
          </a:prstGeom>
          <a:noFill/>
        </p:spPr>
        <p:txBody>
          <a:bodyPr wrap="square">
            <a:spAutoFit/>
          </a:bodyPr>
          <a:lstStyle/>
          <a:p>
            <a:pPr algn="l"/>
            <a:r>
              <a:rPr sz="750" b="1" i="0">
                <a:solidFill>
                  <a:srgbClr val="9A7E2C"/>
                </a:solidFill>
                <a:latin typeface="Calibri"/>
              </a:rPr>
              <a:t>— The Proof — vaughnmartin.com/proof-story</a:t>
            </a:r>
          </a:p>
        </p:txBody>
      </p:sp>
      <p:sp>
        <p:nvSpPr>
          <p:cNvPr id="26" name="Rectangle 25"/>
          <p:cNvSpPr/>
          <p:nvPr/>
        </p:nvSpPr>
        <p:spPr>
          <a:xfrm>
            <a:off x="6528816" y="402336"/>
            <a:ext cx="5550408" cy="6108192"/>
          </a:xfrm>
          <a:prstGeom prst="rect">
            <a:avLst/>
          </a:prstGeom>
          <a:solidFill>
            <a:srgbClr val="020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37376" y="347472"/>
            <a:ext cx="36576" cy="610819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hq_proof_timelines.jpg"/>
          <p:cNvPicPr>
            <a:picLocks noChangeAspect="1"/>
          </p:cNvPicPr>
          <p:nvPr/>
        </p:nvPicPr>
        <p:blipFill>
          <a:blip r:embed="rId4"/>
          <a:stretch>
            <a:fillRect/>
          </a:stretch>
        </p:blipFill>
        <p:spPr>
          <a:xfrm>
            <a:off x="6473952" y="347472"/>
            <a:ext cx="5550408" cy="610819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547104"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41617" y="0"/>
            <a:ext cx="5486" cy="685800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07  /  08</a:t>
            </a:r>
          </a:p>
        </p:txBody>
      </p:sp>
      <p:sp>
        <p:nvSpPr>
          <p:cNvPr id="7" name="Rectangle 6"/>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10" name="TextBox 9"/>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07  /  08</a:t>
            </a:r>
          </a:p>
        </p:txBody>
      </p:sp>
      <p:sp>
        <p:nvSpPr>
          <p:cNvPr id="11" name="TextBox 10"/>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vaughnmartin.com/roi-calculator</a:t>
            </a:r>
          </a:p>
        </p:txBody>
      </p:sp>
      <p:sp>
        <p:nvSpPr>
          <p:cNvPr id="12" name="Rectangle 11"/>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01168"/>
            <a:ext cx="5760720" cy="164592"/>
          </a:xfrm>
          <a:prstGeom prst="rect">
            <a:avLst/>
          </a:prstGeom>
          <a:noFill/>
        </p:spPr>
        <p:txBody>
          <a:bodyPr wrap="square">
            <a:spAutoFit/>
          </a:bodyPr>
          <a:lstStyle/>
          <a:p>
            <a:pPr algn="l"/>
            <a:r>
              <a:rPr sz="750" b="1" i="0">
                <a:solidFill>
                  <a:srgbClr val="C9A84C"/>
                </a:solidFill>
                <a:latin typeface="Calibri"/>
              </a:rPr>
              <a:t>   BUSINESS CASE</a:t>
            </a:r>
          </a:p>
        </p:txBody>
      </p:sp>
      <p:sp>
        <p:nvSpPr>
          <p:cNvPr id="14" name="TextBox 13"/>
          <p:cNvSpPr txBox="1"/>
          <p:nvPr/>
        </p:nvSpPr>
        <p:spPr>
          <a:xfrm>
            <a:off x="384048" y="365760"/>
            <a:ext cx="5943600" cy="435864"/>
          </a:xfrm>
          <a:prstGeom prst="rect">
            <a:avLst/>
          </a:prstGeom>
          <a:noFill/>
        </p:spPr>
        <p:txBody>
          <a:bodyPr wrap="square">
            <a:spAutoFit/>
          </a:bodyPr>
          <a:lstStyle/>
          <a:p>
            <a:pPr algn="l"/>
            <a:r>
              <a:rPr sz="2600" b="1" i="0">
                <a:solidFill>
                  <a:srgbClr val="FFFFFF"/>
                </a:solidFill>
                <a:latin typeface="Calibri"/>
              </a:rPr>
              <a:t>A TRIVIAL REALLOCATION</a:t>
            </a:r>
          </a:p>
        </p:txBody>
      </p:sp>
      <p:sp>
        <p:nvSpPr>
          <p:cNvPr id="15" name="TextBox 14"/>
          <p:cNvSpPr txBox="1"/>
          <p:nvPr/>
        </p:nvSpPr>
        <p:spPr>
          <a:xfrm>
            <a:off x="384048" y="801624"/>
            <a:ext cx="5943600" cy="435864"/>
          </a:xfrm>
          <a:prstGeom prst="rect">
            <a:avLst/>
          </a:prstGeom>
          <a:noFill/>
        </p:spPr>
        <p:txBody>
          <a:bodyPr wrap="square">
            <a:spAutoFit/>
          </a:bodyPr>
          <a:lstStyle/>
          <a:p>
            <a:pPr algn="l"/>
            <a:r>
              <a:rPr sz="2600" b="1" i="0">
                <a:solidFill>
                  <a:srgbClr val="C9A84C"/>
                </a:solidFill>
                <a:latin typeface="Calibri"/>
              </a:rPr>
              <a:t>OF EXISTING WASTE.</a:t>
            </a:r>
          </a:p>
        </p:txBody>
      </p:sp>
      <p:sp>
        <p:nvSpPr>
          <p:cNvPr id="16" name="Rectangle 15"/>
          <p:cNvSpPr/>
          <p:nvPr/>
        </p:nvSpPr>
        <p:spPr>
          <a:xfrm>
            <a:off x="384048" y="1328928"/>
            <a:ext cx="61264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4048" y="1474927"/>
            <a:ext cx="5852160" cy="365760"/>
          </a:xfrm>
          <a:prstGeom prst="rect">
            <a:avLst/>
          </a:prstGeom>
          <a:noFill/>
        </p:spPr>
        <p:txBody>
          <a:bodyPr wrap="square">
            <a:spAutoFit/>
          </a:bodyPr>
          <a:lstStyle/>
          <a:p>
            <a:pPr algn="l"/>
            <a:r>
              <a:rPr sz="1050" b="0" i="0">
                <a:solidFill>
                  <a:srgbClr val="FFFFFF"/>
                </a:solidFill>
                <a:latin typeface="Calibri"/>
              </a:rPr>
              <a:t>▸  Enterprises burn millions on reactive post-trigger consulting retainers</a:t>
            </a:r>
          </a:p>
        </p:txBody>
      </p:sp>
      <p:sp>
        <p:nvSpPr>
          <p:cNvPr id="18" name="TextBox 17"/>
          <p:cNvSpPr txBox="1"/>
          <p:nvPr/>
        </p:nvSpPr>
        <p:spPr>
          <a:xfrm>
            <a:off x="384048" y="1877263"/>
            <a:ext cx="5852160" cy="365760"/>
          </a:xfrm>
          <a:prstGeom prst="rect">
            <a:avLst/>
          </a:prstGeom>
          <a:noFill/>
        </p:spPr>
        <p:txBody>
          <a:bodyPr wrap="square">
            <a:spAutoFit/>
          </a:bodyPr>
          <a:lstStyle/>
          <a:p>
            <a:pPr algn="l"/>
            <a:r>
              <a:rPr sz="1050" b="0" i="0">
                <a:solidFill>
                  <a:srgbClr val="FFFFFF"/>
                </a:solidFill>
                <a:latin typeface="Calibri"/>
              </a:rPr>
              <a:t>▸  Readiness OS converts panic-driven spend into repeatable software infrastructure</a:t>
            </a:r>
          </a:p>
        </p:txBody>
      </p:sp>
      <p:sp>
        <p:nvSpPr>
          <p:cNvPr id="19" name="TextBox 18"/>
          <p:cNvSpPr txBox="1"/>
          <p:nvPr/>
        </p:nvSpPr>
        <p:spPr>
          <a:xfrm>
            <a:off x="384048" y="2279599"/>
            <a:ext cx="5852160" cy="365760"/>
          </a:xfrm>
          <a:prstGeom prst="rect">
            <a:avLst/>
          </a:prstGeom>
          <a:noFill/>
        </p:spPr>
        <p:txBody>
          <a:bodyPr wrap="square">
            <a:spAutoFit/>
          </a:bodyPr>
          <a:lstStyle/>
          <a:p>
            <a:pPr algn="l"/>
            <a:r>
              <a:rPr sz="1050" b="0" i="0">
                <a:solidFill>
                  <a:srgbClr val="FFFFFF"/>
                </a:solidFill>
                <a:latin typeface="Calibri"/>
              </a:rPr>
              <a:t>▸  Not asking for net-new budget — reallocating existing waste with compounding ROI</a:t>
            </a:r>
          </a:p>
        </p:txBody>
      </p:sp>
      <p:sp>
        <p:nvSpPr>
          <p:cNvPr id="20" name="TextBox 19"/>
          <p:cNvSpPr txBox="1"/>
          <p:nvPr/>
        </p:nvSpPr>
        <p:spPr>
          <a:xfrm>
            <a:off x="384048" y="2681935"/>
            <a:ext cx="5852160" cy="365760"/>
          </a:xfrm>
          <a:prstGeom prst="rect">
            <a:avLst/>
          </a:prstGeom>
          <a:noFill/>
        </p:spPr>
        <p:txBody>
          <a:bodyPr wrap="square">
            <a:spAutoFit/>
          </a:bodyPr>
          <a:lstStyle/>
          <a:p>
            <a:pPr algn="l"/>
            <a:r>
              <a:rPr sz="1050" b="0" i="0">
                <a:solidFill>
                  <a:srgbClr val="FFFFFF"/>
                </a:solidFill>
                <a:latin typeface="Calibri"/>
              </a:rPr>
              <a:t>▸  Estimated $61.3M annual value for enterprises facing 3+ strategic triggers</a:t>
            </a:r>
          </a:p>
        </p:txBody>
      </p:sp>
      <p:sp>
        <p:nvSpPr>
          <p:cNvPr id="21" name="TextBox 20"/>
          <p:cNvSpPr txBox="1"/>
          <p:nvPr/>
        </p:nvSpPr>
        <p:spPr>
          <a:xfrm>
            <a:off x="384048" y="3193999"/>
            <a:ext cx="5760720" cy="201168"/>
          </a:xfrm>
          <a:prstGeom prst="rect">
            <a:avLst/>
          </a:prstGeom>
          <a:noFill/>
        </p:spPr>
        <p:txBody>
          <a:bodyPr wrap="square">
            <a:spAutoFit/>
          </a:bodyPr>
          <a:lstStyle/>
          <a:p>
            <a:pPr algn="l"/>
            <a:r>
              <a:rPr sz="800" b="1" i="0">
                <a:solidFill>
                  <a:srgbClr val="C9A84C"/>
                </a:solidFill>
                <a:latin typeface="Calibri"/>
              </a:rPr>
              <a:t>PRICING — THE REALLOCATION LOGIC</a:t>
            </a:r>
          </a:p>
        </p:txBody>
      </p:sp>
      <p:sp>
        <p:nvSpPr>
          <p:cNvPr id="22" name="TextBox 21"/>
          <p:cNvSpPr txBox="1"/>
          <p:nvPr/>
        </p:nvSpPr>
        <p:spPr>
          <a:xfrm>
            <a:off x="384048" y="3431743"/>
            <a:ext cx="1847088" cy="256032"/>
          </a:xfrm>
          <a:prstGeom prst="rect">
            <a:avLst/>
          </a:prstGeom>
          <a:noFill/>
        </p:spPr>
        <p:txBody>
          <a:bodyPr wrap="square">
            <a:spAutoFit/>
          </a:bodyPr>
          <a:lstStyle/>
          <a:p>
            <a:pPr algn="l"/>
            <a:r>
              <a:rPr sz="950" b="1" i="0">
                <a:solidFill>
                  <a:srgbClr val="C9A84C"/>
                </a:solidFill>
                <a:latin typeface="Calibri"/>
              </a:rPr>
              <a:t>Founding Partner</a:t>
            </a:r>
          </a:p>
        </p:txBody>
      </p:sp>
      <p:sp>
        <p:nvSpPr>
          <p:cNvPr id="23" name="TextBox 22"/>
          <p:cNvSpPr txBox="1"/>
          <p:nvPr/>
        </p:nvSpPr>
        <p:spPr>
          <a:xfrm>
            <a:off x="2304288" y="3431743"/>
            <a:ext cx="4023360" cy="256032"/>
          </a:xfrm>
          <a:prstGeom prst="rect">
            <a:avLst/>
          </a:prstGeom>
          <a:noFill/>
        </p:spPr>
        <p:txBody>
          <a:bodyPr wrap="square">
            <a:spAutoFit/>
          </a:bodyPr>
          <a:lstStyle/>
          <a:p>
            <a:pPr algn="l"/>
            <a:r>
              <a:rPr sz="950" b="0" i="0">
                <a:solidFill>
                  <a:srgbClr val="AAB4CC"/>
                </a:solidFill>
                <a:latin typeface="Calibri"/>
              </a:rPr>
              <a:t>$75K / 90-day validation  ·  12 seats  ·  Cohort forming now</a:t>
            </a:r>
          </a:p>
        </p:txBody>
      </p:sp>
      <p:sp>
        <p:nvSpPr>
          <p:cNvPr id="24" name="Rectangle 23"/>
          <p:cNvSpPr/>
          <p:nvPr/>
        </p:nvSpPr>
        <p:spPr>
          <a:xfrm>
            <a:off x="384048" y="3706063"/>
            <a:ext cx="58521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 y="3797503"/>
            <a:ext cx="1847088" cy="256032"/>
          </a:xfrm>
          <a:prstGeom prst="rect">
            <a:avLst/>
          </a:prstGeom>
          <a:noFill/>
        </p:spPr>
        <p:txBody>
          <a:bodyPr wrap="square">
            <a:spAutoFit/>
          </a:bodyPr>
          <a:lstStyle/>
          <a:p>
            <a:pPr algn="l"/>
            <a:r>
              <a:rPr sz="950" b="1" i="0">
                <a:solidFill>
                  <a:srgbClr val="C9A84C"/>
                </a:solidFill>
                <a:latin typeface="Calibri"/>
              </a:rPr>
              <a:t>Growth</a:t>
            </a:r>
          </a:p>
        </p:txBody>
      </p:sp>
      <p:sp>
        <p:nvSpPr>
          <p:cNvPr id="26" name="TextBox 25"/>
          <p:cNvSpPr txBox="1"/>
          <p:nvPr/>
        </p:nvSpPr>
        <p:spPr>
          <a:xfrm>
            <a:off x="2304288" y="3797503"/>
            <a:ext cx="4023360" cy="256032"/>
          </a:xfrm>
          <a:prstGeom prst="rect">
            <a:avLst/>
          </a:prstGeom>
          <a:noFill/>
        </p:spPr>
        <p:txBody>
          <a:bodyPr wrap="square">
            <a:spAutoFit/>
          </a:bodyPr>
          <a:lstStyle/>
          <a:p>
            <a:pPr algn="l"/>
            <a:r>
              <a:rPr sz="950" b="0" i="0">
                <a:solidFill>
                  <a:srgbClr val="AAB4CC"/>
                </a:solidFill>
                <a:latin typeface="Calibri"/>
              </a:rPr>
              <a:t>$75K–$250K annually  ·  Replaces $400K–$800K consulting retainer</a:t>
            </a:r>
          </a:p>
        </p:txBody>
      </p:sp>
      <p:sp>
        <p:nvSpPr>
          <p:cNvPr id="27" name="Rectangle 26"/>
          <p:cNvSpPr/>
          <p:nvPr/>
        </p:nvSpPr>
        <p:spPr>
          <a:xfrm>
            <a:off x="384048" y="4071823"/>
            <a:ext cx="58521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4163263"/>
            <a:ext cx="1847088" cy="256032"/>
          </a:xfrm>
          <a:prstGeom prst="rect">
            <a:avLst/>
          </a:prstGeom>
          <a:noFill/>
        </p:spPr>
        <p:txBody>
          <a:bodyPr wrap="square">
            <a:spAutoFit/>
          </a:bodyPr>
          <a:lstStyle/>
          <a:p>
            <a:pPr algn="l"/>
            <a:r>
              <a:rPr sz="950" b="1" i="0">
                <a:solidFill>
                  <a:srgbClr val="C9A84C"/>
                </a:solidFill>
                <a:latin typeface="Calibri"/>
              </a:rPr>
              <a:t>Enterprise</a:t>
            </a:r>
          </a:p>
        </p:txBody>
      </p:sp>
      <p:sp>
        <p:nvSpPr>
          <p:cNvPr id="29" name="TextBox 28"/>
          <p:cNvSpPr txBox="1"/>
          <p:nvPr/>
        </p:nvSpPr>
        <p:spPr>
          <a:xfrm>
            <a:off x="2304288" y="4163263"/>
            <a:ext cx="4023360" cy="256032"/>
          </a:xfrm>
          <a:prstGeom prst="rect">
            <a:avLst/>
          </a:prstGeom>
          <a:noFill/>
        </p:spPr>
        <p:txBody>
          <a:bodyPr wrap="square">
            <a:spAutoFit/>
          </a:bodyPr>
          <a:lstStyle/>
          <a:p>
            <a:pPr algn="l"/>
            <a:r>
              <a:rPr sz="950" b="0" i="0">
                <a:solidFill>
                  <a:srgbClr val="AAB4CC"/>
                </a:solidFill>
                <a:latin typeface="Calibri"/>
              </a:rPr>
              <a:t>$250K+  ·  Microsoft integration certified  ·  Custom SLA</a:t>
            </a:r>
          </a:p>
        </p:txBody>
      </p:sp>
      <p:sp>
        <p:nvSpPr>
          <p:cNvPr id="30" name="Rectangle 29"/>
          <p:cNvSpPr/>
          <p:nvPr/>
        </p:nvSpPr>
        <p:spPr>
          <a:xfrm>
            <a:off x="384048" y="4437583"/>
            <a:ext cx="58521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4048" y="4657039"/>
            <a:ext cx="557784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4048" y="4721047"/>
            <a:ext cx="5760720" cy="713232"/>
          </a:xfrm>
          <a:prstGeom prst="rect">
            <a:avLst/>
          </a:prstGeom>
          <a:noFill/>
        </p:spPr>
        <p:txBody>
          <a:bodyPr wrap="square">
            <a:spAutoFit/>
          </a:bodyPr>
          <a:lstStyle/>
          <a:p>
            <a:pPr algn="l"/>
            <a:r>
              <a:rPr sz="900" b="0" i="1">
                <a:solidFill>
                  <a:srgbClr val="AAB4CC"/>
                </a:solidFill>
                <a:latin typeface="Georgia"/>
              </a:rPr>
              <a:t>"We aren't asking CFOs to find net-new budget. We are simply converting panic-driven, wasteful spend into repeatable software infrastructure that generates immediate, compounding ROI."</a:t>
            </a:r>
          </a:p>
        </p:txBody>
      </p:sp>
      <p:sp>
        <p:nvSpPr>
          <p:cNvPr id="33" name="Rectangle 32"/>
          <p:cNvSpPr/>
          <p:nvPr/>
        </p:nvSpPr>
        <p:spPr>
          <a:xfrm>
            <a:off x="6528816" y="402336"/>
            <a:ext cx="5550408" cy="6108192"/>
          </a:xfrm>
          <a:prstGeom prst="rect">
            <a:avLst/>
          </a:prstGeom>
          <a:solidFill>
            <a:srgbClr val="020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47472"/>
            <a:ext cx="36576" cy="610819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hq_roi_results.jpg"/>
          <p:cNvPicPr>
            <a:picLocks noChangeAspect="1"/>
          </p:cNvPicPr>
          <p:nvPr/>
        </p:nvPicPr>
        <p:blipFill>
          <a:blip r:embed="rId4"/>
          <a:stretch>
            <a:fillRect/>
          </a:stretch>
        </p:blipFill>
        <p:spPr>
          <a:xfrm>
            <a:off x="6473952" y="347472"/>
            <a:ext cx="5550408" cy="610819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547104"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41617" y="0"/>
            <a:ext cx="5486" cy="6858000"/>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88952" cy="475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54864"/>
            <a:ext cx="11914632" cy="164592"/>
          </a:xfrm>
          <a:prstGeom prst="rect">
            <a:avLst/>
          </a:prstGeom>
          <a:noFill/>
        </p:spPr>
        <p:txBody>
          <a:bodyPr wrap="square">
            <a:spAutoFit/>
          </a:bodyPr>
          <a:lstStyle/>
          <a:p>
            <a:pPr algn="r"/>
            <a:r>
              <a:rPr sz="750" b="1" i="0">
                <a:solidFill>
                  <a:srgbClr val="0A0F2E"/>
                </a:solidFill>
                <a:latin typeface="Calibri"/>
              </a:rPr>
              <a:t>  08  /  08</a:t>
            </a:r>
          </a:p>
        </p:txBody>
      </p:sp>
      <p:sp>
        <p:nvSpPr>
          <p:cNvPr id="7" name="Rectangle 6"/>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10" name="TextBox 9"/>
          <p:cNvSpPr txBox="1"/>
          <p:nvPr/>
        </p:nvSpPr>
        <p:spPr>
          <a:xfrm>
            <a:off x="10579608" y="6592824"/>
            <a:ext cx="1481328" cy="182880"/>
          </a:xfrm>
          <a:prstGeom prst="rect">
            <a:avLst/>
          </a:prstGeom>
          <a:noFill/>
        </p:spPr>
        <p:txBody>
          <a:bodyPr wrap="square">
            <a:spAutoFit/>
          </a:bodyPr>
          <a:lstStyle/>
          <a:p>
            <a:pPr algn="r"/>
            <a:r>
              <a:rPr sz="800" b="1" i="0">
                <a:solidFill>
                  <a:srgbClr val="AAB4CC"/>
                </a:solidFill>
                <a:latin typeface="Calibri"/>
              </a:rPr>
              <a:t>08  /  08</a:t>
            </a:r>
          </a:p>
        </p:txBody>
      </p:sp>
      <p:sp>
        <p:nvSpPr>
          <p:cNvPr id="11" name="TextBox 10"/>
          <p:cNvSpPr txBox="1"/>
          <p:nvPr/>
        </p:nvSpPr>
        <p:spPr>
          <a:xfrm>
            <a:off x="2194560" y="6592824"/>
            <a:ext cx="8165592" cy="182880"/>
          </a:xfrm>
          <a:prstGeom prst="rect">
            <a:avLst/>
          </a:prstGeom>
          <a:noFill/>
        </p:spPr>
        <p:txBody>
          <a:bodyPr wrap="square">
            <a:spAutoFit/>
          </a:bodyPr>
          <a:lstStyle/>
          <a:p>
            <a:pPr algn="r"/>
            <a:r>
              <a:rPr sz="750" b="0" i="0">
                <a:solidFill>
                  <a:srgbClr val="AAB4CC"/>
                </a:solidFill>
                <a:latin typeface="Calibri"/>
              </a:rPr>
              <a:t>vaughnmartin.com/founding-partner-program</a:t>
            </a:r>
          </a:p>
        </p:txBody>
      </p:sp>
      <p:sp>
        <p:nvSpPr>
          <p:cNvPr id="12" name="Rectangle 11"/>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01168"/>
            <a:ext cx="5760720" cy="164592"/>
          </a:xfrm>
          <a:prstGeom prst="rect">
            <a:avLst/>
          </a:prstGeom>
          <a:noFill/>
        </p:spPr>
        <p:txBody>
          <a:bodyPr wrap="square">
            <a:spAutoFit/>
          </a:bodyPr>
          <a:lstStyle/>
          <a:p>
            <a:pPr algn="l"/>
            <a:r>
              <a:rPr sz="750" b="1" i="0">
                <a:solidFill>
                  <a:srgbClr val="C9A84C"/>
                </a:solidFill>
                <a:latin typeface="Calibri"/>
              </a:rPr>
              <a:t>   THE ASK</a:t>
            </a:r>
          </a:p>
        </p:txBody>
      </p:sp>
      <p:sp>
        <p:nvSpPr>
          <p:cNvPr id="14" name="TextBox 13"/>
          <p:cNvSpPr txBox="1"/>
          <p:nvPr/>
        </p:nvSpPr>
        <p:spPr>
          <a:xfrm>
            <a:off x="384048" y="365760"/>
            <a:ext cx="5943600" cy="268224"/>
          </a:xfrm>
          <a:prstGeom prst="rect">
            <a:avLst/>
          </a:prstGeom>
          <a:noFill/>
        </p:spPr>
        <p:txBody>
          <a:bodyPr wrap="square">
            <a:spAutoFit/>
          </a:bodyPr>
          <a:lstStyle/>
          <a:p>
            <a:pPr algn="l"/>
            <a:r>
              <a:rPr sz="1600" b="1" i="0">
                <a:solidFill>
                  <a:srgbClr val="C9A84C"/>
                </a:solidFill>
                <a:latin typeface="Calibri"/>
              </a:rPr>
              <a:t>CATEGORY CREATION:</a:t>
            </a:r>
          </a:p>
        </p:txBody>
      </p:sp>
      <p:sp>
        <p:nvSpPr>
          <p:cNvPr id="15" name="TextBox 14"/>
          <p:cNvSpPr txBox="1"/>
          <p:nvPr/>
        </p:nvSpPr>
        <p:spPr>
          <a:xfrm>
            <a:off x="384048" y="633984"/>
            <a:ext cx="5943600" cy="435864"/>
          </a:xfrm>
          <a:prstGeom prst="rect">
            <a:avLst/>
          </a:prstGeom>
          <a:noFill/>
        </p:spPr>
        <p:txBody>
          <a:bodyPr wrap="square">
            <a:spAutoFit/>
          </a:bodyPr>
          <a:lstStyle/>
          <a:p>
            <a:pPr algn="l"/>
            <a:r>
              <a:rPr sz="2600" b="1" i="0">
                <a:solidFill>
                  <a:srgbClr val="FFFFFF"/>
                </a:solidFill>
                <a:latin typeface="Calibri"/>
              </a:rPr>
              <a:t>PREPARATION INFRASTRUCTURE</a:t>
            </a:r>
          </a:p>
        </p:txBody>
      </p:sp>
      <p:sp>
        <p:nvSpPr>
          <p:cNvPr id="16" name="Rectangle 15"/>
          <p:cNvSpPr/>
          <p:nvPr/>
        </p:nvSpPr>
        <p:spPr>
          <a:xfrm>
            <a:off x="384048" y="1161288"/>
            <a:ext cx="61264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4048" y="1307592"/>
            <a:ext cx="5852160" cy="365760"/>
          </a:xfrm>
          <a:prstGeom prst="rect">
            <a:avLst/>
          </a:prstGeom>
          <a:noFill/>
        </p:spPr>
        <p:txBody>
          <a:bodyPr wrap="square">
            <a:spAutoFit/>
          </a:bodyPr>
          <a:lstStyle/>
          <a:p>
            <a:pPr algn="l"/>
            <a:r>
              <a:rPr sz="1050" b="0" i="0">
                <a:solidFill>
                  <a:srgbClr val="FFFFFF"/>
                </a:solidFill>
                <a:latin typeface="Calibri"/>
              </a:rPr>
              <a:t>▸  Raising: Up to $1,000,000</a:t>
            </a:r>
          </a:p>
        </p:txBody>
      </p:sp>
      <p:sp>
        <p:nvSpPr>
          <p:cNvPr id="18" name="TextBox 17"/>
          <p:cNvSpPr txBox="1"/>
          <p:nvPr/>
        </p:nvSpPr>
        <p:spPr>
          <a:xfrm>
            <a:off x="384048" y="1709928"/>
            <a:ext cx="5852160" cy="365760"/>
          </a:xfrm>
          <a:prstGeom prst="rect">
            <a:avLst/>
          </a:prstGeom>
          <a:noFill/>
        </p:spPr>
        <p:txBody>
          <a:bodyPr wrap="square">
            <a:spAutoFit/>
          </a:bodyPr>
          <a:lstStyle/>
          <a:p>
            <a:pPr algn="l"/>
            <a:r>
              <a:rPr sz="1050" b="0" i="0">
                <a:solidFill>
                  <a:srgbClr val="FFFFFF"/>
                </a:solidFill>
                <a:latin typeface="Calibri"/>
              </a:rPr>
              <a:t>▸  Product hardening + enterprise-grade security controls</a:t>
            </a:r>
          </a:p>
        </p:txBody>
      </p:sp>
      <p:sp>
        <p:nvSpPr>
          <p:cNvPr id="19" name="TextBox 18"/>
          <p:cNvSpPr txBox="1"/>
          <p:nvPr/>
        </p:nvSpPr>
        <p:spPr>
          <a:xfrm>
            <a:off x="384048" y="2112264"/>
            <a:ext cx="5852160" cy="365760"/>
          </a:xfrm>
          <a:prstGeom prst="rect">
            <a:avLst/>
          </a:prstGeom>
          <a:noFill/>
        </p:spPr>
        <p:txBody>
          <a:bodyPr wrap="square">
            <a:spAutoFit/>
          </a:bodyPr>
          <a:lstStyle/>
          <a:p>
            <a:pPr algn="l"/>
            <a:r>
              <a:rPr sz="1050" b="0" i="0">
                <a:solidFill>
                  <a:srgbClr val="FFFFFF"/>
                </a:solidFill>
                <a:latin typeface="Calibri"/>
              </a:rPr>
              <a:t>▸  Founding Partner conversions + repeatable GTM motion</a:t>
            </a:r>
          </a:p>
        </p:txBody>
      </p:sp>
      <p:sp>
        <p:nvSpPr>
          <p:cNvPr id="20" name="TextBox 19"/>
          <p:cNvSpPr txBox="1"/>
          <p:nvPr/>
        </p:nvSpPr>
        <p:spPr>
          <a:xfrm>
            <a:off x="384048" y="2514600"/>
            <a:ext cx="5852160" cy="365760"/>
          </a:xfrm>
          <a:prstGeom prst="rect">
            <a:avLst/>
          </a:prstGeom>
          <a:noFill/>
        </p:spPr>
        <p:txBody>
          <a:bodyPr wrap="square">
            <a:spAutoFit/>
          </a:bodyPr>
          <a:lstStyle/>
          <a:p>
            <a:pPr algn="l"/>
            <a:r>
              <a:rPr sz="1050" b="0" i="0">
                <a:solidFill>
                  <a:srgbClr val="FFFFFF"/>
                </a:solidFill>
                <a:latin typeface="Calibri"/>
              </a:rPr>
              <a:t>▸  Microsoft integration certification</a:t>
            </a:r>
          </a:p>
        </p:txBody>
      </p:sp>
      <p:sp>
        <p:nvSpPr>
          <p:cNvPr id="21" name="Rectangle 20"/>
          <p:cNvSpPr/>
          <p:nvPr/>
        </p:nvSpPr>
        <p:spPr>
          <a:xfrm>
            <a:off x="384048" y="3026664"/>
            <a:ext cx="6126480" cy="402336"/>
          </a:xfrm>
          <a:prstGeom prst="rect">
            <a:avLst/>
          </a:prstGeom>
          <a:solidFill>
            <a:srgbClr val="182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84048" y="3026664"/>
            <a:ext cx="6126480" cy="21945"/>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 y="3118104"/>
            <a:ext cx="5943600" cy="237744"/>
          </a:xfrm>
          <a:prstGeom prst="rect">
            <a:avLst/>
          </a:prstGeom>
          <a:noFill/>
        </p:spPr>
        <p:txBody>
          <a:bodyPr wrap="square">
            <a:spAutoFit/>
          </a:bodyPr>
          <a:lstStyle/>
          <a:p>
            <a:pPr algn="l"/>
            <a:r>
              <a:rPr sz="900" b="1" i="0">
                <a:solidFill>
                  <a:srgbClr val="C9A84C"/>
                </a:solidFill>
                <a:latin typeface="Calibri"/>
              </a:rPr>
              <a:t>FOUNDING PARTNER COHORT  ·  12 SEATS  ·  FORMING NOW  ·  LIMITED AVAILABILITY</a:t>
            </a:r>
          </a:p>
        </p:txBody>
      </p:sp>
      <p:sp>
        <p:nvSpPr>
          <p:cNvPr id="24" name="TextBox 23"/>
          <p:cNvSpPr txBox="1"/>
          <p:nvPr/>
        </p:nvSpPr>
        <p:spPr>
          <a:xfrm>
            <a:off x="384048" y="3520440"/>
            <a:ext cx="5760720" cy="201168"/>
          </a:xfrm>
          <a:prstGeom prst="rect">
            <a:avLst/>
          </a:prstGeom>
          <a:noFill/>
        </p:spPr>
        <p:txBody>
          <a:bodyPr wrap="square">
            <a:spAutoFit/>
          </a:bodyPr>
          <a:lstStyle/>
          <a:p>
            <a:pPr algn="l"/>
            <a:r>
              <a:rPr sz="800" b="1" i="0">
                <a:solidFill>
                  <a:srgbClr val="C9A84C"/>
                </a:solidFill>
                <a:latin typeface="Calibri"/>
              </a:rPr>
              <a:t>18-MONTH RUNWAY TO SERIES A</a:t>
            </a:r>
          </a:p>
        </p:txBody>
      </p:sp>
      <p:sp>
        <p:nvSpPr>
          <p:cNvPr id="25" name="TextBox 24"/>
          <p:cNvSpPr txBox="1"/>
          <p:nvPr/>
        </p:nvSpPr>
        <p:spPr>
          <a:xfrm>
            <a:off x="384048" y="3758184"/>
            <a:ext cx="713232" cy="256032"/>
          </a:xfrm>
          <a:prstGeom prst="rect">
            <a:avLst/>
          </a:prstGeom>
          <a:noFill/>
        </p:spPr>
        <p:txBody>
          <a:bodyPr wrap="square">
            <a:spAutoFit/>
          </a:bodyPr>
          <a:lstStyle/>
          <a:p>
            <a:pPr algn="l"/>
            <a:r>
              <a:rPr sz="950" b="1" i="0">
                <a:solidFill>
                  <a:srgbClr val="C9A84C"/>
                </a:solidFill>
                <a:latin typeface="Calibri"/>
              </a:rPr>
              <a:t>Mo. 6</a:t>
            </a:r>
          </a:p>
        </p:txBody>
      </p:sp>
      <p:sp>
        <p:nvSpPr>
          <p:cNvPr id="26" name="TextBox 25"/>
          <p:cNvSpPr txBox="1"/>
          <p:nvPr/>
        </p:nvSpPr>
        <p:spPr>
          <a:xfrm>
            <a:off x="1170432" y="3758184"/>
            <a:ext cx="5157216" cy="256032"/>
          </a:xfrm>
          <a:prstGeom prst="rect">
            <a:avLst/>
          </a:prstGeom>
          <a:noFill/>
        </p:spPr>
        <p:txBody>
          <a:bodyPr wrap="square">
            <a:spAutoFit/>
          </a:bodyPr>
          <a:lstStyle/>
          <a:p>
            <a:pPr algn="l"/>
            <a:r>
              <a:rPr sz="950" b="0" i="0">
                <a:solidFill>
                  <a:srgbClr val="AAB4CC"/>
                </a:solidFill>
                <a:latin typeface="Calibri"/>
              </a:rPr>
              <a:t>3 Founding Partners on recurring annual contracts</a:t>
            </a:r>
          </a:p>
        </p:txBody>
      </p:sp>
      <p:sp>
        <p:nvSpPr>
          <p:cNvPr id="27" name="Rectangle 26"/>
          <p:cNvSpPr/>
          <p:nvPr/>
        </p:nvSpPr>
        <p:spPr>
          <a:xfrm>
            <a:off x="384048" y="4032504"/>
            <a:ext cx="58521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4048" y="4123944"/>
            <a:ext cx="713232" cy="256032"/>
          </a:xfrm>
          <a:prstGeom prst="rect">
            <a:avLst/>
          </a:prstGeom>
          <a:noFill/>
        </p:spPr>
        <p:txBody>
          <a:bodyPr wrap="square">
            <a:spAutoFit/>
          </a:bodyPr>
          <a:lstStyle/>
          <a:p>
            <a:pPr algn="l"/>
            <a:r>
              <a:rPr sz="950" b="1" i="0">
                <a:solidFill>
                  <a:srgbClr val="C9A84C"/>
                </a:solidFill>
                <a:latin typeface="Calibri"/>
              </a:rPr>
              <a:t>Mo. 9</a:t>
            </a:r>
          </a:p>
        </p:txBody>
      </p:sp>
      <p:sp>
        <p:nvSpPr>
          <p:cNvPr id="29" name="TextBox 28"/>
          <p:cNvSpPr txBox="1"/>
          <p:nvPr/>
        </p:nvSpPr>
        <p:spPr>
          <a:xfrm>
            <a:off x="1170432" y="4123944"/>
            <a:ext cx="5157216" cy="256032"/>
          </a:xfrm>
          <a:prstGeom prst="rect">
            <a:avLst/>
          </a:prstGeom>
          <a:noFill/>
        </p:spPr>
        <p:txBody>
          <a:bodyPr wrap="square">
            <a:spAutoFit/>
          </a:bodyPr>
          <a:lstStyle/>
          <a:p>
            <a:pPr algn="l"/>
            <a:r>
              <a:rPr sz="950" b="0" i="0">
                <a:solidFill>
                  <a:srgbClr val="AAB4CC"/>
                </a:solidFill>
                <a:latin typeface="Calibri"/>
              </a:rPr>
              <a:t>Enterprise controls complete  ·  Microsoft integration certified</a:t>
            </a:r>
          </a:p>
        </p:txBody>
      </p:sp>
      <p:sp>
        <p:nvSpPr>
          <p:cNvPr id="30" name="Rectangle 29"/>
          <p:cNvSpPr/>
          <p:nvPr/>
        </p:nvSpPr>
        <p:spPr>
          <a:xfrm>
            <a:off x="384048" y="4398264"/>
            <a:ext cx="58521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8" y="4489704"/>
            <a:ext cx="713232" cy="256032"/>
          </a:xfrm>
          <a:prstGeom prst="rect">
            <a:avLst/>
          </a:prstGeom>
          <a:noFill/>
        </p:spPr>
        <p:txBody>
          <a:bodyPr wrap="square">
            <a:spAutoFit/>
          </a:bodyPr>
          <a:lstStyle/>
          <a:p>
            <a:pPr algn="l"/>
            <a:r>
              <a:rPr sz="950" b="1" i="0">
                <a:solidFill>
                  <a:srgbClr val="C9A84C"/>
                </a:solidFill>
                <a:latin typeface="Calibri"/>
              </a:rPr>
              <a:t>Mo. 12</a:t>
            </a:r>
          </a:p>
        </p:txBody>
      </p:sp>
      <p:sp>
        <p:nvSpPr>
          <p:cNvPr id="32" name="TextBox 31"/>
          <p:cNvSpPr txBox="1"/>
          <p:nvPr/>
        </p:nvSpPr>
        <p:spPr>
          <a:xfrm>
            <a:off x="1170432" y="4489704"/>
            <a:ext cx="5157216" cy="256032"/>
          </a:xfrm>
          <a:prstGeom prst="rect">
            <a:avLst/>
          </a:prstGeom>
          <a:noFill/>
        </p:spPr>
        <p:txBody>
          <a:bodyPr wrap="square">
            <a:spAutoFit/>
          </a:bodyPr>
          <a:lstStyle/>
          <a:p>
            <a:pPr algn="l"/>
            <a:r>
              <a:rPr sz="950" b="0" i="0">
                <a:solidFill>
                  <a:srgbClr val="AAB4CC"/>
                </a:solidFill>
                <a:latin typeface="Calibri"/>
              </a:rPr>
              <a:t>Repeatable GTM with documented proof stories</a:t>
            </a:r>
          </a:p>
        </p:txBody>
      </p:sp>
      <p:sp>
        <p:nvSpPr>
          <p:cNvPr id="33" name="Rectangle 32"/>
          <p:cNvSpPr/>
          <p:nvPr/>
        </p:nvSpPr>
        <p:spPr>
          <a:xfrm>
            <a:off x="384048" y="4764024"/>
            <a:ext cx="58521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4048" y="4855464"/>
            <a:ext cx="713232" cy="256032"/>
          </a:xfrm>
          <a:prstGeom prst="rect">
            <a:avLst/>
          </a:prstGeom>
          <a:noFill/>
        </p:spPr>
        <p:txBody>
          <a:bodyPr wrap="square">
            <a:spAutoFit/>
          </a:bodyPr>
          <a:lstStyle/>
          <a:p>
            <a:pPr algn="l"/>
            <a:r>
              <a:rPr sz="950" b="1" i="0">
                <a:solidFill>
                  <a:srgbClr val="C9A84C"/>
                </a:solidFill>
                <a:latin typeface="Calibri"/>
              </a:rPr>
              <a:t>Mo. 18</a:t>
            </a:r>
          </a:p>
        </p:txBody>
      </p:sp>
      <p:sp>
        <p:nvSpPr>
          <p:cNvPr id="35" name="TextBox 34"/>
          <p:cNvSpPr txBox="1"/>
          <p:nvPr/>
        </p:nvSpPr>
        <p:spPr>
          <a:xfrm>
            <a:off x="1170432" y="4855464"/>
            <a:ext cx="5157216" cy="256032"/>
          </a:xfrm>
          <a:prstGeom prst="rect">
            <a:avLst/>
          </a:prstGeom>
          <a:noFill/>
        </p:spPr>
        <p:txBody>
          <a:bodyPr wrap="square">
            <a:spAutoFit/>
          </a:bodyPr>
          <a:lstStyle/>
          <a:p>
            <a:pPr algn="l"/>
            <a:r>
              <a:rPr sz="950" b="0" i="0">
                <a:solidFill>
                  <a:srgbClr val="AAB4CC"/>
                </a:solidFill>
                <a:latin typeface="Calibri"/>
              </a:rPr>
              <a:t>Category established  ·  Series A ready</a:t>
            </a:r>
          </a:p>
        </p:txBody>
      </p:sp>
      <p:sp>
        <p:nvSpPr>
          <p:cNvPr id="36" name="Rectangle 35"/>
          <p:cNvSpPr/>
          <p:nvPr/>
        </p:nvSpPr>
        <p:spPr>
          <a:xfrm>
            <a:off x="384048" y="5129784"/>
            <a:ext cx="58521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84048" y="5312664"/>
            <a:ext cx="6126480" cy="822960"/>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84048" y="5312664"/>
            <a:ext cx="6126480" cy="21945"/>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12064" y="5367527"/>
            <a:ext cx="5943600" cy="237744"/>
          </a:xfrm>
          <a:prstGeom prst="rect">
            <a:avLst/>
          </a:prstGeom>
          <a:noFill/>
        </p:spPr>
        <p:txBody>
          <a:bodyPr wrap="square">
            <a:spAutoFit/>
          </a:bodyPr>
          <a:lstStyle/>
          <a:p>
            <a:pPr algn="l"/>
            <a:r>
              <a:rPr sz="1050" b="1" i="0">
                <a:solidFill>
                  <a:srgbClr val="C9A84C"/>
                </a:solidFill>
                <a:latin typeface="Calibri"/>
              </a:rPr>
              <a:t>PREPARATION  →  READINESS  →  FEARLESS</a:t>
            </a:r>
          </a:p>
        </p:txBody>
      </p:sp>
      <p:sp>
        <p:nvSpPr>
          <p:cNvPr id="40" name="TextBox 39"/>
          <p:cNvSpPr txBox="1"/>
          <p:nvPr/>
        </p:nvSpPr>
        <p:spPr>
          <a:xfrm>
            <a:off x="512064" y="5623559"/>
            <a:ext cx="5943600" cy="274320"/>
          </a:xfrm>
          <a:prstGeom prst="rect">
            <a:avLst/>
          </a:prstGeom>
          <a:noFill/>
        </p:spPr>
        <p:txBody>
          <a:bodyPr wrap="square">
            <a:spAutoFit/>
          </a:bodyPr>
          <a:lstStyle/>
          <a:p>
            <a:pPr algn="l"/>
            <a:r>
              <a:rPr sz="950" b="0" i="0">
                <a:solidFill>
                  <a:srgbClr val="AAB4CC"/>
                </a:solidFill>
                <a:latin typeface="Calibri"/>
              </a:rPr>
              <a:t>Any organization prepared for every situation it expects to face is no longer afraid — it is fearless.</a:t>
            </a:r>
          </a:p>
        </p:txBody>
      </p:sp>
      <p:sp>
        <p:nvSpPr>
          <p:cNvPr id="41" name="TextBox 40"/>
          <p:cNvSpPr txBox="1"/>
          <p:nvPr/>
        </p:nvSpPr>
        <p:spPr>
          <a:xfrm>
            <a:off x="512064" y="5916168"/>
            <a:ext cx="5943600" cy="201168"/>
          </a:xfrm>
          <a:prstGeom prst="rect">
            <a:avLst/>
          </a:prstGeom>
          <a:noFill/>
        </p:spPr>
        <p:txBody>
          <a:bodyPr wrap="square">
            <a:spAutoFit/>
          </a:bodyPr>
          <a:lstStyle/>
          <a:p>
            <a:pPr algn="l"/>
            <a:r>
              <a:rPr sz="950" b="0" i="1">
                <a:solidFill>
                  <a:srgbClr val="C9A84C"/>
                </a:solidFill>
                <a:latin typeface="Georgia"/>
              </a:rPr>
              <a:t>Let's build the future of fearless execution together.</a:t>
            </a:r>
          </a:p>
        </p:txBody>
      </p:sp>
      <p:sp>
        <p:nvSpPr>
          <p:cNvPr id="42" name="Rectangle 41"/>
          <p:cNvSpPr/>
          <p:nvPr/>
        </p:nvSpPr>
        <p:spPr>
          <a:xfrm>
            <a:off x="6528816" y="402336"/>
            <a:ext cx="5550408" cy="6108192"/>
          </a:xfrm>
          <a:prstGeom prst="rect">
            <a:avLst/>
          </a:prstGeom>
          <a:solidFill>
            <a:srgbClr val="0204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37376" y="347472"/>
            <a:ext cx="36576" cy="610819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hq_exec_brief.jpg"/>
          <p:cNvPicPr>
            <a:picLocks noChangeAspect="1"/>
          </p:cNvPicPr>
          <p:nvPr/>
        </p:nvPicPr>
        <p:blipFill>
          <a:blip r:embed="rId4"/>
          <a:stretch>
            <a:fillRect/>
          </a:stretch>
        </p:blipFill>
        <p:spPr>
          <a:xfrm>
            <a:off x="6473952" y="347472"/>
            <a:ext cx="5550408" cy="610819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4071E"/>
        </a:solidFill>
        <a:effectLst/>
      </p:bgPr>
    </p:bg>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6858000"/>
          </a:xfrm>
          <a:prstGeom prst="rect">
            <a:avLst/>
          </a:prstGeom>
          <a:solidFill>
            <a:srgbClr val="0407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47548"/>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492240"/>
            <a:ext cx="12188952" cy="36576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492240"/>
            <a:ext cx="12188952"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footer.png"/>
          <p:cNvPicPr>
            <a:picLocks noChangeAspect="1"/>
          </p:cNvPicPr>
          <p:nvPr/>
        </p:nvPicPr>
        <p:blipFill>
          <a:blip r:embed="rId3"/>
          <a:stretch>
            <a:fillRect/>
          </a:stretch>
        </p:blipFill>
        <p:spPr>
          <a:xfrm>
            <a:off x="329184" y="6537959"/>
            <a:ext cx="1089050" cy="274320"/>
          </a:xfrm>
          <a:prstGeom prst="rect">
            <a:avLst/>
          </a:prstGeom>
        </p:spPr>
      </p:pic>
      <p:sp>
        <p:nvSpPr>
          <p:cNvPr id="8" name="TextBox 7"/>
          <p:cNvSpPr txBox="1"/>
          <p:nvPr/>
        </p:nvSpPr>
        <p:spPr>
          <a:xfrm>
            <a:off x="2194560" y="6592824"/>
            <a:ext cx="9628632" cy="182880"/>
          </a:xfrm>
          <a:prstGeom prst="rect">
            <a:avLst/>
          </a:prstGeom>
          <a:noFill/>
        </p:spPr>
        <p:txBody>
          <a:bodyPr wrap="square">
            <a:spAutoFit/>
          </a:bodyPr>
          <a:lstStyle/>
          <a:p>
            <a:pPr algn="r"/>
            <a:r>
              <a:rPr sz="750" b="0" i="0">
                <a:solidFill>
                  <a:srgbClr val="AAB4CC"/>
                </a:solidFill>
                <a:latin typeface="Calibri"/>
              </a:rPr>
              <a:t>PITCH DEFENSE  ·  OBJECTION HANDLING</a:t>
            </a:r>
          </a:p>
        </p:txBody>
      </p:sp>
      <p:sp>
        <p:nvSpPr>
          <p:cNvPr id="9" name="Rectangle 8"/>
          <p:cNvSpPr/>
          <p:nvPr/>
        </p:nvSpPr>
        <p:spPr>
          <a:xfrm>
            <a:off x="365760" y="269748"/>
            <a:ext cx="256032" cy="7315"/>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01168"/>
            <a:ext cx="11521440" cy="164592"/>
          </a:xfrm>
          <a:prstGeom prst="rect">
            <a:avLst/>
          </a:prstGeom>
          <a:noFill/>
        </p:spPr>
        <p:txBody>
          <a:bodyPr wrap="square">
            <a:spAutoFit/>
          </a:bodyPr>
          <a:lstStyle/>
          <a:p>
            <a:pPr algn="l"/>
            <a:r>
              <a:rPr sz="750" b="1" i="0">
                <a:solidFill>
                  <a:srgbClr val="C9A84C"/>
                </a:solidFill>
                <a:latin typeface="Calibri"/>
              </a:rPr>
              <a:t>   PITCH DEFENSE  ·  3 OBJECTIONS, 3 ANSWERS</a:t>
            </a:r>
          </a:p>
        </p:txBody>
      </p:sp>
      <p:sp>
        <p:nvSpPr>
          <p:cNvPr id="11" name="Rectangle 10"/>
          <p:cNvSpPr/>
          <p:nvPr/>
        </p:nvSpPr>
        <p:spPr>
          <a:xfrm>
            <a:off x="384048" y="457200"/>
            <a:ext cx="11411712"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4048" y="585216"/>
            <a:ext cx="11411712" cy="1773936"/>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585216"/>
            <a:ext cx="11411712" cy="21945"/>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640080"/>
            <a:ext cx="11228832" cy="237744"/>
          </a:xfrm>
          <a:prstGeom prst="rect">
            <a:avLst/>
          </a:prstGeom>
          <a:noFill/>
        </p:spPr>
        <p:txBody>
          <a:bodyPr wrap="square">
            <a:spAutoFit/>
          </a:bodyPr>
          <a:lstStyle/>
          <a:p>
            <a:pPr algn="l"/>
            <a:r>
              <a:rPr sz="950" b="1" i="0">
                <a:solidFill>
                  <a:srgbClr val="C9A84C"/>
                </a:solidFill>
                <a:latin typeface="Calibri"/>
              </a:rPr>
              <a:t>TRAP 1  ·  "Can't ServiceNow just add this?"</a:t>
            </a:r>
          </a:p>
        </p:txBody>
      </p:sp>
      <p:sp>
        <p:nvSpPr>
          <p:cNvPr id="15" name="TextBox 14"/>
          <p:cNvSpPr txBox="1"/>
          <p:nvPr/>
        </p:nvSpPr>
        <p:spPr>
          <a:xfrm>
            <a:off x="530352" y="914400"/>
            <a:ext cx="11228832" cy="1316736"/>
          </a:xfrm>
          <a:prstGeom prst="rect">
            <a:avLst/>
          </a:prstGeom>
          <a:noFill/>
        </p:spPr>
        <p:txBody>
          <a:bodyPr wrap="square">
            <a:spAutoFit/>
          </a:bodyPr>
          <a:lstStyle/>
          <a:p>
            <a:pPr algn="l"/>
            <a:r>
              <a:rPr sz="1100" b="0" i="1">
                <a:solidFill>
                  <a:srgbClr val="AAB4CC"/>
                </a:solidFill>
                <a:latin typeface="Georgia"/>
              </a:rPr>
              <a:t>"No. ServiceNow is an async ticketing router for post-alignment execution. VaughnMartin pre-stages the organizational alignment itself. They track the work. We engineer the capability to do it."</a:t>
            </a:r>
          </a:p>
        </p:txBody>
      </p:sp>
      <p:sp>
        <p:nvSpPr>
          <p:cNvPr id="16" name="Rectangle 15"/>
          <p:cNvSpPr/>
          <p:nvPr/>
        </p:nvSpPr>
        <p:spPr>
          <a:xfrm>
            <a:off x="384048" y="2505456"/>
            <a:ext cx="11411712" cy="1773936"/>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4048" y="2505456"/>
            <a:ext cx="11411712" cy="21945"/>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560320"/>
            <a:ext cx="11228832" cy="237744"/>
          </a:xfrm>
          <a:prstGeom prst="rect">
            <a:avLst/>
          </a:prstGeom>
          <a:noFill/>
        </p:spPr>
        <p:txBody>
          <a:bodyPr wrap="square">
            <a:spAutoFit/>
          </a:bodyPr>
          <a:lstStyle/>
          <a:p>
            <a:pPr algn="l"/>
            <a:r>
              <a:rPr sz="950" b="1" i="0">
                <a:solidFill>
                  <a:srgbClr val="C9A84C"/>
                </a:solidFill>
                <a:latin typeface="Calibri"/>
              </a:rPr>
              <a:t>TRAP 2  ·  "What about AI taking autonomous action?"</a:t>
            </a:r>
          </a:p>
        </p:txBody>
      </p:sp>
      <p:sp>
        <p:nvSpPr>
          <p:cNvPr id="19" name="TextBox 18"/>
          <p:cNvSpPr txBox="1"/>
          <p:nvPr/>
        </p:nvSpPr>
        <p:spPr>
          <a:xfrm>
            <a:off x="530352" y="2834640"/>
            <a:ext cx="11228832" cy="1316736"/>
          </a:xfrm>
          <a:prstGeom prst="rect">
            <a:avLst/>
          </a:prstGeom>
          <a:noFill/>
        </p:spPr>
        <p:txBody>
          <a:bodyPr wrap="square">
            <a:spAutoFit/>
          </a:bodyPr>
          <a:lstStyle/>
          <a:p>
            <a:pPr algn="l"/>
            <a:r>
              <a:rPr sz="1100" b="0" i="1">
                <a:solidFill>
                  <a:srgbClr val="AAB4CC"/>
                </a:solidFill>
                <a:latin typeface="Georgia"/>
              </a:rPr>
              <a:t>"The system stages the choice in seconds, but an executive must click authorize. No action deploys without explicit sign-off. Four real choices — including Stand Down. Human authority preserved at every trigger."</a:t>
            </a:r>
          </a:p>
        </p:txBody>
      </p:sp>
      <p:sp>
        <p:nvSpPr>
          <p:cNvPr id="20" name="Rectangle 19"/>
          <p:cNvSpPr/>
          <p:nvPr/>
        </p:nvSpPr>
        <p:spPr>
          <a:xfrm>
            <a:off x="384048" y="4425696"/>
            <a:ext cx="11411712" cy="1773936"/>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4048" y="4425696"/>
            <a:ext cx="11411712" cy="21945"/>
          </a:xfrm>
          <a:prstGeom prst="rect">
            <a:avLst/>
          </a:prstGeom>
          <a:solidFill>
            <a:srgbClr val="AAB4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 y="4480559"/>
            <a:ext cx="11228832" cy="237744"/>
          </a:xfrm>
          <a:prstGeom prst="rect">
            <a:avLst/>
          </a:prstGeom>
          <a:noFill/>
        </p:spPr>
        <p:txBody>
          <a:bodyPr wrap="square">
            <a:spAutoFit/>
          </a:bodyPr>
          <a:lstStyle/>
          <a:p>
            <a:pPr algn="l"/>
            <a:r>
              <a:rPr sz="950" b="1" i="0">
                <a:solidFill>
                  <a:srgbClr val="C9A84C"/>
                </a:solidFill>
                <a:latin typeface="Calibri"/>
              </a:rPr>
              <a:t>TRAP 3  ·  "How long to build 170 protocols for a new client?"</a:t>
            </a:r>
          </a:p>
        </p:txBody>
      </p:sp>
      <p:sp>
        <p:nvSpPr>
          <p:cNvPr id="23" name="TextBox 22"/>
          <p:cNvSpPr txBox="1"/>
          <p:nvPr/>
        </p:nvSpPr>
        <p:spPr>
          <a:xfrm>
            <a:off x="530352" y="4754880"/>
            <a:ext cx="11228832" cy="1316736"/>
          </a:xfrm>
          <a:prstGeom prst="rect">
            <a:avLst/>
          </a:prstGeom>
          <a:noFill/>
        </p:spPr>
        <p:txBody>
          <a:bodyPr wrap="square">
            <a:spAutoFit/>
          </a:bodyPr>
          <a:lstStyle/>
          <a:p>
            <a:pPr algn="l"/>
            <a:r>
              <a:rPr sz="1100" b="0" i="1">
                <a:solidFill>
                  <a:srgbClr val="AAB4CC"/>
                </a:solidFill>
                <a:latin typeface="Georgia"/>
              </a:rPr>
              <a:t>"They don't build from scratch. VaughnMartin ships 170 out-of-the-box protocols for the most common enterprise threats. Onboarding is configuration — not a consulting project. 90 days to live."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