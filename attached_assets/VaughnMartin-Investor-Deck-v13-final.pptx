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HOOK:</a:t>
            </a:r>
          </a:p>
          <a:p>
            <a:r>
              <a:t>"Every company in your portfolio has built an AI stack. Yet when a critical strategic trigger fires, it still takes 30 days of committee meetings to act. We engineered the operating model that closes that gap — a 3,600× execution head start."</a:t>
            </a:r>
          </a:p>
          <a:p/>
          <a:p>
            <a:r>
              <a:t>FRAME: NOT an efficiency tool. Defense + offense system for a volatile world.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a:t>
            </a:r>
          </a:p>
          <a:p>
            <a:r>
              <a:t>"The market thinks companies have a strategy problem. They don't. They have an architecture problem. That 30-day delay is an existential window — and competitors completely own it."</a:t>
            </a:r>
          </a:p>
          <a:p/>
          <a:p>
            <a:r>
              <a:t>POINT TO VISUAL: Detection &lt;1 second. Mobilization 30 days. "We built the infrastructure that eliminates that gap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FOUNDER:</a:t>
            </a:r>
          </a:p>
          <a:p>
            <a:r>
              <a:t>"I am the only person in enterprise software who has operated at the intersection of Fortune 500 transformation and major college football preparation at this depth. At Stanford you don't design the play after the snap — the response is pre-staged. VaughnMartin closes that gap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a:t>
            </a:r>
          </a:p>
          <a:p>
            <a:r>
              <a:t>"When a ransomware signal hits, the system delivers a board-ready execution brief in under 120 seconds. The AI monitors. Humans decide. 30 days of chaos becomes a 12-minute executive sign-off."</a:t>
            </a:r>
          </a:p>
          <a:p/>
          <a:p>
            <a:r>
              <a:t>ONBOARDING: "Onboarding is configuration — not a consulting project."</a:t>
            </a:r>
          </a:p>
          <a:p>
            <a:r>
              <a:t>KEY LINE: "The system stages the choice in seconds. The executive must click authorize."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WIN:</a:t>
            </a:r>
          </a:p>
          <a:p>
            <a:r>
              <a:t>"VaughnMartin is the orchestration layer that pre-stages the alignment before any competitor is even called."</a:t>
            </a:r>
          </a:p>
          <a:p/>
          <a:p>
            <a:r>
              <a:t>FATAL TRAP — "Can't ServiceNow add this?"</a:t>
            </a:r>
          </a:p>
          <a:p>
            <a:r>
              <a:t>ANSWER: "No. ServiceNow is an async ticketing router for post-alignment execution. VaughnMartin is a synchronous readiness engine that pre-stages the alignment itself. They track the work. We engineer the capability to do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WORKS:</a:t>
            </a:r>
          </a:p>
          <a:p>
            <a:r>
              <a:t>"When a ransomware signal hits, in under 120 seconds the system delivers a board-ready execution brief — pre-approved communications, mapped authority chain, pre-assigned tasks. The AI monitors. Humans decide."</a:t>
            </a:r>
          </a:p>
          <a:p/>
          <a:p>
            <a:r>
              <a:t>SAY EXPLICITLY: "The system stages the choice in seconds. The executive must click authorize."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a:t>
            </a:r>
          </a:p>
          <a:p>
            <a:r>
              <a:t>"Pull out your phone. Go to vaughnmartin.com/how-it-executes. Watch the complete 12-minute execution chain run live. This is not a roadmap concept — it is live and testable today."</a:t>
            </a:r>
          </a:p>
          <a:p/>
          <a:p>
            <a:r>
              <a:t>KEY: "Same trigger. Same company. Entirely different outcome."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CASE:</a:t>
            </a:r>
          </a:p>
          <a:p>
            <a:r>
              <a:t>"We aren't asking CFOs to dig up net-new budget. Enterprises are already burning millions on reactive, post-trigger consulting retainers. The $75K Founding Partner fee is a trivial reallocation of waste that already exists in the budget."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a:t>
            </a:r>
          </a:p>
          <a:p>
            <a:r>
              <a:t>"We are raising up to $1,000,000 to harden enterprise access controls, certify our Microsoft integrations, and convert our Founding Partner cohort into recurring enterprise contracts. The platform is live. 18 months to Series A ready. This is a limited ticket onto a fast-moving train. Let's build the future of fearless execution together."</a:t>
            </a:r>
          </a:p>
          <a:p/>
          <a:p>
            <a:r>
              <a:t>URGENCY: 12 Founding Partner seats. Cohort forming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081E"/>
        </a:solidFill>
        <a:effectLst/>
      </p:bgPr>
    </p:bg>
    <p:spTree>
      <p:nvGrpSpPr>
        <p:cNvPr id="1" name=""/>
        <p:cNvGrpSpPr/>
        <p:nvPr/>
      </p:nvGrpSpPr>
      <p:grpSpPr/>
      <p:sp>
        <p:nvSpPr>
          <p:cNvPr id="2" name="Rectangle 1"/>
          <p:cNvSpPr/>
          <p:nvPr/>
        </p:nvSpPr>
        <p:spPr>
          <a:xfrm>
            <a:off x="0" y="0"/>
            <a:ext cx="50292" cy="68580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790688" y="0"/>
            <a:ext cx="4398264" cy="685800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5488" y="475488"/>
            <a:ext cx="4572000" cy="475488"/>
          </a:xfrm>
          <a:prstGeom prst="rect">
            <a:avLst/>
          </a:prstGeom>
          <a:noFill/>
        </p:spPr>
        <p:txBody>
          <a:bodyPr wrap="square">
            <a:spAutoFit/>
          </a:bodyPr>
          <a:lstStyle/>
          <a:p>
            <a:pPr algn="l"/>
            <a:r>
              <a:rPr sz="2600" b="1" i="0">
                <a:solidFill>
                  <a:srgbClr val="FFFFFF"/>
                </a:solidFill>
                <a:latin typeface="Calibri"/>
              </a:rPr>
              <a:t>VaughnMartin</a:t>
            </a:r>
          </a:p>
        </p:txBody>
      </p:sp>
      <p:sp>
        <p:nvSpPr>
          <p:cNvPr id="5" name="TextBox 4"/>
          <p:cNvSpPr txBox="1"/>
          <p:nvPr/>
        </p:nvSpPr>
        <p:spPr>
          <a:xfrm>
            <a:off x="475488" y="950976"/>
            <a:ext cx="4572000" cy="237744"/>
          </a:xfrm>
          <a:prstGeom prst="rect">
            <a:avLst/>
          </a:prstGeom>
          <a:noFill/>
        </p:spPr>
        <p:txBody>
          <a:bodyPr wrap="square">
            <a:spAutoFit/>
          </a:bodyPr>
          <a:lstStyle/>
          <a:p>
            <a:pPr algn="l"/>
            <a:r>
              <a:rPr sz="1300" b="1" i="0">
                <a:solidFill>
                  <a:srgbClr val="C9A84C"/>
                </a:solidFill>
                <a:latin typeface="Calibri"/>
              </a:rPr>
              <a:t>READINESS OS</a:t>
            </a:r>
          </a:p>
        </p:txBody>
      </p:sp>
      <p:sp>
        <p:nvSpPr>
          <p:cNvPr id="6" name="Rectangle 5"/>
          <p:cNvSpPr/>
          <p:nvPr/>
        </p:nvSpPr>
        <p:spPr>
          <a:xfrm>
            <a:off x="475488" y="1243584"/>
            <a:ext cx="438912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463040"/>
            <a:ext cx="7132320" cy="950976"/>
          </a:xfrm>
          <a:prstGeom prst="rect">
            <a:avLst/>
          </a:prstGeom>
          <a:noFill/>
        </p:spPr>
        <p:txBody>
          <a:bodyPr wrap="square">
            <a:spAutoFit/>
          </a:bodyPr>
          <a:lstStyle/>
          <a:p>
            <a:pPr algn="l"/>
            <a:r>
              <a:rPr sz="5000" b="0" i="0">
                <a:solidFill>
                  <a:srgbClr val="FFFFFF"/>
                </a:solidFill>
                <a:latin typeface="Georgia"/>
              </a:rPr>
              <a:t>The response is ready</a:t>
            </a:r>
          </a:p>
        </p:txBody>
      </p:sp>
      <p:sp>
        <p:nvSpPr>
          <p:cNvPr id="8" name="TextBox 7"/>
          <p:cNvSpPr txBox="1"/>
          <p:nvPr/>
        </p:nvSpPr>
        <p:spPr>
          <a:xfrm>
            <a:off x="475488" y="2414016"/>
            <a:ext cx="7132320" cy="950976"/>
          </a:xfrm>
          <a:prstGeom prst="rect">
            <a:avLst/>
          </a:prstGeom>
          <a:noFill/>
        </p:spPr>
        <p:txBody>
          <a:bodyPr wrap="square">
            <a:spAutoFit/>
          </a:bodyPr>
          <a:lstStyle/>
          <a:p>
            <a:pPr algn="l"/>
            <a:r>
              <a:rPr sz="5000" b="0" i="1">
                <a:solidFill>
                  <a:srgbClr val="C9A84C"/>
                </a:solidFill>
                <a:latin typeface="Georgia"/>
              </a:rPr>
              <a:t>before the trigger fires.</a:t>
            </a:r>
          </a:p>
        </p:txBody>
      </p:sp>
      <p:sp>
        <p:nvSpPr>
          <p:cNvPr id="9" name="TextBox 8"/>
          <p:cNvSpPr txBox="1"/>
          <p:nvPr/>
        </p:nvSpPr>
        <p:spPr>
          <a:xfrm>
            <a:off x="475488" y="3493008"/>
            <a:ext cx="6858000" cy="237744"/>
          </a:xfrm>
          <a:prstGeom prst="rect">
            <a:avLst/>
          </a:prstGeom>
          <a:noFill/>
        </p:spPr>
        <p:txBody>
          <a:bodyPr wrap="square">
            <a:spAutoFit/>
          </a:bodyPr>
          <a:lstStyle/>
          <a:p>
            <a:pPr algn="l"/>
            <a:r>
              <a:rPr sz="950" b="1" i="0">
                <a:solidFill>
                  <a:srgbClr val="AAB4CC"/>
                </a:solidFill>
                <a:latin typeface="Calibri"/>
              </a:rPr>
              <a:t>PREPARATION INFRASTRUCTURE FOR A VOLATILE WORLD</a:t>
            </a:r>
          </a:p>
        </p:txBody>
      </p:sp>
      <p:sp>
        <p:nvSpPr>
          <p:cNvPr id="10" name="TextBox 9"/>
          <p:cNvSpPr txBox="1"/>
          <p:nvPr/>
        </p:nvSpPr>
        <p:spPr>
          <a:xfrm>
            <a:off x="475488" y="3767328"/>
            <a:ext cx="6766560" cy="237744"/>
          </a:xfrm>
          <a:prstGeom prst="rect">
            <a:avLst/>
          </a:prstGeom>
          <a:noFill/>
        </p:spPr>
        <p:txBody>
          <a:bodyPr wrap="square">
            <a:spAutoFit/>
          </a:bodyPr>
          <a:lstStyle/>
          <a:p>
            <a:pPr algn="l"/>
            <a:r>
              <a:rPr sz="900" b="0" i="0">
                <a:solidFill>
                  <a:srgbClr val="AAB4CC"/>
                </a:solidFill>
                <a:latin typeface="Calibri"/>
              </a:rPr>
              <a:t>Defense + Offense.  Startup to Fortune 500.  Pre-staged before the trigger fires.</a:t>
            </a:r>
          </a:p>
        </p:txBody>
      </p:sp>
      <p:sp>
        <p:nvSpPr>
          <p:cNvPr id="11" name="Rectangle 10"/>
          <p:cNvSpPr/>
          <p:nvPr/>
        </p:nvSpPr>
        <p:spPr>
          <a:xfrm>
            <a:off x="475488" y="4059936"/>
            <a:ext cx="667512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36992" y="1115568"/>
            <a:ext cx="4023360" cy="219456"/>
          </a:xfrm>
          <a:prstGeom prst="rect">
            <a:avLst/>
          </a:prstGeom>
          <a:noFill/>
        </p:spPr>
        <p:txBody>
          <a:bodyPr wrap="square">
            <a:spAutoFit/>
          </a:bodyPr>
          <a:lstStyle/>
          <a:p>
            <a:pPr algn="l"/>
            <a:r>
              <a:rPr sz="850" b="1" i="0">
                <a:solidFill>
                  <a:srgbClr val="C9A84C"/>
                </a:solidFill>
                <a:latin typeface="Calibri"/>
              </a:rPr>
              <a:t>INVESTOR BRIEF  ·  MAY 2026</a:t>
            </a:r>
          </a:p>
        </p:txBody>
      </p:sp>
      <p:sp>
        <p:nvSpPr>
          <p:cNvPr id="13" name="Rectangle 12"/>
          <p:cNvSpPr/>
          <p:nvPr/>
        </p:nvSpPr>
        <p:spPr>
          <a:xfrm>
            <a:off x="7936992" y="1371600"/>
            <a:ext cx="3749039"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36992" y="1572768"/>
            <a:ext cx="3657600" cy="548640"/>
          </a:xfrm>
          <a:prstGeom prst="rect">
            <a:avLst/>
          </a:prstGeom>
          <a:noFill/>
        </p:spPr>
        <p:txBody>
          <a:bodyPr wrap="square">
            <a:spAutoFit/>
          </a:bodyPr>
          <a:lstStyle/>
          <a:p>
            <a:pPr algn="l"/>
            <a:r>
              <a:rPr sz="3400" b="1" i="0">
                <a:solidFill>
                  <a:srgbClr val="C9A84C"/>
                </a:solidFill>
                <a:latin typeface="Calibri"/>
              </a:rPr>
              <a:t>170</a:t>
            </a:r>
          </a:p>
        </p:txBody>
      </p:sp>
      <p:sp>
        <p:nvSpPr>
          <p:cNvPr id="15" name="TextBox 14"/>
          <p:cNvSpPr txBox="1"/>
          <p:nvPr/>
        </p:nvSpPr>
        <p:spPr>
          <a:xfrm>
            <a:off x="7936992" y="2157984"/>
            <a:ext cx="3657600" cy="237744"/>
          </a:xfrm>
          <a:prstGeom prst="rect">
            <a:avLst/>
          </a:prstGeom>
          <a:noFill/>
        </p:spPr>
        <p:txBody>
          <a:bodyPr wrap="square">
            <a:spAutoFit/>
          </a:bodyPr>
          <a:lstStyle/>
          <a:p>
            <a:pPr algn="l"/>
            <a:r>
              <a:rPr sz="900" b="0" i="0">
                <a:solidFill>
                  <a:srgbClr val="AAB4CC"/>
                </a:solidFill>
                <a:latin typeface="Calibri"/>
              </a:rPr>
              <a:t>Readiness Protocols pre-staged</a:t>
            </a:r>
          </a:p>
        </p:txBody>
      </p:sp>
      <p:sp>
        <p:nvSpPr>
          <p:cNvPr id="16" name="Rectangle 15"/>
          <p:cNvSpPr/>
          <p:nvPr/>
        </p:nvSpPr>
        <p:spPr>
          <a:xfrm>
            <a:off x="7936992" y="2450591"/>
            <a:ext cx="3749039"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6992" y="2834639"/>
            <a:ext cx="3657600" cy="548640"/>
          </a:xfrm>
          <a:prstGeom prst="rect">
            <a:avLst/>
          </a:prstGeom>
          <a:noFill/>
        </p:spPr>
        <p:txBody>
          <a:bodyPr wrap="square">
            <a:spAutoFit/>
          </a:bodyPr>
          <a:lstStyle/>
          <a:p>
            <a:pPr algn="l"/>
            <a:r>
              <a:rPr sz="3400" b="1" i="0">
                <a:solidFill>
                  <a:srgbClr val="C9A84C"/>
                </a:solidFill>
                <a:latin typeface="Calibri"/>
              </a:rPr>
              <a:t>221</a:t>
            </a:r>
          </a:p>
        </p:txBody>
      </p:sp>
      <p:sp>
        <p:nvSpPr>
          <p:cNvPr id="18" name="TextBox 17"/>
          <p:cNvSpPr txBox="1"/>
          <p:nvPr/>
        </p:nvSpPr>
        <p:spPr>
          <a:xfrm>
            <a:off x="7936992" y="3419856"/>
            <a:ext cx="3657600" cy="237744"/>
          </a:xfrm>
          <a:prstGeom prst="rect">
            <a:avLst/>
          </a:prstGeom>
          <a:noFill/>
        </p:spPr>
        <p:txBody>
          <a:bodyPr wrap="square">
            <a:spAutoFit/>
          </a:bodyPr>
          <a:lstStyle/>
          <a:p>
            <a:pPr algn="l"/>
            <a:r>
              <a:rPr sz="900" b="0" i="0">
                <a:solidFill>
                  <a:srgbClr val="AAB4CC"/>
                </a:solidFill>
                <a:latin typeface="Calibri"/>
              </a:rPr>
              <a:t>Strategic triggers monitored</a:t>
            </a:r>
          </a:p>
        </p:txBody>
      </p:sp>
      <p:sp>
        <p:nvSpPr>
          <p:cNvPr id="19" name="Rectangle 18"/>
          <p:cNvSpPr/>
          <p:nvPr/>
        </p:nvSpPr>
        <p:spPr>
          <a:xfrm>
            <a:off x="7936992" y="3712463"/>
            <a:ext cx="3749039"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36992" y="4096511"/>
            <a:ext cx="3657600" cy="548640"/>
          </a:xfrm>
          <a:prstGeom prst="rect">
            <a:avLst/>
          </a:prstGeom>
          <a:noFill/>
        </p:spPr>
        <p:txBody>
          <a:bodyPr wrap="square">
            <a:spAutoFit/>
          </a:bodyPr>
          <a:lstStyle/>
          <a:p>
            <a:pPr algn="l"/>
            <a:r>
              <a:rPr sz="3400" b="1" i="0">
                <a:solidFill>
                  <a:srgbClr val="C9A84C"/>
                </a:solidFill>
                <a:latin typeface="Calibri"/>
              </a:rPr>
              <a:t>12 MIN</a:t>
            </a:r>
          </a:p>
        </p:txBody>
      </p:sp>
      <p:sp>
        <p:nvSpPr>
          <p:cNvPr id="21" name="TextBox 20"/>
          <p:cNvSpPr txBox="1"/>
          <p:nvPr/>
        </p:nvSpPr>
        <p:spPr>
          <a:xfrm>
            <a:off x="7936992" y="4681727"/>
            <a:ext cx="3657600" cy="237744"/>
          </a:xfrm>
          <a:prstGeom prst="rect">
            <a:avLst/>
          </a:prstGeom>
          <a:noFill/>
        </p:spPr>
        <p:txBody>
          <a:bodyPr wrap="square">
            <a:spAutoFit/>
          </a:bodyPr>
          <a:lstStyle/>
          <a:p>
            <a:pPr algn="l"/>
            <a:r>
              <a:rPr sz="900" b="0" i="0">
                <a:solidFill>
                  <a:srgbClr val="AAB4CC"/>
                </a:solidFill>
                <a:latin typeface="Calibri"/>
              </a:rPr>
              <a:t>30 days → execution complete</a:t>
            </a:r>
          </a:p>
        </p:txBody>
      </p:sp>
      <p:sp>
        <p:nvSpPr>
          <p:cNvPr id="22" name="Rectangle 21"/>
          <p:cNvSpPr/>
          <p:nvPr/>
        </p:nvSpPr>
        <p:spPr>
          <a:xfrm>
            <a:off x="7936992" y="4974336"/>
            <a:ext cx="3749039"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36992" y="5358383"/>
            <a:ext cx="3657600" cy="548640"/>
          </a:xfrm>
          <a:prstGeom prst="rect">
            <a:avLst/>
          </a:prstGeom>
          <a:noFill/>
        </p:spPr>
        <p:txBody>
          <a:bodyPr wrap="square">
            <a:spAutoFit/>
          </a:bodyPr>
          <a:lstStyle/>
          <a:p>
            <a:pPr algn="l"/>
            <a:r>
              <a:rPr sz="3400" b="1" i="0">
                <a:solidFill>
                  <a:srgbClr val="C9A84C"/>
                </a:solidFill>
                <a:latin typeface="Calibri"/>
              </a:rPr>
              <a:t>3,600×</a:t>
            </a:r>
          </a:p>
        </p:txBody>
      </p:sp>
      <p:sp>
        <p:nvSpPr>
          <p:cNvPr id="24" name="TextBox 23"/>
          <p:cNvSpPr txBox="1"/>
          <p:nvPr/>
        </p:nvSpPr>
        <p:spPr>
          <a:xfrm>
            <a:off x="7936992" y="5943599"/>
            <a:ext cx="3657600" cy="237744"/>
          </a:xfrm>
          <a:prstGeom prst="rect">
            <a:avLst/>
          </a:prstGeom>
          <a:noFill/>
        </p:spPr>
        <p:txBody>
          <a:bodyPr wrap="square">
            <a:spAutoFit/>
          </a:bodyPr>
          <a:lstStyle/>
          <a:p>
            <a:pPr algn="l"/>
            <a:r>
              <a:rPr sz="900" b="0" i="0">
                <a:solidFill>
                  <a:srgbClr val="AAB4CC"/>
                </a:solidFill>
                <a:latin typeface="Calibri"/>
              </a:rPr>
              <a:t>Execution Head Start</a:t>
            </a:r>
          </a:p>
        </p:txBody>
      </p:sp>
      <p:sp>
        <p:nvSpPr>
          <p:cNvPr id="25" name="Rectangle 24"/>
          <p:cNvSpPr/>
          <p:nvPr/>
        </p:nvSpPr>
        <p:spPr>
          <a:xfrm>
            <a:off x="0" y="6675120"/>
            <a:ext cx="12188952" cy="18288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6693408"/>
            <a:ext cx="4572000" cy="146304"/>
          </a:xfrm>
          <a:prstGeom prst="rect">
            <a:avLst/>
          </a:prstGeom>
          <a:noFill/>
        </p:spPr>
        <p:txBody>
          <a:bodyPr wrap="square">
            <a:spAutoFit/>
          </a:bodyPr>
          <a:lstStyle/>
          <a:p>
            <a:pPr algn="l"/>
            <a:r>
              <a:rPr sz="800" b="0" i="0">
                <a:solidFill>
                  <a:srgbClr val="AAB4CC"/>
                </a:solidFill>
                <a:latin typeface="Calibri"/>
              </a:rPr>
              <a:t>vaughnmartin.com</a:t>
            </a:r>
          </a:p>
        </p:txBody>
      </p:sp>
      <p:sp>
        <p:nvSpPr>
          <p:cNvPr id="27" name="TextBox 26"/>
          <p:cNvSpPr txBox="1"/>
          <p:nvPr/>
        </p:nvSpPr>
        <p:spPr>
          <a:xfrm>
            <a:off x="7315200" y="6693408"/>
            <a:ext cx="4663440" cy="146304"/>
          </a:xfrm>
          <a:prstGeom prst="rect">
            <a:avLst/>
          </a:prstGeom>
          <a:noFill/>
        </p:spPr>
        <p:txBody>
          <a:bodyPr wrap="square">
            <a:spAutoFit/>
          </a:bodyPr>
          <a:lstStyle/>
          <a:p>
            <a:pPr algn="r"/>
            <a:r>
              <a:rPr sz="800" b="0" i="0">
                <a:solidFill>
                  <a:srgbClr val="AAB4CC"/>
                </a:solidFill>
                <a:latin typeface="Calibri"/>
              </a:rPr>
              <a:t>CONFIDENTIAL  ·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01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a:t>
            </a:r>
          </a:p>
        </p:txBody>
      </p:sp>
      <p:sp>
        <p:nvSpPr>
          <p:cNvPr id="7" name="TextBox 6"/>
          <p:cNvSpPr txBox="1"/>
          <p:nvPr/>
        </p:nvSpPr>
        <p:spPr>
          <a:xfrm>
            <a:off x="411480" y="237744"/>
            <a:ext cx="5577840" cy="192024"/>
          </a:xfrm>
          <a:prstGeom prst="rect">
            <a:avLst/>
          </a:prstGeom>
          <a:noFill/>
        </p:spPr>
        <p:txBody>
          <a:bodyPr wrap="square">
            <a:spAutoFit/>
          </a:bodyPr>
          <a:lstStyle/>
          <a:p>
            <a:pPr algn="l"/>
            <a:r>
              <a:rPr sz="800" b="1" i="0">
                <a:solidFill>
                  <a:srgbClr val="C9A84C"/>
                </a:solidFill>
                <a:latin typeface="Calibri"/>
              </a:rPr>
              <a:t>THE PROBLEM</a:t>
            </a:r>
          </a:p>
        </p:txBody>
      </p:sp>
      <p:sp>
        <p:nvSpPr>
          <p:cNvPr id="8" name="TextBox 7"/>
          <p:cNvSpPr txBox="1"/>
          <p:nvPr/>
        </p:nvSpPr>
        <p:spPr>
          <a:xfrm>
            <a:off x="411480" y="475488"/>
            <a:ext cx="5577840" cy="487680"/>
          </a:xfrm>
          <a:prstGeom prst="rect">
            <a:avLst/>
          </a:prstGeom>
          <a:noFill/>
        </p:spPr>
        <p:txBody>
          <a:bodyPr wrap="square">
            <a:spAutoFit/>
          </a:bodyPr>
          <a:lstStyle/>
          <a:p>
            <a:pPr algn="l"/>
            <a:r>
              <a:rPr sz="3000" b="1" i="0">
                <a:solidFill>
                  <a:srgbClr val="FFFFFF"/>
                </a:solidFill>
                <a:latin typeface="Calibri"/>
              </a:rPr>
              <a:t>THE 30-DAY MOBILIZATION</a:t>
            </a:r>
          </a:p>
        </p:txBody>
      </p:sp>
      <p:sp>
        <p:nvSpPr>
          <p:cNvPr id="9" name="TextBox 8"/>
          <p:cNvSpPr txBox="1"/>
          <p:nvPr/>
        </p:nvSpPr>
        <p:spPr>
          <a:xfrm>
            <a:off x="411480" y="963167"/>
            <a:ext cx="5577840" cy="487680"/>
          </a:xfrm>
          <a:prstGeom prst="rect">
            <a:avLst/>
          </a:prstGeom>
          <a:noFill/>
        </p:spPr>
        <p:txBody>
          <a:bodyPr wrap="square">
            <a:spAutoFit/>
          </a:bodyPr>
          <a:lstStyle/>
          <a:p>
            <a:pPr algn="l"/>
            <a:r>
              <a:rPr sz="3000" b="1" i="0">
                <a:solidFill>
                  <a:srgbClr val="C9A84C"/>
                </a:solidFill>
                <a:latin typeface="Calibri"/>
              </a:rPr>
              <a:t>BLACK HOLE.</a:t>
            </a:r>
          </a:p>
        </p:txBody>
      </p:sp>
      <p:sp>
        <p:nvSpPr>
          <p:cNvPr id="10" name="Rectangle 9"/>
          <p:cNvSpPr/>
          <p:nvPr/>
        </p:nvSpPr>
        <p:spPr>
          <a:xfrm>
            <a:off x="411480" y="1652320"/>
            <a:ext cx="2560320" cy="1499616"/>
          </a:xfrm>
          <a:prstGeom prst="rect">
            <a:avLst/>
          </a:prstGeom>
          <a:solidFill>
            <a:srgbClr val="1F66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652320"/>
            <a:ext cx="2560320" cy="21945"/>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1707184"/>
            <a:ext cx="2340864" cy="182880"/>
          </a:xfrm>
          <a:prstGeom prst="rect">
            <a:avLst/>
          </a:prstGeom>
          <a:noFill/>
        </p:spPr>
        <p:txBody>
          <a:bodyPr wrap="square">
            <a:spAutoFit/>
          </a:bodyPr>
          <a:lstStyle/>
          <a:p>
            <a:pPr algn="l"/>
            <a:r>
              <a:rPr sz="800" b="1" i="0">
                <a:solidFill>
                  <a:srgbClr val="2B8A6E"/>
                </a:solidFill>
                <a:latin typeface="Calibri"/>
              </a:rPr>
              <a:t>DETECTION</a:t>
            </a:r>
          </a:p>
        </p:txBody>
      </p:sp>
      <p:sp>
        <p:nvSpPr>
          <p:cNvPr id="13" name="TextBox 12"/>
          <p:cNvSpPr txBox="1"/>
          <p:nvPr/>
        </p:nvSpPr>
        <p:spPr>
          <a:xfrm>
            <a:off x="530352" y="1908352"/>
            <a:ext cx="2340864" cy="621792"/>
          </a:xfrm>
          <a:prstGeom prst="rect">
            <a:avLst/>
          </a:prstGeom>
          <a:noFill/>
        </p:spPr>
        <p:txBody>
          <a:bodyPr wrap="square">
            <a:spAutoFit/>
          </a:bodyPr>
          <a:lstStyle/>
          <a:p>
            <a:pPr algn="l"/>
            <a:r>
              <a:rPr sz="3400" b="1" i="0">
                <a:solidFill>
                  <a:srgbClr val="FFFFFF"/>
                </a:solidFill>
                <a:latin typeface="Calibri"/>
              </a:rPr>
              <a:t>&lt; 1 SEC</a:t>
            </a:r>
          </a:p>
        </p:txBody>
      </p:sp>
      <p:sp>
        <p:nvSpPr>
          <p:cNvPr id="14" name="TextBox 13"/>
          <p:cNvSpPr txBox="1"/>
          <p:nvPr/>
        </p:nvSpPr>
        <p:spPr>
          <a:xfrm>
            <a:off x="530352" y="2548432"/>
            <a:ext cx="2340864" cy="530352"/>
          </a:xfrm>
          <a:prstGeom prst="rect">
            <a:avLst/>
          </a:prstGeom>
          <a:noFill/>
        </p:spPr>
        <p:txBody>
          <a:bodyPr wrap="square">
            <a:spAutoFit/>
          </a:bodyPr>
          <a:lstStyle/>
          <a:p>
            <a:pPr algn="l"/>
            <a:r>
              <a:rPr sz="850" b="0" i="0">
                <a:solidFill>
                  <a:srgbClr val="CCFFEE"/>
                </a:solidFill>
                <a:latin typeface="Calibri"/>
              </a:rPr>
              <a:t>Signal identified.
Pattern matched.
Score computed.</a:t>
            </a:r>
          </a:p>
        </p:txBody>
      </p:sp>
      <p:sp>
        <p:nvSpPr>
          <p:cNvPr id="15" name="TextBox 14"/>
          <p:cNvSpPr txBox="1"/>
          <p:nvPr/>
        </p:nvSpPr>
        <p:spPr>
          <a:xfrm>
            <a:off x="3017520" y="2072944"/>
            <a:ext cx="402336" cy="512064"/>
          </a:xfrm>
          <a:prstGeom prst="rect">
            <a:avLst/>
          </a:prstGeom>
          <a:noFill/>
        </p:spPr>
        <p:txBody>
          <a:bodyPr wrap="square">
            <a:spAutoFit/>
          </a:bodyPr>
          <a:lstStyle/>
          <a:p>
            <a:pPr algn="ctr"/>
            <a:r>
              <a:rPr sz="2400" b="1" i="0">
                <a:solidFill>
                  <a:srgbClr val="C9A84C"/>
                </a:solidFill>
                <a:latin typeface="Calibri"/>
              </a:rPr>
              <a:t>→</a:t>
            </a:r>
          </a:p>
        </p:txBody>
      </p:sp>
      <p:sp>
        <p:nvSpPr>
          <p:cNvPr id="16" name="Rectangle 15"/>
          <p:cNvSpPr/>
          <p:nvPr/>
        </p:nvSpPr>
        <p:spPr>
          <a:xfrm>
            <a:off x="3456432" y="1652320"/>
            <a:ext cx="2523744" cy="1499616"/>
          </a:xfrm>
          <a:prstGeom prst="rect">
            <a:avLst/>
          </a:prstGeom>
          <a:solidFill>
            <a:srgbClr val="380E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56432" y="1652320"/>
            <a:ext cx="2523744" cy="21945"/>
          </a:xfrm>
          <a:prstGeom prst="rect">
            <a:avLst/>
          </a:prstGeom>
          <a:solidFill>
            <a:srgbClr val="99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1707184"/>
            <a:ext cx="2322576" cy="182880"/>
          </a:xfrm>
          <a:prstGeom prst="rect">
            <a:avLst/>
          </a:prstGeom>
          <a:noFill/>
        </p:spPr>
        <p:txBody>
          <a:bodyPr wrap="square">
            <a:spAutoFit/>
          </a:bodyPr>
          <a:lstStyle/>
          <a:p>
            <a:pPr algn="l"/>
            <a:r>
              <a:rPr sz="800" b="1" i="0">
                <a:solidFill>
                  <a:srgbClr val="FF6666"/>
                </a:solidFill>
                <a:latin typeface="Calibri"/>
              </a:rPr>
              <a:t>MOBILIZATION</a:t>
            </a:r>
          </a:p>
        </p:txBody>
      </p:sp>
      <p:sp>
        <p:nvSpPr>
          <p:cNvPr id="19" name="TextBox 18"/>
          <p:cNvSpPr txBox="1"/>
          <p:nvPr/>
        </p:nvSpPr>
        <p:spPr>
          <a:xfrm>
            <a:off x="3566160" y="1908352"/>
            <a:ext cx="2322576" cy="621792"/>
          </a:xfrm>
          <a:prstGeom prst="rect">
            <a:avLst/>
          </a:prstGeom>
          <a:noFill/>
        </p:spPr>
        <p:txBody>
          <a:bodyPr wrap="square">
            <a:spAutoFit/>
          </a:bodyPr>
          <a:lstStyle/>
          <a:p>
            <a:pPr algn="l"/>
            <a:r>
              <a:rPr sz="3400" b="1" i="0">
                <a:solidFill>
                  <a:srgbClr val="FF8888"/>
                </a:solidFill>
                <a:latin typeface="Calibri"/>
              </a:rPr>
              <a:t>30 DAYS</a:t>
            </a:r>
          </a:p>
        </p:txBody>
      </p:sp>
      <p:sp>
        <p:nvSpPr>
          <p:cNvPr id="20" name="TextBox 19"/>
          <p:cNvSpPr txBox="1"/>
          <p:nvPr/>
        </p:nvSpPr>
        <p:spPr>
          <a:xfrm>
            <a:off x="3566160" y="2548432"/>
            <a:ext cx="2322576" cy="530352"/>
          </a:xfrm>
          <a:prstGeom prst="rect">
            <a:avLst/>
          </a:prstGeom>
          <a:noFill/>
        </p:spPr>
        <p:txBody>
          <a:bodyPr wrap="square">
            <a:spAutoFit/>
          </a:bodyPr>
          <a:lstStyle/>
          <a:p>
            <a:pPr algn="l"/>
            <a:r>
              <a:rPr sz="850" b="0" i="0">
                <a:solidFill>
                  <a:srgbClr val="FFCCCC"/>
                </a:solidFill>
                <a:latin typeface="Calibri"/>
              </a:rPr>
              <a:t>Who decides?
Who calls who?
Who owns the response?</a:t>
            </a:r>
          </a:p>
        </p:txBody>
      </p:sp>
      <p:sp>
        <p:nvSpPr>
          <p:cNvPr id="21" name="TextBox 20"/>
          <p:cNvSpPr txBox="1"/>
          <p:nvPr/>
        </p:nvSpPr>
        <p:spPr>
          <a:xfrm>
            <a:off x="411480" y="3316528"/>
            <a:ext cx="5577840" cy="365760"/>
          </a:xfrm>
          <a:prstGeom prst="rect">
            <a:avLst/>
          </a:prstGeom>
          <a:noFill/>
        </p:spPr>
        <p:txBody>
          <a:bodyPr wrap="square">
            <a:spAutoFit/>
          </a:bodyPr>
          <a:lstStyle/>
          <a:p>
            <a:pPr algn="l"/>
            <a:r>
              <a:rPr sz="1050" b="0" i="0">
                <a:solidFill>
                  <a:srgbClr val="FFFFFF"/>
                </a:solidFill>
                <a:latin typeface="Calibri"/>
              </a:rPr>
              <a:t>▸  Startup to Fortune 500: same trigger, identical 30-day delay</a:t>
            </a:r>
          </a:p>
        </p:txBody>
      </p:sp>
      <p:sp>
        <p:nvSpPr>
          <p:cNvPr id="22" name="TextBox 21"/>
          <p:cNvSpPr txBox="1"/>
          <p:nvPr/>
        </p:nvSpPr>
        <p:spPr>
          <a:xfrm>
            <a:off x="411480" y="3718864"/>
            <a:ext cx="5577840" cy="365760"/>
          </a:xfrm>
          <a:prstGeom prst="rect">
            <a:avLst/>
          </a:prstGeom>
          <a:noFill/>
        </p:spPr>
        <p:txBody>
          <a:bodyPr wrap="square">
            <a:spAutoFit/>
          </a:bodyPr>
          <a:lstStyle/>
          <a:p>
            <a:pPr algn="l"/>
            <a:r>
              <a:rPr sz="1050" b="0" i="0">
                <a:solidFill>
                  <a:srgbClr val="FFFFFF"/>
                </a:solidFill>
                <a:latin typeface="Calibri"/>
              </a:rPr>
              <a:t>▸  The delay is not execution — it is mobilization architecture</a:t>
            </a:r>
          </a:p>
        </p:txBody>
      </p:sp>
      <p:sp>
        <p:nvSpPr>
          <p:cNvPr id="23" name="TextBox 22"/>
          <p:cNvSpPr txBox="1"/>
          <p:nvPr/>
        </p:nvSpPr>
        <p:spPr>
          <a:xfrm>
            <a:off x="411480" y="4121200"/>
            <a:ext cx="5577840" cy="365760"/>
          </a:xfrm>
          <a:prstGeom prst="rect">
            <a:avLst/>
          </a:prstGeom>
          <a:noFill/>
        </p:spPr>
        <p:txBody>
          <a:bodyPr wrap="square">
            <a:spAutoFit/>
          </a:bodyPr>
          <a:lstStyle/>
          <a:p>
            <a:pPr algn="l"/>
            <a:r>
              <a:rPr sz="1050" b="0" i="0">
                <a:solidFill>
                  <a:srgbClr val="FFFFFF"/>
                </a:solidFill>
                <a:latin typeface="Calibri"/>
              </a:rPr>
              <a:t>▸  Every day of drift is a window activists, regulators, and competitors own</a:t>
            </a:r>
          </a:p>
        </p:txBody>
      </p:sp>
      <p:sp>
        <p:nvSpPr>
          <p:cNvPr id="24" name="Rectangle 23"/>
          <p:cNvSpPr/>
          <p:nvPr/>
        </p:nvSpPr>
        <p:spPr>
          <a:xfrm>
            <a:off x="411480" y="4633264"/>
            <a:ext cx="5577840" cy="6949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633264"/>
            <a:ext cx="5577840"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4678984"/>
            <a:ext cx="5376672" cy="256032"/>
          </a:xfrm>
          <a:prstGeom prst="rect">
            <a:avLst/>
          </a:prstGeom>
          <a:noFill/>
        </p:spPr>
        <p:txBody>
          <a:bodyPr wrap="square">
            <a:spAutoFit/>
          </a:bodyPr>
          <a:lstStyle/>
          <a:p>
            <a:pPr algn="l"/>
            <a:r>
              <a:rPr sz="1000" b="1" i="0">
                <a:solidFill>
                  <a:srgbClr val="C9A84C"/>
                </a:solidFill>
                <a:latin typeface="Calibri"/>
              </a:rPr>
              <a:t>$4.4T AT RISK ANNUALLY</a:t>
            </a:r>
          </a:p>
        </p:txBody>
      </p:sp>
      <p:sp>
        <p:nvSpPr>
          <p:cNvPr id="27" name="TextBox 26"/>
          <p:cNvSpPr txBox="1"/>
          <p:nvPr/>
        </p:nvSpPr>
        <p:spPr>
          <a:xfrm>
            <a:off x="539496" y="4962448"/>
            <a:ext cx="5376672" cy="274320"/>
          </a:xfrm>
          <a:prstGeom prst="rect">
            <a:avLst/>
          </a:prstGeom>
          <a:noFill/>
        </p:spPr>
        <p:txBody>
          <a:bodyPr wrap="square">
            <a:spAutoFit/>
          </a:bodyPr>
          <a:lstStyle/>
          <a:p>
            <a:pPr algn="l"/>
            <a:r>
              <a:rPr sz="850" b="0" i="0">
                <a:solidFill>
                  <a:srgbClr val="AAB4CC"/>
                </a:solidFill>
                <a:latin typeface="Calibri"/>
              </a:rPr>
              <a:t>Enterprise coordination failures  ·  Preparation Infrastructure is the unclaimed layer above every AI stack.</a:t>
            </a:r>
          </a:p>
        </p:txBody>
      </p:sp>
      <p:sp>
        <p:nvSpPr>
          <p:cNvPr id="28" name="Rectangle 27"/>
          <p:cNvSpPr/>
          <p:nvPr/>
        </p:nvSpPr>
        <p:spPr>
          <a:xfrm>
            <a:off x="6483096" y="566928"/>
            <a:ext cx="5394960" cy="6035040"/>
          </a:xfrm>
          <a:prstGeom prst="rect">
            <a:avLst/>
          </a:prstGeom>
          <a:solidFill>
            <a:srgbClr val="030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82512" y="502920"/>
            <a:ext cx="36576" cy="60350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hq_command_tower.jpg"/>
          <p:cNvPicPr>
            <a:picLocks noChangeAspect="1"/>
          </p:cNvPicPr>
          <p:nvPr/>
        </p:nvPicPr>
        <p:blipFill>
          <a:blip r:embed="rId2"/>
          <a:stretch>
            <a:fillRect/>
          </a:stretch>
        </p:blipFill>
        <p:spPr>
          <a:xfrm>
            <a:off x="6419088" y="502920"/>
            <a:ext cx="5394960" cy="6035040"/>
          </a:xfrm>
          <a:prstGeom prst="rect">
            <a:avLst/>
          </a:prstGeom>
        </p:spPr>
      </p:pic>
      <p:sp>
        <p:nvSpPr>
          <p:cNvPr id="31" name="Rectangle 30"/>
          <p:cNvSpPr/>
          <p:nvPr/>
        </p:nvSpPr>
        <p:spPr>
          <a:xfrm>
            <a:off x="6419088" y="6355079"/>
            <a:ext cx="5394960" cy="182880"/>
          </a:xfrm>
          <a:prstGeom prst="rect">
            <a:avLst/>
          </a:prstGeom>
          <a:solidFill>
            <a:srgbClr val="050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02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a:t>
            </a:r>
          </a:p>
        </p:txBody>
      </p:sp>
      <p:sp>
        <p:nvSpPr>
          <p:cNvPr id="7" name="TextBox 6"/>
          <p:cNvSpPr txBox="1"/>
          <p:nvPr/>
        </p:nvSpPr>
        <p:spPr>
          <a:xfrm>
            <a:off x="411480" y="237744"/>
            <a:ext cx="11338560" cy="192024"/>
          </a:xfrm>
          <a:prstGeom prst="rect">
            <a:avLst/>
          </a:prstGeom>
          <a:noFill/>
        </p:spPr>
        <p:txBody>
          <a:bodyPr wrap="square">
            <a:spAutoFit/>
          </a:bodyPr>
          <a:lstStyle/>
          <a:p>
            <a:pPr algn="l"/>
            <a:r>
              <a:rPr sz="800" b="1" i="0">
                <a:solidFill>
                  <a:srgbClr val="C9A84C"/>
                </a:solidFill>
                <a:latin typeface="Calibri"/>
              </a:rPr>
              <a:t>THE FOUNDER</a:t>
            </a:r>
          </a:p>
        </p:txBody>
      </p:sp>
      <p:sp>
        <p:nvSpPr>
          <p:cNvPr id="8" name="TextBox 7"/>
          <p:cNvSpPr txBox="1"/>
          <p:nvPr/>
        </p:nvSpPr>
        <p:spPr>
          <a:xfrm>
            <a:off x="411480" y="475488"/>
            <a:ext cx="11338560" cy="487680"/>
          </a:xfrm>
          <a:prstGeom prst="rect">
            <a:avLst/>
          </a:prstGeom>
          <a:noFill/>
        </p:spPr>
        <p:txBody>
          <a:bodyPr wrap="square">
            <a:spAutoFit/>
          </a:bodyPr>
          <a:lstStyle/>
          <a:p>
            <a:pPr algn="l"/>
            <a:r>
              <a:rPr sz="3000" b="1" i="0">
                <a:solidFill>
                  <a:srgbClr val="C9A84C"/>
                </a:solidFill>
                <a:latin typeface="Calibri"/>
              </a:rPr>
              <a:t>THE ONLY TEAM ALIVE</a:t>
            </a:r>
          </a:p>
        </p:txBody>
      </p:sp>
      <p:sp>
        <p:nvSpPr>
          <p:cNvPr id="9" name="TextBox 8"/>
          <p:cNvSpPr txBox="1"/>
          <p:nvPr/>
        </p:nvSpPr>
        <p:spPr>
          <a:xfrm>
            <a:off x="411480" y="963167"/>
            <a:ext cx="11338560" cy="487680"/>
          </a:xfrm>
          <a:prstGeom prst="rect">
            <a:avLst/>
          </a:prstGeom>
          <a:noFill/>
        </p:spPr>
        <p:txBody>
          <a:bodyPr wrap="square">
            <a:spAutoFit/>
          </a:bodyPr>
          <a:lstStyle/>
          <a:p>
            <a:pPr algn="l"/>
            <a:r>
              <a:rPr sz="3000" b="1" i="0">
                <a:solidFill>
                  <a:srgbClr val="FFFFFF"/>
                </a:solidFill>
                <a:latin typeface="Calibri"/>
              </a:rPr>
              <a:t>THAT COULD BUILD THIS.</a:t>
            </a:r>
          </a:p>
        </p:txBody>
      </p:sp>
      <p:sp>
        <p:nvSpPr>
          <p:cNvPr id="10" name="Rectangle 9"/>
          <p:cNvSpPr/>
          <p:nvPr/>
        </p:nvSpPr>
        <p:spPr>
          <a:xfrm>
            <a:off x="411480" y="1578864"/>
            <a:ext cx="111556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725472"/>
            <a:ext cx="5266944" cy="2377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1762048"/>
            <a:ext cx="5120640" cy="182880"/>
          </a:xfrm>
          <a:prstGeom prst="rect">
            <a:avLst/>
          </a:prstGeom>
          <a:noFill/>
        </p:spPr>
        <p:txBody>
          <a:bodyPr wrap="square">
            <a:spAutoFit/>
          </a:bodyPr>
          <a:lstStyle/>
          <a:p>
            <a:pPr algn="l"/>
            <a:r>
              <a:rPr sz="800" b="1" i="0">
                <a:solidFill>
                  <a:srgbClr val="C9A84C"/>
                </a:solidFill>
                <a:latin typeface="Calibri"/>
              </a:rPr>
              <a:t>FORTUNE 500 OPERATIONS  ·  20 YEARS</a:t>
            </a:r>
          </a:p>
        </p:txBody>
      </p:sp>
      <p:sp>
        <p:nvSpPr>
          <p:cNvPr id="13" name="TextBox 12"/>
          <p:cNvSpPr txBox="1"/>
          <p:nvPr/>
        </p:nvSpPr>
        <p:spPr>
          <a:xfrm>
            <a:off x="521208" y="2036368"/>
            <a:ext cx="5120640" cy="347472"/>
          </a:xfrm>
          <a:prstGeom prst="rect">
            <a:avLst/>
          </a:prstGeom>
          <a:noFill/>
        </p:spPr>
        <p:txBody>
          <a:bodyPr wrap="square">
            <a:spAutoFit/>
          </a:bodyPr>
          <a:lstStyle/>
          <a:p>
            <a:pPr algn="l"/>
            <a:r>
              <a:rPr sz="1000" b="0" i="0">
                <a:solidFill>
                  <a:srgbClr val="FFFFFF"/>
                </a:solidFill>
                <a:latin typeface="Calibri"/>
              </a:rPr>
              <a:t>·  Ford · Toyota · Lockheed Martin · Charles Schwab</a:t>
            </a:r>
          </a:p>
        </p:txBody>
      </p:sp>
      <p:sp>
        <p:nvSpPr>
          <p:cNvPr id="14" name="TextBox 13"/>
          <p:cNvSpPr txBox="1"/>
          <p:nvPr/>
        </p:nvSpPr>
        <p:spPr>
          <a:xfrm>
            <a:off x="521208" y="2420416"/>
            <a:ext cx="5120640" cy="347472"/>
          </a:xfrm>
          <a:prstGeom prst="rect">
            <a:avLst/>
          </a:prstGeom>
          <a:noFill/>
        </p:spPr>
        <p:txBody>
          <a:bodyPr wrap="square">
            <a:spAutoFit/>
          </a:bodyPr>
          <a:lstStyle/>
          <a:p>
            <a:pPr algn="l"/>
            <a:r>
              <a:rPr sz="1000" b="0" i="0">
                <a:solidFill>
                  <a:srgbClr val="FFFFFF"/>
                </a:solidFill>
                <a:latin typeface="Calibri"/>
              </a:rPr>
              <a:t>·  Watched the 30-day mobilization failure repeat across every vertical</a:t>
            </a:r>
          </a:p>
        </p:txBody>
      </p:sp>
      <p:sp>
        <p:nvSpPr>
          <p:cNvPr id="15" name="TextBox 14"/>
          <p:cNvSpPr txBox="1"/>
          <p:nvPr/>
        </p:nvSpPr>
        <p:spPr>
          <a:xfrm>
            <a:off x="521208" y="2804464"/>
            <a:ext cx="5120640" cy="347472"/>
          </a:xfrm>
          <a:prstGeom prst="rect">
            <a:avLst/>
          </a:prstGeom>
          <a:noFill/>
        </p:spPr>
        <p:txBody>
          <a:bodyPr wrap="square">
            <a:spAutoFit/>
          </a:bodyPr>
          <a:lstStyle/>
          <a:p>
            <a:pPr algn="l"/>
            <a:r>
              <a:rPr sz="1000" b="0" i="0">
                <a:solidFill>
                  <a:srgbClr val="FFFFFF"/>
                </a:solidFill>
                <a:latin typeface="Calibri"/>
              </a:rPr>
              <a:t>·  Same architecture gap — different trigger, identical delay</a:t>
            </a:r>
          </a:p>
        </p:txBody>
      </p:sp>
      <p:sp>
        <p:nvSpPr>
          <p:cNvPr id="16" name="TextBox 15"/>
          <p:cNvSpPr txBox="1"/>
          <p:nvPr/>
        </p:nvSpPr>
        <p:spPr>
          <a:xfrm>
            <a:off x="521208" y="3188512"/>
            <a:ext cx="5120640" cy="347472"/>
          </a:xfrm>
          <a:prstGeom prst="rect">
            <a:avLst/>
          </a:prstGeom>
          <a:noFill/>
        </p:spPr>
        <p:txBody>
          <a:bodyPr wrap="square">
            <a:spAutoFit/>
          </a:bodyPr>
          <a:lstStyle/>
          <a:p>
            <a:pPr algn="l"/>
            <a:r>
              <a:rPr sz="1000" b="0" i="0">
                <a:solidFill>
                  <a:srgbClr val="FFFFFF"/>
                </a:solidFill>
                <a:latin typeface="Calibri"/>
              </a:rPr>
              <a:t>·  Built Readiness OS in 2023 to end that pattern permanently</a:t>
            </a:r>
          </a:p>
        </p:txBody>
      </p:sp>
      <p:sp>
        <p:nvSpPr>
          <p:cNvPr id="17" name="Rectangle 16"/>
          <p:cNvSpPr/>
          <p:nvPr/>
        </p:nvSpPr>
        <p:spPr>
          <a:xfrm>
            <a:off x="6419088" y="1725472"/>
            <a:ext cx="5266944" cy="2377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8816" y="1762048"/>
            <a:ext cx="5120640" cy="182880"/>
          </a:xfrm>
          <a:prstGeom prst="rect">
            <a:avLst/>
          </a:prstGeom>
          <a:noFill/>
        </p:spPr>
        <p:txBody>
          <a:bodyPr wrap="square">
            <a:spAutoFit/>
          </a:bodyPr>
          <a:lstStyle/>
          <a:p>
            <a:pPr algn="l"/>
            <a:r>
              <a:rPr sz="800" b="1" i="0">
                <a:solidFill>
                  <a:srgbClr val="2B8A6E"/>
                </a:solidFill>
                <a:latin typeface="Calibri"/>
              </a:rPr>
              <a:t>STANFORD UNIVERSITY  ·  FOOTBALL COACHING  ·  5 YEARS</a:t>
            </a:r>
          </a:p>
        </p:txBody>
      </p:sp>
      <p:sp>
        <p:nvSpPr>
          <p:cNvPr id="19" name="TextBox 18"/>
          <p:cNvSpPr txBox="1"/>
          <p:nvPr/>
        </p:nvSpPr>
        <p:spPr>
          <a:xfrm>
            <a:off x="6528816" y="2036368"/>
            <a:ext cx="5120640" cy="347472"/>
          </a:xfrm>
          <a:prstGeom prst="rect">
            <a:avLst/>
          </a:prstGeom>
          <a:noFill/>
        </p:spPr>
        <p:txBody>
          <a:bodyPr wrap="square">
            <a:spAutoFit/>
          </a:bodyPr>
          <a:lstStyle/>
          <a:p>
            <a:pPr algn="l"/>
            <a:r>
              <a:rPr sz="1000" b="0" i="0">
                <a:solidFill>
                  <a:srgbClr val="FFFFFF"/>
                </a:solidFill>
                <a:latin typeface="Calibri"/>
              </a:rPr>
              <a:t>·  Major college football — billion-dollar coordinated operation</a:t>
            </a:r>
          </a:p>
        </p:txBody>
      </p:sp>
      <p:sp>
        <p:nvSpPr>
          <p:cNvPr id="20" name="TextBox 19"/>
          <p:cNvSpPr txBox="1"/>
          <p:nvPr/>
        </p:nvSpPr>
        <p:spPr>
          <a:xfrm>
            <a:off x="6528816" y="2420416"/>
            <a:ext cx="5120640" cy="347472"/>
          </a:xfrm>
          <a:prstGeom prst="rect">
            <a:avLst/>
          </a:prstGeom>
          <a:noFill/>
        </p:spPr>
        <p:txBody>
          <a:bodyPr wrap="square">
            <a:spAutoFit/>
          </a:bodyPr>
          <a:lstStyle/>
          <a:p>
            <a:pPr algn="l"/>
            <a:r>
              <a:rPr sz="1000" b="0" i="0">
                <a:solidFill>
                  <a:srgbClr val="FFFFFF"/>
                </a:solidFill>
                <a:latin typeface="Calibri"/>
              </a:rPr>
              <a:t>·  40-second play clock: full response without a committee meeting</a:t>
            </a:r>
          </a:p>
        </p:txBody>
      </p:sp>
      <p:sp>
        <p:nvSpPr>
          <p:cNvPr id="21" name="TextBox 20"/>
          <p:cNvSpPr txBox="1"/>
          <p:nvPr/>
        </p:nvSpPr>
        <p:spPr>
          <a:xfrm>
            <a:off x="6528816" y="2804464"/>
            <a:ext cx="5120640" cy="347472"/>
          </a:xfrm>
          <a:prstGeom prst="rect">
            <a:avLst/>
          </a:prstGeom>
          <a:noFill/>
        </p:spPr>
        <p:txBody>
          <a:bodyPr wrap="square">
            <a:spAutoFit/>
          </a:bodyPr>
          <a:lstStyle/>
          <a:p>
            <a:pPr algn="l"/>
            <a:r>
              <a:rPr sz="1000" b="0" i="0">
                <a:solidFill>
                  <a:srgbClr val="FFFFFF"/>
                </a:solidFill>
                <a:latin typeface="Calibri"/>
              </a:rPr>
              <a:t>·  You don't design the play after the snap — the response is pre-staged</a:t>
            </a:r>
          </a:p>
        </p:txBody>
      </p:sp>
      <p:sp>
        <p:nvSpPr>
          <p:cNvPr id="22" name="TextBox 21"/>
          <p:cNvSpPr txBox="1"/>
          <p:nvPr/>
        </p:nvSpPr>
        <p:spPr>
          <a:xfrm>
            <a:off x="6528816" y="3188512"/>
            <a:ext cx="5120640" cy="347472"/>
          </a:xfrm>
          <a:prstGeom prst="rect">
            <a:avLst/>
          </a:prstGeom>
          <a:noFill/>
        </p:spPr>
        <p:txBody>
          <a:bodyPr wrap="square">
            <a:spAutoFit/>
          </a:bodyPr>
          <a:lstStyle/>
          <a:p>
            <a:pPr algn="l"/>
            <a:r>
              <a:rPr sz="1000" b="0" i="0">
                <a:solidFill>
                  <a:srgbClr val="FFFFFF"/>
                </a:solidFill>
                <a:latin typeface="Calibri"/>
              </a:rPr>
              <a:t>·  The preparation IS the execution. Not a metaphor. The architecture.</a:t>
            </a:r>
          </a:p>
        </p:txBody>
      </p:sp>
      <p:sp>
        <p:nvSpPr>
          <p:cNvPr id="23" name="Rectangle 22"/>
          <p:cNvSpPr/>
          <p:nvPr/>
        </p:nvSpPr>
        <p:spPr>
          <a:xfrm>
            <a:off x="411480" y="3700576"/>
            <a:ext cx="11155680" cy="274320"/>
          </a:xfrm>
          <a:prstGeom prst="rect">
            <a:avLst/>
          </a:prstGeom>
          <a:solidFill>
            <a:srgbClr val="141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 y="3755440"/>
            <a:ext cx="11018520" cy="182880"/>
          </a:xfrm>
          <a:prstGeom prst="rect">
            <a:avLst/>
          </a:prstGeom>
          <a:noFill/>
        </p:spPr>
        <p:txBody>
          <a:bodyPr wrap="square">
            <a:spAutoFit/>
          </a:bodyPr>
          <a:lstStyle/>
          <a:p>
            <a:pPr algn="ctr"/>
            <a:r>
              <a:rPr sz="850" b="1" i="0">
                <a:solidFill>
                  <a:srgbClr val="C9A84C"/>
                </a:solidFill>
                <a:latin typeface="Calibri"/>
              </a:rPr>
              <a:t>THE INTERSECTION — PREPARATION DISCIPLINE THAT WINS UNDER PRESSURE WAS MISSING FROM ENTERPRISE.</a:t>
            </a:r>
          </a:p>
        </p:txBody>
      </p:sp>
      <p:sp>
        <p:nvSpPr>
          <p:cNvPr id="25" name="Rectangle 24"/>
          <p:cNvSpPr/>
          <p:nvPr/>
        </p:nvSpPr>
        <p:spPr>
          <a:xfrm>
            <a:off x="411480" y="4102912"/>
            <a:ext cx="1088136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4176064"/>
            <a:ext cx="11064240" cy="914400"/>
          </a:xfrm>
          <a:prstGeom prst="rect">
            <a:avLst/>
          </a:prstGeom>
          <a:noFill/>
        </p:spPr>
        <p:txBody>
          <a:bodyPr wrap="square">
            <a:spAutoFit/>
          </a:bodyPr>
          <a:lstStyle/>
          <a:p>
            <a:pPr algn="l"/>
            <a:r>
              <a:rPr sz="950" b="0" i="1">
                <a:solidFill>
                  <a:srgbClr val="AAB4CC"/>
                </a:solidFill>
                <a:latin typeface="Georgia"/>
              </a:rPr>
              <a:t>"I spent 20 years watching the exact same mobilization failure repeat at the world's largest companies. And 5 years at Stanford pre-staging responses against a 40-second clock. I built the infrastructure that closes that gap permanently."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03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vaughnmartin.com/how-it-executes</a:t>
            </a:r>
          </a:p>
        </p:txBody>
      </p:sp>
      <p:sp>
        <p:nvSpPr>
          <p:cNvPr id="7" name="TextBox 6"/>
          <p:cNvSpPr txBox="1"/>
          <p:nvPr/>
        </p:nvSpPr>
        <p:spPr>
          <a:xfrm>
            <a:off x="411480" y="237744"/>
            <a:ext cx="5577840" cy="192024"/>
          </a:xfrm>
          <a:prstGeom prst="rect">
            <a:avLst/>
          </a:prstGeom>
          <a:noFill/>
        </p:spPr>
        <p:txBody>
          <a:bodyPr wrap="square">
            <a:spAutoFit/>
          </a:bodyPr>
          <a:lstStyle/>
          <a:p>
            <a:pPr algn="l"/>
            <a:r>
              <a:rPr sz="800" b="1" i="0">
                <a:solidFill>
                  <a:srgbClr val="C9A84C"/>
                </a:solidFill>
                <a:latin typeface="Calibri"/>
              </a:rPr>
              <a:t>THE PRODUCT</a:t>
            </a:r>
          </a:p>
        </p:txBody>
      </p:sp>
      <p:sp>
        <p:nvSpPr>
          <p:cNvPr id="8" name="TextBox 7"/>
          <p:cNvSpPr txBox="1"/>
          <p:nvPr/>
        </p:nvSpPr>
        <p:spPr>
          <a:xfrm>
            <a:off x="411480" y="475488"/>
            <a:ext cx="5577840" cy="292608"/>
          </a:xfrm>
          <a:prstGeom prst="rect">
            <a:avLst/>
          </a:prstGeom>
          <a:noFill/>
        </p:spPr>
        <p:txBody>
          <a:bodyPr wrap="square">
            <a:spAutoFit/>
          </a:bodyPr>
          <a:lstStyle/>
          <a:p>
            <a:pPr algn="l"/>
            <a:r>
              <a:rPr sz="1800" b="1" i="0">
                <a:solidFill>
                  <a:srgbClr val="C9A84C"/>
                </a:solidFill>
                <a:latin typeface="Calibri"/>
              </a:rPr>
              <a:t>READINESS OS:</a:t>
            </a:r>
          </a:p>
        </p:txBody>
      </p:sp>
      <p:sp>
        <p:nvSpPr>
          <p:cNvPr id="9" name="TextBox 8"/>
          <p:cNvSpPr txBox="1"/>
          <p:nvPr/>
        </p:nvSpPr>
        <p:spPr>
          <a:xfrm>
            <a:off x="411480" y="768096"/>
            <a:ext cx="5577840" cy="422656"/>
          </a:xfrm>
          <a:prstGeom prst="rect">
            <a:avLst/>
          </a:prstGeom>
          <a:noFill/>
        </p:spPr>
        <p:txBody>
          <a:bodyPr wrap="square">
            <a:spAutoFit/>
          </a:bodyPr>
          <a:lstStyle/>
          <a:p>
            <a:pPr algn="l"/>
            <a:r>
              <a:rPr sz="2600" b="1" i="0">
                <a:solidFill>
                  <a:srgbClr val="FFFFFF"/>
                </a:solidFill>
                <a:latin typeface="Calibri"/>
              </a:rPr>
              <a:t>THE RESPONSE IS READY</a:t>
            </a:r>
          </a:p>
        </p:txBody>
      </p:sp>
      <p:sp>
        <p:nvSpPr>
          <p:cNvPr id="10" name="TextBox 9"/>
          <p:cNvSpPr txBox="1"/>
          <p:nvPr/>
        </p:nvSpPr>
        <p:spPr>
          <a:xfrm>
            <a:off x="411480" y="1190752"/>
            <a:ext cx="5577840" cy="422656"/>
          </a:xfrm>
          <a:prstGeom prst="rect">
            <a:avLst/>
          </a:prstGeom>
          <a:noFill/>
        </p:spPr>
        <p:txBody>
          <a:bodyPr wrap="square">
            <a:spAutoFit/>
          </a:bodyPr>
          <a:lstStyle/>
          <a:p>
            <a:pPr algn="l"/>
            <a:r>
              <a:rPr sz="2600" b="1" i="0">
                <a:solidFill>
                  <a:srgbClr val="C9A84C"/>
                </a:solidFill>
                <a:latin typeface="Calibri"/>
              </a:rPr>
              <a:t>BEFORE THE TRIGGER FIRES.</a:t>
            </a:r>
          </a:p>
        </p:txBody>
      </p:sp>
      <p:sp>
        <p:nvSpPr>
          <p:cNvPr id="11" name="Rectangle 10"/>
          <p:cNvSpPr/>
          <p:nvPr/>
        </p:nvSpPr>
        <p:spPr>
          <a:xfrm>
            <a:off x="411480" y="1741424"/>
            <a:ext cx="548640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87321"/>
            <a:ext cx="5577840" cy="365760"/>
          </a:xfrm>
          <a:prstGeom prst="rect">
            <a:avLst/>
          </a:prstGeom>
          <a:noFill/>
        </p:spPr>
        <p:txBody>
          <a:bodyPr wrap="square">
            <a:spAutoFit/>
          </a:bodyPr>
          <a:lstStyle/>
          <a:p>
            <a:pPr algn="l"/>
            <a:r>
              <a:rPr sz="1050" b="0" i="0">
                <a:solidFill>
                  <a:srgbClr val="FFFFFF"/>
                </a:solidFill>
                <a:latin typeface="Calibri"/>
              </a:rPr>
              <a:t>▸  170 Readiness Protocols — Growth &amp; Positioning, Risk &amp; Resilience, Transformation</a:t>
            </a:r>
          </a:p>
        </p:txBody>
      </p:sp>
      <p:sp>
        <p:nvSpPr>
          <p:cNvPr id="13" name="TextBox 12"/>
          <p:cNvSpPr txBox="1"/>
          <p:nvPr/>
        </p:nvSpPr>
        <p:spPr>
          <a:xfrm>
            <a:off x="411480" y="2289657"/>
            <a:ext cx="5577840" cy="365760"/>
          </a:xfrm>
          <a:prstGeom prst="rect">
            <a:avLst/>
          </a:prstGeom>
          <a:noFill/>
        </p:spPr>
        <p:txBody>
          <a:bodyPr wrap="square">
            <a:spAutoFit/>
          </a:bodyPr>
          <a:lstStyle/>
          <a:p>
            <a:pPr algn="l"/>
            <a:r>
              <a:rPr sz="1050" b="0" i="0">
                <a:solidFill>
                  <a:srgbClr val="FFFFFF"/>
                </a:solidFill>
                <a:latin typeface="Calibri"/>
              </a:rPr>
              <a:t>▸  221 strategic trigger patterns monitored across 8 data sources</a:t>
            </a:r>
          </a:p>
        </p:txBody>
      </p:sp>
      <p:sp>
        <p:nvSpPr>
          <p:cNvPr id="14" name="TextBox 13"/>
          <p:cNvSpPr txBox="1"/>
          <p:nvPr/>
        </p:nvSpPr>
        <p:spPr>
          <a:xfrm>
            <a:off x="411480" y="2691993"/>
            <a:ext cx="5577840" cy="365760"/>
          </a:xfrm>
          <a:prstGeom prst="rect">
            <a:avLst/>
          </a:prstGeom>
          <a:noFill/>
        </p:spPr>
        <p:txBody>
          <a:bodyPr wrap="square">
            <a:spAutoFit/>
          </a:bodyPr>
          <a:lstStyle/>
          <a:p>
            <a:pPr algn="l"/>
            <a:r>
              <a:rPr sz="1050" b="0" i="0">
                <a:solidFill>
                  <a:srgbClr val="FFFFFF"/>
                </a:solidFill>
                <a:latin typeface="Calibri"/>
              </a:rPr>
              <a:t>▸  248+ data points confidence-scored every 15 minutes</a:t>
            </a:r>
          </a:p>
        </p:txBody>
      </p:sp>
      <p:sp>
        <p:nvSpPr>
          <p:cNvPr id="15" name="TextBox 14"/>
          <p:cNvSpPr txBox="1"/>
          <p:nvPr/>
        </p:nvSpPr>
        <p:spPr>
          <a:xfrm>
            <a:off x="411480" y="3094329"/>
            <a:ext cx="5577840" cy="365760"/>
          </a:xfrm>
          <a:prstGeom prst="rect">
            <a:avLst/>
          </a:prstGeom>
          <a:noFill/>
        </p:spPr>
        <p:txBody>
          <a:bodyPr wrap="square">
            <a:spAutoFit/>
          </a:bodyPr>
          <a:lstStyle/>
          <a:p>
            <a:pPr algn="l"/>
            <a:r>
              <a:rPr sz="1050" b="0" i="0">
                <a:solidFill>
                  <a:srgbClr val="FFFFFF"/>
                </a:solidFill>
                <a:latin typeface="Calibri"/>
              </a:rPr>
              <a:t>▸  AI monitors. Executives authorize. No protocol activates without sign-off.</a:t>
            </a:r>
          </a:p>
        </p:txBody>
      </p:sp>
      <p:sp>
        <p:nvSpPr>
          <p:cNvPr id="16" name="TextBox 15"/>
          <p:cNvSpPr txBox="1"/>
          <p:nvPr/>
        </p:nvSpPr>
        <p:spPr>
          <a:xfrm>
            <a:off x="411480" y="3496665"/>
            <a:ext cx="5577840" cy="365760"/>
          </a:xfrm>
          <a:prstGeom prst="rect">
            <a:avLst/>
          </a:prstGeom>
          <a:noFill/>
        </p:spPr>
        <p:txBody>
          <a:bodyPr wrap="square">
            <a:spAutoFit/>
          </a:bodyPr>
          <a:lstStyle/>
          <a:p>
            <a:pPr algn="l"/>
            <a:r>
              <a:rPr sz="1050" b="0" i="0">
                <a:solidFill>
                  <a:srgbClr val="FFFFFF"/>
                </a:solidFill>
                <a:latin typeface="Calibri"/>
              </a:rPr>
              <a:t>▸  Onboarding = configuration, not a consulting project. 90 days to live.</a:t>
            </a:r>
          </a:p>
        </p:txBody>
      </p:sp>
      <p:sp>
        <p:nvSpPr>
          <p:cNvPr id="17" name="Rectangle 16"/>
          <p:cNvSpPr/>
          <p:nvPr/>
        </p:nvSpPr>
        <p:spPr>
          <a:xfrm>
            <a:off x="411480" y="4027017"/>
            <a:ext cx="5577840" cy="566928"/>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7017"/>
            <a:ext cx="5577840" cy="2011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4081881"/>
            <a:ext cx="5431536" cy="219456"/>
          </a:xfrm>
          <a:prstGeom prst="rect">
            <a:avLst/>
          </a:prstGeom>
          <a:noFill/>
        </p:spPr>
        <p:txBody>
          <a:bodyPr wrap="square">
            <a:spAutoFit/>
          </a:bodyPr>
          <a:lstStyle/>
          <a:p>
            <a:pPr algn="l"/>
            <a:r>
              <a:rPr sz="1000" b="1" i="0">
                <a:solidFill>
                  <a:srgbClr val="2B8A6E"/>
                </a:solidFill>
                <a:latin typeface="Calibri"/>
              </a:rPr>
              <a:t>THE SYSTEM STAGES THE CHOICE IN SECONDS.</a:t>
            </a:r>
          </a:p>
        </p:txBody>
      </p:sp>
      <p:sp>
        <p:nvSpPr>
          <p:cNvPr id="20" name="TextBox 19"/>
          <p:cNvSpPr txBox="1"/>
          <p:nvPr/>
        </p:nvSpPr>
        <p:spPr>
          <a:xfrm>
            <a:off x="530352" y="4319625"/>
            <a:ext cx="5431536" cy="219456"/>
          </a:xfrm>
          <a:prstGeom prst="rect">
            <a:avLst/>
          </a:prstGeom>
          <a:noFill/>
        </p:spPr>
        <p:txBody>
          <a:bodyPr wrap="square">
            <a:spAutoFit/>
          </a:bodyPr>
          <a:lstStyle/>
          <a:p>
            <a:pPr algn="l"/>
            <a:r>
              <a:rPr sz="1000" b="1" i="0">
                <a:solidFill>
                  <a:srgbClr val="2B8A6E"/>
                </a:solidFill>
                <a:latin typeface="Calibri"/>
              </a:rPr>
              <a:t>THE EXECUTIVE MUST CLICK AUTHORIZE.</a:t>
            </a:r>
          </a:p>
        </p:txBody>
      </p:sp>
      <p:sp>
        <p:nvSpPr>
          <p:cNvPr id="21" name="Rectangle 20"/>
          <p:cNvSpPr/>
          <p:nvPr/>
        </p:nvSpPr>
        <p:spPr>
          <a:xfrm>
            <a:off x="411480" y="4758537"/>
            <a:ext cx="530352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4822545"/>
            <a:ext cx="5577840" cy="768096"/>
          </a:xfrm>
          <a:prstGeom prst="rect">
            <a:avLst/>
          </a:prstGeom>
          <a:noFill/>
        </p:spPr>
        <p:txBody>
          <a:bodyPr wrap="square">
            <a:spAutoFit/>
          </a:bodyPr>
          <a:lstStyle/>
          <a:p>
            <a:pPr algn="l"/>
            <a:r>
              <a:rPr sz="850" b="0" i="1">
                <a:solidFill>
                  <a:srgbClr val="AAB4CC"/>
                </a:solidFill>
                <a:latin typeface="Georgia"/>
              </a:rPr>
              <a:t>"Every enterprise has Microsoft's AI stack. None have the operating model to use it. Readiness OS is that operating model layer — not a replacement, the orchestrator."</a:t>
            </a:r>
          </a:p>
        </p:txBody>
      </p:sp>
      <p:sp>
        <p:nvSpPr>
          <p:cNvPr id="23" name="Rectangle 22"/>
          <p:cNvSpPr/>
          <p:nvPr/>
        </p:nvSpPr>
        <p:spPr>
          <a:xfrm>
            <a:off x="6483096" y="566928"/>
            <a:ext cx="5394960" cy="6035040"/>
          </a:xfrm>
          <a:prstGeom prst="rect">
            <a:avLst/>
          </a:prstGeom>
          <a:solidFill>
            <a:srgbClr val="030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82512" y="502920"/>
            <a:ext cx="36576" cy="60350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hq_executes_chain.jpg"/>
          <p:cNvPicPr>
            <a:picLocks noChangeAspect="1"/>
          </p:cNvPicPr>
          <p:nvPr/>
        </p:nvPicPr>
        <p:blipFill>
          <a:blip r:embed="rId2"/>
          <a:stretch>
            <a:fillRect/>
          </a:stretch>
        </p:blipFill>
        <p:spPr>
          <a:xfrm>
            <a:off x="6419088" y="502920"/>
            <a:ext cx="5394960" cy="6035040"/>
          </a:xfrm>
          <a:prstGeom prst="rect">
            <a:avLst/>
          </a:prstGeom>
        </p:spPr>
      </p:pic>
      <p:sp>
        <p:nvSpPr>
          <p:cNvPr id="26" name="Rectangle 25"/>
          <p:cNvSpPr/>
          <p:nvPr/>
        </p:nvSpPr>
        <p:spPr>
          <a:xfrm>
            <a:off x="6419088" y="6355079"/>
            <a:ext cx="5394960" cy="182880"/>
          </a:xfrm>
          <a:prstGeom prst="rect">
            <a:avLst/>
          </a:prstGeom>
          <a:solidFill>
            <a:srgbClr val="050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04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a:t>
            </a:r>
          </a:p>
        </p:txBody>
      </p:sp>
      <p:sp>
        <p:nvSpPr>
          <p:cNvPr id="7" name="TextBox 6"/>
          <p:cNvSpPr txBox="1"/>
          <p:nvPr/>
        </p:nvSpPr>
        <p:spPr>
          <a:xfrm>
            <a:off x="411480" y="237744"/>
            <a:ext cx="11338560" cy="192024"/>
          </a:xfrm>
          <a:prstGeom prst="rect">
            <a:avLst/>
          </a:prstGeom>
          <a:noFill/>
        </p:spPr>
        <p:txBody>
          <a:bodyPr wrap="square">
            <a:spAutoFit/>
          </a:bodyPr>
          <a:lstStyle/>
          <a:p>
            <a:pPr algn="l"/>
            <a:r>
              <a:rPr sz="800" b="1" i="0">
                <a:solidFill>
                  <a:srgbClr val="C9A84C"/>
                </a:solidFill>
                <a:latin typeface="Calibri"/>
              </a:rPr>
              <a:t>WHY WE WIN</a:t>
            </a:r>
          </a:p>
        </p:txBody>
      </p:sp>
      <p:sp>
        <p:nvSpPr>
          <p:cNvPr id="8" name="TextBox 7"/>
          <p:cNvSpPr txBox="1"/>
          <p:nvPr/>
        </p:nvSpPr>
        <p:spPr>
          <a:xfrm>
            <a:off x="411480" y="475488"/>
            <a:ext cx="11338560" cy="536448"/>
          </a:xfrm>
          <a:prstGeom prst="rect">
            <a:avLst/>
          </a:prstGeom>
          <a:noFill/>
        </p:spPr>
        <p:txBody>
          <a:bodyPr wrap="square">
            <a:spAutoFit/>
          </a:bodyPr>
          <a:lstStyle/>
          <a:p>
            <a:pPr algn="l"/>
            <a:r>
              <a:rPr sz="3300" b="1" i="0">
                <a:solidFill>
                  <a:srgbClr val="FFFFFF"/>
                </a:solidFill>
                <a:latin typeface="Calibri"/>
              </a:rPr>
              <a:t>THE MOAT COMPOUNDS.</a:t>
            </a:r>
          </a:p>
        </p:txBody>
      </p:sp>
      <p:sp>
        <p:nvSpPr>
          <p:cNvPr id="9" name="TextBox 8"/>
          <p:cNvSpPr txBox="1"/>
          <p:nvPr/>
        </p:nvSpPr>
        <p:spPr>
          <a:xfrm>
            <a:off x="411480" y="1011936"/>
            <a:ext cx="11338560" cy="357632"/>
          </a:xfrm>
          <a:prstGeom prst="rect">
            <a:avLst/>
          </a:prstGeom>
          <a:noFill/>
        </p:spPr>
        <p:txBody>
          <a:bodyPr wrap="square">
            <a:spAutoFit/>
          </a:bodyPr>
          <a:lstStyle/>
          <a:p>
            <a:pPr algn="l"/>
            <a:r>
              <a:rPr sz="2200" b="1" i="0">
                <a:solidFill>
                  <a:srgbClr val="AAB4CC"/>
                </a:solidFill>
                <a:latin typeface="Calibri"/>
              </a:rPr>
              <a:t>COMPETITORS START AT ZERO.</a:t>
            </a:r>
          </a:p>
        </p:txBody>
      </p:sp>
      <p:sp>
        <p:nvSpPr>
          <p:cNvPr id="10" name="Rectangle 9"/>
          <p:cNvSpPr/>
          <p:nvPr/>
        </p:nvSpPr>
        <p:spPr>
          <a:xfrm>
            <a:off x="411480" y="1497584"/>
            <a:ext cx="1115568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644091"/>
            <a:ext cx="5486400" cy="192024"/>
          </a:xfrm>
          <a:prstGeom prst="rect">
            <a:avLst/>
          </a:prstGeom>
          <a:noFill/>
        </p:spPr>
        <p:txBody>
          <a:bodyPr wrap="square">
            <a:spAutoFit/>
          </a:bodyPr>
          <a:lstStyle/>
          <a:p>
            <a:pPr algn="l"/>
            <a:r>
              <a:rPr sz="800" b="1" i="0">
                <a:solidFill>
                  <a:srgbClr val="C9A84C"/>
                </a:solidFill>
                <a:latin typeface="Calibri"/>
              </a:rPr>
              <a:t>THEY STOP AT ROUTING. WE PRE-STAGE THE ALIGNMENT.</a:t>
            </a:r>
          </a:p>
        </p:txBody>
      </p:sp>
      <p:sp>
        <p:nvSpPr>
          <p:cNvPr id="12" name="TextBox 11"/>
          <p:cNvSpPr txBox="1"/>
          <p:nvPr/>
        </p:nvSpPr>
        <p:spPr>
          <a:xfrm>
            <a:off x="411480" y="1863547"/>
            <a:ext cx="1892807" cy="256032"/>
          </a:xfrm>
          <a:prstGeom prst="rect">
            <a:avLst/>
          </a:prstGeom>
          <a:noFill/>
        </p:spPr>
        <p:txBody>
          <a:bodyPr wrap="square">
            <a:spAutoFit/>
          </a:bodyPr>
          <a:lstStyle/>
          <a:p>
            <a:pPr algn="l"/>
            <a:r>
              <a:rPr sz="950" b="1" i="0">
                <a:solidFill>
                  <a:srgbClr val="C9A84C"/>
                </a:solidFill>
                <a:latin typeface="Calibri"/>
              </a:rPr>
              <a:t>Signal Labs</a:t>
            </a:r>
          </a:p>
        </p:txBody>
      </p:sp>
      <p:sp>
        <p:nvSpPr>
          <p:cNvPr id="13" name="TextBox 12"/>
          <p:cNvSpPr txBox="1"/>
          <p:nvPr/>
        </p:nvSpPr>
        <p:spPr>
          <a:xfrm>
            <a:off x="2377440" y="1863547"/>
            <a:ext cx="3520440" cy="256032"/>
          </a:xfrm>
          <a:prstGeom prst="rect">
            <a:avLst/>
          </a:prstGeom>
          <a:noFill/>
        </p:spPr>
        <p:txBody>
          <a:bodyPr wrap="square">
            <a:spAutoFit/>
          </a:bodyPr>
          <a:lstStyle/>
          <a:p>
            <a:pPr algn="l"/>
            <a:r>
              <a:rPr sz="950" b="0" i="0">
                <a:solidFill>
                  <a:srgbClr val="AAB4CC"/>
                </a:solidFill>
                <a:latin typeface="Calibri"/>
              </a:rPr>
              <a:t>Routes the signal. Stops before the response is staged.</a:t>
            </a:r>
          </a:p>
        </p:txBody>
      </p:sp>
      <p:sp>
        <p:nvSpPr>
          <p:cNvPr id="14" name="Rectangle 13"/>
          <p:cNvSpPr/>
          <p:nvPr/>
        </p:nvSpPr>
        <p:spPr>
          <a:xfrm>
            <a:off x="411480" y="2119579"/>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211019"/>
            <a:ext cx="1892807" cy="256032"/>
          </a:xfrm>
          <a:prstGeom prst="rect">
            <a:avLst/>
          </a:prstGeom>
          <a:noFill/>
        </p:spPr>
        <p:txBody>
          <a:bodyPr wrap="square">
            <a:spAutoFit/>
          </a:bodyPr>
          <a:lstStyle/>
          <a:p>
            <a:pPr algn="l"/>
            <a:r>
              <a:rPr sz="950" b="1" i="0">
                <a:solidFill>
                  <a:srgbClr val="C9A84C"/>
                </a:solidFill>
                <a:latin typeface="Calibri"/>
              </a:rPr>
              <a:t>ServiceNow</a:t>
            </a:r>
          </a:p>
        </p:txBody>
      </p:sp>
      <p:sp>
        <p:nvSpPr>
          <p:cNvPr id="16" name="TextBox 15"/>
          <p:cNvSpPr txBox="1"/>
          <p:nvPr/>
        </p:nvSpPr>
        <p:spPr>
          <a:xfrm>
            <a:off x="2377440" y="2211019"/>
            <a:ext cx="3520440" cy="256032"/>
          </a:xfrm>
          <a:prstGeom prst="rect">
            <a:avLst/>
          </a:prstGeom>
          <a:noFill/>
        </p:spPr>
        <p:txBody>
          <a:bodyPr wrap="square">
            <a:spAutoFit/>
          </a:bodyPr>
          <a:lstStyle/>
          <a:p>
            <a:pPr algn="l"/>
            <a:r>
              <a:rPr sz="950" b="0" i="0">
                <a:solidFill>
                  <a:srgbClr val="AAB4CC"/>
                </a:solidFill>
                <a:latin typeface="Calibri"/>
              </a:rPr>
              <a:t>Async workflow router — post-alignment only. We pre-stage the alignment.</a:t>
            </a:r>
          </a:p>
        </p:txBody>
      </p:sp>
      <p:sp>
        <p:nvSpPr>
          <p:cNvPr id="17" name="Rectangle 16"/>
          <p:cNvSpPr/>
          <p:nvPr/>
        </p:nvSpPr>
        <p:spPr>
          <a:xfrm>
            <a:off x="411480" y="2467051"/>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58491"/>
            <a:ext cx="1892807" cy="256032"/>
          </a:xfrm>
          <a:prstGeom prst="rect">
            <a:avLst/>
          </a:prstGeom>
          <a:noFill/>
        </p:spPr>
        <p:txBody>
          <a:bodyPr wrap="square">
            <a:spAutoFit/>
          </a:bodyPr>
          <a:lstStyle/>
          <a:p>
            <a:pPr algn="l"/>
            <a:r>
              <a:rPr sz="950" b="1" i="0">
                <a:solidFill>
                  <a:srgbClr val="C9A84C"/>
                </a:solidFill>
                <a:latin typeface="Calibri"/>
              </a:rPr>
              <a:t>Microsoft Copilot</a:t>
            </a:r>
          </a:p>
        </p:txBody>
      </p:sp>
      <p:sp>
        <p:nvSpPr>
          <p:cNvPr id="19" name="TextBox 18"/>
          <p:cNvSpPr txBox="1"/>
          <p:nvPr/>
        </p:nvSpPr>
        <p:spPr>
          <a:xfrm>
            <a:off x="2377440" y="2558491"/>
            <a:ext cx="3520440" cy="256032"/>
          </a:xfrm>
          <a:prstGeom prst="rect">
            <a:avLst/>
          </a:prstGeom>
          <a:noFill/>
        </p:spPr>
        <p:txBody>
          <a:bodyPr wrap="square">
            <a:spAutoFit/>
          </a:bodyPr>
          <a:lstStyle/>
          <a:p>
            <a:pPr algn="l"/>
            <a:r>
              <a:rPr sz="950" b="0" i="0">
                <a:solidFill>
                  <a:srgbClr val="AAB4CC"/>
                </a:solidFill>
                <a:latin typeface="Calibri"/>
              </a:rPr>
              <a:t>Produces intelligence. We pre-stage the org response to that intelligence.</a:t>
            </a:r>
          </a:p>
        </p:txBody>
      </p:sp>
      <p:sp>
        <p:nvSpPr>
          <p:cNvPr id="20" name="Rectangle 19"/>
          <p:cNvSpPr/>
          <p:nvPr/>
        </p:nvSpPr>
        <p:spPr>
          <a:xfrm>
            <a:off x="411480" y="2814523"/>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05963"/>
            <a:ext cx="1892807" cy="256032"/>
          </a:xfrm>
          <a:prstGeom prst="rect">
            <a:avLst/>
          </a:prstGeom>
          <a:noFill/>
        </p:spPr>
        <p:txBody>
          <a:bodyPr wrap="square">
            <a:spAutoFit/>
          </a:bodyPr>
          <a:lstStyle/>
          <a:p>
            <a:pPr algn="l"/>
            <a:r>
              <a:rPr sz="950" b="1" i="0">
                <a:solidFill>
                  <a:srgbClr val="C9A84C"/>
                </a:solidFill>
                <a:latin typeface="Calibri"/>
              </a:rPr>
              <a:t>McKinsey</a:t>
            </a:r>
          </a:p>
        </p:txBody>
      </p:sp>
      <p:sp>
        <p:nvSpPr>
          <p:cNvPr id="22" name="TextBox 21"/>
          <p:cNvSpPr txBox="1"/>
          <p:nvPr/>
        </p:nvSpPr>
        <p:spPr>
          <a:xfrm>
            <a:off x="2377440" y="2905963"/>
            <a:ext cx="3520440" cy="256032"/>
          </a:xfrm>
          <a:prstGeom prst="rect">
            <a:avLst/>
          </a:prstGeom>
          <a:noFill/>
        </p:spPr>
        <p:txBody>
          <a:bodyPr wrap="square">
            <a:spAutoFit/>
          </a:bodyPr>
          <a:lstStyle/>
          <a:p>
            <a:pPr algn="l"/>
            <a:r>
              <a:rPr sz="950" b="0" i="0">
                <a:solidFill>
                  <a:srgbClr val="AAB4CC"/>
                </a:solidFill>
                <a:latin typeface="Calibri"/>
              </a:rPr>
              <a:t>Arrives after the trigger. We were ready before the first call.</a:t>
            </a:r>
          </a:p>
        </p:txBody>
      </p:sp>
      <p:sp>
        <p:nvSpPr>
          <p:cNvPr id="23" name="Rectangle 22"/>
          <p:cNvSpPr/>
          <p:nvPr/>
        </p:nvSpPr>
        <p:spPr>
          <a:xfrm>
            <a:off x="411480" y="3161995"/>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344875"/>
            <a:ext cx="5486400" cy="32918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0352" y="3408883"/>
            <a:ext cx="5321808" cy="219456"/>
          </a:xfrm>
          <a:prstGeom prst="rect">
            <a:avLst/>
          </a:prstGeom>
          <a:noFill/>
        </p:spPr>
        <p:txBody>
          <a:bodyPr wrap="square">
            <a:spAutoFit/>
          </a:bodyPr>
          <a:lstStyle/>
          <a:p>
            <a:pPr algn="l"/>
            <a:r>
              <a:rPr sz="1000" b="1" i="1">
                <a:solidFill>
                  <a:srgbClr val="C9A84C"/>
                </a:solidFill>
                <a:latin typeface="Georgia"/>
              </a:rPr>
              <a:t>"They track the work. We engineer the capability to do it."</a:t>
            </a:r>
          </a:p>
        </p:txBody>
      </p:sp>
      <p:sp>
        <p:nvSpPr>
          <p:cNvPr id="26" name="TextBox 25"/>
          <p:cNvSpPr txBox="1"/>
          <p:nvPr/>
        </p:nvSpPr>
        <p:spPr>
          <a:xfrm>
            <a:off x="6419088" y="1644091"/>
            <a:ext cx="5486400" cy="192024"/>
          </a:xfrm>
          <a:prstGeom prst="rect">
            <a:avLst/>
          </a:prstGeom>
          <a:noFill/>
        </p:spPr>
        <p:txBody>
          <a:bodyPr wrap="square">
            <a:spAutoFit/>
          </a:bodyPr>
          <a:lstStyle/>
          <a:p>
            <a:pPr algn="l"/>
            <a:r>
              <a:rPr sz="800" b="1" i="0">
                <a:solidFill>
                  <a:srgbClr val="C9A84C"/>
                </a:solidFill>
                <a:latin typeface="Calibri"/>
              </a:rPr>
              <a:t>THE MOAT — WHAT MAKES US HARD TO CATCH</a:t>
            </a:r>
          </a:p>
        </p:txBody>
      </p:sp>
      <p:sp>
        <p:nvSpPr>
          <p:cNvPr id="27" name="Rectangle 26"/>
          <p:cNvSpPr/>
          <p:nvPr/>
        </p:nvSpPr>
        <p:spPr>
          <a:xfrm>
            <a:off x="6419088" y="1863547"/>
            <a:ext cx="5449824" cy="246888"/>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28816" y="1900123"/>
            <a:ext cx="5230368" cy="192024"/>
          </a:xfrm>
          <a:prstGeom prst="rect">
            <a:avLst/>
          </a:prstGeom>
          <a:noFill/>
        </p:spPr>
        <p:txBody>
          <a:bodyPr wrap="square">
            <a:spAutoFit/>
          </a:bodyPr>
          <a:lstStyle/>
          <a:p>
            <a:pPr algn="l"/>
            <a:r>
              <a:rPr sz="1000" b="1" i="0">
                <a:solidFill>
                  <a:srgbClr val="C9A84C"/>
                </a:solidFill>
                <a:latin typeface="Calibri"/>
              </a:rPr>
              <a:t>Compounding Loop</a:t>
            </a:r>
          </a:p>
        </p:txBody>
      </p:sp>
      <p:sp>
        <p:nvSpPr>
          <p:cNvPr id="29" name="TextBox 28"/>
          <p:cNvSpPr txBox="1"/>
          <p:nvPr/>
        </p:nvSpPr>
        <p:spPr>
          <a:xfrm>
            <a:off x="6528816" y="2156155"/>
            <a:ext cx="5230368" cy="512064"/>
          </a:xfrm>
          <a:prstGeom prst="rect">
            <a:avLst/>
          </a:prstGeom>
          <a:noFill/>
        </p:spPr>
        <p:txBody>
          <a:bodyPr wrap="square">
            <a:spAutoFit/>
          </a:bodyPr>
          <a:lstStyle/>
          <a:p>
            <a:pPr algn="l"/>
            <a:r>
              <a:rPr sz="950" b="0" i="0">
                <a:solidFill>
                  <a:srgbClr val="AAB4CC"/>
                </a:solidFill>
                <a:latin typeface="Calibri"/>
              </a:rPr>
              <a:t>Every activation encodes what held. Preparation compounds after each cycle — permanently.</a:t>
            </a:r>
          </a:p>
        </p:txBody>
      </p:sp>
      <p:sp>
        <p:nvSpPr>
          <p:cNvPr id="30" name="Rectangle 29"/>
          <p:cNvSpPr/>
          <p:nvPr/>
        </p:nvSpPr>
        <p:spPr>
          <a:xfrm>
            <a:off x="6419088" y="2723083"/>
            <a:ext cx="5449824"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19088" y="3033979"/>
            <a:ext cx="5449824" cy="246888"/>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8816" y="3070555"/>
            <a:ext cx="5230368" cy="192024"/>
          </a:xfrm>
          <a:prstGeom prst="rect">
            <a:avLst/>
          </a:prstGeom>
          <a:noFill/>
        </p:spPr>
        <p:txBody>
          <a:bodyPr wrap="square">
            <a:spAutoFit/>
          </a:bodyPr>
          <a:lstStyle/>
          <a:p>
            <a:pPr algn="l"/>
            <a:r>
              <a:rPr sz="1000" b="1" i="0">
                <a:solidFill>
                  <a:srgbClr val="C9A84C"/>
                </a:solidFill>
                <a:latin typeface="Calibri"/>
              </a:rPr>
              <a:t>Org Context Intelligence</a:t>
            </a:r>
          </a:p>
        </p:txBody>
      </p:sp>
      <p:sp>
        <p:nvSpPr>
          <p:cNvPr id="33" name="TextBox 32"/>
          <p:cNvSpPr txBox="1"/>
          <p:nvPr/>
        </p:nvSpPr>
        <p:spPr>
          <a:xfrm>
            <a:off x="6528816" y="3326587"/>
            <a:ext cx="5230368" cy="512064"/>
          </a:xfrm>
          <a:prstGeom prst="rect">
            <a:avLst/>
          </a:prstGeom>
          <a:noFill/>
        </p:spPr>
        <p:txBody>
          <a:bodyPr wrap="square">
            <a:spAutoFit/>
          </a:bodyPr>
          <a:lstStyle/>
          <a:p>
            <a:pPr algn="l"/>
            <a:r>
              <a:rPr sz="950" b="0" i="0">
                <a:solidFill>
                  <a:srgbClr val="AAB4CC"/>
                </a:solidFill>
                <a:latin typeface="Calibri"/>
              </a:rPr>
              <a:t>Signal confidence + preparedness score unique to each org. No generic platform replicates this.</a:t>
            </a:r>
          </a:p>
        </p:txBody>
      </p:sp>
      <p:sp>
        <p:nvSpPr>
          <p:cNvPr id="34" name="Rectangle 33"/>
          <p:cNvSpPr/>
          <p:nvPr/>
        </p:nvSpPr>
        <p:spPr>
          <a:xfrm>
            <a:off x="6419088" y="3893515"/>
            <a:ext cx="5449824"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19088" y="4204411"/>
            <a:ext cx="5449824" cy="246888"/>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4240987"/>
            <a:ext cx="5230368" cy="192024"/>
          </a:xfrm>
          <a:prstGeom prst="rect">
            <a:avLst/>
          </a:prstGeom>
          <a:noFill/>
        </p:spPr>
        <p:txBody>
          <a:bodyPr wrap="square">
            <a:spAutoFit/>
          </a:bodyPr>
          <a:lstStyle/>
          <a:p>
            <a:pPr algn="l"/>
            <a:r>
              <a:rPr sz="1000" b="1" i="0">
                <a:solidFill>
                  <a:srgbClr val="C9A84C"/>
                </a:solidFill>
                <a:latin typeface="Calibri"/>
              </a:rPr>
              <a:t>Encoding Permanence</a:t>
            </a:r>
          </a:p>
        </p:txBody>
      </p:sp>
      <p:sp>
        <p:nvSpPr>
          <p:cNvPr id="37" name="TextBox 36"/>
          <p:cNvSpPr txBox="1"/>
          <p:nvPr/>
        </p:nvSpPr>
        <p:spPr>
          <a:xfrm>
            <a:off x="6528816" y="4497019"/>
            <a:ext cx="5230368" cy="512064"/>
          </a:xfrm>
          <a:prstGeom prst="rect">
            <a:avLst/>
          </a:prstGeom>
          <a:noFill/>
        </p:spPr>
        <p:txBody>
          <a:bodyPr wrap="square">
            <a:spAutoFit/>
          </a:bodyPr>
          <a:lstStyle/>
          <a:p>
            <a:pPr algn="l"/>
            <a:r>
              <a:rPr sz="950" b="0" i="0">
                <a:solidFill>
                  <a:srgbClr val="AAB4CC"/>
                </a:solidFill>
                <a:latin typeface="Calibri"/>
              </a:rPr>
              <a:t>18 months of activations creates an intelligence layer competitors cannot offer on day one.</a:t>
            </a:r>
          </a:p>
        </p:txBody>
      </p:sp>
      <p:sp>
        <p:nvSpPr>
          <p:cNvPr id="38" name="Rectangle 37"/>
          <p:cNvSpPr/>
          <p:nvPr/>
        </p:nvSpPr>
        <p:spPr>
          <a:xfrm>
            <a:off x="411480" y="5521147"/>
            <a:ext cx="1106424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5594299"/>
            <a:ext cx="11064240" cy="768096"/>
          </a:xfrm>
          <a:prstGeom prst="rect">
            <a:avLst/>
          </a:prstGeom>
          <a:noFill/>
        </p:spPr>
        <p:txBody>
          <a:bodyPr wrap="square">
            <a:spAutoFit/>
          </a:bodyPr>
          <a:lstStyle/>
          <a:p>
            <a:pPr algn="l"/>
            <a:r>
              <a:rPr sz="900" b="0" i="1">
                <a:solidFill>
                  <a:srgbClr val="AAB4CC"/>
                </a:solidFill>
                <a:latin typeface="Georgia"/>
              </a:rPr>
              <a:t>"Signal Labs routes the signal. ServiceNow runs the workflow. McKinsey arrives after the trigger. We had the response pre-staged before any of them were called — and the data moat becomes completely unassailable over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05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vaughnmartin.com/how-it-executes</a:t>
            </a:r>
          </a:p>
        </p:txBody>
      </p:sp>
      <p:sp>
        <p:nvSpPr>
          <p:cNvPr id="7" name="TextBox 6"/>
          <p:cNvSpPr txBox="1"/>
          <p:nvPr/>
        </p:nvSpPr>
        <p:spPr>
          <a:xfrm>
            <a:off x="411480" y="237744"/>
            <a:ext cx="5577840" cy="192024"/>
          </a:xfrm>
          <a:prstGeom prst="rect">
            <a:avLst/>
          </a:prstGeom>
          <a:noFill/>
        </p:spPr>
        <p:txBody>
          <a:bodyPr wrap="square">
            <a:spAutoFit/>
          </a:bodyPr>
          <a:lstStyle/>
          <a:p>
            <a:pPr algn="l"/>
            <a:r>
              <a:rPr sz="800" b="1" i="0">
                <a:solidFill>
                  <a:srgbClr val="C9A84C"/>
                </a:solidFill>
                <a:latin typeface="Calibri"/>
              </a:rPr>
              <a:t>HOW IT WORKS</a:t>
            </a:r>
          </a:p>
        </p:txBody>
      </p:sp>
      <p:sp>
        <p:nvSpPr>
          <p:cNvPr id="8" name="TextBox 7"/>
          <p:cNvSpPr txBox="1"/>
          <p:nvPr/>
        </p:nvSpPr>
        <p:spPr>
          <a:xfrm>
            <a:off x="411480" y="475488"/>
            <a:ext cx="5577840" cy="455168"/>
          </a:xfrm>
          <a:prstGeom prst="rect">
            <a:avLst/>
          </a:prstGeom>
          <a:noFill/>
        </p:spPr>
        <p:txBody>
          <a:bodyPr wrap="square">
            <a:spAutoFit/>
          </a:bodyPr>
          <a:lstStyle/>
          <a:p>
            <a:pPr algn="l"/>
            <a:r>
              <a:rPr sz="2800" b="1" i="0">
                <a:solidFill>
                  <a:srgbClr val="FFFFFF"/>
                </a:solidFill>
                <a:latin typeface="Calibri"/>
              </a:rPr>
              <a:t>FROM TRIGGER TO</a:t>
            </a:r>
          </a:p>
        </p:txBody>
      </p:sp>
      <p:sp>
        <p:nvSpPr>
          <p:cNvPr id="9" name="TextBox 8"/>
          <p:cNvSpPr txBox="1"/>
          <p:nvPr/>
        </p:nvSpPr>
        <p:spPr>
          <a:xfrm>
            <a:off x="411480" y="930656"/>
            <a:ext cx="5577840" cy="455168"/>
          </a:xfrm>
          <a:prstGeom prst="rect">
            <a:avLst/>
          </a:prstGeom>
          <a:noFill/>
        </p:spPr>
        <p:txBody>
          <a:bodyPr wrap="square">
            <a:spAutoFit/>
          </a:bodyPr>
          <a:lstStyle/>
          <a:p>
            <a:pPr algn="l"/>
            <a:r>
              <a:rPr sz="2800" b="1" i="0">
                <a:solidFill>
                  <a:srgbClr val="C9A84C"/>
                </a:solidFill>
                <a:latin typeface="Calibri"/>
              </a:rPr>
              <a:t>EXECUTION IN 12 MINUTES.</a:t>
            </a:r>
          </a:p>
        </p:txBody>
      </p:sp>
      <p:sp>
        <p:nvSpPr>
          <p:cNvPr id="10" name="Rectangle 9"/>
          <p:cNvSpPr/>
          <p:nvPr/>
        </p:nvSpPr>
        <p:spPr>
          <a:xfrm>
            <a:off x="411480" y="1513840"/>
            <a:ext cx="548640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660550"/>
            <a:ext cx="457200" cy="438912"/>
          </a:xfrm>
          <a:prstGeom prst="rect">
            <a:avLst/>
          </a:prstGeom>
          <a:noFill/>
        </p:spPr>
        <p:txBody>
          <a:bodyPr wrap="square">
            <a:spAutoFit/>
          </a:bodyPr>
          <a:lstStyle/>
          <a:p>
            <a:pPr algn="l"/>
            <a:r>
              <a:rPr sz="1600" b="1" i="0">
                <a:solidFill>
                  <a:srgbClr val="C9A84C"/>
                </a:solidFill>
                <a:latin typeface="Calibri"/>
              </a:rPr>
              <a:t>①</a:t>
            </a:r>
          </a:p>
        </p:txBody>
      </p:sp>
      <p:sp>
        <p:nvSpPr>
          <p:cNvPr id="12" name="TextBox 11"/>
          <p:cNvSpPr txBox="1"/>
          <p:nvPr/>
        </p:nvSpPr>
        <p:spPr>
          <a:xfrm>
            <a:off x="914400" y="1697126"/>
            <a:ext cx="5084064" cy="365760"/>
          </a:xfrm>
          <a:prstGeom prst="rect">
            <a:avLst/>
          </a:prstGeom>
          <a:noFill/>
        </p:spPr>
        <p:txBody>
          <a:bodyPr wrap="square">
            <a:spAutoFit/>
          </a:bodyPr>
          <a:lstStyle/>
          <a:p>
            <a:pPr algn="l"/>
            <a:r>
              <a:rPr sz="1050" b="0" i="0">
                <a:solidFill>
                  <a:srgbClr val="FFFFFF"/>
                </a:solidFill>
                <a:latin typeface="Calibri"/>
              </a:rPr>
              <a:t>Signal detected — confidence scored against 221 strategic trigger patterns</a:t>
            </a:r>
          </a:p>
        </p:txBody>
      </p:sp>
      <p:sp>
        <p:nvSpPr>
          <p:cNvPr id="13" name="TextBox 12"/>
          <p:cNvSpPr txBox="1"/>
          <p:nvPr/>
        </p:nvSpPr>
        <p:spPr>
          <a:xfrm>
            <a:off x="411480" y="2172614"/>
            <a:ext cx="457200" cy="438912"/>
          </a:xfrm>
          <a:prstGeom prst="rect">
            <a:avLst/>
          </a:prstGeom>
          <a:noFill/>
        </p:spPr>
        <p:txBody>
          <a:bodyPr wrap="square">
            <a:spAutoFit/>
          </a:bodyPr>
          <a:lstStyle/>
          <a:p>
            <a:pPr algn="l"/>
            <a:r>
              <a:rPr sz="1600" b="1" i="0">
                <a:solidFill>
                  <a:srgbClr val="C9A84C"/>
                </a:solidFill>
                <a:latin typeface="Calibri"/>
              </a:rPr>
              <a:t>②</a:t>
            </a:r>
          </a:p>
        </p:txBody>
      </p:sp>
      <p:sp>
        <p:nvSpPr>
          <p:cNvPr id="14" name="TextBox 13"/>
          <p:cNvSpPr txBox="1"/>
          <p:nvPr/>
        </p:nvSpPr>
        <p:spPr>
          <a:xfrm>
            <a:off x="914400" y="2209190"/>
            <a:ext cx="5084064" cy="365760"/>
          </a:xfrm>
          <a:prstGeom prst="rect">
            <a:avLst/>
          </a:prstGeom>
          <a:noFill/>
        </p:spPr>
        <p:txBody>
          <a:bodyPr wrap="square">
            <a:spAutoFit/>
          </a:bodyPr>
          <a:lstStyle/>
          <a:p>
            <a:pPr algn="l"/>
            <a:r>
              <a:rPr sz="1050" b="0" i="0">
                <a:solidFill>
                  <a:srgbClr val="FFFFFF"/>
                </a:solidFill>
                <a:latin typeface="Calibri"/>
              </a:rPr>
              <a:t>Matching Readiness Protocol staged — tasks assigned, stakeholders mapped</a:t>
            </a:r>
          </a:p>
        </p:txBody>
      </p:sp>
      <p:sp>
        <p:nvSpPr>
          <p:cNvPr id="15" name="TextBox 14"/>
          <p:cNvSpPr txBox="1"/>
          <p:nvPr/>
        </p:nvSpPr>
        <p:spPr>
          <a:xfrm>
            <a:off x="411480" y="2684678"/>
            <a:ext cx="457200" cy="438912"/>
          </a:xfrm>
          <a:prstGeom prst="rect">
            <a:avLst/>
          </a:prstGeom>
          <a:noFill/>
        </p:spPr>
        <p:txBody>
          <a:bodyPr wrap="square">
            <a:spAutoFit/>
          </a:bodyPr>
          <a:lstStyle/>
          <a:p>
            <a:pPr algn="l"/>
            <a:r>
              <a:rPr sz="1600" b="1" i="0">
                <a:solidFill>
                  <a:srgbClr val="C9A84C"/>
                </a:solidFill>
                <a:latin typeface="Calibri"/>
              </a:rPr>
              <a:t>③</a:t>
            </a:r>
          </a:p>
        </p:txBody>
      </p:sp>
      <p:sp>
        <p:nvSpPr>
          <p:cNvPr id="16" name="TextBox 15"/>
          <p:cNvSpPr txBox="1"/>
          <p:nvPr/>
        </p:nvSpPr>
        <p:spPr>
          <a:xfrm>
            <a:off x="914400" y="2721254"/>
            <a:ext cx="5084064" cy="365760"/>
          </a:xfrm>
          <a:prstGeom prst="rect">
            <a:avLst/>
          </a:prstGeom>
          <a:noFill/>
        </p:spPr>
        <p:txBody>
          <a:bodyPr wrap="square">
            <a:spAutoFit/>
          </a:bodyPr>
          <a:lstStyle/>
          <a:p>
            <a:pPr algn="l"/>
            <a:r>
              <a:rPr sz="1050" b="0" i="0">
                <a:solidFill>
                  <a:srgbClr val="FFFFFF"/>
                </a:solidFill>
                <a:latin typeface="Calibri"/>
              </a:rPr>
              <a:t>Board-ready execution brief delivered in &lt; 120 seconds — authority chain mapped</a:t>
            </a:r>
          </a:p>
        </p:txBody>
      </p:sp>
      <p:sp>
        <p:nvSpPr>
          <p:cNvPr id="17" name="TextBox 16"/>
          <p:cNvSpPr txBox="1"/>
          <p:nvPr/>
        </p:nvSpPr>
        <p:spPr>
          <a:xfrm>
            <a:off x="411480" y="3196742"/>
            <a:ext cx="457200" cy="438912"/>
          </a:xfrm>
          <a:prstGeom prst="rect">
            <a:avLst/>
          </a:prstGeom>
          <a:noFill/>
        </p:spPr>
        <p:txBody>
          <a:bodyPr wrap="square">
            <a:spAutoFit/>
          </a:bodyPr>
          <a:lstStyle/>
          <a:p>
            <a:pPr algn="l"/>
            <a:r>
              <a:rPr sz="1600" b="1" i="0">
                <a:solidFill>
                  <a:srgbClr val="C9A84C"/>
                </a:solidFill>
                <a:latin typeface="Calibri"/>
              </a:rPr>
              <a:t>④</a:t>
            </a:r>
          </a:p>
        </p:txBody>
      </p:sp>
      <p:sp>
        <p:nvSpPr>
          <p:cNvPr id="18" name="TextBox 17"/>
          <p:cNvSpPr txBox="1"/>
          <p:nvPr/>
        </p:nvSpPr>
        <p:spPr>
          <a:xfrm>
            <a:off x="914400" y="3233318"/>
            <a:ext cx="5084064" cy="365760"/>
          </a:xfrm>
          <a:prstGeom prst="rect">
            <a:avLst/>
          </a:prstGeom>
          <a:noFill/>
        </p:spPr>
        <p:txBody>
          <a:bodyPr wrap="square">
            <a:spAutoFit/>
          </a:bodyPr>
          <a:lstStyle/>
          <a:p>
            <a:pPr algn="l"/>
            <a:r>
              <a:rPr sz="1050" b="0" i="0">
                <a:solidFill>
                  <a:srgbClr val="FFFFFF"/>
                </a:solidFill>
                <a:latin typeface="Calibri"/>
              </a:rPr>
              <a:t>Executive authorizes — four real choices including Stand Down. No autonomous action.</a:t>
            </a:r>
          </a:p>
        </p:txBody>
      </p:sp>
      <p:sp>
        <p:nvSpPr>
          <p:cNvPr id="19" name="TextBox 18"/>
          <p:cNvSpPr txBox="1"/>
          <p:nvPr/>
        </p:nvSpPr>
        <p:spPr>
          <a:xfrm>
            <a:off x="411480" y="3708806"/>
            <a:ext cx="457200" cy="438912"/>
          </a:xfrm>
          <a:prstGeom prst="rect">
            <a:avLst/>
          </a:prstGeom>
          <a:noFill/>
        </p:spPr>
        <p:txBody>
          <a:bodyPr wrap="square">
            <a:spAutoFit/>
          </a:bodyPr>
          <a:lstStyle/>
          <a:p>
            <a:pPr algn="l"/>
            <a:r>
              <a:rPr sz="1600" b="1" i="0">
                <a:solidFill>
                  <a:srgbClr val="C9A84C"/>
                </a:solidFill>
                <a:latin typeface="Calibri"/>
              </a:rPr>
              <a:t>⑤</a:t>
            </a:r>
          </a:p>
        </p:txBody>
      </p:sp>
      <p:sp>
        <p:nvSpPr>
          <p:cNvPr id="20" name="TextBox 19"/>
          <p:cNvSpPr txBox="1"/>
          <p:nvPr/>
        </p:nvSpPr>
        <p:spPr>
          <a:xfrm>
            <a:off x="914400" y="3745382"/>
            <a:ext cx="5084064" cy="365760"/>
          </a:xfrm>
          <a:prstGeom prst="rect">
            <a:avLst/>
          </a:prstGeom>
          <a:noFill/>
        </p:spPr>
        <p:txBody>
          <a:bodyPr wrap="square">
            <a:spAutoFit/>
          </a:bodyPr>
          <a:lstStyle/>
          <a:p>
            <a:pPr algn="l"/>
            <a:r>
              <a:rPr sz="1050" b="0" i="0">
                <a:solidFill>
                  <a:srgbClr val="FFFFFF"/>
                </a:solidFill>
                <a:latin typeface="Calibri"/>
              </a:rPr>
              <a:t>Response live — 12 minutes from signal to coordinated organizational execution</a:t>
            </a:r>
          </a:p>
        </p:txBody>
      </p:sp>
      <p:sp>
        <p:nvSpPr>
          <p:cNvPr id="21" name="Rectangle 20"/>
          <p:cNvSpPr/>
          <p:nvPr/>
        </p:nvSpPr>
        <p:spPr>
          <a:xfrm>
            <a:off x="411480" y="4367174"/>
            <a:ext cx="5577840" cy="658368"/>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367174"/>
            <a:ext cx="5577840"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4412894"/>
            <a:ext cx="5376672" cy="256032"/>
          </a:xfrm>
          <a:prstGeom prst="rect">
            <a:avLst/>
          </a:prstGeom>
          <a:noFill/>
        </p:spPr>
        <p:txBody>
          <a:bodyPr wrap="square">
            <a:spAutoFit/>
          </a:bodyPr>
          <a:lstStyle/>
          <a:p>
            <a:pPr algn="l"/>
            <a:r>
              <a:rPr sz="1000" b="1" i="0">
                <a:solidFill>
                  <a:srgbClr val="C9A84C"/>
                </a:solidFill>
                <a:latin typeface="Calibri"/>
              </a:rPr>
              <a:t>3,600×  EXECUTION HEAD START</a:t>
            </a:r>
          </a:p>
        </p:txBody>
      </p:sp>
      <p:sp>
        <p:nvSpPr>
          <p:cNvPr id="24" name="TextBox 23"/>
          <p:cNvSpPr txBox="1"/>
          <p:nvPr/>
        </p:nvSpPr>
        <p:spPr>
          <a:xfrm>
            <a:off x="539496" y="4696358"/>
            <a:ext cx="5376672" cy="274320"/>
          </a:xfrm>
          <a:prstGeom prst="rect">
            <a:avLst/>
          </a:prstGeom>
          <a:noFill/>
        </p:spPr>
        <p:txBody>
          <a:bodyPr wrap="square">
            <a:spAutoFit/>
          </a:bodyPr>
          <a:lstStyle/>
          <a:p>
            <a:pPr algn="l"/>
            <a:r>
              <a:rPr sz="850" b="0" i="0">
                <a:solidFill>
                  <a:srgbClr val="AAB4CC"/>
                </a:solidFill>
                <a:latin typeface="Calibri"/>
              </a:rPr>
              <a:t>30 days of mobilization compressed to 12 minutes  ·  startup to Fortune 500</a:t>
            </a:r>
          </a:p>
        </p:txBody>
      </p:sp>
      <p:sp>
        <p:nvSpPr>
          <p:cNvPr id="25" name="Rectangle 24"/>
          <p:cNvSpPr/>
          <p:nvPr/>
        </p:nvSpPr>
        <p:spPr>
          <a:xfrm>
            <a:off x="411480" y="5190134"/>
            <a:ext cx="530352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5254142"/>
            <a:ext cx="5577840" cy="768096"/>
          </a:xfrm>
          <a:prstGeom prst="rect">
            <a:avLst/>
          </a:prstGeom>
          <a:noFill/>
        </p:spPr>
        <p:txBody>
          <a:bodyPr wrap="square">
            <a:spAutoFit/>
          </a:bodyPr>
          <a:lstStyle/>
          <a:p>
            <a:pPr algn="l"/>
            <a:r>
              <a:rPr sz="850" b="0" i="1">
                <a:solidFill>
                  <a:srgbClr val="AAB4CC"/>
                </a:solidFill>
                <a:latin typeface="Georgia"/>
              </a:rPr>
              <a:t>"The AI monitors, but humans decide. We turn 30 days of chaos and a potential $47M penalty into a controlled, 12-minute executive sign-off."</a:t>
            </a:r>
          </a:p>
        </p:txBody>
      </p:sp>
      <p:sp>
        <p:nvSpPr>
          <p:cNvPr id="27" name="Rectangle 26"/>
          <p:cNvSpPr/>
          <p:nvPr/>
        </p:nvSpPr>
        <p:spPr>
          <a:xfrm>
            <a:off x="6483096" y="566928"/>
            <a:ext cx="5394960" cy="6035040"/>
          </a:xfrm>
          <a:prstGeom prst="rect">
            <a:avLst/>
          </a:prstGeom>
          <a:solidFill>
            <a:srgbClr val="030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82512" y="502920"/>
            <a:ext cx="36576" cy="60350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hq_12min_scenarios.jpg"/>
          <p:cNvPicPr>
            <a:picLocks noChangeAspect="1"/>
          </p:cNvPicPr>
          <p:nvPr/>
        </p:nvPicPr>
        <p:blipFill>
          <a:blip r:embed="rId2"/>
          <a:stretch>
            <a:fillRect/>
          </a:stretch>
        </p:blipFill>
        <p:spPr>
          <a:xfrm>
            <a:off x="6419088" y="502920"/>
            <a:ext cx="5394960" cy="6035040"/>
          </a:xfrm>
          <a:prstGeom prst="rect">
            <a:avLst/>
          </a:prstGeom>
        </p:spPr>
      </p:pic>
      <p:sp>
        <p:nvSpPr>
          <p:cNvPr id="30" name="Rectangle 29"/>
          <p:cNvSpPr/>
          <p:nvPr/>
        </p:nvSpPr>
        <p:spPr>
          <a:xfrm>
            <a:off x="6419088" y="6355079"/>
            <a:ext cx="5394960" cy="182880"/>
          </a:xfrm>
          <a:prstGeom prst="rect">
            <a:avLst/>
          </a:prstGeom>
          <a:solidFill>
            <a:srgbClr val="050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06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vaughnmartin.com/proof-story</a:t>
            </a:r>
          </a:p>
        </p:txBody>
      </p:sp>
      <p:sp>
        <p:nvSpPr>
          <p:cNvPr id="7" name="TextBox 6"/>
          <p:cNvSpPr txBox="1"/>
          <p:nvPr/>
        </p:nvSpPr>
        <p:spPr>
          <a:xfrm>
            <a:off x="411480" y="237744"/>
            <a:ext cx="5577840" cy="192024"/>
          </a:xfrm>
          <a:prstGeom prst="rect">
            <a:avLst/>
          </a:prstGeom>
          <a:noFill/>
        </p:spPr>
        <p:txBody>
          <a:bodyPr wrap="square">
            <a:spAutoFit/>
          </a:bodyPr>
          <a:lstStyle/>
          <a:p>
            <a:pPr algn="l"/>
            <a:r>
              <a:rPr sz="800" b="1" i="0">
                <a:solidFill>
                  <a:srgbClr val="C9A84C"/>
                </a:solidFill>
                <a:latin typeface="Calibri"/>
              </a:rPr>
              <a:t>PROOF — NOW, NOT ROADMAP</a:t>
            </a:r>
          </a:p>
        </p:txBody>
      </p:sp>
      <p:sp>
        <p:nvSpPr>
          <p:cNvPr id="8" name="TextBox 7"/>
          <p:cNvSpPr txBox="1"/>
          <p:nvPr/>
        </p:nvSpPr>
        <p:spPr>
          <a:xfrm>
            <a:off x="411480" y="475488"/>
            <a:ext cx="5577840" cy="617728"/>
          </a:xfrm>
          <a:prstGeom prst="rect">
            <a:avLst/>
          </a:prstGeom>
          <a:noFill/>
        </p:spPr>
        <p:txBody>
          <a:bodyPr wrap="square">
            <a:spAutoFit/>
          </a:bodyPr>
          <a:lstStyle/>
          <a:p>
            <a:pPr algn="l"/>
            <a:r>
              <a:rPr sz="3800" b="1" i="0">
                <a:solidFill>
                  <a:srgbClr val="FFFFFF"/>
                </a:solidFill>
                <a:latin typeface="Calibri"/>
              </a:rPr>
              <a:t>BUILT.</a:t>
            </a:r>
          </a:p>
        </p:txBody>
      </p:sp>
      <p:sp>
        <p:nvSpPr>
          <p:cNvPr id="9" name="TextBox 8"/>
          <p:cNvSpPr txBox="1"/>
          <p:nvPr/>
        </p:nvSpPr>
        <p:spPr>
          <a:xfrm>
            <a:off x="411480" y="1093216"/>
            <a:ext cx="5577840" cy="617728"/>
          </a:xfrm>
          <a:prstGeom prst="rect">
            <a:avLst/>
          </a:prstGeom>
          <a:noFill/>
        </p:spPr>
        <p:txBody>
          <a:bodyPr wrap="square">
            <a:spAutoFit/>
          </a:bodyPr>
          <a:lstStyle/>
          <a:p>
            <a:pPr algn="l"/>
            <a:r>
              <a:rPr sz="3800" b="1" i="0">
                <a:solidFill>
                  <a:srgbClr val="C9A84C"/>
                </a:solidFill>
                <a:latin typeface="Calibri"/>
              </a:rPr>
              <a:t>LIVE.</a:t>
            </a:r>
          </a:p>
        </p:txBody>
      </p:sp>
      <p:sp>
        <p:nvSpPr>
          <p:cNvPr id="10" name="TextBox 9"/>
          <p:cNvSpPr txBox="1"/>
          <p:nvPr/>
        </p:nvSpPr>
        <p:spPr>
          <a:xfrm>
            <a:off x="411480" y="1710943"/>
            <a:ext cx="5577840" cy="357632"/>
          </a:xfrm>
          <a:prstGeom prst="rect">
            <a:avLst/>
          </a:prstGeom>
          <a:noFill/>
        </p:spPr>
        <p:txBody>
          <a:bodyPr wrap="square">
            <a:spAutoFit/>
          </a:bodyPr>
          <a:lstStyle/>
          <a:p>
            <a:pPr algn="l"/>
            <a:r>
              <a:rPr sz="2200" b="1" i="0">
                <a:solidFill>
                  <a:srgbClr val="AAB4CC"/>
                </a:solidFill>
                <a:latin typeface="Calibri"/>
              </a:rPr>
              <a:t>IN PRODUCTION NOW.</a:t>
            </a:r>
          </a:p>
        </p:txBody>
      </p:sp>
      <p:sp>
        <p:nvSpPr>
          <p:cNvPr id="11" name="Rectangle 10"/>
          <p:cNvSpPr/>
          <p:nvPr/>
        </p:nvSpPr>
        <p:spPr>
          <a:xfrm>
            <a:off x="411480" y="2196592"/>
            <a:ext cx="548640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342692"/>
            <a:ext cx="5577840" cy="365760"/>
          </a:xfrm>
          <a:prstGeom prst="rect">
            <a:avLst/>
          </a:prstGeom>
          <a:noFill/>
        </p:spPr>
        <p:txBody>
          <a:bodyPr wrap="square">
            <a:spAutoFit/>
          </a:bodyPr>
          <a:lstStyle/>
          <a:p>
            <a:pPr algn="l"/>
            <a:r>
              <a:rPr sz="1050" b="0" i="0">
                <a:solidFill>
                  <a:srgbClr val="FFFFFF"/>
                </a:solidFill>
                <a:latin typeface="Calibri"/>
              </a:rPr>
              <a:t>▸  Production platform live — vaughnmartin.com</a:t>
            </a:r>
          </a:p>
        </p:txBody>
      </p:sp>
      <p:sp>
        <p:nvSpPr>
          <p:cNvPr id="13" name="TextBox 12"/>
          <p:cNvSpPr txBox="1"/>
          <p:nvPr/>
        </p:nvSpPr>
        <p:spPr>
          <a:xfrm>
            <a:off x="411480" y="2745028"/>
            <a:ext cx="5577840" cy="365760"/>
          </a:xfrm>
          <a:prstGeom prst="rect">
            <a:avLst/>
          </a:prstGeom>
          <a:noFill/>
        </p:spPr>
        <p:txBody>
          <a:bodyPr wrap="square">
            <a:spAutoFit/>
          </a:bodyPr>
          <a:lstStyle/>
          <a:p>
            <a:pPr algn="l"/>
            <a:r>
              <a:rPr sz="1050" b="0" i="0">
                <a:solidFill>
                  <a:srgbClr val="FFFFFF"/>
                </a:solidFill>
                <a:latin typeface="Calibri"/>
              </a:rPr>
              <a:t>▸  170 protocols active  ·  221 triggers monitored  ·  248+ data points</a:t>
            </a:r>
          </a:p>
        </p:txBody>
      </p:sp>
      <p:sp>
        <p:nvSpPr>
          <p:cNvPr id="14" name="TextBox 13"/>
          <p:cNvSpPr txBox="1"/>
          <p:nvPr/>
        </p:nvSpPr>
        <p:spPr>
          <a:xfrm>
            <a:off x="411480" y="3147364"/>
            <a:ext cx="5577840" cy="365760"/>
          </a:xfrm>
          <a:prstGeom prst="rect">
            <a:avLst/>
          </a:prstGeom>
          <a:noFill/>
        </p:spPr>
        <p:txBody>
          <a:bodyPr wrap="square">
            <a:spAutoFit/>
          </a:bodyPr>
          <a:lstStyle/>
          <a:p>
            <a:pPr algn="l"/>
            <a:r>
              <a:rPr sz="1050" b="0" i="0">
                <a:solidFill>
                  <a:srgbClr val="FFFFFF"/>
                </a:solidFill>
                <a:latin typeface="Calibri"/>
              </a:rPr>
              <a:t>▸  Full execution walkthrough live at vaughnmartin.com/how-it-executes</a:t>
            </a:r>
          </a:p>
        </p:txBody>
      </p:sp>
      <p:sp>
        <p:nvSpPr>
          <p:cNvPr id="15" name="TextBox 14"/>
          <p:cNvSpPr txBox="1"/>
          <p:nvPr/>
        </p:nvSpPr>
        <p:spPr>
          <a:xfrm>
            <a:off x="411480" y="3549700"/>
            <a:ext cx="5577840" cy="365760"/>
          </a:xfrm>
          <a:prstGeom prst="rect">
            <a:avLst/>
          </a:prstGeom>
          <a:noFill/>
        </p:spPr>
        <p:txBody>
          <a:bodyPr wrap="square">
            <a:spAutoFit/>
          </a:bodyPr>
          <a:lstStyle/>
          <a:p>
            <a:pPr algn="l"/>
            <a:r>
              <a:rPr sz="1050" b="0" i="0">
                <a:solidFill>
                  <a:srgbClr val="FFFFFF"/>
                </a:solidFill>
                <a:latin typeface="Calibri"/>
              </a:rPr>
              <a:t>▸  12-Minute Test Drive — run any of 7 real scenarios, live now</a:t>
            </a:r>
          </a:p>
        </p:txBody>
      </p:sp>
      <p:sp>
        <p:nvSpPr>
          <p:cNvPr id="16" name="TextBox 15"/>
          <p:cNvSpPr txBox="1"/>
          <p:nvPr/>
        </p:nvSpPr>
        <p:spPr>
          <a:xfrm>
            <a:off x="411480" y="3952036"/>
            <a:ext cx="5577840" cy="365760"/>
          </a:xfrm>
          <a:prstGeom prst="rect">
            <a:avLst/>
          </a:prstGeom>
          <a:noFill/>
        </p:spPr>
        <p:txBody>
          <a:bodyPr wrap="square">
            <a:spAutoFit/>
          </a:bodyPr>
          <a:lstStyle/>
          <a:p>
            <a:pPr algn="l"/>
            <a:r>
              <a:rPr sz="1050" b="0" i="0">
                <a:solidFill>
                  <a:srgbClr val="FFFFFF"/>
                </a:solidFill>
                <a:latin typeface="Calibri"/>
              </a:rPr>
              <a:t>▸  Founding Partner cohort open for 90-day validation partnership</a:t>
            </a:r>
          </a:p>
        </p:txBody>
      </p:sp>
      <p:sp>
        <p:nvSpPr>
          <p:cNvPr id="17" name="Rectangle 16"/>
          <p:cNvSpPr/>
          <p:nvPr/>
        </p:nvSpPr>
        <p:spPr>
          <a:xfrm>
            <a:off x="411480" y="4537252"/>
            <a:ext cx="530352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01260"/>
            <a:ext cx="5577840" cy="768096"/>
          </a:xfrm>
          <a:prstGeom prst="rect">
            <a:avLst/>
          </a:prstGeom>
          <a:noFill/>
        </p:spPr>
        <p:txBody>
          <a:bodyPr wrap="square">
            <a:spAutoFit/>
          </a:bodyPr>
          <a:lstStyle/>
          <a:p>
            <a:pPr algn="l"/>
            <a:r>
              <a:rPr sz="850" b="0" i="1">
                <a:solidFill>
                  <a:srgbClr val="AAB4CC"/>
                </a:solidFill>
                <a:latin typeface="Georgia"/>
              </a:rPr>
              <a:t>"Same trigger. Same company. Entirely different outcome. The only variable: whether the response was pre-staged before the trigger fired."</a:t>
            </a:r>
          </a:p>
        </p:txBody>
      </p:sp>
      <p:sp>
        <p:nvSpPr>
          <p:cNvPr id="19" name="Rectangle 18"/>
          <p:cNvSpPr/>
          <p:nvPr/>
        </p:nvSpPr>
        <p:spPr>
          <a:xfrm>
            <a:off x="6483096" y="566928"/>
            <a:ext cx="5394960" cy="6035040"/>
          </a:xfrm>
          <a:prstGeom prst="rect">
            <a:avLst/>
          </a:prstGeom>
          <a:solidFill>
            <a:srgbClr val="030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82512" y="502920"/>
            <a:ext cx="36576" cy="60350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q_proof_timelines.jpg"/>
          <p:cNvPicPr>
            <a:picLocks noChangeAspect="1"/>
          </p:cNvPicPr>
          <p:nvPr/>
        </p:nvPicPr>
        <p:blipFill>
          <a:blip r:embed="rId2"/>
          <a:stretch>
            <a:fillRect/>
          </a:stretch>
        </p:blipFill>
        <p:spPr>
          <a:xfrm>
            <a:off x="6419088" y="502920"/>
            <a:ext cx="5394960" cy="6035040"/>
          </a:xfrm>
          <a:prstGeom prst="rect">
            <a:avLst/>
          </a:prstGeom>
        </p:spPr>
      </p:pic>
      <p:sp>
        <p:nvSpPr>
          <p:cNvPr id="22" name="Rectangle 21"/>
          <p:cNvSpPr/>
          <p:nvPr/>
        </p:nvSpPr>
        <p:spPr>
          <a:xfrm>
            <a:off x="6419088" y="6355079"/>
            <a:ext cx="5394960" cy="182880"/>
          </a:xfrm>
          <a:prstGeom prst="rect">
            <a:avLst/>
          </a:prstGeom>
          <a:solidFill>
            <a:srgbClr val="050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07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vaughnmartin.com/roi-calculator</a:t>
            </a:r>
          </a:p>
        </p:txBody>
      </p:sp>
      <p:sp>
        <p:nvSpPr>
          <p:cNvPr id="7" name="TextBox 6"/>
          <p:cNvSpPr txBox="1"/>
          <p:nvPr/>
        </p:nvSpPr>
        <p:spPr>
          <a:xfrm>
            <a:off x="411480" y="237744"/>
            <a:ext cx="5577840" cy="192024"/>
          </a:xfrm>
          <a:prstGeom prst="rect">
            <a:avLst/>
          </a:prstGeom>
          <a:noFill/>
        </p:spPr>
        <p:txBody>
          <a:bodyPr wrap="square">
            <a:spAutoFit/>
          </a:bodyPr>
          <a:lstStyle/>
          <a:p>
            <a:pPr algn="l"/>
            <a:r>
              <a:rPr sz="800" b="1" i="0">
                <a:solidFill>
                  <a:srgbClr val="C9A84C"/>
                </a:solidFill>
                <a:latin typeface="Calibri"/>
              </a:rPr>
              <a:t>BUSINESS CASE</a:t>
            </a:r>
          </a:p>
        </p:txBody>
      </p:sp>
      <p:sp>
        <p:nvSpPr>
          <p:cNvPr id="8" name="TextBox 7"/>
          <p:cNvSpPr txBox="1"/>
          <p:nvPr/>
        </p:nvSpPr>
        <p:spPr>
          <a:xfrm>
            <a:off x="411480" y="475488"/>
            <a:ext cx="5577840" cy="487680"/>
          </a:xfrm>
          <a:prstGeom prst="rect">
            <a:avLst/>
          </a:prstGeom>
          <a:noFill/>
        </p:spPr>
        <p:txBody>
          <a:bodyPr wrap="square">
            <a:spAutoFit/>
          </a:bodyPr>
          <a:lstStyle/>
          <a:p>
            <a:pPr algn="l"/>
            <a:r>
              <a:rPr sz="3000" b="1" i="0">
                <a:solidFill>
                  <a:srgbClr val="FFFFFF"/>
                </a:solidFill>
                <a:latin typeface="Calibri"/>
              </a:rPr>
              <a:t>A TRIVIAL REALLOCATION</a:t>
            </a:r>
          </a:p>
        </p:txBody>
      </p:sp>
      <p:sp>
        <p:nvSpPr>
          <p:cNvPr id="9" name="TextBox 8"/>
          <p:cNvSpPr txBox="1"/>
          <p:nvPr/>
        </p:nvSpPr>
        <p:spPr>
          <a:xfrm>
            <a:off x="411480" y="963167"/>
            <a:ext cx="5577840" cy="487680"/>
          </a:xfrm>
          <a:prstGeom prst="rect">
            <a:avLst/>
          </a:prstGeom>
          <a:noFill/>
        </p:spPr>
        <p:txBody>
          <a:bodyPr wrap="square">
            <a:spAutoFit/>
          </a:bodyPr>
          <a:lstStyle/>
          <a:p>
            <a:pPr algn="l"/>
            <a:r>
              <a:rPr sz="3000" b="1" i="0">
                <a:solidFill>
                  <a:srgbClr val="C9A84C"/>
                </a:solidFill>
                <a:latin typeface="Calibri"/>
              </a:rPr>
              <a:t>OF EXISTING WASTE.</a:t>
            </a:r>
          </a:p>
        </p:txBody>
      </p:sp>
      <p:sp>
        <p:nvSpPr>
          <p:cNvPr id="10" name="Rectangle 9"/>
          <p:cNvSpPr/>
          <p:nvPr/>
        </p:nvSpPr>
        <p:spPr>
          <a:xfrm>
            <a:off x="411480" y="1578864"/>
            <a:ext cx="548640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725472"/>
            <a:ext cx="5577840" cy="365760"/>
          </a:xfrm>
          <a:prstGeom prst="rect">
            <a:avLst/>
          </a:prstGeom>
          <a:noFill/>
        </p:spPr>
        <p:txBody>
          <a:bodyPr wrap="square">
            <a:spAutoFit/>
          </a:bodyPr>
          <a:lstStyle/>
          <a:p>
            <a:pPr algn="l"/>
            <a:r>
              <a:rPr sz="1050" b="0" i="0">
                <a:solidFill>
                  <a:srgbClr val="FFFFFF"/>
                </a:solidFill>
                <a:latin typeface="Calibri"/>
              </a:rPr>
              <a:t>▸  Enterprises already burn millions on reactive, post-trigger consulting retainers</a:t>
            </a:r>
          </a:p>
        </p:txBody>
      </p:sp>
      <p:sp>
        <p:nvSpPr>
          <p:cNvPr id="12" name="TextBox 11"/>
          <p:cNvSpPr txBox="1"/>
          <p:nvPr/>
        </p:nvSpPr>
        <p:spPr>
          <a:xfrm>
            <a:off x="411480" y="2127808"/>
            <a:ext cx="5577840" cy="365760"/>
          </a:xfrm>
          <a:prstGeom prst="rect">
            <a:avLst/>
          </a:prstGeom>
          <a:noFill/>
        </p:spPr>
        <p:txBody>
          <a:bodyPr wrap="square">
            <a:spAutoFit/>
          </a:bodyPr>
          <a:lstStyle/>
          <a:p>
            <a:pPr algn="l"/>
            <a:r>
              <a:rPr sz="1050" b="0" i="0">
                <a:solidFill>
                  <a:srgbClr val="FFFFFF"/>
                </a:solidFill>
                <a:latin typeface="Calibri"/>
              </a:rPr>
              <a:t>▸  Readiness OS converts panic-driven spend into repeatable software infrastructure</a:t>
            </a:r>
          </a:p>
        </p:txBody>
      </p:sp>
      <p:sp>
        <p:nvSpPr>
          <p:cNvPr id="13" name="TextBox 12"/>
          <p:cNvSpPr txBox="1"/>
          <p:nvPr/>
        </p:nvSpPr>
        <p:spPr>
          <a:xfrm>
            <a:off x="411480" y="2530144"/>
            <a:ext cx="5577840" cy="365760"/>
          </a:xfrm>
          <a:prstGeom prst="rect">
            <a:avLst/>
          </a:prstGeom>
          <a:noFill/>
        </p:spPr>
        <p:txBody>
          <a:bodyPr wrap="square">
            <a:spAutoFit/>
          </a:bodyPr>
          <a:lstStyle/>
          <a:p>
            <a:pPr algn="l"/>
            <a:r>
              <a:rPr sz="1050" b="0" i="0">
                <a:solidFill>
                  <a:srgbClr val="FFFFFF"/>
                </a:solidFill>
                <a:latin typeface="Calibri"/>
              </a:rPr>
              <a:t>▸  Not asking for net-new budget — replacing existing waste with compounding ROI</a:t>
            </a:r>
          </a:p>
        </p:txBody>
      </p:sp>
      <p:sp>
        <p:nvSpPr>
          <p:cNvPr id="14" name="TextBox 13"/>
          <p:cNvSpPr txBox="1"/>
          <p:nvPr/>
        </p:nvSpPr>
        <p:spPr>
          <a:xfrm>
            <a:off x="411480" y="2932480"/>
            <a:ext cx="5577840" cy="365760"/>
          </a:xfrm>
          <a:prstGeom prst="rect">
            <a:avLst/>
          </a:prstGeom>
          <a:noFill/>
        </p:spPr>
        <p:txBody>
          <a:bodyPr wrap="square">
            <a:spAutoFit/>
          </a:bodyPr>
          <a:lstStyle/>
          <a:p>
            <a:pPr algn="l"/>
            <a:r>
              <a:rPr sz="1050" b="0" i="0">
                <a:solidFill>
                  <a:srgbClr val="FFFFFF"/>
                </a:solidFill>
                <a:latin typeface="Calibri"/>
              </a:rPr>
              <a:t>▸  Estimated $61.3M annual value for enterprises facing 3+ strategic triggers</a:t>
            </a:r>
          </a:p>
        </p:txBody>
      </p:sp>
      <p:sp>
        <p:nvSpPr>
          <p:cNvPr id="15" name="TextBox 14"/>
          <p:cNvSpPr txBox="1"/>
          <p:nvPr/>
        </p:nvSpPr>
        <p:spPr>
          <a:xfrm>
            <a:off x="411480" y="3462832"/>
            <a:ext cx="5577840" cy="192024"/>
          </a:xfrm>
          <a:prstGeom prst="rect">
            <a:avLst/>
          </a:prstGeom>
          <a:noFill/>
        </p:spPr>
        <p:txBody>
          <a:bodyPr wrap="square">
            <a:spAutoFit/>
          </a:bodyPr>
          <a:lstStyle/>
          <a:p>
            <a:pPr algn="l"/>
            <a:r>
              <a:rPr sz="800" b="1" i="0">
                <a:solidFill>
                  <a:srgbClr val="C9A84C"/>
                </a:solidFill>
                <a:latin typeface="Calibri"/>
              </a:rPr>
              <a:t>PRICING — REALLOCATION LOGIC</a:t>
            </a:r>
          </a:p>
        </p:txBody>
      </p:sp>
      <p:sp>
        <p:nvSpPr>
          <p:cNvPr id="16" name="TextBox 15"/>
          <p:cNvSpPr txBox="1"/>
          <p:nvPr/>
        </p:nvSpPr>
        <p:spPr>
          <a:xfrm>
            <a:off x="411480" y="3682288"/>
            <a:ext cx="1892807" cy="256032"/>
          </a:xfrm>
          <a:prstGeom prst="rect">
            <a:avLst/>
          </a:prstGeom>
          <a:noFill/>
        </p:spPr>
        <p:txBody>
          <a:bodyPr wrap="square">
            <a:spAutoFit/>
          </a:bodyPr>
          <a:lstStyle/>
          <a:p>
            <a:pPr algn="l"/>
            <a:r>
              <a:rPr sz="950" b="1" i="0">
                <a:solidFill>
                  <a:srgbClr val="C9A84C"/>
                </a:solidFill>
                <a:latin typeface="Calibri"/>
              </a:rPr>
              <a:t>Founding Partner</a:t>
            </a:r>
          </a:p>
        </p:txBody>
      </p:sp>
      <p:sp>
        <p:nvSpPr>
          <p:cNvPr id="17" name="TextBox 16"/>
          <p:cNvSpPr txBox="1"/>
          <p:nvPr/>
        </p:nvSpPr>
        <p:spPr>
          <a:xfrm>
            <a:off x="2377440" y="3682288"/>
            <a:ext cx="3520440" cy="256032"/>
          </a:xfrm>
          <a:prstGeom prst="rect">
            <a:avLst/>
          </a:prstGeom>
          <a:noFill/>
        </p:spPr>
        <p:txBody>
          <a:bodyPr wrap="square">
            <a:spAutoFit/>
          </a:bodyPr>
          <a:lstStyle/>
          <a:p>
            <a:pPr algn="l"/>
            <a:r>
              <a:rPr sz="950" b="0" i="0">
                <a:solidFill>
                  <a:srgbClr val="AAB4CC"/>
                </a:solidFill>
                <a:latin typeface="Calibri"/>
              </a:rPr>
              <a:t>$75K / 90-day validation  ·  12 seats  ·  Cohort forming now</a:t>
            </a:r>
          </a:p>
        </p:txBody>
      </p:sp>
      <p:sp>
        <p:nvSpPr>
          <p:cNvPr id="18" name="Rectangle 17"/>
          <p:cNvSpPr/>
          <p:nvPr/>
        </p:nvSpPr>
        <p:spPr>
          <a:xfrm>
            <a:off x="411480" y="3938320"/>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4029760"/>
            <a:ext cx="1892807" cy="256032"/>
          </a:xfrm>
          <a:prstGeom prst="rect">
            <a:avLst/>
          </a:prstGeom>
          <a:noFill/>
        </p:spPr>
        <p:txBody>
          <a:bodyPr wrap="square">
            <a:spAutoFit/>
          </a:bodyPr>
          <a:lstStyle/>
          <a:p>
            <a:pPr algn="l"/>
            <a:r>
              <a:rPr sz="950" b="1" i="0">
                <a:solidFill>
                  <a:srgbClr val="C9A84C"/>
                </a:solidFill>
                <a:latin typeface="Calibri"/>
              </a:rPr>
              <a:t>Growth</a:t>
            </a:r>
          </a:p>
        </p:txBody>
      </p:sp>
      <p:sp>
        <p:nvSpPr>
          <p:cNvPr id="20" name="TextBox 19"/>
          <p:cNvSpPr txBox="1"/>
          <p:nvPr/>
        </p:nvSpPr>
        <p:spPr>
          <a:xfrm>
            <a:off x="2377440" y="4029760"/>
            <a:ext cx="3520440" cy="256032"/>
          </a:xfrm>
          <a:prstGeom prst="rect">
            <a:avLst/>
          </a:prstGeom>
          <a:noFill/>
        </p:spPr>
        <p:txBody>
          <a:bodyPr wrap="square">
            <a:spAutoFit/>
          </a:bodyPr>
          <a:lstStyle/>
          <a:p>
            <a:pPr algn="l"/>
            <a:r>
              <a:rPr sz="950" b="0" i="0">
                <a:solidFill>
                  <a:srgbClr val="AAB4CC"/>
                </a:solidFill>
                <a:latin typeface="Calibri"/>
              </a:rPr>
              <a:t>$75K–$250K annually  ·  Replaces $400K–$800K consulting retainer</a:t>
            </a:r>
          </a:p>
        </p:txBody>
      </p:sp>
      <p:sp>
        <p:nvSpPr>
          <p:cNvPr id="21" name="Rectangle 20"/>
          <p:cNvSpPr/>
          <p:nvPr/>
        </p:nvSpPr>
        <p:spPr>
          <a:xfrm>
            <a:off x="411480" y="4285792"/>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4377232"/>
            <a:ext cx="1892807" cy="256032"/>
          </a:xfrm>
          <a:prstGeom prst="rect">
            <a:avLst/>
          </a:prstGeom>
          <a:noFill/>
        </p:spPr>
        <p:txBody>
          <a:bodyPr wrap="square">
            <a:spAutoFit/>
          </a:bodyPr>
          <a:lstStyle/>
          <a:p>
            <a:pPr algn="l"/>
            <a:r>
              <a:rPr sz="950" b="1" i="0">
                <a:solidFill>
                  <a:srgbClr val="C9A84C"/>
                </a:solidFill>
                <a:latin typeface="Calibri"/>
              </a:rPr>
              <a:t>Enterprise</a:t>
            </a:r>
          </a:p>
        </p:txBody>
      </p:sp>
      <p:sp>
        <p:nvSpPr>
          <p:cNvPr id="23" name="TextBox 22"/>
          <p:cNvSpPr txBox="1"/>
          <p:nvPr/>
        </p:nvSpPr>
        <p:spPr>
          <a:xfrm>
            <a:off x="2377440" y="4377232"/>
            <a:ext cx="3520440" cy="256032"/>
          </a:xfrm>
          <a:prstGeom prst="rect">
            <a:avLst/>
          </a:prstGeom>
          <a:noFill/>
        </p:spPr>
        <p:txBody>
          <a:bodyPr wrap="square">
            <a:spAutoFit/>
          </a:bodyPr>
          <a:lstStyle/>
          <a:p>
            <a:pPr algn="l"/>
            <a:r>
              <a:rPr sz="950" b="0" i="0">
                <a:solidFill>
                  <a:srgbClr val="AAB4CC"/>
                </a:solidFill>
                <a:latin typeface="Calibri"/>
              </a:rPr>
              <a:t>$250K+  ·  Microsoft integration  ·  Custom SLA</a:t>
            </a:r>
          </a:p>
        </p:txBody>
      </p:sp>
      <p:sp>
        <p:nvSpPr>
          <p:cNvPr id="24" name="Rectangle 23"/>
          <p:cNvSpPr/>
          <p:nvPr/>
        </p:nvSpPr>
        <p:spPr>
          <a:xfrm>
            <a:off x="411480" y="4633264"/>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889296"/>
            <a:ext cx="5303520" cy="9144"/>
          </a:xfrm>
          <a:prstGeom prst="rect">
            <a:avLst/>
          </a:prstGeom>
          <a:solidFill>
            <a:srgbClr val="9A7E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4953304"/>
            <a:ext cx="5577840" cy="768096"/>
          </a:xfrm>
          <a:prstGeom prst="rect">
            <a:avLst/>
          </a:prstGeom>
          <a:noFill/>
        </p:spPr>
        <p:txBody>
          <a:bodyPr wrap="square">
            <a:spAutoFit/>
          </a:bodyPr>
          <a:lstStyle/>
          <a:p>
            <a:pPr algn="l"/>
            <a:r>
              <a:rPr sz="850" b="0" i="1">
                <a:solidFill>
                  <a:srgbClr val="AAB4CC"/>
                </a:solidFill>
                <a:latin typeface="Georgia"/>
              </a:rPr>
              <a:t>"We are not asking CFOs to find net-new budget. We are converting panic-driven spend into repeatable software infrastructure that generates immediate, compounding ROI."</a:t>
            </a:r>
          </a:p>
        </p:txBody>
      </p:sp>
      <p:sp>
        <p:nvSpPr>
          <p:cNvPr id="27" name="Rectangle 26"/>
          <p:cNvSpPr/>
          <p:nvPr/>
        </p:nvSpPr>
        <p:spPr>
          <a:xfrm>
            <a:off x="6483096" y="566928"/>
            <a:ext cx="5394960" cy="6035040"/>
          </a:xfrm>
          <a:prstGeom prst="rect">
            <a:avLst/>
          </a:prstGeom>
          <a:solidFill>
            <a:srgbClr val="030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82512" y="502920"/>
            <a:ext cx="36576" cy="60350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hq_roi_results.jpg"/>
          <p:cNvPicPr>
            <a:picLocks noChangeAspect="1"/>
          </p:cNvPicPr>
          <p:nvPr/>
        </p:nvPicPr>
        <p:blipFill>
          <a:blip r:embed="rId2"/>
          <a:stretch>
            <a:fillRect/>
          </a:stretch>
        </p:blipFill>
        <p:spPr>
          <a:xfrm>
            <a:off x="6419088" y="502920"/>
            <a:ext cx="5394960" cy="6035040"/>
          </a:xfrm>
          <a:prstGeom prst="rect">
            <a:avLst/>
          </a:prstGeom>
        </p:spPr>
      </p:pic>
      <p:sp>
        <p:nvSpPr>
          <p:cNvPr id="30" name="Rectangle 29"/>
          <p:cNvSpPr/>
          <p:nvPr/>
        </p:nvSpPr>
        <p:spPr>
          <a:xfrm>
            <a:off x="6419088" y="6355079"/>
            <a:ext cx="5394960" cy="182880"/>
          </a:xfrm>
          <a:prstGeom prst="rect">
            <a:avLst/>
          </a:prstGeom>
          <a:solidFill>
            <a:srgbClr val="050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F2E"/>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89920" y="73152"/>
            <a:ext cx="1280160" cy="173736"/>
          </a:xfrm>
          <a:prstGeom prst="rect">
            <a:avLst/>
          </a:prstGeom>
          <a:noFill/>
        </p:spPr>
        <p:txBody>
          <a:bodyPr wrap="square">
            <a:spAutoFit/>
          </a:bodyPr>
          <a:lstStyle/>
          <a:p>
            <a:pPr algn="r"/>
            <a:r>
              <a:rPr sz="750" b="1" i="0">
                <a:solidFill>
                  <a:srgbClr val="0A0F2E"/>
                </a:solidFill>
                <a:latin typeface="Calibri"/>
              </a:rPr>
              <a:t>08  /  08</a:t>
            </a:r>
          </a:p>
        </p:txBody>
      </p:sp>
      <p:sp>
        <p:nvSpPr>
          <p:cNvPr id="4" name="Rectangle 3"/>
          <p:cNvSpPr/>
          <p:nvPr/>
        </p:nvSpPr>
        <p:spPr>
          <a:xfrm>
            <a:off x="0" y="6729984"/>
            <a:ext cx="12188952" cy="12801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744614"/>
            <a:ext cx="5029200" cy="155448"/>
          </a:xfrm>
          <a:prstGeom prst="rect">
            <a:avLst/>
          </a:prstGeom>
          <a:noFill/>
        </p:spPr>
        <p:txBody>
          <a:bodyPr wrap="square">
            <a:spAutoFit/>
          </a:bodyPr>
          <a:lstStyle/>
          <a:p>
            <a:pPr algn="l"/>
            <a:r>
              <a:rPr sz="750" b="1" i="0">
                <a:solidFill>
                  <a:srgbClr val="C9A84C"/>
                </a:solidFill>
                <a:latin typeface="Calibri"/>
              </a:rPr>
              <a:t>VaughnMartin  ·  READINESS OS</a:t>
            </a:r>
          </a:p>
        </p:txBody>
      </p:sp>
      <p:sp>
        <p:nvSpPr>
          <p:cNvPr id="6" name="TextBox 5"/>
          <p:cNvSpPr txBox="1"/>
          <p:nvPr/>
        </p:nvSpPr>
        <p:spPr>
          <a:xfrm>
            <a:off x="7132320" y="6744614"/>
            <a:ext cx="4937760" cy="155448"/>
          </a:xfrm>
          <a:prstGeom prst="rect">
            <a:avLst/>
          </a:prstGeom>
          <a:noFill/>
        </p:spPr>
        <p:txBody>
          <a:bodyPr wrap="square">
            <a:spAutoFit/>
          </a:bodyPr>
          <a:lstStyle/>
          <a:p>
            <a:pPr algn="r"/>
            <a:r>
              <a:rPr sz="750" b="0" i="0">
                <a:solidFill>
                  <a:srgbClr val="AAB4CC"/>
                </a:solidFill>
                <a:latin typeface="Calibri"/>
              </a:rPr>
              <a:t>vaughnmartin.com/founding-partner-program</a:t>
            </a:r>
          </a:p>
        </p:txBody>
      </p:sp>
      <p:sp>
        <p:nvSpPr>
          <p:cNvPr id="7" name="TextBox 6"/>
          <p:cNvSpPr txBox="1"/>
          <p:nvPr/>
        </p:nvSpPr>
        <p:spPr>
          <a:xfrm>
            <a:off x="411480" y="237744"/>
            <a:ext cx="5577840" cy="192024"/>
          </a:xfrm>
          <a:prstGeom prst="rect">
            <a:avLst/>
          </a:prstGeom>
          <a:noFill/>
        </p:spPr>
        <p:txBody>
          <a:bodyPr wrap="square">
            <a:spAutoFit/>
          </a:bodyPr>
          <a:lstStyle/>
          <a:p>
            <a:pPr algn="l"/>
            <a:r>
              <a:rPr sz="800" b="1" i="0">
                <a:solidFill>
                  <a:srgbClr val="C9A84C"/>
                </a:solidFill>
                <a:latin typeface="Calibri"/>
              </a:rPr>
              <a:t>THE ASK</a:t>
            </a:r>
          </a:p>
        </p:txBody>
      </p:sp>
      <p:sp>
        <p:nvSpPr>
          <p:cNvPr id="8" name="TextBox 7"/>
          <p:cNvSpPr txBox="1"/>
          <p:nvPr/>
        </p:nvSpPr>
        <p:spPr>
          <a:xfrm>
            <a:off x="411480" y="475488"/>
            <a:ext cx="5577840" cy="325120"/>
          </a:xfrm>
          <a:prstGeom prst="rect">
            <a:avLst/>
          </a:prstGeom>
          <a:noFill/>
        </p:spPr>
        <p:txBody>
          <a:bodyPr wrap="square">
            <a:spAutoFit/>
          </a:bodyPr>
          <a:lstStyle/>
          <a:p>
            <a:pPr algn="l"/>
            <a:r>
              <a:rPr sz="2000" b="1" i="0">
                <a:solidFill>
                  <a:srgbClr val="C9A84C"/>
                </a:solidFill>
                <a:latin typeface="Calibri"/>
              </a:rPr>
              <a:t>CATEGORY CREATION:</a:t>
            </a:r>
          </a:p>
        </p:txBody>
      </p:sp>
      <p:sp>
        <p:nvSpPr>
          <p:cNvPr id="9" name="TextBox 8"/>
          <p:cNvSpPr txBox="1"/>
          <p:nvPr/>
        </p:nvSpPr>
        <p:spPr>
          <a:xfrm>
            <a:off x="411480" y="800608"/>
            <a:ext cx="5577840" cy="487680"/>
          </a:xfrm>
          <a:prstGeom prst="rect">
            <a:avLst/>
          </a:prstGeom>
          <a:noFill/>
        </p:spPr>
        <p:txBody>
          <a:bodyPr wrap="square">
            <a:spAutoFit/>
          </a:bodyPr>
          <a:lstStyle/>
          <a:p>
            <a:pPr algn="l"/>
            <a:r>
              <a:rPr sz="3000" b="1" i="0">
                <a:solidFill>
                  <a:srgbClr val="FFFFFF"/>
                </a:solidFill>
                <a:latin typeface="Calibri"/>
              </a:rPr>
              <a:t>PREPARATION INFRASTRUCTURE</a:t>
            </a:r>
          </a:p>
        </p:txBody>
      </p:sp>
      <p:sp>
        <p:nvSpPr>
          <p:cNvPr id="10" name="Rectangle 9"/>
          <p:cNvSpPr/>
          <p:nvPr/>
        </p:nvSpPr>
        <p:spPr>
          <a:xfrm>
            <a:off x="411480" y="1416304"/>
            <a:ext cx="548640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562709"/>
            <a:ext cx="5577840" cy="365760"/>
          </a:xfrm>
          <a:prstGeom prst="rect">
            <a:avLst/>
          </a:prstGeom>
          <a:noFill/>
        </p:spPr>
        <p:txBody>
          <a:bodyPr wrap="square">
            <a:spAutoFit/>
          </a:bodyPr>
          <a:lstStyle/>
          <a:p>
            <a:pPr algn="l"/>
            <a:r>
              <a:rPr sz="1050" b="0" i="0">
                <a:solidFill>
                  <a:srgbClr val="FFFFFF"/>
                </a:solidFill>
                <a:latin typeface="Calibri"/>
              </a:rPr>
              <a:t>▸  Raising: Up to $1,000,000</a:t>
            </a:r>
          </a:p>
        </p:txBody>
      </p:sp>
      <p:sp>
        <p:nvSpPr>
          <p:cNvPr id="12" name="TextBox 11"/>
          <p:cNvSpPr txBox="1"/>
          <p:nvPr/>
        </p:nvSpPr>
        <p:spPr>
          <a:xfrm>
            <a:off x="411480" y="1965045"/>
            <a:ext cx="5577840" cy="365760"/>
          </a:xfrm>
          <a:prstGeom prst="rect">
            <a:avLst/>
          </a:prstGeom>
          <a:noFill/>
        </p:spPr>
        <p:txBody>
          <a:bodyPr wrap="square">
            <a:spAutoFit/>
          </a:bodyPr>
          <a:lstStyle/>
          <a:p>
            <a:pPr algn="l"/>
            <a:r>
              <a:rPr sz="1050" b="0" i="0">
                <a:solidFill>
                  <a:srgbClr val="FFFFFF"/>
                </a:solidFill>
                <a:latin typeface="Calibri"/>
              </a:rPr>
              <a:t>▸  Product hardening + enterprise-grade access controls</a:t>
            </a:r>
          </a:p>
        </p:txBody>
      </p:sp>
      <p:sp>
        <p:nvSpPr>
          <p:cNvPr id="13" name="TextBox 12"/>
          <p:cNvSpPr txBox="1"/>
          <p:nvPr/>
        </p:nvSpPr>
        <p:spPr>
          <a:xfrm>
            <a:off x="411480" y="2367381"/>
            <a:ext cx="5577840" cy="365760"/>
          </a:xfrm>
          <a:prstGeom prst="rect">
            <a:avLst/>
          </a:prstGeom>
          <a:noFill/>
        </p:spPr>
        <p:txBody>
          <a:bodyPr wrap="square">
            <a:spAutoFit/>
          </a:bodyPr>
          <a:lstStyle/>
          <a:p>
            <a:pPr algn="l"/>
            <a:r>
              <a:rPr sz="1050" b="0" i="0">
                <a:solidFill>
                  <a:srgbClr val="FFFFFF"/>
                </a:solidFill>
                <a:latin typeface="Calibri"/>
              </a:rPr>
              <a:t>▸  Founding Partner conversions + repeatable GTM motion</a:t>
            </a:r>
          </a:p>
        </p:txBody>
      </p:sp>
      <p:sp>
        <p:nvSpPr>
          <p:cNvPr id="14" name="TextBox 13"/>
          <p:cNvSpPr txBox="1"/>
          <p:nvPr/>
        </p:nvSpPr>
        <p:spPr>
          <a:xfrm>
            <a:off x="411480" y="2769717"/>
            <a:ext cx="5577840" cy="365760"/>
          </a:xfrm>
          <a:prstGeom prst="rect">
            <a:avLst/>
          </a:prstGeom>
          <a:noFill/>
        </p:spPr>
        <p:txBody>
          <a:bodyPr wrap="square">
            <a:spAutoFit/>
          </a:bodyPr>
          <a:lstStyle/>
          <a:p>
            <a:pPr algn="l"/>
            <a:r>
              <a:rPr sz="1050" b="0" i="0">
                <a:solidFill>
                  <a:srgbClr val="FFFFFF"/>
                </a:solidFill>
                <a:latin typeface="Calibri"/>
              </a:rPr>
              <a:t>▸  Microsoft integration certification</a:t>
            </a:r>
          </a:p>
        </p:txBody>
      </p:sp>
      <p:sp>
        <p:nvSpPr>
          <p:cNvPr id="15" name="Rectangle 14"/>
          <p:cNvSpPr/>
          <p:nvPr/>
        </p:nvSpPr>
        <p:spPr>
          <a:xfrm>
            <a:off x="411480" y="3300069"/>
            <a:ext cx="5577840" cy="384048"/>
          </a:xfrm>
          <a:prstGeom prst="rect">
            <a:avLst/>
          </a:prstGeom>
          <a:solidFill>
            <a:srgbClr val="1822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00069"/>
            <a:ext cx="5577840"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 y="3382365"/>
            <a:ext cx="5431536" cy="237744"/>
          </a:xfrm>
          <a:prstGeom prst="rect">
            <a:avLst/>
          </a:prstGeom>
          <a:noFill/>
        </p:spPr>
        <p:txBody>
          <a:bodyPr wrap="square">
            <a:spAutoFit/>
          </a:bodyPr>
          <a:lstStyle/>
          <a:p>
            <a:pPr algn="l"/>
            <a:r>
              <a:rPr sz="900" b="1" i="0">
                <a:solidFill>
                  <a:srgbClr val="C9A84C"/>
                </a:solidFill>
                <a:latin typeface="Calibri"/>
              </a:rPr>
              <a:t>FOUNDING PARTNER COHORT  ·  12 SEATS  ·  FORMING NOW  ·  LIMITED AVAILABILITY</a:t>
            </a:r>
          </a:p>
        </p:txBody>
      </p:sp>
      <p:sp>
        <p:nvSpPr>
          <p:cNvPr id="18" name="TextBox 17"/>
          <p:cNvSpPr txBox="1"/>
          <p:nvPr/>
        </p:nvSpPr>
        <p:spPr>
          <a:xfrm>
            <a:off x="411480" y="3812133"/>
            <a:ext cx="5577840" cy="192024"/>
          </a:xfrm>
          <a:prstGeom prst="rect">
            <a:avLst/>
          </a:prstGeom>
          <a:noFill/>
        </p:spPr>
        <p:txBody>
          <a:bodyPr wrap="square">
            <a:spAutoFit/>
          </a:bodyPr>
          <a:lstStyle/>
          <a:p>
            <a:pPr algn="l"/>
            <a:r>
              <a:rPr sz="800" b="1" i="0">
                <a:solidFill>
                  <a:srgbClr val="C9A84C"/>
                </a:solidFill>
                <a:latin typeface="Calibri"/>
              </a:rPr>
              <a:t>18-MONTH RUNWAY TO SERIES A</a:t>
            </a:r>
          </a:p>
        </p:txBody>
      </p:sp>
      <p:sp>
        <p:nvSpPr>
          <p:cNvPr id="19" name="TextBox 18"/>
          <p:cNvSpPr txBox="1"/>
          <p:nvPr/>
        </p:nvSpPr>
        <p:spPr>
          <a:xfrm>
            <a:off x="411480" y="4031589"/>
            <a:ext cx="749808" cy="256032"/>
          </a:xfrm>
          <a:prstGeom prst="rect">
            <a:avLst/>
          </a:prstGeom>
          <a:noFill/>
        </p:spPr>
        <p:txBody>
          <a:bodyPr wrap="square">
            <a:spAutoFit/>
          </a:bodyPr>
          <a:lstStyle/>
          <a:p>
            <a:pPr algn="l"/>
            <a:r>
              <a:rPr sz="950" b="1" i="0">
                <a:solidFill>
                  <a:srgbClr val="C9A84C"/>
                </a:solidFill>
                <a:latin typeface="Calibri"/>
              </a:rPr>
              <a:t>Mo. 6</a:t>
            </a:r>
          </a:p>
        </p:txBody>
      </p:sp>
      <p:sp>
        <p:nvSpPr>
          <p:cNvPr id="20" name="TextBox 19"/>
          <p:cNvSpPr txBox="1"/>
          <p:nvPr/>
        </p:nvSpPr>
        <p:spPr>
          <a:xfrm>
            <a:off x="1234440" y="4031589"/>
            <a:ext cx="4663440" cy="256032"/>
          </a:xfrm>
          <a:prstGeom prst="rect">
            <a:avLst/>
          </a:prstGeom>
          <a:noFill/>
        </p:spPr>
        <p:txBody>
          <a:bodyPr wrap="square">
            <a:spAutoFit/>
          </a:bodyPr>
          <a:lstStyle/>
          <a:p>
            <a:pPr algn="l"/>
            <a:r>
              <a:rPr sz="950" b="0" i="0">
                <a:solidFill>
                  <a:srgbClr val="AAB4CC"/>
                </a:solidFill>
                <a:latin typeface="Calibri"/>
              </a:rPr>
              <a:t>3 Founding Partners on recurring contracts</a:t>
            </a:r>
          </a:p>
        </p:txBody>
      </p:sp>
      <p:sp>
        <p:nvSpPr>
          <p:cNvPr id="21" name="Rectangle 20"/>
          <p:cNvSpPr/>
          <p:nvPr/>
        </p:nvSpPr>
        <p:spPr>
          <a:xfrm>
            <a:off x="411480" y="4287621"/>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4379061"/>
            <a:ext cx="749808" cy="256032"/>
          </a:xfrm>
          <a:prstGeom prst="rect">
            <a:avLst/>
          </a:prstGeom>
          <a:noFill/>
        </p:spPr>
        <p:txBody>
          <a:bodyPr wrap="square">
            <a:spAutoFit/>
          </a:bodyPr>
          <a:lstStyle/>
          <a:p>
            <a:pPr algn="l"/>
            <a:r>
              <a:rPr sz="950" b="1" i="0">
                <a:solidFill>
                  <a:srgbClr val="C9A84C"/>
                </a:solidFill>
                <a:latin typeface="Calibri"/>
              </a:rPr>
              <a:t>Mo. 9</a:t>
            </a:r>
          </a:p>
        </p:txBody>
      </p:sp>
      <p:sp>
        <p:nvSpPr>
          <p:cNvPr id="23" name="TextBox 22"/>
          <p:cNvSpPr txBox="1"/>
          <p:nvPr/>
        </p:nvSpPr>
        <p:spPr>
          <a:xfrm>
            <a:off x="1234440" y="4379061"/>
            <a:ext cx="4663440" cy="256032"/>
          </a:xfrm>
          <a:prstGeom prst="rect">
            <a:avLst/>
          </a:prstGeom>
          <a:noFill/>
        </p:spPr>
        <p:txBody>
          <a:bodyPr wrap="square">
            <a:spAutoFit/>
          </a:bodyPr>
          <a:lstStyle/>
          <a:p>
            <a:pPr algn="l"/>
            <a:r>
              <a:rPr sz="950" b="0" i="0">
                <a:solidFill>
                  <a:srgbClr val="AAB4CC"/>
                </a:solidFill>
                <a:latin typeface="Calibri"/>
              </a:rPr>
              <a:t>Enterprise controls complete  ·  Microsoft integration certified</a:t>
            </a:r>
          </a:p>
        </p:txBody>
      </p:sp>
      <p:sp>
        <p:nvSpPr>
          <p:cNvPr id="24" name="Rectangle 23"/>
          <p:cNvSpPr/>
          <p:nvPr/>
        </p:nvSpPr>
        <p:spPr>
          <a:xfrm>
            <a:off x="411480" y="4635093"/>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4726533"/>
            <a:ext cx="749808" cy="256032"/>
          </a:xfrm>
          <a:prstGeom prst="rect">
            <a:avLst/>
          </a:prstGeom>
          <a:noFill/>
        </p:spPr>
        <p:txBody>
          <a:bodyPr wrap="square">
            <a:spAutoFit/>
          </a:bodyPr>
          <a:lstStyle/>
          <a:p>
            <a:pPr algn="l"/>
            <a:r>
              <a:rPr sz="950" b="1" i="0">
                <a:solidFill>
                  <a:srgbClr val="C9A84C"/>
                </a:solidFill>
                <a:latin typeface="Calibri"/>
              </a:rPr>
              <a:t>Mo. 12</a:t>
            </a:r>
          </a:p>
        </p:txBody>
      </p:sp>
      <p:sp>
        <p:nvSpPr>
          <p:cNvPr id="26" name="TextBox 25"/>
          <p:cNvSpPr txBox="1"/>
          <p:nvPr/>
        </p:nvSpPr>
        <p:spPr>
          <a:xfrm>
            <a:off x="1234440" y="4726533"/>
            <a:ext cx="4663440" cy="256032"/>
          </a:xfrm>
          <a:prstGeom prst="rect">
            <a:avLst/>
          </a:prstGeom>
          <a:noFill/>
        </p:spPr>
        <p:txBody>
          <a:bodyPr wrap="square">
            <a:spAutoFit/>
          </a:bodyPr>
          <a:lstStyle/>
          <a:p>
            <a:pPr algn="l"/>
            <a:r>
              <a:rPr sz="950" b="0" i="0">
                <a:solidFill>
                  <a:srgbClr val="AAB4CC"/>
                </a:solidFill>
                <a:latin typeface="Calibri"/>
              </a:rPr>
              <a:t>Repeatable GTM with documented proof stories</a:t>
            </a:r>
          </a:p>
        </p:txBody>
      </p:sp>
      <p:sp>
        <p:nvSpPr>
          <p:cNvPr id="27" name="Rectangle 26"/>
          <p:cNvSpPr/>
          <p:nvPr/>
        </p:nvSpPr>
        <p:spPr>
          <a:xfrm>
            <a:off x="411480" y="4982565"/>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5074005"/>
            <a:ext cx="749808" cy="256032"/>
          </a:xfrm>
          <a:prstGeom prst="rect">
            <a:avLst/>
          </a:prstGeom>
          <a:noFill/>
        </p:spPr>
        <p:txBody>
          <a:bodyPr wrap="square">
            <a:spAutoFit/>
          </a:bodyPr>
          <a:lstStyle/>
          <a:p>
            <a:pPr algn="l"/>
            <a:r>
              <a:rPr sz="950" b="1" i="0">
                <a:solidFill>
                  <a:srgbClr val="C9A84C"/>
                </a:solidFill>
                <a:latin typeface="Calibri"/>
              </a:rPr>
              <a:t>Mo. 18</a:t>
            </a:r>
          </a:p>
        </p:txBody>
      </p:sp>
      <p:sp>
        <p:nvSpPr>
          <p:cNvPr id="29" name="TextBox 28"/>
          <p:cNvSpPr txBox="1"/>
          <p:nvPr/>
        </p:nvSpPr>
        <p:spPr>
          <a:xfrm>
            <a:off x="1234440" y="5074005"/>
            <a:ext cx="4663440" cy="256032"/>
          </a:xfrm>
          <a:prstGeom prst="rect">
            <a:avLst/>
          </a:prstGeom>
          <a:noFill/>
        </p:spPr>
        <p:txBody>
          <a:bodyPr wrap="square">
            <a:spAutoFit/>
          </a:bodyPr>
          <a:lstStyle/>
          <a:p>
            <a:pPr algn="l"/>
            <a:r>
              <a:rPr sz="950" b="0" i="0">
                <a:solidFill>
                  <a:srgbClr val="AAB4CC"/>
                </a:solidFill>
                <a:latin typeface="Calibri"/>
              </a:rPr>
              <a:t>Category established  ·  Series A ready</a:t>
            </a:r>
          </a:p>
        </p:txBody>
      </p:sp>
      <p:sp>
        <p:nvSpPr>
          <p:cNvPr id="30" name="Rectangle 29"/>
          <p:cNvSpPr/>
          <p:nvPr/>
        </p:nvSpPr>
        <p:spPr>
          <a:xfrm>
            <a:off x="411480" y="5330037"/>
            <a:ext cx="5394960" cy="914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11480" y="5549493"/>
            <a:ext cx="5577840" cy="822960"/>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549493"/>
            <a:ext cx="5577840"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0352" y="5604357"/>
            <a:ext cx="5431536" cy="237744"/>
          </a:xfrm>
          <a:prstGeom prst="rect">
            <a:avLst/>
          </a:prstGeom>
          <a:noFill/>
        </p:spPr>
        <p:txBody>
          <a:bodyPr wrap="square">
            <a:spAutoFit/>
          </a:bodyPr>
          <a:lstStyle/>
          <a:p>
            <a:pPr algn="l"/>
            <a:r>
              <a:rPr sz="1000" b="1" i="0">
                <a:solidFill>
                  <a:srgbClr val="C9A84C"/>
                </a:solidFill>
                <a:latin typeface="Calibri"/>
              </a:rPr>
              <a:t>PREPARATION  →  READINESS  →  FEARLESS</a:t>
            </a:r>
          </a:p>
        </p:txBody>
      </p:sp>
      <p:sp>
        <p:nvSpPr>
          <p:cNvPr id="34" name="TextBox 33"/>
          <p:cNvSpPr txBox="1"/>
          <p:nvPr/>
        </p:nvSpPr>
        <p:spPr>
          <a:xfrm>
            <a:off x="530352" y="5860389"/>
            <a:ext cx="5431536" cy="274320"/>
          </a:xfrm>
          <a:prstGeom prst="rect">
            <a:avLst/>
          </a:prstGeom>
          <a:noFill/>
        </p:spPr>
        <p:txBody>
          <a:bodyPr wrap="square">
            <a:spAutoFit/>
          </a:bodyPr>
          <a:lstStyle/>
          <a:p>
            <a:pPr algn="l"/>
            <a:r>
              <a:rPr sz="900" b="0" i="0">
                <a:solidFill>
                  <a:srgbClr val="AAB4CC"/>
                </a:solidFill>
                <a:latin typeface="Calibri"/>
              </a:rPr>
              <a:t>Any organization prepared for every situation it expects to face is no longer afraid — it is fearless.</a:t>
            </a:r>
          </a:p>
        </p:txBody>
      </p:sp>
      <p:sp>
        <p:nvSpPr>
          <p:cNvPr id="35" name="TextBox 34"/>
          <p:cNvSpPr txBox="1"/>
          <p:nvPr/>
        </p:nvSpPr>
        <p:spPr>
          <a:xfrm>
            <a:off x="530352" y="6152997"/>
            <a:ext cx="5431536" cy="182880"/>
          </a:xfrm>
          <a:prstGeom prst="rect">
            <a:avLst/>
          </a:prstGeom>
          <a:noFill/>
        </p:spPr>
        <p:txBody>
          <a:bodyPr wrap="square">
            <a:spAutoFit/>
          </a:bodyPr>
          <a:lstStyle/>
          <a:p>
            <a:pPr algn="l"/>
            <a:r>
              <a:rPr sz="900" b="0" i="1">
                <a:solidFill>
                  <a:srgbClr val="C9A84C"/>
                </a:solidFill>
                <a:latin typeface="Georgia"/>
              </a:rPr>
              <a:t>Let's build the future of fearless execution together.</a:t>
            </a:r>
          </a:p>
        </p:txBody>
      </p:sp>
      <p:sp>
        <p:nvSpPr>
          <p:cNvPr id="36" name="Rectangle 35"/>
          <p:cNvSpPr/>
          <p:nvPr/>
        </p:nvSpPr>
        <p:spPr>
          <a:xfrm>
            <a:off x="6483096" y="566928"/>
            <a:ext cx="5394960" cy="6035040"/>
          </a:xfrm>
          <a:prstGeom prst="rect">
            <a:avLst/>
          </a:prstGeom>
          <a:solidFill>
            <a:srgbClr val="0305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82512" y="502920"/>
            <a:ext cx="36576" cy="60350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hq_exec_brief.jpg"/>
          <p:cNvPicPr>
            <a:picLocks noChangeAspect="1"/>
          </p:cNvPicPr>
          <p:nvPr/>
        </p:nvPicPr>
        <p:blipFill>
          <a:blip r:embed="rId2"/>
          <a:stretch>
            <a:fillRect/>
          </a:stretch>
        </p:blipFill>
        <p:spPr>
          <a:xfrm>
            <a:off x="6419088" y="502920"/>
            <a:ext cx="5394960" cy="6035040"/>
          </a:xfrm>
          <a:prstGeom prst="rect">
            <a:avLst/>
          </a:prstGeom>
        </p:spPr>
      </p:pic>
      <p:sp>
        <p:nvSpPr>
          <p:cNvPr id="39" name="Rectangle 38"/>
          <p:cNvSpPr/>
          <p:nvPr/>
        </p:nvSpPr>
        <p:spPr>
          <a:xfrm>
            <a:off x="6419088" y="6355079"/>
            <a:ext cx="5394960" cy="182880"/>
          </a:xfrm>
          <a:prstGeom prst="rect">
            <a:avLst/>
          </a:prstGeom>
          <a:solidFill>
            <a:srgbClr val="050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0B24"/>
        </a:solidFill>
        <a:effectLst/>
      </p:bgPr>
    </p:bg>
    <p:spTree>
      <p:nvGrpSpPr>
        <p:cNvPr id="1" name=""/>
        <p:cNvGrpSpPr/>
        <p:nvPr/>
      </p:nvGrpSpPr>
      <p:grpSpPr/>
      <p:sp>
        <p:nvSpPr>
          <p:cNvPr id="2" name="Rectangle 1"/>
          <p:cNvSpPr/>
          <p:nvPr/>
        </p:nvSpPr>
        <p:spPr>
          <a:xfrm>
            <a:off x="0" y="0"/>
            <a:ext cx="12188952" cy="43891"/>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9984"/>
            <a:ext cx="12188952" cy="128016"/>
          </a:xfrm>
          <a:prstGeom prst="rect">
            <a:avLst/>
          </a:prstGeom>
          <a:solidFill>
            <a:srgbClr val="0508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155680" cy="192024"/>
          </a:xfrm>
          <a:prstGeom prst="rect">
            <a:avLst/>
          </a:prstGeom>
          <a:noFill/>
        </p:spPr>
        <p:txBody>
          <a:bodyPr wrap="square">
            <a:spAutoFit/>
          </a:bodyPr>
          <a:lstStyle/>
          <a:p>
            <a:pPr algn="l"/>
            <a:r>
              <a:rPr sz="800" b="1" i="0">
                <a:solidFill>
                  <a:srgbClr val="C9A84C"/>
                </a:solidFill>
                <a:latin typeface="Calibri"/>
              </a:rPr>
              <a:t>PITCH DEFENSE  ·  3 OBJECTIONS, 3 ANSWERS</a:t>
            </a:r>
          </a:p>
        </p:txBody>
      </p:sp>
      <p:sp>
        <p:nvSpPr>
          <p:cNvPr id="5" name="Rectangle 4"/>
          <p:cNvSpPr/>
          <p:nvPr/>
        </p:nvSpPr>
        <p:spPr>
          <a:xfrm>
            <a:off x="457200" y="402336"/>
            <a:ext cx="11247120"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11480" y="548640"/>
            <a:ext cx="11365992" cy="188366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548640"/>
            <a:ext cx="1136599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03503"/>
            <a:ext cx="11155680" cy="237744"/>
          </a:xfrm>
          <a:prstGeom prst="rect">
            <a:avLst/>
          </a:prstGeom>
          <a:noFill/>
        </p:spPr>
        <p:txBody>
          <a:bodyPr wrap="square">
            <a:spAutoFit/>
          </a:bodyPr>
          <a:lstStyle/>
          <a:p>
            <a:pPr algn="l"/>
            <a:r>
              <a:rPr sz="950" b="1" i="0">
                <a:solidFill>
                  <a:srgbClr val="C9A84C"/>
                </a:solidFill>
                <a:latin typeface="Calibri"/>
              </a:rPr>
              <a:t>TRAP 1  ·  "Can't ServiceNow just add this?"</a:t>
            </a:r>
          </a:p>
        </p:txBody>
      </p:sp>
      <p:sp>
        <p:nvSpPr>
          <p:cNvPr id="9" name="TextBox 8"/>
          <p:cNvSpPr txBox="1"/>
          <p:nvPr/>
        </p:nvSpPr>
        <p:spPr>
          <a:xfrm>
            <a:off x="548640" y="877824"/>
            <a:ext cx="11155680" cy="1426464"/>
          </a:xfrm>
          <a:prstGeom prst="rect">
            <a:avLst/>
          </a:prstGeom>
          <a:noFill/>
        </p:spPr>
        <p:txBody>
          <a:bodyPr wrap="square">
            <a:spAutoFit/>
          </a:bodyPr>
          <a:lstStyle/>
          <a:p>
            <a:pPr algn="l"/>
            <a:r>
              <a:rPr sz="1050" b="0" i="1">
                <a:solidFill>
                  <a:srgbClr val="AAB4CC"/>
                </a:solidFill>
                <a:latin typeface="Georgia"/>
              </a:rPr>
              <a:t>"No. ServiceNow is an async ticketing router for post-alignment execution. VaughnMartin pre-stages the organizational alignment itself. They track the work. We engineer the capability to do it."</a:t>
            </a:r>
          </a:p>
        </p:txBody>
      </p:sp>
      <p:sp>
        <p:nvSpPr>
          <p:cNvPr id="10" name="Rectangle 9"/>
          <p:cNvSpPr/>
          <p:nvPr/>
        </p:nvSpPr>
        <p:spPr>
          <a:xfrm>
            <a:off x="411480" y="2578608"/>
            <a:ext cx="11365992" cy="188366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578608"/>
            <a:ext cx="11365992" cy="2011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33472"/>
            <a:ext cx="11155680" cy="237744"/>
          </a:xfrm>
          <a:prstGeom prst="rect">
            <a:avLst/>
          </a:prstGeom>
          <a:noFill/>
        </p:spPr>
        <p:txBody>
          <a:bodyPr wrap="square">
            <a:spAutoFit/>
          </a:bodyPr>
          <a:lstStyle/>
          <a:p>
            <a:pPr algn="l"/>
            <a:r>
              <a:rPr sz="950" b="1" i="0">
                <a:solidFill>
                  <a:srgbClr val="C9A84C"/>
                </a:solidFill>
                <a:latin typeface="Calibri"/>
              </a:rPr>
              <a:t>TRAP 2  ·  "What about AI taking autonomous action?"</a:t>
            </a:r>
          </a:p>
        </p:txBody>
      </p:sp>
      <p:sp>
        <p:nvSpPr>
          <p:cNvPr id="13" name="TextBox 12"/>
          <p:cNvSpPr txBox="1"/>
          <p:nvPr/>
        </p:nvSpPr>
        <p:spPr>
          <a:xfrm>
            <a:off x="548640" y="2907792"/>
            <a:ext cx="11155680" cy="1426464"/>
          </a:xfrm>
          <a:prstGeom prst="rect">
            <a:avLst/>
          </a:prstGeom>
          <a:noFill/>
        </p:spPr>
        <p:txBody>
          <a:bodyPr wrap="square">
            <a:spAutoFit/>
          </a:bodyPr>
          <a:lstStyle/>
          <a:p>
            <a:pPr algn="l"/>
            <a:r>
              <a:rPr sz="1050" b="0" i="1">
                <a:solidFill>
                  <a:srgbClr val="AAB4CC"/>
                </a:solidFill>
                <a:latin typeface="Georgia"/>
              </a:rPr>
              <a:t>"The system stages the choice in seconds, but an executive must click authorize. No action deploys without explicit sign-off. Say this explicitly every time you mention speed."</a:t>
            </a:r>
          </a:p>
        </p:txBody>
      </p:sp>
      <p:sp>
        <p:nvSpPr>
          <p:cNvPr id="14" name="Rectangle 13"/>
          <p:cNvSpPr/>
          <p:nvPr/>
        </p:nvSpPr>
        <p:spPr>
          <a:xfrm>
            <a:off x="411480" y="4608576"/>
            <a:ext cx="11365992" cy="1883664"/>
          </a:xfrm>
          <a:prstGeom prst="rect">
            <a:avLst/>
          </a:prstGeom>
          <a:solidFill>
            <a:srgbClr val="0E16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4608576"/>
            <a:ext cx="11365992" cy="20116"/>
          </a:xfrm>
          <a:prstGeom prst="rect">
            <a:avLst/>
          </a:prstGeom>
          <a:solidFill>
            <a:srgbClr val="AAB4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663440"/>
            <a:ext cx="11155680" cy="237744"/>
          </a:xfrm>
          <a:prstGeom prst="rect">
            <a:avLst/>
          </a:prstGeom>
          <a:noFill/>
        </p:spPr>
        <p:txBody>
          <a:bodyPr wrap="square">
            <a:spAutoFit/>
          </a:bodyPr>
          <a:lstStyle/>
          <a:p>
            <a:pPr algn="l"/>
            <a:r>
              <a:rPr sz="950" b="1" i="0">
                <a:solidFill>
                  <a:srgbClr val="C9A84C"/>
                </a:solidFill>
                <a:latin typeface="Calibri"/>
              </a:rPr>
              <a:t>TRAP 3  ·  "How long to build 170 protocols for a new client?"</a:t>
            </a:r>
          </a:p>
        </p:txBody>
      </p:sp>
      <p:sp>
        <p:nvSpPr>
          <p:cNvPr id="17" name="TextBox 16"/>
          <p:cNvSpPr txBox="1"/>
          <p:nvPr/>
        </p:nvSpPr>
        <p:spPr>
          <a:xfrm>
            <a:off x="548640" y="4937760"/>
            <a:ext cx="11155680" cy="1426464"/>
          </a:xfrm>
          <a:prstGeom prst="rect">
            <a:avLst/>
          </a:prstGeom>
          <a:noFill/>
        </p:spPr>
        <p:txBody>
          <a:bodyPr wrap="square">
            <a:spAutoFit/>
          </a:bodyPr>
          <a:lstStyle/>
          <a:p>
            <a:pPr algn="l"/>
            <a:r>
              <a:rPr sz="1050" b="0" i="1">
                <a:solidFill>
                  <a:srgbClr val="AAB4CC"/>
                </a:solidFill>
                <a:latin typeface="Georgia"/>
              </a:rPr>
              <a:t>"They don't build from scratch. VaughnMartin ships with 170 out-of-the-box protocols for the most common enterprise threats. Onboarding is configuration — not a consulting project. 90 days to live."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