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</a:t>
            </a:r>
          </a:p>
          <a:p>
            <a:r>
              <a:t>"Every company in your portfolio has an AI stack to process information faster. Yet when a strategic trigger fires, it still takes 30 days of committee meetings to act. We built the operating model that closes that gap permanently — a 3,600× execution head start. The response is pre-staged before the crisis hits."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"The market thinks companies have a strategy problem. They don't — they have an architecture problem. Leadership spends the first two to three weeks just figuring out who has authority to make the first move. That 30-day delay is an existential window that activists, regulators, and competitors completely own."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"This is a $42 billion market defined by Gartner across SPM, GRC, and EPMO categories — three categories that have never been unified under a single execution layer. We are building that layer. And every enterprise already has the Microsoft investment sitting idle without the operating model to activate it — we are that operating model."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"I am the only person at this intersection of depth. You cannot replicate this from a job description. 20 years watching the same mobilization gap across Ford, Lockheed, Charles Schwab. 5 years at Stanford where the 40-second clock is absolute — the response is pre-staged before the snap fires. That discipline is the entire product thesis."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"When a ransomware signal hits, in less than 120 seconds the system delivers a board-ready execution brief with pre-approved communication streams and a mapped authority chain. The AI monitors, but humans decide. 30 days of chaos becomes a 12-minute executive sign-off."</a:t>
            </a:r>
          </a:p>
          <a:p/>
          <a:p>
            <a:r>
              <a:t>KEY: "The system stages the choice in seconds. The executive must click authorize."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"The system doesn't autonomously execute. In less than 120 seconds, it delivers a board-ready brief. STEP 4 — four real choices, including Stand Down. Human authority is preserved at every point. AI monitors. Executives authorize. Teams execute."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"Signal Labs routes the signal. ServiceNow runs the workflow. McKinsey arrives after the trigger. VaughnMartin had the response pre-staged before any of them were called — and the data moat becomes uncatchable by month 18."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"Enterprises already burn $400K–$800K on reactive consulting retainers. We replace that spend with software infrastructure at $75K–$250K that compounds. Break-even before the second activation fires — and the $300K average ACV by Year 3 is driven by industry pack expansion on top of the core license, not price increases."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"The platform isn't a pitch deck — it's live and testable right now. Pull out your phone: vaughnmartin.com/how-it-executes. And the category validation came unsolicited — Dr. Kerry Huang, ESI Top 1% researcher across 408 firms, publicly endorsed the framework on LinkedIn. The thesis is independently confirmed."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"Pull out your phone right now. Go to vaughnmartin.com/how-it-executes. Watch the 12-minute execution chain run live. This is not a roadmap — it is live and testable today. The proof story shows the same trigger, same company, entirely different outcome based on one variable: whether the response was pre-staged."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"Year 1 is Founding Partner closes — founder-led, very high touch. The ARR trajectory is driven by our expansion motion: $125K land, $175K expand through industry pack add-ons. The Series A trigger is a $3.75M ARR run rate at month 18 — we raise from strength, not desperation."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"$750K pre-seed. Twelve months. Three milestones. Six Founding Partners signed at month 1 self-funds GTM from that point forward — $450K validation revenue in the first 90-day cohort. We hit $1M ARR at month 12 and raise Series A from strength, not desperation. The 12 Founding Partner seats are limited — this is a capacity decision, not a confidence 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</a:t>
            </a:r>
          </a:p>
          <a:p>
            <a:r>
              <a:t>"PREPARATION → READINESS → FEARLESS.</a:t>
            </a:r>
          </a:p>
          <a:p/>
          <a:p>
            <a:r>
              <a:t>Any organization prepared for every situation it expects to face is no longer afraid — it is fearless. That is the endpoint. Not speed. Fearless.</a:t>
            </a:r>
          </a:p>
          <a:p/>
          <a:p>
            <a:r>
              <a:t>The platform is live. 12 Founding Partner seats. Let's build the future of fearless execution together."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1286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94576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402336"/>
            <a:ext cx="2323490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" y="475488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●  MONITORING ACTIVE  ·  1 SIGNAL DETECTED  ·  SYSTEM ARMED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42415"/>
            <a:ext cx="62179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152144"/>
            <a:ext cx="64008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121408"/>
            <a:ext cx="64008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163824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Defense + Offense System  ·  Startup to Fortune 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419856"/>
            <a:ext cx="621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Preparation Infrastructure for a Volatile World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3730752"/>
            <a:ext cx="6217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3895344"/>
            <a:ext cx="14447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trigger to execution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3895344"/>
            <a:ext cx="12801" cy="64008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75104" y="3895344"/>
            <a:ext cx="14447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3,600×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4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38144" y="3895344"/>
            <a:ext cx="12801" cy="64008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3895344"/>
            <a:ext cx="14447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Readiness Protocols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74336" y="3895344"/>
            <a:ext cx="12801" cy="64008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488" y="3895344"/>
            <a:ext cx="14447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7488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4645152"/>
            <a:ext cx="62179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718304"/>
            <a:ext cx="621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AB4CC"/>
                </a:solidFill>
                <a:latin typeface="Calibri"/>
              </a:rPr>
              <a:t>INVESTOR BRIEF  ·  MAY 2026  ·  CONFIDENTIAL</a:t>
            </a:r>
          </a:p>
        </p:txBody>
      </p:sp>
      <p:pic>
        <p:nvPicPr>
          <p:cNvPr id="26" name="Picture 25" descr="vm_seal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56032"/>
            <a:ext cx="4956048" cy="4956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22592" y="5285232"/>
            <a:ext cx="4956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Calibri"/>
              </a:rPr>
              <a:t>ANTE IGNEM PARATUS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5559552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AB4CC"/>
                </a:solidFill>
                <a:latin typeface="Georgia"/>
              </a:rPr>
              <a:t>Prepared Before the Fire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5833872"/>
            <a:ext cx="4169663" cy="4389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5888736"/>
            <a:ext cx="41696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4071E"/>
                </a:solidFill>
                <a:latin typeface="Calibri"/>
              </a:rPr>
              <a:t>REQUEST FOUNDING PARTNER ACCESS  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6592824"/>
            <a:ext cx="96286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CONFIDENTIAL  · 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4710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41617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01  /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01  / 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65760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30-DAY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841248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MOBILIZATION BLACK HOLE.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371600"/>
            <a:ext cx="61264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517904"/>
            <a:ext cx="2560320" cy="1572768"/>
          </a:xfrm>
          <a:prstGeom prst="rect">
            <a:avLst/>
          </a:prstGeom>
          <a:solidFill>
            <a:srgbClr val="1F6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1517904"/>
            <a:ext cx="2560320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1572768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1773936"/>
            <a:ext cx="2377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&lt; 1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2414015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FFEE"/>
                </a:solidFill>
                <a:latin typeface="Calibri"/>
              </a:rPr>
              <a:t>Signal identified
Pattern matched
Protocol staged
Score computed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1956815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84C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93008" y="1517904"/>
            <a:ext cx="2505456" cy="1572768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93008" y="1517904"/>
            <a:ext cx="2505456" cy="23774"/>
          </a:xfrm>
          <a:prstGeom prst="rect">
            <a:avLst/>
          </a:prstGeom>
          <a:solidFill>
            <a:srgbClr val="FF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157276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6666"/>
                </a:solidFill>
                <a:latin typeface="Calibri"/>
              </a:rPr>
              <a:t>MOBILIZATION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177393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8888"/>
                </a:solidFill>
                <a:latin typeface="Calibri"/>
              </a:rPr>
              <a:t>30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2414015"/>
            <a:ext cx="2286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CCCC"/>
                </a:solidFill>
                <a:latin typeface="Calibri"/>
              </a:rPr>
              <a:t>Who decides?
Who calls who?
Who owns it?
Who authorizes?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21868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Startup to Fortune 500 — same trigger, identical 30-day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362102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The delay is not execution — it is mobilization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40233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Every day of drift: a window activists, regulators, competitors own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992624"/>
            <a:ext cx="5760720" cy="65836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992624"/>
            <a:ext cx="576072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0383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$4.4T COORDINATION FAILURE ANNUALLY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" y="5321808"/>
            <a:ext cx="5559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30-day mobilization gap is an architecture problem. We eliminate it permanently.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hq_command_t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02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02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THE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A $42 Billion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914400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C9A84C"/>
                </a:solidFill>
                <a:latin typeface="Georgia"/>
              </a:rPr>
              <a:t>coordination failure.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1517904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1682496"/>
            <a:ext cx="3749039" cy="301752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682496"/>
            <a:ext cx="3749039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556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TAM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29968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$42B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87121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Enterprise coordination, governance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272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and execution infrastructure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1682496"/>
            <a:ext cx="3749039" cy="301752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1682496"/>
            <a:ext cx="3749039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17556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SAM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2029968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$4.8B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287121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Operating model layer for Fortune 5000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31272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and PE-backed enterprises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1682496"/>
            <a:ext cx="3749039" cy="301752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1682496"/>
            <a:ext cx="3749039" cy="23774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7" y="17556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B4CC"/>
                </a:solidFill>
                <a:latin typeface="Calibri"/>
              </a:rPr>
              <a:t>SOM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7" y="2029968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$180M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7" y="287121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5-year capture target across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31272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Founding Partner and Growth tiers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4381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96B4"/>
                </a:solidFill>
                <a:latin typeface="Calibri"/>
              </a:rPr>
              <a:t>Gartner SPM + GRC + EPMO categories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34381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96B4"/>
                </a:solidFill>
                <a:latin typeface="Calibri"/>
              </a:rPr>
              <a:t>~25K target accounts × $200K avg ACV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7" y="34381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896B4"/>
                </a:solidFill>
                <a:latin typeface="Calibri"/>
              </a:rPr>
              <a:t>600 customers × $300K avg ACV by Y5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736592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4828032"/>
            <a:ext cx="114117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AAB4CC"/>
                </a:solidFill>
                <a:latin typeface="Calibri"/>
              </a:rPr>
              <a:t>Sources: Gartner Strategic Portfolio Management 2025  ·  McKinsey 2025 coordination cost  ·  WEF × Accenture March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102352"/>
            <a:ext cx="11411712" cy="1005840"/>
          </a:xfrm>
          <a:prstGeom prst="rect">
            <a:avLst/>
          </a:prstGeom>
          <a:solidFill>
            <a:srgbClr val="08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4048" y="5102352"/>
            <a:ext cx="11411712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157216"/>
            <a:ext cx="112288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THE MICROSOFT MULTIPLIER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5394960"/>
            <a:ext cx="1122883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AB4CC"/>
                </a:solidFill>
                <a:latin typeface="Georgia"/>
              </a:rPr>
              <a:t>"Every enterprise has Microsoft's AI stack. None have the operating model to use it." — Readiness OS is the operating model layer that sits above the Microsoft investment. Not a replacement. The orchestrator.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03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03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THE FOUNDER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84C"/>
                </a:solidFill>
                <a:latin typeface="Calibri"/>
              </a:rPr>
              <a:t>THE ONLY TEAM ALIVE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841248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THAT COULD BUILD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1371600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1517904"/>
            <a:ext cx="5394960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1554480"/>
            <a:ext cx="52486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FORTUNE 500 OPERATIONS  ·  20+ YEARS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1828800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Ford · Toyota · Lockheed Martin · Charles Schwab · Vantiv/Worldpay · Boyd Gaming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2231136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Watched the 30-day mobilization failure repeat across every vertical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633472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Same architecture gap — different trigger, identical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3035808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Built Readiness OS in 2023 to eliminate this pattern permanently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517904"/>
            <a:ext cx="5394960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1554480"/>
            <a:ext cx="52486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STANFORD UNIVERSITY  ·  FOOTBALL COACHING  ·  5 YEARS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1828800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Major college football — billion-dollar coordinated operation under pressure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2231136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40-second play clock — full team response, zero committee meetings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633472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The response is pre-staged before the snap — not designed after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035808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That preparation discipline is the foundation of the IDEA Framework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547872"/>
            <a:ext cx="11411712" cy="274320"/>
          </a:xfrm>
          <a:prstGeom prst="rect">
            <a:avLst/>
          </a:prstGeom>
          <a:solidFill>
            <a:srgbClr val="141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593591"/>
            <a:ext cx="11228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9A84C"/>
                </a:solidFill>
                <a:latin typeface="Calibri"/>
              </a:rPr>
              <a:t>MARTY BRUNKE  ·  FOUNDER &amp; CEO  ·  THE INTERSECTION WHERE PREPARATION BECOMES PERFORMANCE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3913632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995928"/>
            <a:ext cx="11411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AAB4CC"/>
                </a:solidFill>
                <a:latin typeface="Georgia"/>
              </a:rPr>
              <a:t>"I spent 20 years at Ford and Lockheed Martin watching the same 30-day mobilization failure repeat. And 5 years at Stanford — 40 seconds to orchestrate a multi-million dollar operation under extreme pressure. You don't huddle after the snap. The response is pre-staged. That's the architecture I built for the enterprise."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4710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41617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04  /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04  / 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THE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657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9A84C"/>
                </a:solidFill>
                <a:latin typeface="Calibri"/>
              </a:rPr>
              <a:t>READINESS 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731520"/>
            <a:ext cx="6126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RESPONSE IS 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1152144"/>
            <a:ext cx="6126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9A84C"/>
                </a:solidFill>
                <a:latin typeface="Calibri"/>
              </a:rPr>
              <a:t>BEFORE THE TRIGGER FIRES.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27632"/>
            <a:ext cx="61264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177393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Readiness Protocols — Growth &amp; Positioning, Risk &amp; Resilience, 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21762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221 trigger patterns monitored across 8 live data sources every 15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257860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248+ data points confidence-scored continuously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98094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AI monitors. Executives authorize. No protocol fires without executive sign-off.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383279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90-day configuration onboarding — not a consulting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40480"/>
            <a:ext cx="6126480" cy="60350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840480"/>
            <a:ext cx="6126480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895344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THE SYSTEM STAGES THE CHOICE IN SECONDS.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4151376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THE EXECUTIVE MUST CLICK AUTHORIZE.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535424"/>
            <a:ext cx="6126480" cy="786384"/>
          </a:xfrm>
          <a:prstGeom prst="rect">
            <a:avLst/>
          </a:prstGeom>
          <a:solidFill>
            <a:srgbClr val="060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608576"/>
            <a:ext cx="5961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4CC"/>
                </a:solidFill>
                <a:latin typeface="Georgia"/>
              </a:rPr>
              <a:t>"Every enterprise has Microsoft's AI stack. None have the operating model to use it. Readiness OS is that operating model — the orchestration layer above the Microsoft investment."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hq_executes_ch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4710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41617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05  /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05  / 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HOW IT EXECUTES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65760"/>
            <a:ext cx="6126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FROM TRIGGER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786384"/>
            <a:ext cx="6126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EXECUTION IN 12 MINUTES.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261872"/>
            <a:ext cx="61264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14081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146304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A84C"/>
                </a:solidFill>
                <a:latin typeface="Calibri"/>
              </a:rPr>
              <a:t>Signal detected — confidence-scored against 221 live trigger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192938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198424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Matching Readiness Protocol staged — tasks assigned, stakeholders mapped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45059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505456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Board-ready execution brief delivered in &lt; 120 seconds — authority chain mapped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2971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3026664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B8A6E"/>
                </a:solidFill>
                <a:latin typeface="Calibri"/>
              </a:rPr>
              <a:t>Executive authorizes — four real choices including Stand Down. No autonomous action.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34930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547872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A84C"/>
                </a:solidFill>
                <a:latin typeface="Calibri"/>
              </a:rPr>
              <a:t>Response live — 12 minutes from signal to coordinated organizational execution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133087"/>
            <a:ext cx="5760720" cy="65836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4133087"/>
            <a:ext cx="576072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178807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3,600×  EXECUTION HEAD START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462272"/>
            <a:ext cx="5559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30 days of mobilization compressed to 12 minutes  ·  startup to Fortune 500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82896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946904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"The AI monitors, but humans decide. We turn 30 days of unmanaged chaos into a controlled, 12-minute executive sign-off — with full audit trail and board-ready documentation."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q_12min_scenario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06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06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WHY WE 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MOAT COMPOUNDS.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841248"/>
            <a:ext cx="11411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B4CC"/>
                </a:solidFill>
                <a:latin typeface="Calibri"/>
              </a:rPr>
              <a:t>COMPETITORS START AT ZERO.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1298448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444752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THEY STOP AT ROUTING. WE PRE-STAGE THE ALIGNMENT.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664208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Signal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166420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Routes the signal. Stops before the response is staged.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938528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029968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ServiceNow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2029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Async workflow router — post-alignment only. We pre-stage the alignment itself.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304288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2395728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Microsoft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4288" y="239572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Produces intelligence. We pre-stage the org response to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2670048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McKinsey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76148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Arrives after the trigger fires. We were ready before the first call.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035808"/>
            <a:ext cx="539496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444752"/>
            <a:ext cx="5394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MOAT — THREE COMPOUNDING ADVANTAGES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664208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1700784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Compounding 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1956816"/>
            <a:ext cx="523036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Every activation encodes what held. Preparation compounds — the platform gets smarter at your org's specific trigger patterns.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633472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2944368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2980944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Org Context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236975"/>
            <a:ext cx="523036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Signal confidence + preparedness score unique to each org. Not replicable. Not transferable.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913631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4224528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261104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Encoding Permanence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4517136"/>
            <a:ext cx="523036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18 months of activations creates an intelligence layer competitors cannot replicate on day one — or day 365.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" y="5029200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" y="5111496"/>
            <a:ext cx="114117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9A84C"/>
                </a:solidFill>
                <a:latin typeface="Georgia"/>
              </a:rPr>
              <a:t>"They track the work. We engineer the capability to do it. And the data moat becomes completely uncatchable by month 18."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07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07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BUSINESS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PRICING TIERED.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841248"/>
            <a:ext cx="11411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Calibri"/>
              </a:rPr>
              <a:t>EXPANSION BUILT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1298448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1463040"/>
            <a:ext cx="2779776" cy="20116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463040"/>
            <a:ext cx="2779776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53619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179222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Validation cohort · 12 seats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084831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$75K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670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/ 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401568"/>
            <a:ext cx="2779776" cy="1828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419856"/>
            <a:ext cx="26334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04071E"/>
                </a:solidFill>
                <a:latin typeface="Calibri"/>
              </a:rPr>
              <a:t>COHORT FORMING NOW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6" y="1463040"/>
            <a:ext cx="2779776" cy="20116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28416" y="1463040"/>
            <a:ext cx="2779776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153619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179222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SMB and PE-backed startups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2084831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$75K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2670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/ 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1463040"/>
            <a:ext cx="2779776" cy="20116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4" y="1463040"/>
            <a:ext cx="2779776" cy="237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153619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Responsive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179222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Mid-market and Fortune 5000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2084831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$150K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2670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/ year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1463040"/>
            <a:ext cx="2779776" cy="20116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7152" y="1463040"/>
            <a:ext cx="2779776" cy="23774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3456" y="1536192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B4CC"/>
                </a:solidFill>
                <a:latin typeface="Calibri"/>
              </a:rPr>
              <a:t>Orchestrated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3456" y="1792224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Global enterprise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2084831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$250K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63456" y="2670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/ year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" y="3566160"/>
            <a:ext cx="11411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UNIT ECONOMICS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3767328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3858768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Calibri"/>
              </a:rPr>
              <a:t>80%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" y="4425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Target gross margin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3858768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Calibri"/>
              </a:rPr>
              <a:t>120%+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4425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Net revenue retention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858768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Calibri"/>
              </a:rPr>
              <a:t>5:1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4425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Target LTV:CAC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3456" y="3858768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Calibri"/>
              </a:rPr>
              <a:t>$300K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63456" y="4425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Target avg ACV by Year 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4736592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" y="4828032"/>
            <a:ext cx="114117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Founding Partner → Growth tier → industry pack add-ons.  Same platform.  Compounding ACV.  Break-even before the second activation.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08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08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TRACTION &amp;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BUILT.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8224" y="365760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4C"/>
                </a:solidFill>
                <a:latin typeface="Calibri"/>
              </a:rPr>
              <a:t>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7264" y="365760"/>
            <a:ext cx="3931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B8A6E"/>
                </a:solidFill>
                <a:latin typeface="Calibri"/>
              </a:rPr>
              <a:t>VALIDATED.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896112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060704"/>
            <a:ext cx="3749039" cy="2377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1078992"/>
            <a:ext cx="35661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BUILT — Production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371600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208 page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1792224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215+ registered routes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2212848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170 Readiness Protocols seeded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2633472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189 unit tests passing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3054096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121 E2E 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060704"/>
            <a:ext cx="3749039" cy="2377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5696" y="1078992"/>
            <a:ext cx="35661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LIVE — Operating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1371600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vaughnmartin.com in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1792224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8-feed signal pipeline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2212848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15-minute monitoring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2633472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12 Founding Partner seats forming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054096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$75K / 90-day offer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7888" y="1060704"/>
            <a:ext cx="3749039" cy="2377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5" y="1078992"/>
            <a:ext cx="35661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VALIDATED — Independent Endorsement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5" y="1371600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Dr. Kerry Huang — ESI Top 1% Researcher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5" y="1792224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408-firm governance study aligned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5" y="2212848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Named publicly on LinkedIn, April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5" y="2633472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Category language adopted by peers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7615" y="3054096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·  Gartner/McKinsey/WEF sourced market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3529584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4048" y="3639312"/>
            <a:ext cx="11411712" cy="1316736"/>
          </a:xfrm>
          <a:prstGeom prst="rect">
            <a:avLst/>
          </a:prstGeom>
          <a:solidFill>
            <a:srgbClr val="08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712463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MARTY BRUNKE  ·  FOUNDER &amp; CEO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3986784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20+ years Fortune 500 operations: Ford, Toyota, Lockheed Martin, Charles Schwab, Vantiv/Worldpay, Boyd Gaming.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4261104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Five years major college football coaching at Stanford University — origin of the IDEA Framework. Prepare. Practice. Perform fearless. Never give up.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" y="4535424"/>
            <a:ext cx="112288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4CC"/>
                </a:solidFill>
                <a:latin typeface="Georgia"/>
              </a:rPr>
              <a:t>"The intersection where preparation discipline meets enterprise execution — no one else is at this intersection."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4710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41617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09  /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09  / 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vaughnmartin.com/proof-story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PROOF — NOT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65760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BUILT.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841248"/>
            <a:ext cx="6126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IN PRODUCTION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316736"/>
            <a:ext cx="61264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14630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Production platform live — vaughnmartin.com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186537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protocols active  ·  221 triggers  ·  248+ data points scored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22677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12-Minute Test Drive — 7 scenarios, runnable live right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267004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Founding Partner cohort open — 90-day validation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07238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Proof Story live — 3 full activation narratives with timelines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584448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648456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"Same trigger. Same company. Entirely different outcome. The only variable: whether the response was pre-staged before the trigger fired."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389120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A7E2C"/>
                </a:solidFill>
                <a:latin typeface="Calibri"/>
              </a:rPr>
              <a:t>— vaughnmartin.com/proof-story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590288"/>
            <a:ext cx="5760720" cy="6949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4590288"/>
            <a:ext cx="5760720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636007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PULL OUT YOUR PHONE  —  THIS IS LIVE RIGHT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4919472"/>
            <a:ext cx="5559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vaughnmartin.com/how-it-executes  ·  Run the 12-minute activation chain yourself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hq_proof_timelin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10  / 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10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FINANCIAL PROJECTIONS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65760"/>
            <a:ext cx="11411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PATH TO $8M+ ARR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841248"/>
            <a:ext cx="11411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BY YEAR THREE.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1298448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1463040"/>
            <a:ext cx="3749039" cy="29260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463040"/>
            <a:ext cx="3749039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536192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YEAR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1792224"/>
            <a:ext cx="352958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$625K ARR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46888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5 customers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74320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Founding Partner closes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310896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6 person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463040"/>
            <a:ext cx="3749039" cy="29260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463040"/>
            <a:ext cx="3749039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2272" y="1536192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YEAR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1792224"/>
            <a:ext cx="352958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$3.75M ARR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246888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30 customers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274320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2–3 closes / month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310896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14 person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1463040"/>
            <a:ext cx="3749039" cy="29260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47888" y="1463040"/>
            <a:ext cx="3749039" cy="237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1536192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YEAR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792224"/>
            <a:ext cx="352958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$8M+ ARR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246888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65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2743200"/>
            <a:ext cx="35295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3 closes / 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3108960"/>
            <a:ext cx="352958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22 person team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4590288"/>
            <a:ext cx="114117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AB4CC"/>
                </a:solidFill>
                <a:latin typeface="Calibri"/>
              </a:rPr>
              <a:t>85% Gross Margin  ·  $125K Land → $175K Expand  ·  90% Retention  ·  &lt; 12mo CAC Payback  ·  LTV:CAC &gt; 5×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864608"/>
            <a:ext cx="1141171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4048" y="4974336"/>
            <a:ext cx="11411712" cy="1133856"/>
          </a:xfrm>
          <a:prstGeom prst="rect">
            <a:avLst/>
          </a:prstGeom>
          <a:solidFill>
            <a:srgbClr val="08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047488"/>
            <a:ext cx="112288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SERIES A TRIGGER  ·  MONTH 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5303520"/>
            <a:ext cx="112288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$3.75M ARR run rate  ·  30 customers  ·  documented proof stories  ·  Microsoft integration certified  ·  positioned to raise from strength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" y="5577840"/>
            <a:ext cx="112288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A7E2C"/>
                </a:solidFill>
                <a:latin typeface="Calibri"/>
              </a:rPr>
              <a:t>6 Founding Partners × $75K = $450K validation revenue at Milestone 1 — GTM spend self-funds at milestone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47104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41617" y="0"/>
            <a:ext cx="5486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"/>
            <a:ext cx="11914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  11  /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11  / 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01168"/>
            <a:ext cx="5760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THE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65760"/>
            <a:ext cx="6126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$750K PRE-SEED.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877824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TWELVE MONTHS. THREE MILESTONES.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261872"/>
            <a:ext cx="612648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1408176"/>
            <a:ext cx="612648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148132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M1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1463040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Six Founding Partners signed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173736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$450K validation revenue  ·  90-day cycles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395728"/>
            <a:ext cx="612648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246888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M2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245059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Three Growth tier conversions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27249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$450K ARR run rate at month 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3383280"/>
            <a:ext cx="612648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" y="3456432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M3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3438144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$1M ARR run rate by month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371246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Series A trigger · raise from strength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6576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USE OF FUNDS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585216"/>
            <a:ext cx="539496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92240" y="713232"/>
            <a:ext cx="5394960" cy="107899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731520"/>
            <a:ext cx="5394960" cy="102412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92240" y="731520"/>
            <a:ext cx="475488" cy="89611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822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9A84C"/>
                </a:solidFill>
                <a:latin typeface="Calibri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822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GTM &amp; Founding Partner success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111556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VP Sales, AEs, SDRs — demand gen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1901952"/>
            <a:ext cx="5394960" cy="107899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1901952"/>
            <a:ext cx="5394960" cy="102412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1901952"/>
            <a:ext cx="475488" cy="89611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0" y="199339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Calibri"/>
              </a:rPr>
              <a:t>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199339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Engineering &amp; industry packs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22860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Platform hardening, integrations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090672"/>
            <a:ext cx="5394960" cy="107899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92240" y="3072384"/>
            <a:ext cx="5394960" cy="102412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92240" y="3072384"/>
            <a:ext cx="475488" cy="8961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0" y="3163824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16382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Infra, security, compliance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45643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Enterprise-grade certifications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279392"/>
            <a:ext cx="5394960" cy="107899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92240" y="4242816"/>
            <a:ext cx="5394960" cy="102412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92240" y="4242816"/>
            <a:ext cx="475488" cy="896112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4334255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AAB4CC"/>
                </a:solidFill>
                <a:latin typeface="Calibri"/>
              </a:rPr>
              <a:t>10%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0" y="4334255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Founder + reserves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462686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Operating runway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005072"/>
            <a:ext cx="6126480" cy="475488"/>
          </a:xfrm>
          <a:prstGeom prst="rect">
            <a:avLst/>
          </a:prstGeom>
          <a:solidFill>
            <a:srgbClr val="08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84048" y="4005072"/>
            <a:ext cx="6126480" cy="4754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2" y="4059936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 COHORT  ·  12 SEATS  ·  FORMING NOW  ·  LIMITED AVAILABILITY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0352" y="4279392"/>
            <a:ext cx="5943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investor@vaughnmartin.com  ·  vaughnmartin.com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51592" y="6592824"/>
            <a:ext cx="1609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12  /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592824"/>
            <a:ext cx="79827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investor@vaughnmartin.com  ·  vaughnmartin.com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384048"/>
            <a:ext cx="114117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B4CC"/>
                </a:solidFill>
                <a:latin typeface="Georgia"/>
              </a:rPr>
              <a:t>Three lines. That's the pitch.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822960"/>
            <a:ext cx="8887968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45920" y="1005840"/>
            <a:ext cx="8887968" cy="15544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0" y="1005840"/>
            <a:ext cx="8887968" cy="237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10789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078992"/>
            <a:ext cx="62362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Georgia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45920" y="2706624"/>
            <a:ext cx="8887968" cy="15544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45920" y="2706624"/>
            <a:ext cx="8887968" cy="2377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27797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779776"/>
            <a:ext cx="62362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Georgia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4407408"/>
            <a:ext cx="8887968" cy="155448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4407408"/>
            <a:ext cx="8887968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480560"/>
            <a:ext cx="623620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Georgia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0" y="6144768"/>
            <a:ext cx="8887968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6217920"/>
            <a:ext cx="114117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Calibri"/>
              </a:rPr>
              <a:t>PREPARATION  →  READINESS  →  FEARLESS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0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754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592824"/>
            <a:ext cx="96286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PITCH DEFENSE  ·  OBJECTION HANDLING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270662"/>
            <a:ext cx="256032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01168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 PITCH DEFENSE  ·  3 OBJECTIONS, 3 ANSWERS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457200"/>
            <a:ext cx="11411712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585216"/>
            <a:ext cx="11411712" cy="177393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585216"/>
            <a:ext cx="11411712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0080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1  ·  "Can't ServiceNow just add this?"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914400"/>
            <a:ext cx="1122883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"No. ServiceNow is an async ticketing router for post-alignment execution. VaughnMartin pre-stages the organizational alignment itself. They track the work. We engineer the capability to do it."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505456"/>
            <a:ext cx="11411712" cy="177393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505456"/>
            <a:ext cx="11411712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560320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2  ·  "What about AI taking autonomous action?"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1122883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"The system stages the choice in seconds, but an executive must click authorize. No action deploys without explicit sign-off. Four real choices — including Stand Down. Human authority preserved at every trigger."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425696"/>
            <a:ext cx="11411712" cy="177393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4425696"/>
            <a:ext cx="11411712" cy="21945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4480559"/>
            <a:ext cx="11228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3  ·  "How long to configure 170 protocols for a new client?"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754880"/>
            <a:ext cx="11228832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"They don't build from scratch. VaughnMartin ships 170 out-of-the-box protocols. Onboarding is configuration — not a consulting project. 90 days to live."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