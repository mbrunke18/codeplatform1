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</a:t>
            </a:r>
          </a:p>
          <a:p>
            <a:r>
              <a:t>"Every company in your portfolio has built an AI stack to process information faster. Yet when a critical strategic trigger fires, it still takes 30 days of committee meetings to act.</a:t>
            </a:r>
          </a:p>
          <a:p/>
          <a:p>
            <a:r>
              <a:t>We engineered the operating model that closes that gap permanently. 3,600× execution head start — the response is fully pre-staged, mapped, and ready before the crisis or opportunity even hits.</a:t>
            </a:r>
          </a:p>
          <a:p/>
          <a:p>
            <a:r>
              <a:t>This is NOT an efficiency tool. This is a defense and offense system for a volatile world."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"The market thinks companies have a strategy problem. They don't. They have an architecture problem. When a competitor launches a surprise product, or a cyber breach happens, leadership spends the first two to three weeks just figuring out who has the authority to make the first move.</a:t>
            </a:r>
          </a:p>
          <a:p/>
          <a:p>
            <a:r>
              <a:t>That 30-day delay is an existential window that activists, regulators, or competitors completely own."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"I spent 20 years leading enterprise transformation at Ford and Lockheed Martin, watching the exact same 30-day mobilization failure repeat across every vertical. But I also spent 5 years on the coaching staff at Stanford. In major college football, you have a 40-second play clock to orchestrate a multi-million dollar operation under extreme pressure. You don't huddle after the snap — the response is pre-staged. I took that exact architecture and built it into software for the enterprise.</a:t>
            </a:r>
          </a:p>
          <a:p/>
          <a:p>
            <a:r>
              <a:t>I am the only person in enterprise software at this intersection. That is the moat you cannot replicate from a job description."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"This is live in production today — not a roadmap concept. When a ransomware signal hits, the system doesn't autonomously rogue-execute. Instead, in less than 120 seconds, it delivers a board-ready execution brief to the executive suite with pre-approved communication streams and a mapped authority chain.</a:t>
            </a:r>
          </a:p>
          <a:p/>
          <a:p>
            <a:r>
              <a:t>The AI monitors, but humans decide. We turn 30 days of unmanaged chaos and a potential $47M penalty into a controlled, 12-minute executive sign-off."</a:t>
            </a:r>
          </a:p>
          <a:p/>
          <a:p>
            <a:r>
              <a:t>KEY LINES:</a:t>
            </a:r>
          </a:p>
          <a:p>
            <a:r>
              <a:t>"The system stages the choice in seconds. The executive must click authorize."</a:t>
            </a:r>
          </a:p>
          <a:p>
            <a:r>
              <a:t>"Every enterprise has Microsoft's AI stack. None have the operating model to use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"Look at the current landscape. Signal Labs routes the telemetry. ServiceNow automates the workflow AFTER you spend weeks getting aligned. Microsoft Copilot generates the text. McKinsey charges a massive retainer to show up days after the damage is done.</a:t>
            </a:r>
          </a:p>
          <a:p/>
          <a:p>
            <a:r>
              <a:t>VaughnMartin is the orchestration layer that pre-stages the alignment before any of them are even called. And because our system encodes the results of every activation, the data moat becomes completely uncatchable by month 18."</a:t>
            </a:r>
          </a:p>
          <a:p/>
          <a:p>
            <a:r>
              <a:t>FATAL TRAP: "Can't ServiceNow add this?"</a:t>
            </a:r>
          </a:p>
          <a:p>
            <a:r>
              <a:t>ANSWER: "ServiceNow is an async ticketing router for post-alignment execution. VaughnMartin pre-stages the organizational alignment itself. They track the work. We engineer the capability to do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"In less than 120 seconds, it delivers a board-ready execution brief to the executive suite with pre-approved communication streams and a mapped authority chain.</a:t>
            </a:r>
          </a:p>
          <a:p/>
          <a:p>
            <a:r>
              <a:t>The AI monitors, but humans decide. We turn 30 days of unmanaged chaos into a controlled, 12-minute executive sign-off."</a:t>
            </a:r>
          </a:p>
          <a:p/>
          <a:p>
            <a:r>
              <a:t>SAY EXPLICITLY AT STEP 4: "No action deploys without explicit executive authorization. Four choices — including Stand Down. Human authority is preserved at every trigger point."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"Pull out your phone right now. Go to vaughnmartin.com/how-it-executes. Watch the complete 12-minute execution chain run live. This is not a roadmap — it is live and testable today."</a:t>
            </a:r>
          </a:p>
          <a:p/>
          <a:p>
            <a:r>
              <a:t>FRAMING: "Same trigger. Same company. Entirely different outcome. The only variable is whether the response was pre-staged before the trigger fired."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TRACK:</a:t>
            </a:r>
          </a:p>
          <a:p>
            <a:r>
              <a:t>"We aren't asking CFOs to dig up net-new budget in a tight economy. Enterprises are already burning millions on reactive, post-trigger consulting retainers and fire-drills.</a:t>
            </a:r>
          </a:p>
          <a:p/>
          <a:p>
            <a:r>
              <a:t>We are simply converting that wasteful, panic-driven spend into repeatable software infrastructure that generates immediate, compounding ROI. The $75K Founding Partner fee is a trivial reallocation of waste that already exists in the budget — and it pays for itself the first time a trigger fires."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(CLOSE):</a:t>
            </a:r>
          </a:p>
          <a:p>
            <a:r>
              <a:t>"The platform is live. The metrics are undeniable. The category is forming right now.</a:t>
            </a:r>
          </a:p>
          <a:p/>
          <a:p>
            <a:r>
              <a:t>We have 12 Founding Partner seats for organizations that want to be in the first cohort. This is a limited ticket onto a fast-moving train.</a:t>
            </a:r>
          </a:p>
          <a:p/>
          <a:p>
            <a:r>
              <a:t>PREPARATION → READINESS → FEARLESS.</a:t>
            </a:r>
          </a:p>
          <a:p/>
          <a:p>
            <a:r>
              <a:t>Any organization that is prepared for every situation it expects to face is no longer afraid — it is fearless. That is the endpoint. Not speed. Fearless.</a:t>
            </a:r>
          </a:p>
          <a:p/>
          <a:p>
            <a:r>
              <a:t>Let's build the future of fearless execution together."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2.pn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image" Target="../media/image11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3.jp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pic>
        <p:nvPicPr>
          <p:cNvPr id="8" name="Picture 7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2977286" cy="7498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1261872"/>
            <a:ext cx="3525926" cy="1280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63040"/>
            <a:ext cx="6400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0" i="0">
                <a:solidFill>
                  <a:srgbClr val="FFFFFF"/>
                </a:solidFill>
                <a:latin typeface="Georgia"/>
              </a:rPr>
              <a:t>The Response Is Ready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23160"/>
            <a:ext cx="64008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0" i="1">
                <a:solidFill>
                  <a:srgbClr val="C9A84C"/>
                </a:solidFill>
                <a:latin typeface="Georgia"/>
              </a:rPr>
              <a:t>before the trigger fires.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93008"/>
            <a:ext cx="6309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AB4CC"/>
                </a:solidFill>
                <a:latin typeface="Calibri"/>
              </a:rPr>
              <a:t>Defense + Offense System  ·  Startup to Fortune 500  ·  Preparation Infrastructure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85615"/>
            <a:ext cx="6309360" cy="1463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913632"/>
            <a:ext cx="1444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trigger to execution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3913632"/>
            <a:ext cx="14630" cy="658368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391" y="3913632"/>
            <a:ext cx="1444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3,600×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3391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execution head start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6432" y="3913632"/>
            <a:ext cx="14630" cy="658368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3913632"/>
            <a:ext cx="1444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170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9584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Readiness Protocols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2624" y="3913632"/>
            <a:ext cx="14630" cy="658368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65776" y="3913632"/>
            <a:ext cx="1444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389120"/>
            <a:ext cx="14447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B4CC"/>
                </a:solidFill>
                <a:latin typeface="Calibri"/>
              </a:rPr>
              <a:t>trigger patterns</a:t>
            </a:r>
          </a:p>
        </p:txBody>
      </p:sp>
      <p:pic>
        <p:nvPicPr>
          <p:cNvPr id="25" name="Picture 24" descr="vm_seal_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2944" y="420624"/>
            <a:ext cx="4114800" cy="4114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63840" y="4608576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Calibri"/>
              </a:rPr>
              <a:t>ANTE IGNEM PARATUS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8828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AAB4CC"/>
                </a:solidFill>
                <a:latin typeface="Georgia"/>
              </a:rPr>
              <a:t>Prepared Before the Fire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79" y="5138928"/>
            <a:ext cx="347472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0" y="523036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AAB4CC"/>
                </a:solidFill>
                <a:latin typeface="Calibri"/>
              </a:rPr>
              <a:t>INVESTOR BRIEF  ·  MAY 2026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5559552"/>
            <a:ext cx="3474720" cy="42062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5614416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5081E"/>
                </a:solidFill>
                <a:latin typeface="Calibri"/>
              </a:rPr>
              <a:t>REQUEST FOUNDING PARTNER ACCESS  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4560" y="6592824"/>
            <a:ext cx="9692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CONFIDENTIAL  ·  NOT FOR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58076" y="0"/>
            <a:ext cx="7315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01  / 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THE PROBLEM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66928"/>
            <a:ext cx="5943600" cy="46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30-DAY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1029208"/>
            <a:ext cx="5943600" cy="46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MOBILIZATION BLACK HOLE.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601216"/>
            <a:ext cx="59436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1747418"/>
            <a:ext cx="2596896" cy="1554480"/>
          </a:xfrm>
          <a:prstGeom prst="rect">
            <a:avLst/>
          </a:prstGeom>
          <a:solidFill>
            <a:srgbClr val="1F6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1747418"/>
            <a:ext cx="2596896" cy="2377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180228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2021738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&lt; 1 SEC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" y="268010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FFEE"/>
                </a:solidFill>
                <a:latin typeface="Calibri"/>
              </a:rPr>
              <a:t>Signal identified.
Pattern matched.
Protocol matched.
Score computed.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5808" y="218633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9A84C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9584" y="1747418"/>
            <a:ext cx="2487168" cy="1554480"/>
          </a:xfrm>
          <a:prstGeom prst="rect">
            <a:avLst/>
          </a:prstGeom>
          <a:solidFill>
            <a:srgbClr val="3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29584" y="1747418"/>
            <a:ext cx="2487168" cy="23774"/>
          </a:xfrm>
          <a:prstGeom prst="rect">
            <a:avLst/>
          </a:prstGeom>
          <a:solidFill>
            <a:srgbClr val="99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180228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6666"/>
                </a:solidFill>
                <a:latin typeface="Calibri"/>
              </a:rPr>
              <a:t>MOBILIZATION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021738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8888"/>
                </a:solidFill>
                <a:latin typeface="Calibri"/>
              </a:rPr>
              <a:t>30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680106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CCCC"/>
                </a:solidFill>
                <a:latin typeface="Calibri"/>
              </a:rPr>
              <a:t>Who decides?
Who calls who?
Who owns it?
Who authorizes?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346649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Startup to Fortune 500 — same trigger, identical 30-day drift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3868826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The delay is not execution — it is mobilization architecture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427116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Every day of drift: a window activists, regulators, competitors own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" y="4783226"/>
            <a:ext cx="5760720" cy="7132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84048" y="4783226"/>
            <a:ext cx="5760720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" y="482894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$4.4T AT RISK ANNUALLY — COORDINATION FAILURES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" y="5112410"/>
            <a:ext cx="5559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The 30-day mobilization gap is not a strategy problem. It is an architecture problem. We eliminate it permanently.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hq_command_towe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st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02  /  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84048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THE FOUNDER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566928"/>
            <a:ext cx="1152144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9A84C"/>
                </a:solidFill>
                <a:latin typeface="Calibri"/>
              </a:rPr>
              <a:t>THE ONLY TEAM ALIVE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1062228"/>
            <a:ext cx="1152144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THAT COULD BUILD THIS.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667256"/>
            <a:ext cx="11393424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1813255"/>
            <a:ext cx="5394960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1849831"/>
            <a:ext cx="52486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FORTUNE 500 OPERATIONS  ·  20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2142439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Ford · Toyota · Lockheed Martin · Charles Schwab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" y="2544775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Watched the 30-day mobilization failure repeat across every vertical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" y="2947111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Same architecture gap — different trigger, identical delay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3349447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Built Readiness OS in 2023 to end that pattern permanently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813255"/>
            <a:ext cx="5394960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1849831"/>
            <a:ext cx="52486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STANFORD UNIVERSITY  ·  FOOTBALL COACHING  ·  5 YEARS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142439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Major college football — billion-dollar coordinated operation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544775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40-second play clock — full response, zero committee meetings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2947111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You don't design the play after the snap — the response is pre-staged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349447"/>
            <a:ext cx="524865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·  That preparation architecture is the foundation of Readiness 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3879799"/>
            <a:ext cx="11393424" cy="274320"/>
          </a:xfrm>
          <a:prstGeom prst="rect">
            <a:avLst/>
          </a:prstGeom>
          <a:solidFill>
            <a:srgbClr val="141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3925519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9A84C"/>
                </a:solidFill>
                <a:latin typeface="Calibri"/>
              </a:rPr>
              <a:t>THE INTERSECTION — PREPARATION DISCIPLINE THAT WINS UNDER PRESSURE WAS MISSING FROM ENTERPRISE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282135"/>
            <a:ext cx="11393424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4364431"/>
            <a:ext cx="11393424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AB4CC"/>
                </a:solidFill>
                <a:latin typeface="Georgia"/>
              </a:rPr>
              <a:t>"I spent 20 years leading enterprise transformation at Ford and Lockheed Martin, watching the exact same 30-day mobilization failure repeat across every vertical. And 5 years on the coaching staff at Stanford — 40 seconds to orchestrate a multi-million dollar operation under extreme pressure. You don't huddle after the snap. The response is pre-staged. I built that architecture into software for the enterprise."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58076" y="0"/>
            <a:ext cx="7315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03  / 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vaughnmartin.com/how-it-executes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THE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66928"/>
            <a:ext cx="5943600" cy="264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READINESS OS: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831088"/>
            <a:ext cx="5943600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RESPONSE IS 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1260348"/>
            <a:ext cx="5943600" cy="429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9A84C"/>
                </a:solidFill>
                <a:latin typeface="Calibri"/>
              </a:rPr>
              <a:t>BEFORE THE TRIGGER FIRES.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799336"/>
            <a:ext cx="59436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1945843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170 Readiness Protocols — Growth &amp; Positioning, Risk &amp; Resilience, Transformation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348179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221 strategic trigger patterns monitored across 8 live data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2750515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248+ data points confidence-scored every 15 minutes continuously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152851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AI monitors. Executives authorize. No protocol activates without sign-off.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555187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Configuration onboarding — not a consulting project. 90 days to live.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085539"/>
            <a:ext cx="5943600" cy="60350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84048" y="4085539"/>
            <a:ext cx="5943600" cy="21945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064" y="4140403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THE SYSTEM STAGES THE CHOICE IN SECONDS.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" y="4396435"/>
            <a:ext cx="5760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THE EXECUTIVE MUST CLICK AUTHORIZE.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4835347"/>
            <a:ext cx="557784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4899355"/>
            <a:ext cx="5760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B4CC"/>
                </a:solidFill>
                <a:latin typeface="Georgia"/>
              </a:rPr>
              <a:t>"Every enterprise has Microsoft's AI stack. None have the operating model to use it. Readiness OS is that operating model layer — not a replacement, the orchestrator above it."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q_executes_chai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proo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04  /  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84048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WHY WE WIN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566928"/>
            <a:ext cx="11521440" cy="528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THE MOAT COMPOUNDS.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1095247"/>
            <a:ext cx="11521440" cy="36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B4CC"/>
                </a:solidFill>
                <a:latin typeface="Calibri"/>
              </a:rPr>
              <a:t>COMPETITORS START AT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1568195"/>
            <a:ext cx="11393424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1714500"/>
            <a:ext cx="5486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THEY STOP AT ROUTING. WE PRE-STAGE THE ALIGNMENT.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1952243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Signal Labs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288" y="1952243"/>
            <a:ext cx="36575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Routes the signal. Stops before the response is staged.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226563"/>
            <a:ext cx="548640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2318003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ServiceNow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2318003"/>
            <a:ext cx="36575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Async workflow router — post-alignment only. We pre-stage the alignment.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92323"/>
            <a:ext cx="548640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2683763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Microsoft Copilot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2683763"/>
            <a:ext cx="36575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Produces intelligence. We pre-stage the org response to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958083"/>
            <a:ext cx="548640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3049523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McKinsey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04288" y="3049523"/>
            <a:ext cx="36575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Arrives after the trigger fires. We were ready before the first call.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3323843"/>
            <a:ext cx="548640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4048" y="3506724"/>
            <a:ext cx="5577840" cy="310896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" y="3570732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9A84C"/>
                </a:solidFill>
                <a:latin typeface="Georgia"/>
              </a:rPr>
              <a:t>"They track the work. We engineer the capability to do it."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171450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THE MOAT — WHAT MAKES US UNCATCHABLE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1952243"/>
            <a:ext cx="5449824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1988819"/>
            <a:ext cx="5230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Compounding Loop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2244851"/>
            <a:ext cx="5230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Every activation encodes what held. Preparation compounds permanently.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2848356"/>
            <a:ext cx="5449824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92240" y="3177539"/>
            <a:ext cx="5449824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3214115"/>
            <a:ext cx="5230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Org Context Intelligence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3470147"/>
            <a:ext cx="5230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Signal confidence + preparedness score unique to each org. Not replicable.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073652"/>
            <a:ext cx="5449824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92240" y="4402836"/>
            <a:ext cx="5449824" cy="256032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4439412"/>
            <a:ext cx="52303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Calibri"/>
              </a:rPr>
              <a:t>Encoding Permanence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4695444"/>
            <a:ext cx="5230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18 months of activations creates an intelligence layer competitors cannot match on day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5756148"/>
            <a:ext cx="11393424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84048" y="5838444"/>
            <a:ext cx="1139342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AAB4CC"/>
                </a:solidFill>
                <a:latin typeface="Georgia"/>
              </a:rPr>
              <a:t>"Signal Labs routes the signal. ServiceNow runs the workflow. McKinsey arrives after the trigger. VaughnMartin had the response pre-staged before any of them were called — and the data moat becomes completely uncatchable by month 18."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58076" y="0"/>
            <a:ext cx="7315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05  / 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vaughnmartin.com/how-it-executes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66928"/>
            <a:ext cx="5943600" cy="46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FROM TRIGGER 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1029208"/>
            <a:ext cx="5943600" cy="46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EXECUTION IN 12 MINUTES.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601216"/>
            <a:ext cx="59436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74741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179313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A84C"/>
                </a:solidFill>
                <a:latin typeface="Calibri"/>
              </a:rPr>
              <a:t>Signal detected — scored against 221 live strategic trigger 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27777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232349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Matching Readiness Protocol staged — tasks assigned, stakeholders mapped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280812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285384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Board-ready execution brief delivered in &lt; 120 seconds — authority chain mapped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333847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38419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B8A6E"/>
                </a:solidFill>
                <a:latin typeface="Calibri"/>
              </a:rPr>
              <a:t>Executive authorizes — four real choices including Stand Down. No autonomous action.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386882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Calibri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391454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A84C"/>
                </a:solidFill>
                <a:latin typeface="Calibri"/>
              </a:rPr>
              <a:t>Response live — 12 minutes from signal to coordinated organizational execution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4545482"/>
            <a:ext cx="5760720" cy="65836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84048" y="4545482"/>
            <a:ext cx="5760720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" y="4591202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3,600×  EXECUTION HEAD 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" y="4874666"/>
            <a:ext cx="5559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4CC"/>
                </a:solidFill>
                <a:latin typeface="Calibri"/>
              </a:rPr>
              <a:t>30 days of mobilization compressed to 12 minutes  ·  startup to Fortune 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" y="5350154"/>
            <a:ext cx="557784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5414162"/>
            <a:ext cx="5760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B4CC"/>
                </a:solidFill>
                <a:latin typeface="Georgia"/>
              </a:rPr>
              <a:t>"The AI monitors, but humans decide. We turn 30 days of unmanaged chaos and a potential $47M penalty into a controlled, 12-minute executive sign-off."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hq_12min_scenario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proo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58076" y="0"/>
            <a:ext cx="7315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06  / 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vaughnmartin.com/proof-story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PROOF — NOW, NOT ROADMAP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66928"/>
            <a:ext cx="5943600" cy="627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BUILT.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1194308"/>
            <a:ext cx="5943600" cy="627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9A84C"/>
                </a:solidFill>
                <a:latin typeface="Calibri"/>
              </a:rPr>
              <a:t>LIVE.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1821688"/>
            <a:ext cx="5943600" cy="36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AAB4CC"/>
                </a:solidFill>
                <a:latin typeface="Calibri"/>
              </a:rPr>
              <a:t>IN PRODUCTION NOW.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294636"/>
            <a:ext cx="59436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440533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Production platform live — vaughnmartin.com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842869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170 protocols active  ·  221 triggers monitored  ·  248+ data points scored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3245205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Full execution walkthrough — vaughnmartin.com/how-it-executes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647541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12-Minute Test Drive — run any of 7 real scenarios, live now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4049877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Founding Partner cohort open — 90-day validation partnership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4616805"/>
            <a:ext cx="557784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4680813"/>
            <a:ext cx="5760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B4CC"/>
                </a:solidFill>
                <a:latin typeface="Georgia"/>
              </a:rPr>
              <a:t>"Same trigger. Same company. Entirely different outcome. The only variable: whether the response was pre-staged before the trigger fired."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421477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9A7E2C"/>
                </a:solidFill>
                <a:latin typeface="Calibri"/>
              </a:rPr>
              <a:t>— The Proof — vaughnmartin.com/proof-story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hq_proof_timelin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st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58076" y="0"/>
            <a:ext cx="7315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07  / 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vaughnmartin.com/roi-calculator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BUSINESS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66928"/>
            <a:ext cx="5943600" cy="46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 TRIVIAL REALLOCATION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1029208"/>
            <a:ext cx="5943600" cy="46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9A84C"/>
                </a:solidFill>
                <a:latin typeface="Calibri"/>
              </a:rPr>
              <a:t>OF EXISTING WASTE.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601216"/>
            <a:ext cx="59436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747418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Enterprises already burn millions on reactive post-trigger consulting retainers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2149754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Readiness OS converts panic-driven spend into repeatable software 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55209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Not asking for net-new budget — reallocating existing waste with compounding ROI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2954426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Estimated $61.3M annual value for enterprises facing 3+ strategic triggers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84778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PRICING — THE REALLOCATION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3722522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Founding 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3722522"/>
            <a:ext cx="3840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$75K / 90-day validation  ·  12 seats  ·  Cohort forming now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3996842"/>
            <a:ext cx="566928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4088282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Growth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04288" y="4088282"/>
            <a:ext cx="3840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$75K–$250K annually  ·  Replaces $400K–$800K consulting retainer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4362602"/>
            <a:ext cx="566928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4454042"/>
            <a:ext cx="18470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Enterprise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4288" y="4454042"/>
            <a:ext cx="3840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$250K+  ·  Microsoft integration certified  ·  Custom SLA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728362"/>
            <a:ext cx="566928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" y="4966106"/>
            <a:ext cx="5577840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5030114"/>
            <a:ext cx="5760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B4CC"/>
                </a:solidFill>
                <a:latin typeface="Georgia"/>
              </a:rPr>
              <a:t>"We aren't asking CFOs to find net-new budget. Enterprises are already burning millions on reactive, post-trigger consulting retainers. We are simply converting that wasteful, panic-driven spend into repeatable software infrastructure that generates immediate, compounding ROI."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hq_roi_resul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56539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58076" y="0"/>
            <a:ext cx="7315" cy="6858000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79608" y="6592824"/>
            <a:ext cx="14813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AAB4CC"/>
                </a:solidFill>
                <a:latin typeface="Calibri"/>
              </a:rPr>
              <a:t>  08  / 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6592824"/>
            <a:ext cx="79552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vaughnmartin.com/founding-partner-program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THE 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66928"/>
            <a:ext cx="5943600" cy="297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9A84C"/>
                </a:solidFill>
                <a:latin typeface="Calibri"/>
              </a:rPr>
              <a:t>CATEGORY CREATION: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864108"/>
            <a:ext cx="5943600" cy="462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PREPARATION INFRASTRUCTURE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436116"/>
            <a:ext cx="5943600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582826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Raising: Up to $1,000,000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198516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Product hardening + enterprise-grade security controls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2387498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Founding Partner conversions + repeatable GTM 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2789834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▸  Microsoft integration certification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320186"/>
            <a:ext cx="5943600" cy="402336"/>
          </a:xfrm>
          <a:prstGeom prst="rect">
            <a:avLst/>
          </a:prstGeom>
          <a:solidFill>
            <a:srgbClr val="1822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320186"/>
            <a:ext cx="5943600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3411626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FOUNDING PARTNER COHORT  ·  12 SEATS  ·  FORMING NOW  ·  LIMITED AVAILABILITY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383225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18-MONTH RUNWAY TO SERIES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069994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4069994"/>
            <a:ext cx="4974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3 Founding Partners on recurring annual contracts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4344314"/>
            <a:ext cx="566928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4435754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4435754"/>
            <a:ext cx="4974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Enterprise controls complete  ·  Microsoft integration certified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4710074"/>
            <a:ext cx="566928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4801514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4801514"/>
            <a:ext cx="4974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Repeatable GTM with documented proof stories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5075834"/>
            <a:ext cx="566928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5167274"/>
            <a:ext cx="7132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Mo. 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70432" y="5167274"/>
            <a:ext cx="49743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Category established  ·  Series A ready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" y="5441594"/>
            <a:ext cx="5669280" cy="914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4048" y="5642762"/>
            <a:ext cx="5943600" cy="841248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84048" y="5642762"/>
            <a:ext cx="5943600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5697626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9A84C"/>
                </a:solidFill>
                <a:latin typeface="Calibri"/>
              </a:rPr>
              <a:t>PREPARATION  →  READINESS  →  FEARLESS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595365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4CC"/>
                </a:solidFill>
                <a:latin typeface="Calibri"/>
              </a:rPr>
              <a:t>Any organization prepared for every situation it expects to face is no longer afraid — it is fearless.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2064" y="6246266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A84C"/>
                </a:solidFill>
                <a:latin typeface="Georgia"/>
              </a:rPr>
              <a:t>Let's build the future of fearless execution together.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28816" y="402336"/>
            <a:ext cx="5550408" cy="6108192"/>
          </a:xfrm>
          <a:prstGeom prst="rect">
            <a:avLst/>
          </a:prstGeom>
          <a:solidFill>
            <a:srgbClr val="0204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37376" y="347472"/>
            <a:ext cx="36576" cy="61081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hq_exec_brief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47472"/>
            <a:ext cx="5550408" cy="61081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81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29184"/>
          </a:xfrm>
          <a:prstGeom prst="rect">
            <a:avLst/>
          </a:prstGeom>
          <a:solidFill>
            <a:srgbClr val="040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" y="6400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●  MONITORING 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71216" y="64008"/>
            <a:ext cx="5120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AB4CC"/>
                </a:solidFill>
                <a:latin typeface="Calibri"/>
              </a:rPr>
              <a:t>1 signal detected  ·  System active  ·  Readiness Protocols armed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00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C9A84C"/>
                </a:solidFill>
                <a:latin typeface="Calibri"/>
              </a:rPr>
              <a:t>SEE IT EXECUTE IN 12 MINUTES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9144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m_logo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6537959"/>
            <a:ext cx="108905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6592824"/>
            <a:ext cx="9692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AAB4CC"/>
                </a:solidFill>
                <a:latin typeface="Calibri"/>
              </a:rPr>
              <a:t>PITCH DEFENSE  ·  OBJECTION HANDLING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48056"/>
            <a:ext cx="310896" cy="7315"/>
          </a:xfrm>
          <a:prstGeom prst="rect">
            <a:avLst/>
          </a:prstGeom>
          <a:solidFill>
            <a:srgbClr val="9A7E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84048"/>
            <a:ext cx="111373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  PITCH DEFENSE  ·  3 OBJECTIONS, 3 ANSWERS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621792"/>
            <a:ext cx="11393424" cy="91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731520"/>
            <a:ext cx="11375136" cy="173736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731520"/>
            <a:ext cx="11375136" cy="2194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786384"/>
            <a:ext cx="11173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1  ·  "Can't ServiceNow just add this?"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060704"/>
            <a:ext cx="11173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B4CC"/>
                </a:solidFill>
                <a:latin typeface="Georgia"/>
              </a:rPr>
              <a:t>"No. ServiceNow is an async ticketing router for post-alignment execution. VaughnMartin pre-stages the organizational alignment itself. They track the work. We engineer the capability to do it."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615184"/>
            <a:ext cx="11375136" cy="173736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2615184"/>
            <a:ext cx="11375136" cy="21945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2670048"/>
            <a:ext cx="11173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2  ·  "What about AI taking autonomous action?"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2944368"/>
            <a:ext cx="11173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B4CC"/>
                </a:solidFill>
                <a:latin typeface="Georgia"/>
              </a:rPr>
              <a:t>"The system stages the choice in seconds, but an executive must click authorize. No action deploys without explicit sign-off. Four real choices — including Stand Down. Human authority preserved."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4498848"/>
            <a:ext cx="11375136" cy="173736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4498848"/>
            <a:ext cx="11375136" cy="21945"/>
          </a:xfrm>
          <a:prstGeom prst="rect">
            <a:avLst/>
          </a:prstGeom>
          <a:solidFill>
            <a:srgbClr val="AAB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53712"/>
            <a:ext cx="11173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TRAP 3  ·  "How long to build 170 protocols for a new client?"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828032"/>
            <a:ext cx="11173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AB4CC"/>
                </a:solidFill>
                <a:latin typeface="Georgia"/>
              </a:rPr>
              <a:t>"They don't build from scratch. VaughnMartin ships with 170 out-of-the-box protocols. Onboarding is configuration — not a consulting project. 90 days to live."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