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HOOK:</a:t>
            </a:r>
          </a:p>
          <a:p>
            <a:r>
              <a:t>"Every company in your portfolio has built an AI stack. Yet when a critical strategic trigger fires, it still takes 30 days of committee meetings to act. We engineered the operating model that closes that gap — a 3,600× execution head start."</a:t>
            </a:r>
          </a:p>
          <a:p/>
          <a:p>
            <a:r>
              <a:t>FRAME: NOT an efficiency tool. Defense + offense system for a volatile world.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PROBLEM:</a:t>
            </a:r>
          </a:p>
          <a:p>
            <a:r>
              <a:t>"They don't have a strategy problem — they have an architecture problem. That 30-day mobilization delay is an existential window that competitors, activists, and regulators completely own."</a:t>
            </a:r>
          </a:p>
          <a:p/>
          <a:p>
            <a:r>
              <a:t>POINT TO VISUAL: Detection &lt; 1 second. Mobilization 30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FOUNDER:</a:t>
            </a:r>
          </a:p>
          <a:p>
            <a:r>
              <a:t>"I am the only person in enterprise software at this depth. At Stanford the response is pre-staged before the snap. VaughnMartin closes that gap permanently."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PRODUCT:</a:t>
            </a:r>
          </a:p>
          <a:p>
            <a:r>
              <a:t>"When a ransomware signal hits, the system delivers a board-ready brief in under 120 seconds. The AI monitors. Humans decide. 30 days of chaos becomes a 12-minute executive sign-off."</a:t>
            </a:r>
          </a:p>
          <a:p/>
          <a:p>
            <a:r>
              <a:t>KEY LINE: "The system stages the choice in seconds. The executive must click authorize."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WE WIN:</a:t>
            </a:r>
          </a:p>
          <a:p>
            <a:r>
              <a:t>FATAL TRAP "Can't ServiceNow add this?"</a:t>
            </a:r>
          </a:p>
          <a:p>
            <a:r>
              <a:t>ANSWER: "No. ServiceNow is an async ticketing router for post-alignment execution. VaughnMartin pre-stages the alignment itself. They track the work. We engineer the capability to do it."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IT WORKS:</a:t>
            </a:r>
          </a:p>
          <a:p>
            <a:r>
              <a:t>SAY EXPLICITLY: "The system stages the choice in seconds. The executive must click authorize."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PROOF:</a:t>
            </a:r>
          </a:p>
          <a:p>
            <a:r>
              <a:t>"Pull out your phone. Go to vaughnmartin.com/how-it-executes. This is not a roadmap — it is live and testable today."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BUSINESS CASE:</a:t>
            </a:r>
          </a:p>
          <a:p>
            <a:r>
              <a:t>"The $75K Founding Partner fee is a trivial reallocation of waste that already exists in the budget."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ASK:</a:t>
            </a:r>
          </a:p>
          <a:p>
            <a:r>
              <a:t>"The platform is live. 18 months to Series A ready. This is a limited ticket onto a fast-moving train. Let's build the future of fearless execution together."</a:t>
            </a:r>
          </a:p>
          <a:p/>
          <a:p>
            <a:r>
              <a:t>URGENCY: 12 Founding Partner seats. Cohort forming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jp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jp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jp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jp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jp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8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" cy="68580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90688" y="0"/>
            <a:ext cx="4398264" cy="6858000"/>
          </a:xfrm>
          <a:prstGeom prst="rect">
            <a:avLst/>
          </a:prstGeom>
          <a:solidFill>
            <a:srgbClr val="070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vm_logo_foo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438912"/>
            <a:ext cx="3194913" cy="80467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75488" y="1316736"/>
            <a:ext cx="3377793" cy="1463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463040"/>
            <a:ext cx="7040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0" i="0">
                <a:solidFill>
                  <a:srgbClr val="FFFFFF"/>
                </a:solidFill>
                <a:latin typeface="Georgia"/>
              </a:rPr>
              <a:t>The response is ready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2377440"/>
            <a:ext cx="7040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0" i="1">
                <a:solidFill>
                  <a:srgbClr val="C9A84C"/>
                </a:solidFill>
                <a:latin typeface="Georgia"/>
              </a:rPr>
              <a:t>before the trigger fires.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3419856"/>
            <a:ext cx="6858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AAB4CC"/>
                </a:solidFill>
                <a:latin typeface="Calibri"/>
              </a:rPr>
              <a:t>PREPARATION INFRASTRUCTURE FOR A VOLATILE WORLD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3694176"/>
            <a:ext cx="6766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Defense + Offense.  Startup to Fortune 500.  Pre-staged before the trigger fires.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" y="3986784"/>
            <a:ext cx="6675120" cy="914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36992" y="1097280"/>
            <a:ext cx="4023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C9A84C"/>
                </a:solidFill>
                <a:latin typeface="Calibri"/>
              </a:rPr>
              <a:t>INVESTOR BRIEF  ·  MAY 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36992" y="1353312"/>
            <a:ext cx="3749039" cy="9144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6992" y="155448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C9A84C"/>
                </a:solidFill>
                <a:latin typeface="Calibri"/>
              </a:rPr>
              <a:t>170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992" y="2139696"/>
            <a:ext cx="3657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Readiness Protocols pre-staged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36992" y="2432304"/>
            <a:ext cx="3749039" cy="9144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6992" y="2816352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C9A84C"/>
                </a:solidFill>
                <a:latin typeface="Calibri"/>
              </a:rPr>
              <a:t>221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6992" y="3401568"/>
            <a:ext cx="3657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Strategic triggers monitored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36992" y="3694176"/>
            <a:ext cx="3749039" cy="9144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36992" y="4078224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C9A84C"/>
                </a:solidFill>
                <a:latin typeface="Calibri"/>
              </a:rPr>
              <a:t>12 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36992" y="4663440"/>
            <a:ext cx="3657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30 days → execution complete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36992" y="4956048"/>
            <a:ext cx="3749039" cy="9144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36992" y="5340096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C9A84C"/>
                </a:solidFill>
                <a:latin typeface="Calibri"/>
              </a:rPr>
              <a:t>3,600×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36992" y="5925312"/>
            <a:ext cx="3657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Execution Head Start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70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6492240"/>
            <a:ext cx="12188952" cy="9144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vm_logo_foo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537959"/>
            <a:ext cx="1089050" cy="27432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498079" y="6592824"/>
            <a:ext cx="4480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AAB4CC"/>
                </a:solidFill>
                <a:latin typeface="Calibri"/>
              </a:rPr>
              <a:t>CONFIDENTIAL  ·  NOT FOR DISTRIBUTION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3891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789920" y="73152"/>
            <a:ext cx="128016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 i="0">
                <a:solidFill>
                  <a:srgbClr val="0A0F2E"/>
                </a:solidFill>
                <a:latin typeface="Calibri"/>
              </a:rPr>
              <a:t>01  /  08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70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9144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m_logo_foo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537959"/>
            <a:ext cx="108905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98079" y="6592824"/>
            <a:ext cx="4480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AAB4CC"/>
                </a:solidFill>
                <a:latin typeface="Calibri"/>
              </a:rPr>
              <a:t>vaughnmartin.com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37744"/>
            <a:ext cx="557784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Calibri"/>
              </a:rPr>
              <a:t>THE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475488"/>
            <a:ext cx="5577840" cy="48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THE 30-DAY MOBILIZATION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963167"/>
            <a:ext cx="5577840" cy="48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C9A84C"/>
                </a:solidFill>
                <a:latin typeface="Calibri"/>
              </a:rPr>
              <a:t>BLACK HOLE.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652320"/>
            <a:ext cx="2560320" cy="1481328"/>
          </a:xfrm>
          <a:prstGeom prst="rect">
            <a:avLst/>
          </a:prstGeom>
          <a:solidFill>
            <a:srgbClr val="1F66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1652320"/>
            <a:ext cx="2560320" cy="21945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1707184"/>
            <a:ext cx="234086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B8A6E"/>
                </a:solidFill>
                <a:latin typeface="Calibri"/>
              </a:rPr>
              <a:t>DETECTION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1908352"/>
            <a:ext cx="2340864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&lt; 1 SEC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2530144"/>
            <a:ext cx="2340864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FFEE"/>
                </a:solidFill>
                <a:latin typeface="Calibri"/>
              </a:rPr>
              <a:t>Signal identified.
Pattern matched.
Score computed.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2054656"/>
            <a:ext cx="402336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C9A84C"/>
                </a:solidFill>
                <a:latin typeface="Calibri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56432" y="1652320"/>
            <a:ext cx="2523744" cy="1481328"/>
          </a:xfrm>
          <a:prstGeom prst="rect">
            <a:avLst/>
          </a:prstGeom>
          <a:solidFill>
            <a:srgbClr val="380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56432" y="1652320"/>
            <a:ext cx="2523744" cy="21945"/>
          </a:xfrm>
          <a:prstGeom prst="rect">
            <a:avLst/>
          </a:prstGeom>
          <a:solidFill>
            <a:srgbClr val="99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66160" y="1707184"/>
            <a:ext cx="232257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6666"/>
                </a:solidFill>
                <a:latin typeface="Calibri"/>
              </a:rPr>
              <a:t>MOBILIZATION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1908352"/>
            <a:ext cx="2322576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8888"/>
                </a:solidFill>
                <a:latin typeface="Calibri"/>
              </a:rPr>
              <a:t>30 DAYS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530144"/>
            <a:ext cx="232257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CCCC"/>
                </a:solidFill>
                <a:latin typeface="Calibri"/>
              </a:rPr>
              <a:t>Who decides?
Who calls who?
Who owns the response?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329824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▸  Startup to Fortune 500: same trigger, identical 30-day delay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3700576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▸  The delay is not execution — it is mobilization architecture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4102912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▸  Every day of drift is a window activists, regulators, and competitors own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4614976"/>
            <a:ext cx="5577840" cy="694944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1480" y="4614976"/>
            <a:ext cx="5577840" cy="2011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9496" y="4660696"/>
            <a:ext cx="53766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  <a:latin typeface="Calibri"/>
              </a:rPr>
              <a:t>$4.4T AT RISK ANNUALLY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9496" y="4944160"/>
            <a:ext cx="5376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AB4CC"/>
                </a:solidFill>
                <a:latin typeface="Calibri"/>
              </a:rPr>
              <a:t>Enterprise coordination failures  ·  Preparation Infrastructure is the unclaimed layer above every AI stack.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83096" y="566928"/>
            <a:ext cx="5394960" cy="5952744"/>
          </a:xfrm>
          <a:prstGeom prst="rect">
            <a:avLst/>
          </a:prstGeom>
          <a:solidFill>
            <a:srgbClr val="0305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82512" y="502920"/>
            <a:ext cx="36576" cy="595274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hq_command_tow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088" y="502920"/>
            <a:ext cx="5394960" cy="595274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3891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789920" y="73152"/>
            <a:ext cx="128016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 i="0">
                <a:solidFill>
                  <a:srgbClr val="0A0F2E"/>
                </a:solidFill>
                <a:latin typeface="Calibri"/>
              </a:rPr>
              <a:t>02  /  08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70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9144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m_logo_foo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537959"/>
            <a:ext cx="108905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98079" y="6592824"/>
            <a:ext cx="4480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AAB4CC"/>
                </a:solidFill>
                <a:latin typeface="Calibri"/>
              </a:rPr>
              <a:t>vaughnmartin.com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37744"/>
            <a:ext cx="1133856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Calibri"/>
              </a:rPr>
              <a:t>THE FOUNDER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475488"/>
            <a:ext cx="11338560" cy="48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C9A84C"/>
                </a:solidFill>
                <a:latin typeface="Calibri"/>
              </a:rPr>
              <a:t>THE ONLY TEAM ALIVE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963167"/>
            <a:ext cx="11338560" cy="48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THAT COULD BUILD THIS.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578864"/>
            <a:ext cx="11155680" cy="914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1725472"/>
            <a:ext cx="5266944" cy="237744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" y="1762048"/>
            <a:ext cx="5120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Calibri"/>
              </a:rPr>
              <a:t>FORTUNE 500 OPERATIONS  ·  20 YEARS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" y="203636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·  Ford · Toyota · Lockheed Martin · Charles Schwab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" y="2420416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·  Watched the 30-day mobilization failure repeat across every vertical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" y="2804464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·  Same architecture gap — different trigger, identical delay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" y="3188512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·  Built Readiness OS in 2023 to end that pattern permanently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19088" y="1725472"/>
            <a:ext cx="5266944" cy="237744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28816" y="1762048"/>
            <a:ext cx="5120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B8A6E"/>
                </a:solidFill>
                <a:latin typeface="Calibri"/>
              </a:rPr>
              <a:t>STANFORD UNIVERSITY  ·  FOOTBALL COACHING  ·  5 YEARS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28816" y="203636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·  Major college football — billion-dollar coordinated operation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28816" y="2420416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·  40-second play clock: full response without a committee meeting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28816" y="2804464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·  You don't design the play after the snap — the response is pre-staged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28816" y="3188512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·  The preparation IS the execution. Not a metaphor. The architecture.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3700576"/>
            <a:ext cx="11155680" cy="274320"/>
          </a:xfrm>
          <a:prstGeom prst="rect">
            <a:avLst/>
          </a:prstGeom>
          <a:solidFill>
            <a:srgbClr val="141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52" y="3755440"/>
            <a:ext cx="11018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C9A84C"/>
                </a:solidFill>
                <a:latin typeface="Calibri"/>
              </a:rPr>
              <a:t>THE INTERSECTION — PREPARATION DISCIPLINE THAT WINS UNDER PRESSURE WAS MISSING FROM ENTERPRISE.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4102912"/>
            <a:ext cx="10881360" cy="9144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4176064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AAB4CC"/>
                </a:solidFill>
                <a:latin typeface="Georgia"/>
              </a:rPr>
              <a:t>"I spent 20 years watching the exact same mobilization failure repeat at the world's largest companies. And 5 years at Stanford pre-staging responses against a 40-second clock. I built the infrastructure that closes that gap permanently."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3891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789920" y="73152"/>
            <a:ext cx="128016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 i="0">
                <a:solidFill>
                  <a:srgbClr val="0A0F2E"/>
                </a:solidFill>
                <a:latin typeface="Calibri"/>
              </a:rPr>
              <a:t>03  /  08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70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9144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m_logo_foo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537959"/>
            <a:ext cx="108905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98079" y="6592824"/>
            <a:ext cx="4480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AAB4CC"/>
                </a:solidFill>
                <a:latin typeface="Calibri"/>
              </a:rPr>
              <a:t>vaughnmartin.com/how-it-executes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37744"/>
            <a:ext cx="557784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Calibri"/>
              </a:rPr>
              <a:t>THE PRODUCT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475488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9A84C"/>
                </a:solidFill>
                <a:latin typeface="Calibri"/>
              </a:rPr>
              <a:t>READINESS OS: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768096"/>
            <a:ext cx="5577840" cy="422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THE RESPONSE IS READY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190752"/>
            <a:ext cx="5577840" cy="422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C9A84C"/>
                </a:solidFill>
                <a:latin typeface="Calibri"/>
              </a:rPr>
              <a:t>BEFORE THE TRIGGER FIRES.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741424"/>
            <a:ext cx="5486400" cy="914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1887321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▸  170 Readiness Protocols — Growth &amp; Positioning, Risk &amp; Resilience, Transformation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2289657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▸  221 strategic trigger patterns monitored across 8 data sources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2691993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▸  248+ data points confidence-scored every 15 minutes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3094329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▸  AI monitors. Executives authorize. No protocol activates without sign-off.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3496665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▸  Onboarding = configuration, not a consulting project. 90 days to live.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4027017"/>
            <a:ext cx="5577840" cy="566928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4027017"/>
            <a:ext cx="5577840" cy="20116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4081881"/>
            <a:ext cx="543153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B8A6E"/>
                </a:solidFill>
                <a:latin typeface="Calibri"/>
              </a:rPr>
              <a:t>THE SYSTEM STAGES THE CHOICE IN SECONDS.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" y="4319625"/>
            <a:ext cx="543153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B8A6E"/>
                </a:solidFill>
                <a:latin typeface="Calibri"/>
              </a:rPr>
              <a:t>THE EXECUTIVE MUST CLICK AUTHORIZE.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4758537"/>
            <a:ext cx="5303520" cy="9144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4822545"/>
            <a:ext cx="557784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AAB4CC"/>
                </a:solidFill>
                <a:latin typeface="Georgia"/>
              </a:rPr>
              <a:t>"Every enterprise has Microsoft's AI stack. None have the operating model to use it. Readiness OS is that operating model layer — not a replacement, the orchestrator."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83096" y="566928"/>
            <a:ext cx="5394960" cy="5952744"/>
          </a:xfrm>
          <a:prstGeom prst="rect">
            <a:avLst/>
          </a:prstGeom>
          <a:solidFill>
            <a:srgbClr val="0305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82512" y="502920"/>
            <a:ext cx="36576" cy="595274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hq_executes_cha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088" y="502920"/>
            <a:ext cx="5394960" cy="595274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3891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789920" y="73152"/>
            <a:ext cx="128016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 i="0">
                <a:solidFill>
                  <a:srgbClr val="0A0F2E"/>
                </a:solidFill>
                <a:latin typeface="Calibri"/>
              </a:rPr>
              <a:t>04  /  08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70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9144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m_logo_foo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537959"/>
            <a:ext cx="108905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98079" y="6592824"/>
            <a:ext cx="4480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AAB4CC"/>
                </a:solidFill>
                <a:latin typeface="Calibri"/>
              </a:rPr>
              <a:t>vaughnmartin.com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37744"/>
            <a:ext cx="1133856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Calibri"/>
              </a:rPr>
              <a:t>WHY WE WIN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475488"/>
            <a:ext cx="11338560" cy="536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300" b="1" i="0">
                <a:solidFill>
                  <a:srgbClr val="FFFFFF"/>
                </a:solidFill>
                <a:latin typeface="Calibri"/>
              </a:rPr>
              <a:t>THE MOAT COMPOUNDS.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011936"/>
            <a:ext cx="11338560" cy="357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AAB4CC"/>
                </a:solidFill>
                <a:latin typeface="Calibri"/>
              </a:rPr>
              <a:t>COMPETITORS START AT ZERO.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497584"/>
            <a:ext cx="11155680" cy="914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644091"/>
            <a:ext cx="548640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Calibri"/>
              </a:rPr>
              <a:t>THEY STOP AT ROUTING. WE PRE-STAGE THE ALIGNMENT.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863547"/>
            <a:ext cx="189280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A84C"/>
                </a:solidFill>
                <a:latin typeface="Calibri"/>
              </a:rPr>
              <a:t>Signal Labs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7440" y="1863547"/>
            <a:ext cx="3520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Routes the signal. Stops before the response is staged.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119579"/>
            <a:ext cx="5394960" cy="9144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2211019"/>
            <a:ext cx="189280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A84C"/>
                </a:solidFill>
                <a:latin typeface="Calibri"/>
              </a:rPr>
              <a:t>ServiceNow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2211019"/>
            <a:ext cx="3520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Async workflow router — post-alignment only. We pre-stage the alignment.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467051"/>
            <a:ext cx="5394960" cy="9144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2558491"/>
            <a:ext cx="189280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A84C"/>
                </a:solidFill>
                <a:latin typeface="Calibri"/>
              </a:rPr>
              <a:t>Microsoft Copilot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7440" y="2558491"/>
            <a:ext cx="3520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Produces intelligence. We pre-stage the org response to it.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2814523"/>
            <a:ext cx="5394960" cy="9144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2905963"/>
            <a:ext cx="189280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A84C"/>
                </a:solidFill>
                <a:latin typeface="Calibri"/>
              </a:rPr>
              <a:t>McKinsey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7440" y="2905963"/>
            <a:ext cx="3520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Arrives after the trigger fires. We were ready before the first call.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3161995"/>
            <a:ext cx="5394960" cy="9144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1480" y="3344875"/>
            <a:ext cx="5486400" cy="329184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0352" y="3408883"/>
            <a:ext cx="53218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C9A84C"/>
                </a:solidFill>
                <a:latin typeface="Georgia"/>
              </a:rPr>
              <a:t>"They track the work. We engineer the capability to do it."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19088" y="1644091"/>
            <a:ext cx="548640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Calibri"/>
              </a:rPr>
              <a:t>THE MOAT — WHAT MAKES US HARD TO CATCH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19088" y="1863547"/>
            <a:ext cx="5449824" cy="246888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28816" y="1900123"/>
            <a:ext cx="5230368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  <a:latin typeface="Calibri"/>
              </a:rPr>
              <a:t>Compounding Loop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28816" y="2156155"/>
            <a:ext cx="52303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Every activation encodes what held. Preparation compounds permanently.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19088" y="2723083"/>
            <a:ext cx="5449824" cy="9144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19088" y="3033979"/>
            <a:ext cx="5449824" cy="246888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28816" y="3070555"/>
            <a:ext cx="5230368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  <a:latin typeface="Calibri"/>
              </a:rPr>
              <a:t>Org Context Intelligence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28816" y="3326587"/>
            <a:ext cx="52303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Signal confidence + preparedness score unique to each org. Not replicable.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19088" y="3893515"/>
            <a:ext cx="5449824" cy="9144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19088" y="4204411"/>
            <a:ext cx="5449824" cy="246888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28816" y="4240987"/>
            <a:ext cx="5230368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  <a:latin typeface="Calibri"/>
              </a:rPr>
              <a:t>Encoding Permanence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28816" y="4497019"/>
            <a:ext cx="52303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18 months of activations creates an intelligence layer competitors cannot match on day one.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5521147"/>
            <a:ext cx="11064240" cy="9144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594299"/>
            <a:ext cx="1106424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AAB4CC"/>
                </a:solidFill>
                <a:latin typeface="Georgia"/>
              </a:rPr>
              <a:t>"Signal Labs routes the signal. ServiceNow runs the workflow. McKinsey arrives after the trigger. We had the response pre-staged before any of them were called — and the data moat becomes completely unassailable over time."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3891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789920" y="73152"/>
            <a:ext cx="128016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 i="0">
                <a:solidFill>
                  <a:srgbClr val="0A0F2E"/>
                </a:solidFill>
                <a:latin typeface="Calibri"/>
              </a:rPr>
              <a:t>05  /  08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70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9144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m_logo_foo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537959"/>
            <a:ext cx="108905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98079" y="6592824"/>
            <a:ext cx="4480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AAB4CC"/>
                </a:solidFill>
                <a:latin typeface="Calibri"/>
              </a:rPr>
              <a:t>vaughnmartin.com/how-it-executes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37744"/>
            <a:ext cx="557784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Calibri"/>
              </a:rPr>
              <a:t>HOW IT WORKS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475488"/>
            <a:ext cx="5577840" cy="455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FROM TRIGGER 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930656"/>
            <a:ext cx="5577840" cy="455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9A84C"/>
                </a:solidFill>
                <a:latin typeface="Calibri"/>
              </a:rPr>
              <a:t>EXECUTION IN 12 MINUTES.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513840"/>
            <a:ext cx="5486400" cy="914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660550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9A84C"/>
                </a:solidFill>
                <a:latin typeface="Calibri"/>
              </a:rPr>
              <a:t>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697126"/>
            <a:ext cx="50840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Signal detected — confidence scored against 221 strategic trigger patterns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2172614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9A84C"/>
                </a:solidFill>
                <a:latin typeface="Calibri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209190"/>
            <a:ext cx="50840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Matching Readiness Protocol staged — tasks assigned, stakeholders mapped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684678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9A84C"/>
                </a:solidFill>
                <a:latin typeface="Calibri"/>
              </a:rPr>
              <a:t>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2721254"/>
            <a:ext cx="50840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Board-ready execution brief delivered in &lt; 120 seconds — authority chain mapped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3196742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9A84C"/>
                </a:solidFill>
                <a:latin typeface="Calibri"/>
              </a:rPr>
              <a:t>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233318"/>
            <a:ext cx="50840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Executive authorizes — four real choices including Stand Down. No autonomous action.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3708806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9A84C"/>
                </a:solidFill>
                <a:latin typeface="Calibri"/>
              </a:rPr>
              <a:t>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3745382"/>
            <a:ext cx="50840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Response live — 12 minutes from signal to coordinated organizational execution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4367174"/>
            <a:ext cx="5577840" cy="658368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1480" y="4367174"/>
            <a:ext cx="5577840" cy="2011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9496" y="4412894"/>
            <a:ext cx="53766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  <a:latin typeface="Calibri"/>
              </a:rPr>
              <a:t>3,600×  EXECUTION HEAD START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9496" y="4696358"/>
            <a:ext cx="5376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AB4CC"/>
                </a:solidFill>
                <a:latin typeface="Calibri"/>
              </a:rPr>
              <a:t>30 days of mobilization compressed to 12 minutes  ·  startup to Fortune 500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5190134"/>
            <a:ext cx="5303520" cy="9144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5254142"/>
            <a:ext cx="557784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AAB4CC"/>
                </a:solidFill>
                <a:latin typeface="Georgia"/>
              </a:rPr>
              <a:t>"The AI monitors, but humans decide. We turn 30 days of chaos and a potential $47M penalty into a controlled, 12-minute executive sign-off."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83096" y="566928"/>
            <a:ext cx="5394960" cy="5952744"/>
          </a:xfrm>
          <a:prstGeom prst="rect">
            <a:avLst/>
          </a:prstGeom>
          <a:solidFill>
            <a:srgbClr val="0305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82512" y="502920"/>
            <a:ext cx="36576" cy="595274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hq_12min_scenario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088" y="502920"/>
            <a:ext cx="5394960" cy="595274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3891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789920" y="73152"/>
            <a:ext cx="128016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 i="0">
                <a:solidFill>
                  <a:srgbClr val="0A0F2E"/>
                </a:solidFill>
                <a:latin typeface="Calibri"/>
              </a:rPr>
              <a:t>06  /  08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70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9144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m_logo_foo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537959"/>
            <a:ext cx="108905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98079" y="6592824"/>
            <a:ext cx="4480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AAB4CC"/>
                </a:solidFill>
                <a:latin typeface="Calibri"/>
              </a:rPr>
              <a:t>vaughnmartin.com/proof-story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37744"/>
            <a:ext cx="557784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Calibri"/>
              </a:rPr>
              <a:t>PROOF — NOW, NOT ROADMAP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475488"/>
            <a:ext cx="5577840" cy="617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BUILT.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093216"/>
            <a:ext cx="5577840" cy="617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C9A84C"/>
                </a:solidFill>
                <a:latin typeface="Calibri"/>
              </a:rPr>
              <a:t>LIVE.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710943"/>
            <a:ext cx="5577840" cy="357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AAB4CC"/>
                </a:solidFill>
                <a:latin typeface="Calibri"/>
              </a:rPr>
              <a:t>IN PRODUCTION NOW.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2196592"/>
            <a:ext cx="5486400" cy="914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2342692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▸  Production platform live — vaughnmartin.com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2745028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▸  170 protocols active  ·  221 triggers monitored  ·  248+ data points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3147364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▸  Full execution walkthrough live at vaughnmartin.com/how-it-executes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354970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▸  12-Minute Test Drive — run any of 7 real scenarios, live now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3952036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▸  Founding Partner cohort open for 90-day validation partnership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4537252"/>
            <a:ext cx="5303520" cy="9144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4601260"/>
            <a:ext cx="557784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AAB4CC"/>
                </a:solidFill>
                <a:latin typeface="Georgia"/>
              </a:rPr>
              <a:t>"Same trigger. Same company. Entirely different outcome. The only variable: whether the response was pre-staged before the trigger fired."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83096" y="566928"/>
            <a:ext cx="5394960" cy="5952744"/>
          </a:xfrm>
          <a:prstGeom prst="rect">
            <a:avLst/>
          </a:prstGeom>
          <a:solidFill>
            <a:srgbClr val="0305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82512" y="502920"/>
            <a:ext cx="36576" cy="595274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hq_proof_timelin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088" y="502920"/>
            <a:ext cx="5394960" cy="595274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3891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789920" y="73152"/>
            <a:ext cx="128016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 i="0">
                <a:solidFill>
                  <a:srgbClr val="0A0F2E"/>
                </a:solidFill>
                <a:latin typeface="Calibri"/>
              </a:rPr>
              <a:t>07  /  08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70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9144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m_logo_foo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537959"/>
            <a:ext cx="108905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98079" y="6592824"/>
            <a:ext cx="4480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AAB4CC"/>
                </a:solidFill>
                <a:latin typeface="Calibri"/>
              </a:rPr>
              <a:t>vaughnmartin.com/roi-calculator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37744"/>
            <a:ext cx="557784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Calibri"/>
              </a:rPr>
              <a:t>BUSINESS CASE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475488"/>
            <a:ext cx="5577840" cy="48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A TRIVIAL REALLOCATION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963167"/>
            <a:ext cx="5577840" cy="48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C9A84C"/>
                </a:solidFill>
                <a:latin typeface="Calibri"/>
              </a:rPr>
              <a:t>OF EXISTING WASTE.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578864"/>
            <a:ext cx="5486400" cy="914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725472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▸  Enterprises already burn millions on reactive, post-trigger consulting retainers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2127808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▸  Readiness OS converts panic-driven spend into repeatable software infrastructure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2530144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▸  Not asking for net-new budget — replacing existing waste with compounding ROI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293248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▸  Estimated $61.3M annual value for enterprises facing 3+ strategic triggers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3462832"/>
            <a:ext cx="557784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Calibri"/>
              </a:rPr>
              <a:t>PRICING — REALLOCATION LOGIC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3682288"/>
            <a:ext cx="189280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A84C"/>
                </a:solidFill>
                <a:latin typeface="Calibri"/>
              </a:rPr>
              <a:t>Founding Partner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0" y="3682288"/>
            <a:ext cx="3520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$75K / 90-day validation  ·  12 seats  ·  Cohort forming now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938320"/>
            <a:ext cx="5394960" cy="9144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4029760"/>
            <a:ext cx="189280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A84C"/>
                </a:solidFill>
                <a:latin typeface="Calibri"/>
              </a:rPr>
              <a:t>Growth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4029760"/>
            <a:ext cx="3520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$75K–$250K annually  ·  Replaces $400K–$800K consulting retainer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4285792"/>
            <a:ext cx="5394960" cy="9144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4377232"/>
            <a:ext cx="189280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A84C"/>
                </a:solidFill>
                <a:latin typeface="Calibri"/>
              </a:rPr>
              <a:t>Enterprise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77440" y="4377232"/>
            <a:ext cx="3520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$250K+  ·  Microsoft integration  ·  Custom SLA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4633264"/>
            <a:ext cx="5394960" cy="9144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1480" y="4889296"/>
            <a:ext cx="5303520" cy="9144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4953304"/>
            <a:ext cx="557784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AAB4CC"/>
                </a:solidFill>
                <a:latin typeface="Georgia"/>
              </a:rPr>
              <a:t>"We are not asking CFOs to find net-new budget. We are converting panic-driven spend into repeatable software infrastructure that generates immediate, compounding ROI."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83096" y="566928"/>
            <a:ext cx="5394960" cy="5952744"/>
          </a:xfrm>
          <a:prstGeom prst="rect">
            <a:avLst/>
          </a:prstGeom>
          <a:solidFill>
            <a:srgbClr val="0305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82512" y="502920"/>
            <a:ext cx="36576" cy="595274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hq_roi_result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088" y="502920"/>
            <a:ext cx="5394960" cy="595274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3891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789920" y="73152"/>
            <a:ext cx="128016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 i="0">
                <a:solidFill>
                  <a:srgbClr val="0A0F2E"/>
                </a:solidFill>
                <a:latin typeface="Calibri"/>
              </a:rPr>
              <a:t>08  /  08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70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9144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m_logo_foo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537959"/>
            <a:ext cx="108905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98079" y="6592824"/>
            <a:ext cx="4480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AAB4CC"/>
                </a:solidFill>
                <a:latin typeface="Calibri"/>
              </a:rPr>
              <a:t>vaughnmartin.com/founding-partner-program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37744"/>
            <a:ext cx="557784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Calibri"/>
              </a:rPr>
              <a:t>THE ASK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475488"/>
            <a:ext cx="5577840" cy="325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9A84C"/>
                </a:solidFill>
                <a:latin typeface="Calibri"/>
              </a:rPr>
              <a:t>CATEGORY CREATION: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800608"/>
            <a:ext cx="5577840" cy="48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PREPARATION INFRASTRUCTURE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416304"/>
            <a:ext cx="5486400" cy="914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562709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▸  Raising: Up to $1,000,000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965045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▸  Product hardening + enterprise-grade access controls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2367381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▸  Founding Partner conversions + repeatable GTM motion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2769717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▸  Microsoft integration certification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3300069"/>
            <a:ext cx="5577840" cy="384048"/>
          </a:xfrm>
          <a:prstGeom prst="rect">
            <a:avLst/>
          </a:prstGeom>
          <a:solidFill>
            <a:srgbClr val="1822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1480" y="3300069"/>
            <a:ext cx="5577840" cy="2011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3382365"/>
            <a:ext cx="543153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Calibri"/>
              </a:rPr>
              <a:t>FOUNDING PARTNER COHORT  ·  12 SEATS  ·  FORMING NOW  ·  LIMITED AVAILABILITY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3812133"/>
            <a:ext cx="557784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Calibri"/>
              </a:rPr>
              <a:t>18-MONTH RUNWAY TO SERIES 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4031589"/>
            <a:ext cx="7498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A84C"/>
                </a:solidFill>
                <a:latin typeface="Calibri"/>
              </a:rPr>
              <a:t>Mo. 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4031589"/>
            <a:ext cx="4663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3 Founding Partners on recurring contracts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4287621"/>
            <a:ext cx="5394960" cy="9144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4379061"/>
            <a:ext cx="7498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A84C"/>
                </a:solidFill>
                <a:latin typeface="Calibri"/>
              </a:rPr>
              <a:t>Mo. 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4379061"/>
            <a:ext cx="4663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Enterprise controls complete  ·  Microsoft integration certified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4635093"/>
            <a:ext cx="5394960" cy="9144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4726533"/>
            <a:ext cx="7498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A84C"/>
                </a:solidFill>
                <a:latin typeface="Calibri"/>
              </a:rPr>
              <a:t>Mo. 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4726533"/>
            <a:ext cx="4663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Repeatable GTM with documented proof stories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4982565"/>
            <a:ext cx="5394960" cy="9144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0" y="5074005"/>
            <a:ext cx="7498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A84C"/>
                </a:solidFill>
                <a:latin typeface="Calibri"/>
              </a:rPr>
              <a:t>Mo. 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34440" y="5074005"/>
            <a:ext cx="4663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Category established  ·  Series A ready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5330037"/>
            <a:ext cx="5394960" cy="9144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11480" y="5549493"/>
            <a:ext cx="5577840" cy="822960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549493"/>
            <a:ext cx="5577840" cy="2011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0352" y="5604357"/>
            <a:ext cx="543153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  <a:latin typeface="Calibri"/>
              </a:rPr>
              <a:t>PREPARATION  →  READINESS  →  FEARLESS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0352" y="5860389"/>
            <a:ext cx="543153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Any organization prepared for every situation it expects to face is no longer afraid — it is fearless.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0352" y="6152997"/>
            <a:ext cx="543153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9A84C"/>
                </a:solidFill>
                <a:latin typeface="Georgia"/>
              </a:rPr>
              <a:t>Let's build the future of fearless execution together.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83096" y="566928"/>
            <a:ext cx="5394960" cy="5952744"/>
          </a:xfrm>
          <a:prstGeom prst="rect">
            <a:avLst/>
          </a:prstGeom>
          <a:solidFill>
            <a:srgbClr val="0305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382512" y="502920"/>
            <a:ext cx="36576" cy="595274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hq_exec_brief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088" y="502920"/>
            <a:ext cx="5394960" cy="595274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3891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508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88952" cy="9144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foo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537959"/>
            <a:ext cx="108905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64592"/>
            <a:ext cx="111556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Calibri"/>
              </a:rPr>
              <a:t>PITCH DEFENSE  ·  3 OBJECTIONS, 3 ANSWERS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02336"/>
            <a:ext cx="11247120" cy="914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548640"/>
            <a:ext cx="11365992" cy="1865376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548640"/>
            <a:ext cx="11365992" cy="2011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03503"/>
            <a:ext cx="11155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A84C"/>
                </a:solidFill>
                <a:latin typeface="Calibri"/>
              </a:rPr>
              <a:t>TRAP 1  ·  "Can't ServiceNow just add this?"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877824"/>
            <a:ext cx="11155680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AAB4CC"/>
                </a:solidFill>
                <a:latin typeface="Georgia"/>
              </a:rPr>
              <a:t>"No. ServiceNow is an async ticketing router for post-alignment execution. VaughnMartin pre-stages the organizational alignment itself. They track the work. We engineer the capability to do it."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2542032"/>
            <a:ext cx="11365992" cy="1865376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2542032"/>
            <a:ext cx="11365992" cy="20116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596896"/>
            <a:ext cx="11155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A84C"/>
                </a:solidFill>
                <a:latin typeface="Calibri"/>
              </a:rPr>
              <a:t>TRAP 2  ·  "What about AI taking autonomous action?"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871216"/>
            <a:ext cx="11155680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AAB4CC"/>
                </a:solidFill>
                <a:latin typeface="Georgia"/>
              </a:rPr>
              <a:t>"The system stages the choice in seconds, but an executive must click authorize. No action deploys without explicit sign-off. Say this line every time you mention speed."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4535424"/>
            <a:ext cx="11365992" cy="1865376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1480" y="4535424"/>
            <a:ext cx="11365992" cy="20116"/>
          </a:xfrm>
          <a:prstGeom prst="rect">
            <a:avLst/>
          </a:prstGeom>
          <a:solidFill>
            <a:srgbClr val="AAB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590288"/>
            <a:ext cx="11155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A84C"/>
                </a:solidFill>
                <a:latin typeface="Calibri"/>
              </a:rPr>
              <a:t>TRAP 3  ·  "How long to build 170 protocols for a new client?"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864608"/>
            <a:ext cx="11155680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AAB4CC"/>
                </a:solidFill>
                <a:latin typeface="Georgia"/>
              </a:rPr>
              <a:t>"They don't build from scratch. VaughnMartin ships with 170 out-of-the-box protocols for the most common enterprise threats. Onboarding is configuration — not a consulting project. 90 days to live."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