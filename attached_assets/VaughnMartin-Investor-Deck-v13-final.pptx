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HOOK:</a:t>
            </a:r>
          </a:p>
          <a:p>
            <a:r>
              <a:t>"Every company in your portfolio has built an AI stack to process information faster. Yet when a critical strategic trigger fires, it still takes 30 days of committee meetings to do anything. We engineered the operating model that closes that gap permanently — a 3,600× execution head start."</a:t>
            </a:r>
          </a:p>
          <a:p/>
          <a:p>
            <a:r>
              <a:t>KEY FRAME: This is NOT an efficiency tool. It is a defense AND offense system for a volatile world.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a:t>
            </a:r>
          </a:p>
          <a:p>
            <a:r>
              <a:t>"The market thinks companies have a strategy problem. They don't. They have an architecture problem. When a breach or activist strike happens, leadership spends the first two to three weeks figuring out who has authority to act. That 30-day delay is an existential window — activists, regulators, and competitors completely own it."</a:t>
            </a:r>
          </a:p>
          <a:p/>
          <a:p>
            <a:r>
              <a:t>POINT TO VISUAL: Detection &lt; 1 second. Mobilization 30 days. "We built the infrastructure that eliminates that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FOUNDER:</a:t>
            </a:r>
          </a:p>
          <a:p>
            <a:r>
              <a:t>"I am the only person in enterprise software who has operated at the intersection of Fortune 500 transformation and major college football preparation at this depth. At Stanford you don't design the play after the ball is snapped. The response is pre-staged before the pressure arrives. I watched that discipline completely missing from enterprise. VaughnMartin closes that gap permanently."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a:t>
            </a:r>
          </a:p>
          <a:p>
            <a:r>
              <a:t>"When a ransomware signal hits, the system doesn't autonomously execute. In less than 120 seconds, it delivers a board-ready execution brief to the executive suite — pre-approved communication streams, mapped authority chain, pre-assigned tasks. The AI monitors, but humans decide. We turn 30 days of unmanaged chaos and a potential $47M penalty into a controlled, 12-minute executive sign-off."</a:t>
            </a:r>
          </a:p>
          <a:p/>
          <a:p>
            <a:r>
              <a:t>ONBOARDING: "They don't build 170 protocols from scratch. VaughnMartin ships with standard out-of-the-box protocols. Onboarding is configuration — not a consulting project. 90 days to live."</a:t>
            </a:r>
          </a:p>
          <a:p/>
          <a:p>
            <a:r>
              <a:t>KEY LINE: "The system stages the choice in seconds. The executive must click authorize."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 WIN:</a:t>
            </a:r>
          </a:p>
          <a:p>
            <a:r>
              <a:t>"VaughnMartin is the orchestration layer that pre-stages the alignment before any competitor is even called. The data moat becomes completely unassailable over time."</a:t>
            </a:r>
          </a:p>
          <a:p/>
          <a:p>
            <a:r>
              <a:t>FATAL TRAP: "Can't ServiceNow just add this?"</a:t>
            </a:r>
          </a:p>
          <a:p>
            <a:r>
              <a:t>ANSWER: "No. ServiceNow is an asynchronous ticketing router built for post-alignment execution. VaughnMartin is a synchronous readiness engine that pre-stages the organizational alignment itself. They track the work. We engineer the capability to do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a:t>
            </a:r>
          </a:p>
          <a:p>
            <a:r>
              <a:t>"When a ransomware signal hits, in less than 120 seconds the system delivers a board-ready execution brief — pre-approved communications, mapped authority chain, pre-assigned tasks. The AI monitors. Humans decide. 30 days of chaos becomes a 12-minute executive sign-off."</a:t>
            </a:r>
          </a:p>
          <a:p/>
          <a:p>
            <a:r>
              <a:t>SAY EXPLICITLY: "The system stages the choice in seconds. The executive must click authorize."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a:t>
            </a:r>
          </a:p>
          <a:p>
            <a:r>
              <a:t>"Pull out your phone right now. Go to vaughnmartin.com/how-it-executes. Watch the complete 12-minute execution chain run live. Then run a scenario yourself on the 12-Minute Test Drive. This is not a roadmap concept. It is live and testable today."</a:t>
            </a:r>
          </a:p>
          <a:p/>
          <a:p>
            <a:r>
              <a:t>KEY LINE: "Same trigger. Same company. Entirely different outcome." Point to the side-by-side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CASE:</a:t>
            </a:r>
          </a:p>
          <a:p>
            <a:r>
              <a:t>"We aren't asking CFOs to dig up net-new budget. Enterprises are already burning millions on reactive, post-trigger consulting retainers. We are converting that wasteful, panic-driven spend into repeatable software infrastructure. The $75K Founding Partner fee is not an expense — it is a trivial reallocation of waste that already exists in the budget."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a:t>
            </a:r>
          </a:p>
          <a:p>
            <a:r>
              <a:t>"We are raising up to $1,000,000 to harden enterprise access controls, certify our Microsoft integrations, and convert our initial Founding Partner cohort into recurring enterprise contracts. We are pioneering an entirely new software layer: Preparation Infrastructure. The platform is live, the metrics are undeniable, and we are built to be Series A ready in 18 months. This is a limited ticket onto a fast-moving train. Let's build the future of fearless execution together."</a:t>
            </a:r>
          </a:p>
          <a:p/>
          <a:p>
            <a:r>
              <a:t>URGENCY: 12 Founding Partner seats. Cohort forming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8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0"/>
            <a:ext cx="4507992" cy="6858000"/>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475488"/>
            <a:ext cx="4572000" cy="475488"/>
          </a:xfrm>
          <a:prstGeom prst="rect">
            <a:avLst/>
          </a:prstGeom>
          <a:noFill/>
        </p:spPr>
        <p:txBody>
          <a:bodyPr wrap="square">
            <a:spAutoFit/>
          </a:bodyPr>
          <a:lstStyle/>
          <a:p>
            <a:pPr algn="l"/>
            <a:r>
              <a:rPr sz="2600" b="1" i="0">
                <a:solidFill>
                  <a:srgbClr val="FFFFFF"/>
                </a:solidFill>
                <a:latin typeface="Barlow Condensed"/>
              </a:rPr>
              <a:t>VaughnMartin</a:t>
            </a:r>
          </a:p>
        </p:txBody>
      </p:sp>
      <p:sp>
        <p:nvSpPr>
          <p:cNvPr id="6" name="TextBox 5"/>
          <p:cNvSpPr txBox="1"/>
          <p:nvPr/>
        </p:nvSpPr>
        <p:spPr>
          <a:xfrm>
            <a:off x="475488" y="914400"/>
            <a:ext cx="4572000" cy="256032"/>
          </a:xfrm>
          <a:prstGeom prst="rect">
            <a:avLst/>
          </a:prstGeom>
          <a:noFill/>
        </p:spPr>
        <p:txBody>
          <a:bodyPr wrap="square">
            <a:spAutoFit/>
          </a:bodyPr>
          <a:lstStyle/>
          <a:p>
            <a:pPr algn="l"/>
            <a:r>
              <a:rPr sz="1300" b="1" i="0">
                <a:solidFill>
                  <a:srgbClr val="C9A84C"/>
                </a:solidFill>
                <a:latin typeface="Barlow Condensed"/>
              </a:rPr>
              <a:t>READINESS OS</a:t>
            </a:r>
          </a:p>
        </p:txBody>
      </p:sp>
      <p:sp>
        <p:nvSpPr>
          <p:cNvPr id="7" name="Rectangle 6"/>
          <p:cNvSpPr/>
          <p:nvPr/>
        </p:nvSpPr>
        <p:spPr>
          <a:xfrm>
            <a:off x="475488" y="1261872"/>
            <a:ext cx="4572000" cy="16459"/>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508760"/>
            <a:ext cx="7040880" cy="1005840"/>
          </a:xfrm>
          <a:prstGeom prst="rect">
            <a:avLst/>
          </a:prstGeom>
          <a:noFill/>
        </p:spPr>
        <p:txBody>
          <a:bodyPr wrap="square">
            <a:spAutoFit/>
          </a:bodyPr>
          <a:lstStyle/>
          <a:p>
            <a:pPr algn="l"/>
            <a:r>
              <a:rPr sz="5200" b="0" i="0">
                <a:solidFill>
                  <a:srgbClr val="FFFFFF"/>
                </a:solidFill>
                <a:latin typeface="Georgia"/>
              </a:rPr>
              <a:t>The response is ready</a:t>
            </a:r>
          </a:p>
        </p:txBody>
      </p:sp>
      <p:sp>
        <p:nvSpPr>
          <p:cNvPr id="9" name="TextBox 8"/>
          <p:cNvSpPr txBox="1"/>
          <p:nvPr/>
        </p:nvSpPr>
        <p:spPr>
          <a:xfrm>
            <a:off x="475488" y="2423160"/>
            <a:ext cx="7040880" cy="1005840"/>
          </a:xfrm>
          <a:prstGeom prst="rect">
            <a:avLst/>
          </a:prstGeom>
          <a:noFill/>
        </p:spPr>
        <p:txBody>
          <a:bodyPr wrap="square">
            <a:spAutoFit/>
          </a:bodyPr>
          <a:lstStyle/>
          <a:p>
            <a:pPr algn="l"/>
            <a:r>
              <a:rPr sz="5200" b="0" i="1">
                <a:solidFill>
                  <a:srgbClr val="C9A84C"/>
                </a:solidFill>
                <a:latin typeface="Georgia"/>
              </a:rPr>
              <a:t>before the trigger fires.</a:t>
            </a:r>
          </a:p>
        </p:txBody>
      </p:sp>
      <p:sp>
        <p:nvSpPr>
          <p:cNvPr id="10" name="TextBox 9"/>
          <p:cNvSpPr txBox="1"/>
          <p:nvPr/>
        </p:nvSpPr>
        <p:spPr>
          <a:xfrm>
            <a:off x="475488" y="3520440"/>
            <a:ext cx="6858000" cy="256032"/>
          </a:xfrm>
          <a:prstGeom prst="rect">
            <a:avLst/>
          </a:prstGeom>
          <a:noFill/>
        </p:spPr>
        <p:txBody>
          <a:bodyPr wrap="square">
            <a:spAutoFit/>
          </a:bodyPr>
          <a:lstStyle/>
          <a:p>
            <a:pPr algn="l"/>
            <a:r>
              <a:rPr sz="950" b="1" i="0">
                <a:solidFill>
                  <a:srgbClr val="B4BED6"/>
                </a:solidFill>
                <a:latin typeface="Barlow Condensed"/>
              </a:rPr>
              <a:t>PREPARATION INFRASTRUCTURE FOR A VOLATILE WORLD</a:t>
            </a:r>
          </a:p>
        </p:txBody>
      </p:sp>
      <p:sp>
        <p:nvSpPr>
          <p:cNvPr id="11" name="TextBox 10"/>
          <p:cNvSpPr txBox="1"/>
          <p:nvPr/>
        </p:nvSpPr>
        <p:spPr>
          <a:xfrm>
            <a:off x="475488" y="3803904"/>
            <a:ext cx="6766560" cy="256032"/>
          </a:xfrm>
          <a:prstGeom prst="rect">
            <a:avLst/>
          </a:prstGeom>
          <a:noFill/>
        </p:spPr>
        <p:txBody>
          <a:bodyPr wrap="square">
            <a:spAutoFit/>
          </a:bodyPr>
          <a:lstStyle/>
          <a:p>
            <a:pPr algn="l"/>
            <a:r>
              <a:rPr sz="900" b="0" i="0">
                <a:solidFill>
                  <a:srgbClr val="B4BED6"/>
                </a:solidFill>
                <a:latin typeface="Barlow Condensed"/>
              </a:rPr>
              <a:t>Defense + Offense. Startup to Fortune 500. Pre-staged before the trigger fires.</a:t>
            </a:r>
          </a:p>
        </p:txBody>
      </p:sp>
      <p:sp>
        <p:nvSpPr>
          <p:cNvPr id="12" name="Rectangle 11"/>
          <p:cNvSpPr/>
          <p:nvPr/>
        </p:nvSpPr>
        <p:spPr>
          <a:xfrm>
            <a:off x="475488" y="4096512"/>
            <a:ext cx="6766560" cy="137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097280"/>
            <a:ext cx="4023360" cy="219456"/>
          </a:xfrm>
          <a:prstGeom prst="rect">
            <a:avLst/>
          </a:prstGeom>
          <a:noFill/>
        </p:spPr>
        <p:txBody>
          <a:bodyPr wrap="square">
            <a:spAutoFit/>
          </a:bodyPr>
          <a:lstStyle/>
          <a:p>
            <a:pPr algn="l"/>
            <a:r>
              <a:rPr sz="850" b="1" i="0">
                <a:solidFill>
                  <a:srgbClr val="C9A84C"/>
                </a:solidFill>
                <a:latin typeface="Barlow Condensed"/>
              </a:rPr>
              <a:t>INVESTOR BRIEF  ·  MAY 2026</a:t>
            </a:r>
          </a:p>
        </p:txBody>
      </p:sp>
      <p:sp>
        <p:nvSpPr>
          <p:cNvPr id="14" name="Rectangle 13"/>
          <p:cNvSpPr/>
          <p:nvPr/>
        </p:nvSpPr>
        <p:spPr>
          <a:xfrm>
            <a:off x="7909560" y="1371600"/>
            <a:ext cx="384048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1572768"/>
            <a:ext cx="3840480" cy="566928"/>
          </a:xfrm>
          <a:prstGeom prst="rect">
            <a:avLst/>
          </a:prstGeom>
          <a:noFill/>
        </p:spPr>
        <p:txBody>
          <a:bodyPr wrap="square">
            <a:spAutoFit/>
          </a:bodyPr>
          <a:lstStyle/>
          <a:p>
            <a:pPr algn="l"/>
            <a:r>
              <a:rPr sz="3400" b="1" i="0">
                <a:solidFill>
                  <a:srgbClr val="C9A84C"/>
                </a:solidFill>
                <a:latin typeface="Barlow Condensed"/>
              </a:rPr>
              <a:t>170</a:t>
            </a:r>
          </a:p>
        </p:txBody>
      </p:sp>
      <p:sp>
        <p:nvSpPr>
          <p:cNvPr id="16" name="TextBox 15"/>
          <p:cNvSpPr txBox="1"/>
          <p:nvPr/>
        </p:nvSpPr>
        <p:spPr>
          <a:xfrm>
            <a:off x="7909560" y="2121408"/>
            <a:ext cx="3840480" cy="256032"/>
          </a:xfrm>
          <a:prstGeom prst="rect">
            <a:avLst/>
          </a:prstGeom>
          <a:noFill/>
        </p:spPr>
        <p:txBody>
          <a:bodyPr wrap="square">
            <a:spAutoFit/>
          </a:bodyPr>
          <a:lstStyle/>
          <a:p>
            <a:pPr algn="l"/>
            <a:r>
              <a:rPr sz="900" b="0" i="0">
                <a:solidFill>
                  <a:srgbClr val="B4BED6"/>
                </a:solidFill>
                <a:latin typeface="Barlow Condensed"/>
              </a:rPr>
              <a:t>Readiness Protocols pre-staged</a:t>
            </a:r>
          </a:p>
        </p:txBody>
      </p:sp>
      <p:sp>
        <p:nvSpPr>
          <p:cNvPr id="17" name="Rectangle 16"/>
          <p:cNvSpPr/>
          <p:nvPr/>
        </p:nvSpPr>
        <p:spPr>
          <a:xfrm>
            <a:off x="7909560" y="2450591"/>
            <a:ext cx="384048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2743200"/>
            <a:ext cx="3840480" cy="566928"/>
          </a:xfrm>
          <a:prstGeom prst="rect">
            <a:avLst/>
          </a:prstGeom>
          <a:noFill/>
        </p:spPr>
        <p:txBody>
          <a:bodyPr wrap="square">
            <a:spAutoFit/>
          </a:bodyPr>
          <a:lstStyle/>
          <a:p>
            <a:pPr algn="l"/>
            <a:r>
              <a:rPr sz="3400" b="1" i="0">
                <a:solidFill>
                  <a:srgbClr val="C9A84C"/>
                </a:solidFill>
                <a:latin typeface="Barlow Condensed"/>
              </a:rPr>
              <a:t>221</a:t>
            </a:r>
          </a:p>
        </p:txBody>
      </p:sp>
      <p:sp>
        <p:nvSpPr>
          <p:cNvPr id="19" name="TextBox 18"/>
          <p:cNvSpPr txBox="1"/>
          <p:nvPr/>
        </p:nvSpPr>
        <p:spPr>
          <a:xfrm>
            <a:off x="7909560" y="3291840"/>
            <a:ext cx="3840480" cy="256032"/>
          </a:xfrm>
          <a:prstGeom prst="rect">
            <a:avLst/>
          </a:prstGeom>
          <a:noFill/>
        </p:spPr>
        <p:txBody>
          <a:bodyPr wrap="square">
            <a:spAutoFit/>
          </a:bodyPr>
          <a:lstStyle/>
          <a:p>
            <a:pPr algn="l"/>
            <a:r>
              <a:rPr sz="900" b="0" i="0">
                <a:solidFill>
                  <a:srgbClr val="B4BED6"/>
                </a:solidFill>
                <a:latin typeface="Barlow Condensed"/>
              </a:rPr>
              <a:t>Strategic triggers monitored</a:t>
            </a:r>
          </a:p>
        </p:txBody>
      </p:sp>
      <p:sp>
        <p:nvSpPr>
          <p:cNvPr id="20" name="Rectangle 19"/>
          <p:cNvSpPr/>
          <p:nvPr/>
        </p:nvSpPr>
        <p:spPr>
          <a:xfrm>
            <a:off x="7909560" y="3621024"/>
            <a:ext cx="384048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3913632"/>
            <a:ext cx="3840480" cy="566928"/>
          </a:xfrm>
          <a:prstGeom prst="rect">
            <a:avLst/>
          </a:prstGeom>
          <a:noFill/>
        </p:spPr>
        <p:txBody>
          <a:bodyPr wrap="square">
            <a:spAutoFit/>
          </a:bodyPr>
          <a:lstStyle/>
          <a:p>
            <a:pPr algn="l"/>
            <a:r>
              <a:rPr sz="3400" b="1" i="0">
                <a:solidFill>
                  <a:srgbClr val="C9A84C"/>
                </a:solidFill>
                <a:latin typeface="Barlow Condensed"/>
              </a:rPr>
              <a:t>12 MIN</a:t>
            </a:r>
          </a:p>
        </p:txBody>
      </p:sp>
      <p:sp>
        <p:nvSpPr>
          <p:cNvPr id="22" name="TextBox 21"/>
          <p:cNvSpPr txBox="1"/>
          <p:nvPr/>
        </p:nvSpPr>
        <p:spPr>
          <a:xfrm>
            <a:off x="7909560" y="4462272"/>
            <a:ext cx="3840480" cy="256032"/>
          </a:xfrm>
          <a:prstGeom prst="rect">
            <a:avLst/>
          </a:prstGeom>
          <a:noFill/>
        </p:spPr>
        <p:txBody>
          <a:bodyPr wrap="square">
            <a:spAutoFit/>
          </a:bodyPr>
          <a:lstStyle/>
          <a:p>
            <a:pPr algn="l"/>
            <a:r>
              <a:rPr sz="900" b="0" i="0">
                <a:solidFill>
                  <a:srgbClr val="B4BED6"/>
                </a:solidFill>
                <a:latin typeface="Barlow Condensed"/>
              </a:rPr>
              <a:t>30 days → execution complete</a:t>
            </a:r>
          </a:p>
        </p:txBody>
      </p:sp>
      <p:sp>
        <p:nvSpPr>
          <p:cNvPr id="23" name="Rectangle 22"/>
          <p:cNvSpPr/>
          <p:nvPr/>
        </p:nvSpPr>
        <p:spPr>
          <a:xfrm>
            <a:off x="7909560" y="4791456"/>
            <a:ext cx="384048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5084064"/>
            <a:ext cx="3840480" cy="566928"/>
          </a:xfrm>
          <a:prstGeom prst="rect">
            <a:avLst/>
          </a:prstGeom>
          <a:noFill/>
        </p:spPr>
        <p:txBody>
          <a:bodyPr wrap="square">
            <a:spAutoFit/>
          </a:bodyPr>
          <a:lstStyle/>
          <a:p>
            <a:pPr algn="l"/>
            <a:r>
              <a:rPr sz="3400" b="1" i="0">
                <a:solidFill>
                  <a:srgbClr val="C9A84C"/>
                </a:solidFill>
                <a:latin typeface="Barlow Condensed"/>
              </a:rPr>
              <a:t>3,600×</a:t>
            </a:r>
          </a:p>
        </p:txBody>
      </p:sp>
      <p:sp>
        <p:nvSpPr>
          <p:cNvPr id="25" name="TextBox 24"/>
          <p:cNvSpPr txBox="1"/>
          <p:nvPr/>
        </p:nvSpPr>
        <p:spPr>
          <a:xfrm>
            <a:off x="7909560" y="5632703"/>
            <a:ext cx="3840480" cy="256032"/>
          </a:xfrm>
          <a:prstGeom prst="rect">
            <a:avLst/>
          </a:prstGeom>
          <a:noFill/>
        </p:spPr>
        <p:txBody>
          <a:bodyPr wrap="square">
            <a:spAutoFit/>
          </a:bodyPr>
          <a:lstStyle/>
          <a:p>
            <a:pPr algn="l"/>
            <a:r>
              <a:rPr sz="900" b="0" i="0">
                <a:solidFill>
                  <a:srgbClr val="B4BED6"/>
                </a:solidFill>
                <a:latin typeface="Barlow Condensed"/>
              </a:rPr>
              <a:t>Execution Head Start</a:t>
            </a:r>
          </a:p>
        </p:txBody>
      </p:sp>
      <p:sp>
        <p:nvSpPr>
          <p:cNvPr id="26" name="Rectangle 25"/>
          <p:cNvSpPr/>
          <p:nvPr/>
        </p:nvSpPr>
        <p:spPr>
          <a:xfrm>
            <a:off x="0" y="6656832"/>
            <a:ext cx="12188952" cy="201168"/>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6675120"/>
            <a:ext cx="4572000" cy="164592"/>
          </a:xfrm>
          <a:prstGeom prst="rect">
            <a:avLst/>
          </a:prstGeom>
          <a:noFill/>
        </p:spPr>
        <p:txBody>
          <a:bodyPr wrap="square">
            <a:spAutoFit/>
          </a:bodyPr>
          <a:lstStyle/>
          <a:p>
            <a:pPr algn="l"/>
            <a:r>
              <a:rPr sz="800" b="0" i="0">
                <a:solidFill>
                  <a:srgbClr val="B4BED6"/>
                </a:solidFill>
                <a:latin typeface="Barlow Condensed"/>
              </a:rPr>
              <a:t>vaughnmartin.com</a:t>
            </a:r>
          </a:p>
        </p:txBody>
      </p:sp>
      <p:sp>
        <p:nvSpPr>
          <p:cNvPr id="28" name="TextBox 27"/>
          <p:cNvSpPr txBox="1"/>
          <p:nvPr/>
        </p:nvSpPr>
        <p:spPr>
          <a:xfrm>
            <a:off x="7315200" y="6675120"/>
            <a:ext cx="4663440" cy="164592"/>
          </a:xfrm>
          <a:prstGeom prst="rect">
            <a:avLst/>
          </a:prstGeom>
          <a:noFill/>
        </p:spPr>
        <p:txBody>
          <a:bodyPr wrap="square">
            <a:spAutoFit/>
          </a:bodyPr>
          <a:lstStyle/>
          <a:p>
            <a:pPr algn="r"/>
            <a:r>
              <a:rPr sz="800" b="0" i="0">
                <a:solidFill>
                  <a:srgbClr val="B4BED6"/>
                </a:solidFill>
                <a:latin typeface="Barlow Condensed"/>
              </a:rPr>
              <a:t>CONFIDENTIAL  ·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01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THE PROBLEM</a:t>
            </a:r>
          </a:p>
        </p:txBody>
      </p:sp>
      <p:sp>
        <p:nvSpPr>
          <p:cNvPr id="8" name="TextBox 7"/>
          <p:cNvSpPr txBox="1"/>
          <p:nvPr/>
        </p:nvSpPr>
        <p:spPr>
          <a:xfrm>
            <a:off x="411480" y="475488"/>
            <a:ext cx="5669280" cy="533400"/>
          </a:xfrm>
          <a:prstGeom prst="rect">
            <a:avLst/>
          </a:prstGeom>
          <a:noFill/>
        </p:spPr>
        <p:txBody>
          <a:bodyPr wrap="square">
            <a:spAutoFit/>
          </a:bodyPr>
          <a:lstStyle/>
          <a:p>
            <a:pPr algn="l"/>
            <a:r>
              <a:rPr sz="3000" b="1" i="0">
                <a:solidFill>
                  <a:srgbClr val="FFFFFF"/>
                </a:solidFill>
                <a:latin typeface="Barlow Condensed"/>
              </a:rPr>
              <a:t>THE 30-DAY MOBILIZATION</a:t>
            </a:r>
          </a:p>
        </p:txBody>
      </p:sp>
      <p:sp>
        <p:nvSpPr>
          <p:cNvPr id="9" name="TextBox 8"/>
          <p:cNvSpPr txBox="1"/>
          <p:nvPr/>
        </p:nvSpPr>
        <p:spPr>
          <a:xfrm>
            <a:off x="411480" y="963167"/>
            <a:ext cx="5669280" cy="533400"/>
          </a:xfrm>
          <a:prstGeom prst="rect">
            <a:avLst/>
          </a:prstGeom>
          <a:noFill/>
        </p:spPr>
        <p:txBody>
          <a:bodyPr wrap="square">
            <a:spAutoFit/>
          </a:bodyPr>
          <a:lstStyle/>
          <a:p>
            <a:pPr algn="l"/>
            <a:r>
              <a:rPr sz="3000" b="1" i="0">
                <a:solidFill>
                  <a:srgbClr val="C9A84C"/>
                </a:solidFill>
                <a:latin typeface="Barlow Condensed"/>
              </a:rPr>
              <a:t>BLACK HOLE.</a:t>
            </a:r>
          </a:p>
        </p:txBody>
      </p:sp>
      <p:sp>
        <p:nvSpPr>
          <p:cNvPr id="10" name="Rectangle 9"/>
          <p:cNvSpPr/>
          <p:nvPr/>
        </p:nvSpPr>
        <p:spPr>
          <a:xfrm>
            <a:off x="411480" y="1792224"/>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920240"/>
            <a:ext cx="2633472" cy="1444752"/>
          </a:xfrm>
          <a:prstGeom prst="rect">
            <a:avLst/>
          </a:prstGeom>
          <a:solidFill>
            <a:srgbClr val="1F6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920240"/>
            <a:ext cx="2633472" cy="2926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965960"/>
            <a:ext cx="2395728" cy="201168"/>
          </a:xfrm>
          <a:prstGeom prst="rect">
            <a:avLst/>
          </a:prstGeom>
          <a:noFill/>
        </p:spPr>
        <p:txBody>
          <a:bodyPr wrap="square">
            <a:spAutoFit/>
          </a:bodyPr>
          <a:lstStyle/>
          <a:p>
            <a:pPr algn="l"/>
            <a:r>
              <a:rPr sz="800" b="1" i="0">
                <a:solidFill>
                  <a:srgbClr val="2B8A6E"/>
                </a:solidFill>
                <a:latin typeface="Barlow Condensed"/>
              </a:rPr>
              <a:t>DETECTION</a:t>
            </a:r>
          </a:p>
        </p:txBody>
      </p:sp>
      <p:sp>
        <p:nvSpPr>
          <p:cNvPr id="14" name="TextBox 13"/>
          <p:cNvSpPr txBox="1"/>
          <p:nvPr/>
        </p:nvSpPr>
        <p:spPr>
          <a:xfrm>
            <a:off x="530352" y="2176272"/>
            <a:ext cx="2395728" cy="640080"/>
          </a:xfrm>
          <a:prstGeom prst="rect">
            <a:avLst/>
          </a:prstGeom>
          <a:noFill/>
        </p:spPr>
        <p:txBody>
          <a:bodyPr wrap="square">
            <a:spAutoFit/>
          </a:bodyPr>
          <a:lstStyle/>
          <a:p>
            <a:pPr algn="l"/>
            <a:r>
              <a:rPr sz="3600" b="1" i="0">
                <a:solidFill>
                  <a:srgbClr val="FFFFFF"/>
                </a:solidFill>
                <a:latin typeface="Barlow Condensed"/>
              </a:rPr>
              <a:t>&lt; 1 SEC</a:t>
            </a:r>
          </a:p>
        </p:txBody>
      </p:sp>
      <p:sp>
        <p:nvSpPr>
          <p:cNvPr id="15" name="TextBox 14"/>
          <p:cNvSpPr txBox="1"/>
          <p:nvPr/>
        </p:nvSpPr>
        <p:spPr>
          <a:xfrm>
            <a:off x="530352" y="2816352"/>
            <a:ext cx="2395728" cy="457200"/>
          </a:xfrm>
          <a:prstGeom prst="rect">
            <a:avLst/>
          </a:prstGeom>
          <a:noFill/>
        </p:spPr>
        <p:txBody>
          <a:bodyPr wrap="square">
            <a:spAutoFit/>
          </a:bodyPr>
          <a:lstStyle/>
          <a:p>
            <a:pPr algn="l"/>
            <a:r>
              <a:rPr sz="850" b="0" i="0">
                <a:solidFill>
                  <a:srgbClr val="CCFFEE"/>
                </a:solidFill>
                <a:latin typeface="Barlow Condensed"/>
              </a:rPr>
              <a:t>Signal identified.
Pattern matched. Score computed.</a:t>
            </a:r>
          </a:p>
        </p:txBody>
      </p:sp>
      <p:sp>
        <p:nvSpPr>
          <p:cNvPr id="16" name="TextBox 15"/>
          <p:cNvSpPr txBox="1"/>
          <p:nvPr/>
        </p:nvSpPr>
        <p:spPr>
          <a:xfrm>
            <a:off x="3108960" y="2322576"/>
            <a:ext cx="384048" cy="530352"/>
          </a:xfrm>
          <a:prstGeom prst="rect">
            <a:avLst/>
          </a:prstGeom>
          <a:noFill/>
        </p:spPr>
        <p:txBody>
          <a:bodyPr wrap="square">
            <a:spAutoFit/>
          </a:bodyPr>
          <a:lstStyle/>
          <a:p>
            <a:pPr algn="ctr"/>
            <a:r>
              <a:rPr sz="2600" b="1" i="0">
                <a:solidFill>
                  <a:srgbClr val="C9A84C"/>
                </a:solidFill>
                <a:latin typeface="Barlow Condensed"/>
              </a:rPr>
              <a:t>→</a:t>
            </a:r>
          </a:p>
        </p:txBody>
      </p:sp>
      <p:sp>
        <p:nvSpPr>
          <p:cNvPr id="17" name="Rectangle 16"/>
          <p:cNvSpPr/>
          <p:nvPr/>
        </p:nvSpPr>
        <p:spPr>
          <a:xfrm>
            <a:off x="3529584" y="1920240"/>
            <a:ext cx="2450592" cy="1444752"/>
          </a:xfrm>
          <a:prstGeom prst="rect">
            <a:avLst/>
          </a:prstGeom>
          <a:solidFill>
            <a:srgbClr val="3A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9584" y="1920240"/>
            <a:ext cx="2450592" cy="29260"/>
          </a:xfrm>
          <a:prstGeom prst="rect">
            <a:avLst/>
          </a:prstGeom>
          <a:solidFill>
            <a:srgbClr val="99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1965960"/>
            <a:ext cx="2231136" cy="201168"/>
          </a:xfrm>
          <a:prstGeom prst="rect">
            <a:avLst/>
          </a:prstGeom>
          <a:noFill/>
        </p:spPr>
        <p:txBody>
          <a:bodyPr wrap="square">
            <a:spAutoFit/>
          </a:bodyPr>
          <a:lstStyle/>
          <a:p>
            <a:pPr algn="l"/>
            <a:r>
              <a:rPr sz="800" b="1" i="0">
                <a:solidFill>
                  <a:srgbClr val="FF6666"/>
                </a:solidFill>
                <a:latin typeface="Barlow Condensed"/>
              </a:rPr>
              <a:t>MOBILIZATION</a:t>
            </a:r>
          </a:p>
        </p:txBody>
      </p:sp>
      <p:sp>
        <p:nvSpPr>
          <p:cNvPr id="20" name="TextBox 19"/>
          <p:cNvSpPr txBox="1"/>
          <p:nvPr/>
        </p:nvSpPr>
        <p:spPr>
          <a:xfrm>
            <a:off x="3639312" y="2176272"/>
            <a:ext cx="2231136" cy="640080"/>
          </a:xfrm>
          <a:prstGeom prst="rect">
            <a:avLst/>
          </a:prstGeom>
          <a:noFill/>
        </p:spPr>
        <p:txBody>
          <a:bodyPr wrap="square">
            <a:spAutoFit/>
          </a:bodyPr>
          <a:lstStyle/>
          <a:p>
            <a:pPr algn="l"/>
            <a:r>
              <a:rPr sz="3600" b="1" i="0">
                <a:solidFill>
                  <a:srgbClr val="FF8888"/>
                </a:solidFill>
                <a:latin typeface="Barlow Condensed"/>
              </a:rPr>
              <a:t>30 DAYS</a:t>
            </a:r>
          </a:p>
        </p:txBody>
      </p:sp>
      <p:sp>
        <p:nvSpPr>
          <p:cNvPr id="21" name="TextBox 20"/>
          <p:cNvSpPr txBox="1"/>
          <p:nvPr/>
        </p:nvSpPr>
        <p:spPr>
          <a:xfrm>
            <a:off x="3639312" y="2816352"/>
            <a:ext cx="2231136" cy="457200"/>
          </a:xfrm>
          <a:prstGeom prst="rect">
            <a:avLst/>
          </a:prstGeom>
          <a:noFill/>
        </p:spPr>
        <p:txBody>
          <a:bodyPr wrap="square">
            <a:spAutoFit/>
          </a:bodyPr>
          <a:lstStyle/>
          <a:p>
            <a:pPr algn="l"/>
            <a:r>
              <a:rPr sz="850" b="0" i="0">
                <a:solidFill>
                  <a:srgbClr val="FFCCCC"/>
                </a:solidFill>
                <a:latin typeface="Barlow Condensed"/>
              </a:rPr>
              <a:t>Who decides? Who calls who?
Who owns the response?</a:t>
            </a:r>
          </a:p>
        </p:txBody>
      </p:sp>
      <p:sp>
        <p:nvSpPr>
          <p:cNvPr id="22" name="TextBox 21"/>
          <p:cNvSpPr txBox="1"/>
          <p:nvPr/>
        </p:nvSpPr>
        <p:spPr>
          <a:xfrm>
            <a:off x="411480" y="3529584"/>
            <a:ext cx="5669280" cy="365760"/>
          </a:xfrm>
          <a:prstGeom prst="rect">
            <a:avLst/>
          </a:prstGeom>
          <a:noFill/>
        </p:spPr>
        <p:txBody>
          <a:bodyPr wrap="square">
            <a:spAutoFit/>
          </a:bodyPr>
          <a:lstStyle/>
          <a:p>
            <a:r>
              <a:rPr sz="1100">
                <a:solidFill>
                  <a:srgbClr val="FFFFFF"/>
                </a:solidFill>
                <a:latin typeface="Barlow Condensed"/>
              </a:rPr>
              <a:t>▶  Startup to Fortune 500: same trigger, identical 30-day delay</a:t>
            </a:r>
          </a:p>
        </p:txBody>
      </p:sp>
      <p:sp>
        <p:nvSpPr>
          <p:cNvPr id="23" name="TextBox 22"/>
          <p:cNvSpPr txBox="1"/>
          <p:nvPr/>
        </p:nvSpPr>
        <p:spPr>
          <a:xfrm>
            <a:off x="411480" y="3881628"/>
            <a:ext cx="5669280" cy="365760"/>
          </a:xfrm>
          <a:prstGeom prst="rect">
            <a:avLst/>
          </a:prstGeom>
          <a:noFill/>
        </p:spPr>
        <p:txBody>
          <a:bodyPr wrap="square">
            <a:spAutoFit/>
          </a:bodyPr>
          <a:lstStyle/>
          <a:p>
            <a:r>
              <a:rPr sz="1100">
                <a:solidFill>
                  <a:srgbClr val="FFFFFF"/>
                </a:solidFill>
                <a:latin typeface="Barlow Condensed"/>
              </a:rPr>
              <a:t>▶  The delay is not execution — it is mobilization architecture</a:t>
            </a:r>
          </a:p>
        </p:txBody>
      </p:sp>
      <p:sp>
        <p:nvSpPr>
          <p:cNvPr id="24" name="TextBox 23"/>
          <p:cNvSpPr txBox="1"/>
          <p:nvPr/>
        </p:nvSpPr>
        <p:spPr>
          <a:xfrm>
            <a:off x="411480" y="4233672"/>
            <a:ext cx="5669280" cy="365760"/>
          </a:xfrm>
          <a:prstGeom prst="rect">
            <a:avLst/>
          </a:prstGeom>
          <a:noFill/>
        </p:spPr>
        <p:txBody>
          <a:bodyPr wrap="square">
            <a:spAutoFit/>
          </a:bodyPr>
          <a:lstStyle/>
          <a:p>
            <a:r>
              <a:rPr sz="1100">
                <a:solidFill>
                  <a:srgbClr val="FFFFFF"/>
                </a:solidFill>
                <a:latin typeface="Barlow Condensed"/>
              </a:rPr>
              <a:t>▶  Every day of drift is a window activists, regulators, or competitors own</a:t>
            </a:r>
          </a:p>
        </p:txBody>
      </p:sp>
      <p:sp>
        <p:nvSpPr>
          <p:cNvPr id="25" name="Rectangle 24"/>
          <p:cNvSpPr/>
          <p:nvPr/>
        </p:nvSpPr>
        <p:spPr>
          <a:xfrm>
            <a:off x="411480" y="4663440"/>
            <a:ext cx="5596128" cy="566928"/>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4663440"/>
            <a:ext cx="5596128" cy="21945"/>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718304"/>
            <a:ext cx="5449824" cy="457200"/>
          </a:xfrm>
          <a:prstGeom prst="rect">
            <a:avLst/>
          </a:prstGeom>
          <a:noFill/>
        </p:spPr>
        <p:txBody>
          <a:bodyPr wrap="square">
            <a:spAutoFit/>
          </a:bodyPr>
          <a:lstStyle/>
          <a:p>
            <a:pPr algn="l"/>
            <a:r>
              <a:rPr sz="900" b="0" i="0">
                <a:solidFill>
                  <a:srgbClr val="B4BED6"/>
                </a:solidFill>
                <a:latin typeface="Barlow Condensed"/>
              </a:rPr>
              <a:t>$4.4T AT RISK ANNUALLY  ·  Enterprise coordination failures  ·  Preparation Infrastructure is the unclaimed layer above every AI stack.</a:t>
            </a:r>
          </a:p>
        </p:txBody>
      </p:sp>
      <p:sp>
        <p:nvSpPr>
          <p:cNvPr id="28" name="Rectangle 27"/>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"The market thinks companies have a strategy problem. They don't. They have an architecture problem. That 30-day delay is an existential window — and competitors completely own it."</a:t>
            </a:r>
          </a:p>
        </p:txBody>
      </p:sp>
      <p:sp>
        <p:nvSpPr>
          <p:cNvPr id="30" name="Rectangle 29"/>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wow_command_tower.jpg"/>
          <p:cNvPicPr>
            <a:picLocks noChangeAspect="1"/>
          </p:cNvPicPr>
          <p:nvPr/>
        </p:nvPicPr>
        <p:blipFill>
          <a:blip r:embed="rId2"/>
          <a:stretch>
            <a:fillRect/>
          </a:stretch>
        </p:blipFill>
        <p:spPr>
          <a:xfrm>
            <a:off x="6400800" y="502920"/>
            <a:ext cx="5468112" cy="5888736"/>
          </a:xfrm>
          <a:prstGeom prst="rect">
            <a:avLst/>
          </a:prstGeom>
        </p:spPr>
      </p:pic>
      <p:sp>
        <p:nvSpPr>
          <p:cNvPr id="33" name="Rectangle 32"/>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02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a:t>
            </a:r>
          </a:p>
        </p:txBody>
      </p:sp>
      <p:sp>
        <p:nvSpPr>
          <p:cNvPr id="7" name="TextBox 6"/>
          <p:cNvSpPr txBox="1"/>
          <p:nvPr/>
        </p:nvSpPr>
        <p:spPr>
          <a:xfrm>
            <a:off x="411480" y="237744"/>
            <a:ext cx="11338560" cy="201168"/>
          </a:xfrm>
          <a:prstGeom prst="rect">
            <a:avLst/>
          </a:prstGeom>
          <a:noFill/>
        </p:spPr>
        <p:txBody>
          <a:bodyPr wrap="square">
            <a:spAutoFit/>
          </a:bodyPr>
          <a:lstStyle/>
          <a:p>
            <a:pPr algn="l"/>
            <a:r>
              <a:rPr sz="800" b="1" i="0">
                <a:solidFill>
                  <a:srgbClr val="C9A84C"/>
                </a:solidFill>
                <a:latin typeface="Barlow Condensed"/>
              </a:rPr>
              <a:t>THE FOUNDER</a:t>
            </a:r>
          </a:p>
        </p:txBody>
      </p:sp>
      <p:sp>
        <p:nvSpPr>
          <p:cNvPr id="8" name="TextBox 7"/>
          <p:cNvSpPr txBox="1"/>
          <p:nvPr/>
        </p:nvSpPr>
        <p:spPr>
          <a:xfrm>
            <a:off x="411480" y="475488"/>
            <a:ext cx="11338560" cy="533400"/>
          </a:xfrm>
          <a:prstGeom prst="rect">
            <a:avLst/>
          </a:prstGeom>
          <a:noFill/>
        </p:spPr>
        <p:txBody>
          <a:bodyPr wrap="square">
            <a:spAutoFit/>
          </a:bodyPr>
          <a:lstStyle/>
          <a:p>
            <a:pPr algn="l"/>
            <a:r>
              <a:rPr sz="3000" b="1" i="0">
                <a:solidFill>
                  <a:srgbClr val="C9A84C"/>
                </a:solidFill>
                <a:latin typeface="Barlow Condensed"/>
              </a:rPr>
              <a:t>THE ONLY TEAM ALIVE</a:t>
            </a:r>
          </a:p>
        </p:txBody>
      </p:sp>
      <p:sp>
        <p:nvSpPr>
          <p:cNvPr id="9" name="TextBox 8"/>
          <p:cNvSpPr txBox="1"/>
          <p:nvPr/>
        </p:nvSpPr>
        <p:spPr>
          <a:xfrm>
            <a:off x="411480" y="963167"/>
            <a:ext cx="11338560" cy="533400"/>
          </a:xfrm>
          <a:prstGeom prst="rect">
            <a:avLst/>
          </a:prstGeom>
          <a:noFill/>
        </p:spPr>
        <p:txBody>
          <a:bodyPr wrap="square">
            <a:spAutoFit/>
          </a:bodyPr>
          <a:lstStyle/>
          <a:p>
            <a:pPr algn="l"/>
            <a:r>
              <a:rPr sz="3000" b="1" i="0">
                <a:solidFill>
                  <a:srgbClr val="FFFFFF"/>
                </a:solidFill>
                <a:latin typeface="Barlow Condensed"/>
              </a:rPr>
              <a:t>THAT COULD BUILD THIS.</a:t>
            </a:r>
          </a:p>
        </p:txBody>
      </p:sp>
      <p:sp>
        <p:nvSpPr>
          <p:cNvPr id="10" name="Rectangle 9"/>
          <p:cNvSpPr/>
          <p:nvPr/>
        </p:nvSpPr>
        <p:spPr>
          <a:xfrm>
            <a:off x="411480" y="1719072"/>
            <a:ext cx="1115568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847088"/>
            <a:ext cx="5285232" cy="237744"/>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1865376"/>
            <a:ext cx="5102352" cy="201168"/>
          </a:xfrm>
          <a:prstGeom prst="rect">
            <a:avLst/>
          </a:prstGeom>
          <a:noFill/>
        </p:spPr>
        <p:txBody>
          <a:bodyPr wrap="square">
            <a:spAutoFit/>
          </a:bodyPr>
          <a:lstStyle/>
          <a:p>
            <a:pPr algn="l"/>
            <a:r>
              <a:rPr sz="800" b="1" i="0">
                <a:solidFill>
                  <a:srgbClr val="C9A84C"/>
                </a:solidFill>
                <a:latin typeface="Barlow Condensed"/>
              </a:rPr>
              <a:t>FORTUNE 500 OPERATIONS  ·  20 YEARS</a:t>
            </a:r>
          </a:p>
        </p:txBody>
      </p:sp>
      <p:sp>
        <p:nvSpPr>
          <p:cNvPr id="13" name="TextBox 12"/>
          <p:cNvSpPr txBox="1"/>
          <p:nvPr/>
        </p:nvSpPr>
        <p:spPr>
          <a:xfrm>
            <a:off x="521208" y="2176272"/>
            <a:ext cx="5102352" cy="329184"/>
          </a:xfrm>
          <a:prstGeom prst="rect">
            <a:avLst/>
          </a:prstGeom>
          <a:noFill/>
        </p:spPr>
        <p:txBody>
          <a:bodyPr wrap="square">
            <a:spAutoFit/>
          </a:bodyPr>
          <a:lstStyle/>
          <a:p>
            <a:pPr algn="l"/>
            <a:r>
              <a:rPr sz="1050" b="0" i="0">
                <a:solidFill>
                  <a:srgbClr val="FFFFFF"/>
                </a:solidFill>
                <a:latin typeface="Barlow Condensed"/>
              </a:rPr>
              <a:t>·  Ford · Toyota · Lockheed Martin · Charles Schwab</a:t>
            </a:r>
          </a:p>
        </p:txBody>
      </p:sp>
      <p:sp>
        <p:nvSpPr>
          <p:cNvPr id="14" name="TextBox 13"/>
          <p:cNvSpPr txBox="1"/>
          <p:nvPr/>
        </p:nvSpPr>
        <p:spPr>
          <a:xfrm>
            <a:off x="521208" y="2523744"/>
            <a:ext cx="5102352" cy="329184"/>
          </a:xfrm>
          <a:prstGeom prst="rect">
            <a:avLst/>
          </a:prstGeom>
          <a:noFill/>
        </p:spPr>
        <p:txBody>
          <a:bodyPr wrap="square">
            <a:spAutoFit/>
          </a:bodyPr>
          <a:lstStyle/>
          <a:p>
            <a:pPr algn="l"/>
            <a:r>
              <a:rPr sz="1050" b="0" i="0">
                <a:solidFill>
                  <a:srgbClr val="FFFFFF"/>
                </a:solidFill>
                <a:latin typeface="Barlow Condensed"/>
              </a:rPr>
              <a:t>·  Watched the 30-day mobilization failure repeat across every vertical</a:t>
            </a:r>
          </a:p>
        </p:txBody>
      </p:sp>
      <p:sp>
        <p:nvSpPr>
          <p:cNvPr id="15" name="TextBox 14"/>
          <p:cNvSpPr txBox="1"/>
          <p:nvPr/>
        </p:nvSpPr>
        <p:spPr>
          <a:xfrm>
            <a:off x="521208" y="2871215"/>
            <a:ext cx="5102352" cy="329184"/>
          </a:xfrm>
          <a:prstGeom prst="rect">
            <a:avLst/>
          </a:prstGeom>
          <a:noFill/>
        </p:spPr>
        <p:txBody>
          <a:bodyPr wrap="square">
            <a:spAutoFit/>
          </a:bodyPr>
          <a:lstStyle/>
          <a:p>
            <a:pPr algn="l"/>
            <a:r>
              <a:rPr sz="1050" b="0" i="0">
                <a:solidFill>
                  <a:srgbClr val="FFFFFF"/>
                </a:solidFill>
                <a:latin typeface="Barlow Condensed"/>
              </a:rPr>
              <a:t>·  Same architecture gap — different trigger, identical delay</a:t>
            </a:r>
          </a:p>
        </p:txBody>
      </p:sp>
      <p:sp>
        <p:nvSpPr>
          <p:cNvPr id="16" name="TextBox 15"/>
          <p:cNvSpPr txBox="1"/>
          <p:nvPr/>
        </p:nvSpPr>
        <p:spPr>
          <a:xfrm>
            <a:off x="521208" y="3218688"/>
            <a:ext cx="5102352" cy="329184"/>
          </a:xfrm>
          <a:prstGeom prst="rect">
            <a:avLst/>
          </a:prstGeom>
          <a:noFill/>
        </p:spPr>
        <p:txBody>
          <a:bodyPr wrap="square">
            <a:spAutoFit/>
          </a:bodyPr>
          <a:lstStyle/>
          <a:p>
            <a:pPr algn="l"/>
            <a:r>
              <a:rPr sz="1050" b="0" i="0">
                <a:solidFill>
                  <a:srgbClr val="FFFFFF"/>
                </a:solidFill>
                <a:latin typeface="Barlow Condensed"/>
              </a:rPr>
              <a:t>·  Built Readiness OS in 2023 to end that pattern permanently</a:t>
            </a:r>
          </a:p>
        </p:txBody>
      </p:sp>
      <p:sp>
        <p:nvSpPr>
          <p:cNvPr id="17" name="Rectangle 16"/>
          <p:cNvSpPr/>
          <p:nvPr/>
        </p:nvSpPr>
        <p:spPr>
          <a:xfrm>
            <a:off x="6400800" y="1847088"/>
            <a:ext cx="5285232" cy="237744"/>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865376"/>
            <a:ext cx="5102352" cy="201168"/>
          </a:xfrm>
          <a:prstGeom prst="rect">
            <a:avLst/>
          </a:prstGeom>
          <a:noFill/>
        </p:spPr>
        <p:txBody>
          <a:bodyPr wrap="square">
            <a:spAutoFit/>
          </a:bodyPr>
          <a:lstStyle/>
          <a:p>
            <a:pPr algn="l"/>
            <a:r>
              <a:rPr sz="800" b="1" i="0">
                <a:solidFill>
                  <a:srgbClr val="2B8A6E"/>
                </a:solidFill>
                <a:latin typeface="Barlow Condensed"/>
              </a:rPr>
              <a:t>STANFORD UNIVERSITY  ·  FOOTBALL COACHING  ·  5 YEARS</a:t>
            </a:r>
          </a:p>
        </p:txBody>
      </p:sp>
      <p:sp>
        <p:nvSpPr>
          <p:cNvPr id="19" name="TextBox 18"/>
          <p:cNvSpPr txBox="1"/>
          <p:nvPr/>
        </p:nvSpPr>
        <p:spPr>
          <a:xfrm>
            <a:off x="6510528" y="2176272"/>
            <a:ext cx="5102352" cy="329184"/>
          </a:xfrm>
          <a:prstGeom prst="rect">
            <a:avLst/>
          </a:prstGeom>
          <a:noFill/>
        </p:spPr>
        <p:txBody>
          <a:bodyPr wrap="square">
            <a:spAutoFit/>
          </a:bodyPr>
          <a:lstStyle/>
          <a:p>
            <a:pPr algn="l"/>
            <a:r>
              <a:rPr sz="1050" b="0" i="0">
                <a:solidFill>
                  <a:srgbClr val="FFFFFF"/>
                </a:solidFill>
                <a:latin typeface="Barlow Condensed"/>
              </a:rPr>
              <a:t>·  Major college football — billion-dollar coordinated operation under pressure</a:t>
            </a:r>
          </a:p>
        </p:txBody>
      </p:sp>
      <p:sp>
        <p:nvSpPr>
          <p:cNvPr id="20" name="TextBox 19"/>
          <p:cNvSpPr txBox="1"/>
          <p:nvPr/>
        </p:nvSpPr>
        <p:spPr>
          <a:xfrm>
            <a:off x="6510528" y="2523744"/>
            <a:ext cx="5102352" cy="329184"/>
          </a:xfrm>
          <a:prstGeom prst="rect">
            <a:avLst/>
          </a:prstGeom>
          <a:noFill/>
        </p:spPr>
        <p:txBody>
          <a:bodyPr wrap="square">
            <a:spAutoFit/>
          </a:bodyPr>
          <a:lstStyle/>
          <a:p>
            <a:pPr algn="l"/>
            <a:r>
              <a:rPr sz="1050" b="0" i="0">
                <a:solidFill>
                  <a:srgbClr val="FFFFFF"/>
                </a:solidFill>
                <a:latin typeface="Barlow Condensed"/>
              </a:rPr>
              <a:t>·  40-second play clock — full organizational response, no committee</a:t>
            </a:r>
          </a:p>
        </p:txBody>
      </p:sp>
      <p:sp>
        <p:nvSpPr>
          <p:cNvPr id="21" name="TextBox 20"/>
          <p:cNvSpPr txBox="1"/>
          <p:nvPr/>
        </p:nvSpPr>
        <p:spPr>
          <a:xfrm>
            <a:off x="6510528" y="2871215"/>
            <a:ext cx="5102352" cy="329184"/>
          </a:xfrm>
          <a:prstGeom prst="rect">
            <a:avLst/>
          </a:prstGeom>
          <a:noFill/>
        </p:spPr>
        <p:txBody>
          <a:bodyPr wrap="square">
            <a:spAutoFit/>
          </a:bodyPr>
          <a:lstStyle/>
          <a:p>
            <a:pPr algn="l"/>
            <a:r>
              <a:rPr sz="1050" b="0" i="0">
                <a:solidFill>
                  <a:srgbClr val="FFFFFF"/>
                </a:solidFill>
                <a:latin typeface="Barlow Condensed"/>
              </a:rPr>
              <a:t>·  You don't design the play after the snap — the response is pre-staged</a:t>
            </a:r>
          </a:p>
        </p:txBody>
      </p:sp>
      <p:sp>
        <p:nvSpPr>
          <p:cNvPr id="22" name="TextBox 21"/>
          <p:cNvSpPr txBox="1"/>
          <p:nvPr/>
        </p:nvSpPr>
        <p:spPr>
          <a:xfrm>
            <a:off x="6510528" y="3218688"/>
            <a:ext cx="5102352" cy="329184"/>
          </a:xfrm>
          <a:prstGeom prst="rect">
            <a:avLst/>
          </a:prstGeom>
          <a:noFill/>
        </p:spPr>
        <p:txBody>
          <a:bodyPr wrap="square">
            <a:spAutoFit/>
          </a:bodyPr>
          <a:lstStyle/>
          <a:p>
            <a:pPr algn="l"/>
            <a:r>
              <a:rPr sz="1050" b="0" i="0">
                <a:solidFill>
                  <a:srgbClr val="FFFFFF"/>
                </a:solidFill>
                <a:latin typeface="Barlow Condensed"/>
              </a:rPr>
              <a:t>·  The preparation IS the execution. Not a metaphor. The architecture.</a:t>
            </a:r>
          </a:p>
        </p:txBody>
      </p:sp>
      <p:sp>
        <p:nvSpPr>
          <p:cNvPr id="23" name="Rectangle 22"/>
          <p:cNvSpPr/>
          <p:nvPr/>
        </p:nvSpPr>
        <p:spPr>
          <a:xfrm>
            <a:off x="411480" y="3712463"/>
            <a:ext cx="11155680" cy="310896"/>
          </a:xfrm>
          <a:prstGeom prst="rect">
            <a:avLst/>
          </a:prstGeom>
          <a:solidFill>
            <a:srgbClr val="162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3739896"/>
            <a:ext cx="11018520" cy="256032"/>
          </a:xfrm>
          <a:prstGeom prst="rect">
            <a:avLst/>
          </a:prstGeom>
          <a:noFill/>
        </p:spPr>
        <p:txBody>
          <a:bodyPr wrap="square">
            <a:spAutoFit/>
          </a:bodyPr>
          <a:lstStyle/>
          <a:p>
            <a:pPr algn="ctr"/>
            <a:r>
              <a:rPr sz="900" b="1" i="0">
                <a:solidFill>
                  <a:srgbClr val="C9A84C"/>
                </a:solidFill>
                <a:latin typeface="Barlow Condensed"/>
              </a:rPr>
              <a:t>THE INTERSECTION — THE PREPARATION DISCIPLINE THAT WINS UNDER PRESSURE WAS MISSING FROM ENTERPRISE.</a:t>
            </a:r>
          </a:p>
        </p:txBody>
      </p:sp>
      <p:sp>
        <p:nvSpPr>
          <p:cNvPr id="25" name="Rectangle 24"/>
          <p:cNvSpPr/>
          <p:nvPr/>
        </p:nvSpPr>
        <p:spPr>
          <a:xfrm>
            <a:off x="411480" y="5449824"/>
            <a:ext cx="10881359"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513832"/>
            <a:ext cx="11155680" cy="768096"/>
          </a:xfrm>
          <a:prstGeom prst="rect">
            <a:avLst/>
          </a:prstGeom>
          <a:noFill/>
        </p:spPr>
        <p:txBody>
          <a:bodyPr wrap="square">
            <a:spAutoFit/>
          </a:bodyPr>
          <a:lstStyle/>
          <a:p>
            <a:pPr algn="l"/>
            <a:r>
              <a:rPr sz="900" b="0" i="1">
                <a:solidFill>
                  <a:srgbClr val="B4BED6"/>
                </a:solidFill>
                <a:latin typeface="Georgia"/>
              </a:rPr>
              <a:t>"I spent 20 years watching the exact same mobilization failure repeat at the world's largest companies. And 5 years at Stanford pre-staging responses against a 40-second clock. I built the infrastructure that closes that gap permanently."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03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vaughnmartin.com/how-it-executes</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THE PRODUCT</a:t>
            </a:r>
          </a:p>
        </p:txBody>
      </p:sp>
      <p:sp>
        <p:nvSpPr>
          <p:cNvPr id="8" name="TextBox 7"/>
          <p:cNvSpPr txBox="1"/>
          <p:nvPr/>
        </p:nvSpPr>
        <p:spPr>
          <a:xfrm>
            <a:off x="411480" y="475488"/>
            <a:ext cx="5669280" cy="354584"/>
          </a:xfrm>
          <a:prstGeom prst="rect">
            <a:avLst/>
          </a:prstGeom>
          <a:noFill/>
        </p:spPr>
        <p:txBody>
          <a:bodyPr wrap="square">
            <a:spAutoFit/>
          </a:bodyPr>
          <a:lstStyle/>
          <a:p>
            <a:pPr algn="l"/>
            <a:r>
              <a:rPr sz="1900" b="1" i="0">
                <a:solidFill>
                  <a:srgbClr val="C9A84C"/>
                </a:solidFill>
                <a:latin typeface="Barlow Condensed"/>
              </a:rPr>
              <a:t>READINESS OS:</a:t>
            </a:r>
          </a:p>
        </p:txBody>
      </p:sp>
      <p:sp>
        <p:nvSpPr>
          <p:cNvPr id="9" name="TextBox 8"/>
          <p:cNvSpPr txBox="1"/>
          <p:nvPr/>
        </p:nvSpPr>
        <p:spPr>
          <a:xfrm>
            <a:off x="411480" y="784352"/>
            <a:ext cx="5669280" cy="484632"/>
          </a:xfrm>
          <a:prstGeom prst="rect">
            <a:avLst/>
          </a:prstGeom>
          <a:noFill/>
        </p:spPr>
        <p:txBody>
          <a:bodyPr wrap="square">
            <a:spAutoFit/>
          </a:bodyPr>
          <a:lstStyle/>
          <a:p>
            <a:pPr algn="l"/>
            <a:r>
              <a:rPr sz="2700" b="1" i="0">
                <a:solidFill>
                  <a:srgbClr val="FFFFFF"/>
                </a:solidFill>
                <a:latin typeface="Barlow Condensed"/>
              </a:rPr>
              <a:t>THE RESPONSE IS READY</a:t>
            </a:r>
          </a:p>
        </p:txBody>
      </p:sp>
      <p:sp>
        <p:nvSpPr>
          <p:cNvPr id="10" name="TextBox 9"/>
          <p:cNvSpPr txBox="1"/>
          <p:nvPr/>
        </p:nvSpPr>
        <p:spPr>
          <a:xfrm>
            <a:off x="411480" y="1223264"/>
            <a:ext cx="5669280" cy="484632"/>
          </a:xfrm>
          <a:prstGeom prst="rect">
            <a:avLst/>
          </a:prstGeom>
          <a:noFill/>
        </p:spPr>
        <p:txBody>
          <a:bodyPr wrap="square">
            <a:spAutoFit/>
          </a:bodyPr>
          <a:lstStyle/>
          <a:p>
            <a:pPr algn="l"/>
            <a:r>
              <a:rPr sz="2700" b="1" i="0">
                <a:solidFill>
                  <a:srgbClr val="C9A84C"/>
                </a:solidFill>
                <a:latin typeface="Barlow Condensed"/>
              </a:rPr>
              <a:t>BEFORE THE TRIGGER FIRES.</a:t>
            </a:r>
          </a:p>
        </p:txBody>
      </p:sp>
      <p:sp>
        <p:nvSpPr>
          <p:cNvPr id="11" name="Rectangle 10"/>
          <p:cNvSpPr/>
          <p:nvPr/>
        </p:nvSpPr>
        <p:spPr>
          <a:xfrm>
            <a:off x="411480" y="2286000"/>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414016"/>
            <a:ext cx="5669280" cy="365760"/>
          </a:xfrm>
          <a:prstGeom prst="rect">
            <a:avLst/>
          </a:prstGeom>
          <a:noFill/>
        </p:spPr>
        <p:txBody>
          <a:bodyPr wrap="square">
            <a:spAutoFit/>
          </a:bodyPr>
          <a:lstStyle/>
          <a:p>
            <a:r>
              <a:rPr sz="1100">
                <a:solidFill>
                  <a:srgbClr val="FFFFFF"/>
                </a:solidFill>
                <a:latin typeface="Barlow Condensed"/>
              </a:rPr>
              <a:t>▶  170 Readiness Protocols — Growth &amp; Positioning, Risk &amp; Resilience, Transformation</a:t>
            </a:r>
          </a:p>
        </p:txBody>
      </p:sp>
      <p:sp>
        <p:nvSpPr>
          <p:cNvPr id="13" name="TextBox 12"/>
          <p:cNvSpPr txBox="1"/>
          <p:nvPr/>
        </p:nvSpPr>
        <p:spPr>
          <a:xfrm>
            <a:off x="411480" y="2766060"/>
            <a:ext cx="5669280" cy="365760"/>
          </a:xfrm>
          <a:prstGeom prst="rect">
            <a:avLst/>
          </a:prstGeom>
          <a:noFill/>
        </p:spPr>
        <p:txBody>
          <a:bodyPr wrap="square">
            <a:spAutoFit/>
          </a:bodyPr>
          <a:lstStyle/>
          <a:p>
            <a:r>
              <a:rPr sz="1100">
                <a:solidFill>
                  <a:srgbClr val="FFFFFF"/>
                </a:solidFill>
                <a:latin typeface="Barlow Condensed"/>
              </a:rPr>
              <a:t>▶  221 strategic trigger patterns monitored continuously across 8 data sources</a:t>
            </a:r>
          </a:p>
        </p:txBody>
      </p:sp>
      <p:sp>
        <p:nvSpPr>
          <p:cNvPr id="14" name="TextBox 13"/>
          <p:cNvSpPr txBox="1"/>
          <p:nvPr/>
        </p:nvSpPr>
        <p:spPr>
          <a:xfrm>
            <a:off x="411480" y="3118104"/>
            <a:ext cx="5669280" cy="365760"/>
          </a:xfrm>
          <a:prstGeom prst="rect">
            <a:avLst/>
          </a:prstGeom>
          <a:noFill/>
        </p:spPr>
        <p:txBody>
          <a:bodyPr wrap="square">
            <a:spAutoFit/>
          </a:bodyPr>
          <a:lstStyle/>
          <a:p>
            <a:r>
              <a:rPr sz="1100">
                <a:solidFill>
                  <a:srgbClr val="FFFFFF"/>
                </a:solidFill>
                <a:latin typeface="Barlow Condensed"/>
              </a:rPr>
              <a:t>▶  248+ data points confidence-scored every 15 minutes</a:t>
            </a:r>
          </a:p>
        </p:txBody>
      </p:sp>
      <p:sp>
        <p:nvSpPr>
          <p:cNvPr id="15" name="TextBox 14"/>
          <p:cNvSpPr txBox="1"/>
          <p:nvPr/>
        </p:nvSpPr>
        <p:spPr>
          <a:xfrm>
            <a:off x="411480" y="3470148"/>
            <a:ext cx="5669280" cy="365760"/>
          </a:xfrm>
          <a:prstGeom prst="rect">
            <a:avLst/>
          </a:prstGeom>
          <a:noFill/>
        </p:spPr>
        <p:txBody>
          <a:bodyPr wrap="square">
            <a:spAutoFit/>
          </a:bodyPr>
          <a:lstStyle/>
          <a:p>
            <a:r>
              <a:rPr sz="1100">
                <a:solidFill>
                  <a:srgbClr val="FFFFFF"/>
                </a:solidFill>
                <a:latin typeface="Barlow Condensed"/>
              </a:rPr>
              <a:t>▶  AI monitors. Executives authorize. No protocol activates without sign-off.</a:t>
            </a:r>
          </a:p>
        </p:txBody>
      </p:sp>
      <p:sp>
        <p:nvSpPr>
          <p:cNvPr id="16" name="TextBox 15"/>
          <p:cNvSpPr txBox="1"/>
          <p:nvPr/>
        </p:nvSpPr>
        <p:spPr>
          <a:xfrm>
            <a:off x="411480" y="3822191"/>
            <a:ext cx="5669280" cy="365760"/>
          </a:xfrm>
          <a:prstGeom prst="rect">
            <a:avLst/>
          </a:prstGeom>
          <a:noFill/>
        </p:spPr>
        <p:txBody>
          <a:bodyPr wrap="square">
            <a:spAutoFit/>
          </a:bodyPr>
          <a:lstStyle/>
          <a:p>
            <a:r>
              <a:rPr sz="1100">
                <a:solidFill>
                  <a:srgbClr val="FFFFFF"/>
                </a:solidFill>
                <a:latin typeface="Barlow Condensed"/>
              </a:rPr>
              <a:t>▶  Onboarding is configuration — not a consulting project. 90 days to live.</a:t>
            </a:r>
          </a:p>
        </p:txBody>
      </p:sp>
      <p:sp>
        <p:nvSpPr>
          <p:cNvPr id="17" name="Rectangle 16"/>
          <p:cNvSpPr/>
          <p:nvPr/>
        </p:nvSpPr>
        <p:spPr>
          <a:xfrm>
            <a:off x="411480" y="4535424"/>
            <a:ext cx="5596128" cy="566928"/>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535424"/>
            <a:ext cx="5596128" cy="23774"/>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72000"/>
            <a:ext cx="5449824" cy="256032"/>
          </a:xfrm>
          <a:prstGeom prst="rect">
            <a:avLst/>
          </a:prstGeom>
          <a:noFill/>
        </p:spPr>
        <p:txBody>
          <a:bodyPr wrap="square">
            <a:spAutoFit/>
          </a:bodyPr>
          <a:lstStyle/>
          <a:p>
            <a:pPr algn="l"/>
            <a:r>
              <a:rPr sz="1000" b="1" i="0">
                <a:solidFill>
                  <a:srgbClr val="2B8A6E"/>
                </a:solidFill>
                <a:latin typeface="Barlow Condensed"/>
              </a:rPr>
              <a:t>THE SYSTEM STAGES THE CHOICE IN SECONDS. THE EXECUTIVE MUST CLICK AUTHORIZE.</a:t>
            </a:r>
          </a:p>
        </p:txBody>
      </p:sp>
      <p:sp>
        <p:nvSpPr>
          <p:cNvPr id="20" name="TextBox 19"/>
          <p:cNvSpPr txBox="1"/>
          <p:nvPr/>
        </p:nvSpPr>
        <p:spPr>
          <a:xfrm>
            <a:off x="548640" y="4828032"/>
            <a:ext cx="5449824" cy="219456"/>
          </a:xfrm>
          <a:prstGeom prst="rect">
            <a:avLst/>
          </a:prstGeom>
          <a:noFill/>
        </p:spPr>
        <p:txBody>
          <a:bodyPr wrap="square">
            <a:spAutoFit/>
          </a:bodyPr>
          <a:lstStyle/>
          <a:p>
            <a:pPr algn="l"/>
            <a:r>
              <a:rPr sz="900" b="0" i="0">
                <a:solidFill>
                  <a:srgbClr val="B4BED6"/>
                </a:solidFill>
                <a:latin typeface="Barlow Condensed"/>
              </a:rPr>
              <a:t>No autonomous action. No rogue execution. Executive authority preserved at every step.</a:t>
            </a:r>
          </a:p>
        </p:txBody>
      </p:sp>
      <p:sp>
        <p:nvSpPr>
          <p:cNvPr id="21" name="Rectangle 20"/>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"Every enterprise has Microsoft's AI stack. None have the operating model to use it. Readiness OS is that operating model layer — not a replacement, the orchestrator."</a:t>
            </a:r>
          </a:p>
        </p:txBody>
      </p:sp>
      <p:sp>
        <p:nvSpPr>
          <p:cNvPr id="23" name="Rectangle 22"/>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ow_executes_chain.jpg"/>
          <p:cNvPicPr>
            <a:picLocks noChangeAspect="1"/>
          </p:cNvPicPr>
          <p:nvPr/>
        </p:nvPicPr>
        <p:blipFill>
          <a:blip r:embed="rId2"/>
          <a:stretch>
            <a:fillRect/>
          </a:stretch>
        </p:blipFill>
        <p:spPr>
          <a:xfrm>
            <a:off x="6400800" y="502920"/>
            <a:ext cx="5468112" cy="5888736"/>
          </a:xfrm>
          <a:prstGeom prst="rect">
            <a:avLst/>
          </a:prstGeom>
        </p:spPr>
      </p:pic>
      <p:sp>
        <p:nvSpPr>
          <p:cNvPr id="26" name="Rectangle 25"/>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04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vaughnmartin.com/platform-reality</a:t>
            </a:r>
          </a:p>
        </p:txBody>
      </p:sp>
      <p:sp>
        <p:nvSpPr>
          <p:cNvPr id="7" name="TextBox 6"/>
          <p:cNvSpPr txBox="1"/>
          <p:nvPr/>
        </p:nvSpPr>
        <p:spPr>
          <a:xfrm>
            <a:off x="411480" y="237744"/>
            <a:ext cx="11338560" cy="201168"/>
          </a:xfrm>
          <a:prstGeom prst="rect">
            <a:avLst/>
          </a:prstGeom>
          <a:noFill/>
        </p:spPr>
        <p:txBody>
          <a:bodyPr wrap="square">
            <a:spAutoFit/>
          </a:bodyPr>
          <a:lstStyle/>
          <a:p>
            <a:pPr algn="l"/>
            <a:r>
              <a:rPr sz="800" b="1" i="0">
                <a:solidFill>
                  <a:srgbClr val="C9A84C"/>
                </a:solidFill>
                <a:latin typeface="Barlow Condensed"/>
              </a:rPr>
              <a:t>WHY WE WIN</a:t>
            </a:r>
          </a:p>
        </p:txBody>
      </p:sp>
      <p:sp>
        <p:nvSpPr>
          <p:cNvPr id="8" name="TextBox 7"/>
          <p:cNvSpPr txBox="1"/>
          <p:nvPr/>
        </p:nvSpPr>
        <p:spPr>
          <a:xfrm>
            <a:off x="411480" y="475488"/>
            <a:ext cx="11338560" cy="598424"/>
          </a:xfrm>
          <a:prstGeom prst="rect">
            <a:avLst/>
          </a:prstGeom>
          <a:noFill/>
        </p:spPr>
        <p:txBody>
          <a:bodyPr wrap="square">
            <a:spAutoFit/>
          </a:bodyPr>
          <a:lstStyle/>
          <a:p>
            <a:pPr algn="l"/>
            <a:r>
              <a:rPr sz="3400" b="1" i="0">
                <a:solidFill>
                  <a:srgbClr val="FFFFFF"/>
                </a:solidFill>
                <a:latin typeface="Barlow Condensed"/>
              </a:rPr>
              <a:t>THE MOAT COMPOUNDS.</a:t>
            </a:r>
          </a:p>
        </p:txBody>
      </p:sp>
      <p:sp>
        <p:nvSpPr>
          <p:cNvPr id="9" name="TextBox 8"/>
          <p:cNvSpPr txBox="1"/>
          <p:nvPr/>
        </p:nvSpPr>
        <p:spPr>
          <a:xfrm>
            <a:off x="411480" y="1028191"/>
            <a:ext cx="11338560" cy="419607"/>
          </a:xfrm>
          <a:prstGeom prst="rect">
            <a:avLst/>
          </a:prstGeom>
          <a:noFill/>
        </p:spPr>
        <p:txBody>
          <a:bodyPr wrap="square">
            <a:spAutoFit/>
          </a:bodyPr>
          <a:lstStyle/>
          <a:p>
            <a:pPr algn="l"/>
            <a:r>
              <a:rPr sz="2300" b="1" i="0">
                <a:solidFill>
                  <a:srgbClr val="B4BED6"/>
                </a:solidFill>
                <a:latin typeface="Barlow Condensed"/>
              </a:rPr>
              <a:t>COMPETITORS START AT ZERO.</a:t>
            </a:r>
          </a:p>
        </p:txBody>
      </p:sp>
      <p:sp>
        <p:nvSpPr>
          <p:cNvPr id="10" name="Rectangle 9"/>
          <p:cNvSpPr/>
          <p:nvPr/>
        </p:nvSpPr>
        <p:spPr>
          <a:xfrm>
            <a:off x="411480" y="1737360"/>
            <a:ext cx="1115568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883664"/>
            <a:ext cx="5669280" cy="201168"/>
          </a:xfrm>
          <a:prstGeom prst="rect">
            <a:avLst/>
          </a:prstGeom>
          <a:noFill/>
        </p:spPr>
        <p:txBody>
          <a:bodyPr wrap="square">
            <a:spAutoFit/>
          </a:bodyPr>
          <a:lstStyle/>
          <a:p>
            <a:pPr algn="l"/>
            <a:r>
              <a:rPr sz="800" b="1" i="0">
                <a:solidFill>
                  <a:srgbClr val="C9A84C"/>
                </a:solidFill>
                <a:latin typeface="Barlow Condensed"/>
              </a:rPr>
              <a:t>STRUCTURAL MATRIX — THEY STOP AT ROUTING. WE PRE-STAGE THE ALIGNMENT.</a:t>
            </a:r>
          </a:p>
        </p:txBody>
      </p:sp>
      <p:sp>
        <p:nvSpPr>
          <p:cNvPr id="12" name="TextBox 11"/>
          <p:cNvSpPr txBox="1"/>
          <p:nvPr/>
        </p:nvSpPr>
        <p:spPr>
          <a:xfrm>
            <a:off x="411480" y="2084831"/>
            <a:ext cx="1920240" cy="274320"/>
          </a:xfrm>
          <a:prstGeom prst="rect">
            <a:avLst/>
          </a:prstGeom>
          <a:noFill/>
        </p:spPr>
        <p:txBody>
          <a:bodyPr wrap="square">
            <a:spAutoFit/>
          </a:bodyPr>
          <a:lstStyle/>
          <a:p>
            <a:pPr algn="l"/>
            <a:r>
              <a:rPr sz="1000" b="1" i="0">
                <a:solidFill>
                  <a:srgbClr val="C9A84C"/>
                </a:solidFill>
                <a:latin typeface="Barlow Condensed"/>
              </a:rPr>
              <a:t>Signal Labs</a:t>
            </a:r>
          </a:p>
        </p:txBody>
      </p:sp>
      <p:sp>
        <p:nvSpPr>
          <p:cNvPr id="13" name="TextBox 12"/>
          <p:cNvSpPr txBox="1"/>
          <p:nvPr/>
        </p:nvSpPr>
        <p:spPr>
          <a:xfrm>
            <a:off x="2423160" y="2084831"/>
            <a:ext cx="3657600" cy="274320"/>
          </a:xfrm>
          <a:prstGeom prst="rect">
            <a:avLst/>
          </a:prstGeom>
          <a:noFill/>
        </p:spPr>
        <p:txBody>
          <a:bodyPr wrap="square">
            <a:spAutoFit/>
          </a:bodyPr>
          <a:lstStyle/>
          <a:p>
            <a:pPr algn="l"/>
            <a:r>
              <a:rPr sz="1000" b="0" i="0">
                <a:solidFill>
                  <a:srgbClr val="B4BED6"/>
                </a:solidFill>
                <a:latin typeface="Barlow Condensed"/>
              </a:rPr>
              <a:t>Routes the signal. Stops before the response is staged.</a:t>
            </a:r>
          </a:p>
        </p:txBody>
      </p:sp>
      <p:sp>
        <p:nvSpPr>
          <p:cNvPr id="14" name="Rectangle 13"/>
          <p:cNvSpPr/>
          <p:nvPr/>
        </p:nvSpPr>
        <p:spPr>
          <a:xfrm>
            <a:off x="411480" y="2340863"/>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423160"/>
            <a:ext cx="1920240" cy="274320"/>
          </a:xfrm>
          <a:prstGeom prst="rect">
            <a:avLst/>
          </a:prstGeom>
          <a:noFill/>
        </p:spPr>
        <p:txBody>
          <a:bodyPr wrap="square">
            <a:spAutoFit/>
          </a:bodyPr>
          <a:lstStyle/>
          <a:p>
            <a:pPr algn="l"/>
            <a:r>
              <a:rPr sz="1000" b="1" i="0">
                <a:solidFill>
                  <a:srgbClr val="C9A84C"/>
                </a:solidFill>
                <a:latin typeface="Barlow Condensed"/>
              </a:rPr>
              <a:t>ServiceNow</a:t>
            </a:r>
          </a:p>
        </p:txBody>
      </p:sp>
      <p:sp>
        <p:nvSpPr>
          <p:cNvPr id="16" name="TextBox 15"/>
          <p:cNvSpPr txBox="1"/>
          <p:nvPr/>
        </p:nvSpPr>
        <p:spPr>
          <a:xfrm>
            <a:off x="2423160" y="2423160"/>
            <a:ext cx="3657600" cy="274320"/>
          </a:xfrm>
          <a:prstGeom prst="rect">
            <a:avLst/>
          </a:prstGeom>
          <a:noFill/>
        </p:spPr>
        <p:txBody>
          <a:bodyPr wrap="square">
            <a:spAutoFit/>
          </a:bodyPr>
          <a:lstStyle/>
          <a:p>
            <a:pPr algn="l"/>
            <a:r>
              <a:rPr sz="1000" b="0" i="0">
                <a:solidFill>
                  <a:srgbClr val="B4BED6"/>
                </a:solidFill>
                <a:latin typeface="Barlow Condensed"/>
              </a:rPr>
              <a:t>Async workflow router for post-alignment execution. We pre-stage the alignment itself.</a:t>
            </a:r>
          </a:p>
        </p:txBody>
      </p:sp>
      <p:sp>
        <p:nvSpPr>
          <p:cNvPr id="17" name="Rectangle 16"/>
          <p:cNvSpPr/>
          <p:nvPr/>
        </p:nvSpPr>
        <p:spPr>
          <a:xfrm>
            <a:off x="411480" y="2679191"/>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761488"/>
            <a:ext cx="1920240" cy="274320"/>
          </a:xfrm>
          <a:prstGeom prst="rect">
            <a:avLst/>
          </a:prstGeom>
          <a:noFill/>
        </p:spPr>
        <p:txBody>
          <a:bodyPr wrap="square">
            <a:spAutoFit/>
          </a:bodyPr>
          <a:lstStyle/>
          <a:p>
            <a:pPr algn="l"/>
            <a:r>
              <a:rPr sz="1000" b="1" i="0">
                <a:solidFill>
                  <a:srgbClr val="C9A84C"/>
                </a:solidFill>
                <a:latin typeface="Barlow Condensed"/>
              </a:rPr>
              <a:t>Microsoft Copilot</a:t>
            </a:r>
          </a:p>
        </p:txBody>
      </p:sp>
      <p:sp>
        <p:nvSpPr>
          <p:cNvPr id="19" name="TextBox 18"/>
          <p:cNvSpPr txBox="1"/>
          <p:nvPr/>
        </p:nvSpPr>
        <p:spPr>
          <a:xfrm>
            <a:off x="2423160" y="2761488"/>
            <a:ext cx="3657600" cy="274320"/>
          </a:xfrm>
          <a:prstGeom prst="rect">
            <a:avLst/>
          </a:prstGeom>
          <a:noFill/>
        </p:spPr>
        <p:txBody>
          <a:bodyPr wrap="square">
            <a:spAutoFit/>
          </a:bodyPr>
          <a:lstStyle/>
          <a:p>
            <a:pPr algn="l"/>
            <a:r>
              <a:rPr sz="1000" b="0" i="0">
                <a:solidFill>
                  <a:srgbClr val="B4BED6"/>
                </a:solidFill>
                <a:latin typeface="Barlow Condensed"/>
              </a:rPr>
              <a:t>Produces intelligence. We pre-stage the organizational response to that intelligence.</a:t>
            </a:r>
          </a:p>
        </p:txBody>
      </p:sp>
      <p:sp>
        <p:nvSpPr>
          <p:cNvPr id="20" name="Rectangle 19"/>
          <p:cNvSpPr/>
          <p:nvPr/>
        </p:nvSpPr>
        <p:spPr>
          <a:xfrm>
            <a:off x="411480" y="3017520"/>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099816"/>
            <a:ext cx="1920240" cy="274320"/>
          </a:xfrm>
          <a:prstGeom prst="rect">
            <a:avLst/>
          </a:prstGeom>
          <a:noFill/>
        </p:spPr>
        <p:txBody>
          <a:bodyPr wrap="square">
            <a:spAutoFit/>
          </a:bodyPr>
          <a:lstStyle/>
          <a:p>
            <a:pPr algn="l"/>
            <a:r>
              <a:rPr sz="1000" b="1" i="0">
                <a:solidFill>
                  <a:srgbClr val="C9A84C"/>
                </a:solidFill>
                <a:latin typeface="Barlow Condensed"/>
              </a:rPr>
              <a:t>McKinsey</a:t>
            </a:r>
          </a:p>
        </p:txBody>
      </p:sp>
      <p:sp>
        <p:nvSpPr>
          <p:cNvPr id="22" name="TextBox 21"/>
          <p:cNvSpPr txBox="1"/>
          <p:nvPr/>
        </p:nvSpPr>
        <p:spPr>
          <a:xfrm>
            <a:off x="2423160" y="3099816"/>
            <a:ext cx="3657600" cy="274320"/>
          </a:xfrm>
          <a:prstGeom prst="rect">
            <a:avLst/>
          </a:prstGeom>
          <a:noFill/>
        </p:spPr>
        <p:txBody>
          <a:bodyPr wrap="square">
            <a:spAutoFit/>
          </a:bodyPr>
          <a:lstStyle/>
          <a:p>
            <a:pPr algn="l"/>
            <a:r>
              <a:rPr sz="1000" b="0" i="0">
                <a:solidFill>
                  <a:srgbClr val="B4BED6"/>
                </a:solidFill>
                <a:latin typeface="Barlow Condensed"/>
              </a:rPr>
              <a:t>Retainer-based. Arrives after the trigger fires. We were ready before the first call.</a:t>
            </a:r>
          </a:p>
        </p:txBody>
      </p:sp>
      <p:sp>
        <p:nvSpPr>
          <p:cNvPr id="23" name="Rectangle 22"/>
          <p:cNvSpPr/>
          <p:nvPr/>
        </p:nvSpPr>
        <p:spPr>
          <a:xfrm>
            <a:off x="411480" y="3355848"/>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621024"/>
            <a:ext cx="5596128" cy="3474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648456"/>
            <a:ext cx="5449824" cy="292608"/>
          </a:xfrm>
          <a:prstGeom prst="rect">
            <a:avLst/>
          </a:prstGeom>
          <a:noFill/>
        </p:spPr>
        <p:txBody>
          <a:bodyPr wrap="square">
            <a:spAutoFit/>
          </a:bodyPr>
          <a:lstStyle/>
          <a:p>
            <a:pPr algn="l"/>
            <a:r>
              <a:rPr sz="1000" b="1" i="1">
                <a:solidFill>
                  <a:srgbClr val="C9A84C"/>
                </a:solidFill>
                <a:latin typeface="Georgia"/>
              </a:rPr>
              <a:t>"They track the work. We engineer the capability to do it."</a:t>
            </a:r>
          </a:p>
        </p:txBody>
      </p:sp>
      <p:sp>
        <p:nvSpPr>
          <p:cNvPr id="26" name="TextBox 25"/>
          <p:cNvSpPr txBox="1"/>
          <p:nvPr/>
        </p:nvSpPr>
        <p:spPr>
          <a:xfrm>
            <a:off x="6400800" y="1883664"/>
            <a:ext cx="5486400" cy="201168"/>
          </a:xfrm>
          <a:prstGeom prst="rect">
            <a:avLst/>
          </a:prstGeom>
          <a:noFill/>
        </p:spPr>
        <p:txBody>
          <a:bodyPr wrap="square">
            <a:spAutoFit/>
          </a:bodyPr>
          <a:lstStyle/>
          <a:p>
            <a:pPr algn="l"/>
            <a:r>
              <a:rPr sz="800" b="1" i="0">
                <a:solidFill>
                  <a:srgbClr val="C9A84C"/>
                </a:solidFill>
                <a:latin typeface="Barlow Condensed"/>
              </a:rPr>
              <a:t>THE MOAT — WHAT MAKES US HARD TO CATCH</a:t>
            </a:r>
          </a:p>
        </p:txBody>
      </p:sp>
      <p:sp>
        <p:nvSpPr>
          <p:cNvPr id="27" name="Rectangle 26"/>
          <p:cNvSpPr/>
          <p:nvPr/>
        </p:nvSpPr>
        <p:spPr>
          <a:xfrm>
            <a:off x="6400800" y="2084831"/>
            <a:ext cx="5486400" cy="27432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2121408"/>
            <a:ext cx="5349240" cy="219456"/>
          </a:xfrm>
          <a:prstGeom prst="rect">
            <a:avLst/>
          </a:prstGeom>
          <a:noFill/>
        </p:spPr>
        <p:txBody>
          <a:bodyPr wrap="square">
            <a:spAutoFit/>
          </a:bodyPr>
          <a:lstStyle/>
          <a:p>
            <a:pPr algn="l"/>
            <a:r>
              <a:rPr sz="1050" b="1" i="0">
                <a:solidFill>
                  <a:srgbClr val="C9A84C"/>
                </a:solidFill>
                <a:latin typeface="Barlow Condensed"/>
              </a:rPr>
              <a:t>Compounding Loop</a:t>
            </a:r>
          </a:p>
        </p:txBody>
      </p:sp>
      <p:sp>
        <p:nvSpPr>
          <p:cNvPr id="29" name="TextBox 28"/>
          <p:cNvSpPr txBox="1"/>
          <p:nvPr/>
        </p:nvSpPr>
        <p:spPr>
          <a:xfrm>
            <a:off x="6510528" y="2414015"/>
            <a:ext cx="5349240" cy="548640"/>
          </a:xfrm>
          <a:prstGeom prst="rect">
            <a:avLst/>
          </a:prstGeom>
          <a:noFill/>
        </p:spPr>
        <p:txBody>
          <a:bodyPr wrap="square">
            <a:spAutoFit/>
          </a:bodyPr>
          <a:lstStyle/>
          <a:p>
            <a:pPr algn="l"/>
            <a:r>
              <a:rPr sz="1000" b="0" i="0">
                <a:solidFill>
                  <a:srgbClr val="B4BED6"/>
                </a:solidFill>
                <a:latin typeface="Barlow Condensed"/>
              </a:rPr>
              <a:t>Every activation encodes what held. Preparation compounds after each cycle — permanently.</a:t>
            </a:r>
          </a:p>
        </p:txBody>
      </p:sp>
      <p:sp>
        <p:nvSpPr>
          <p:cNvPr id="30" name="Rectangle 29"/>
          <p:cNvSpPr/>
          <p:nvPr/>
        </p:nvSpPr>
        <p:spPr>
          <a:xfrm>
            <a:off x="6400800" y="3044952"/>
            <a:ext cx="544068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3291839"/>
            <a:ext cx="5486400" cy="27432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8" y="3328415"/>
            <a:ext cx="5349240" cy="219456"/>
          </a:xfrm>
          <a:prstGeom prst="rect">
            <a:avLst/>
          </a:prstGeom>
          <a:noFill/>
        </p:spPr>
        <p:txBody>
          <a:bodyPr wrap="square">
            <a:spAutoFit/>
          </a:bodyPr>
          <a:lstStyle/>
          <a:p>
            <a:pPr algn="l"/>
            <a:r>
              <a:rPr sz="1050" b="1" i="0">
                <a:solidFill>
                  <a:srgbClr val="C9A84C"/>
                </a:solidFill>
                <a:latin typeface="Barlow Condensed"/>
              </a:rPr>
              <a:t>Org Context Intelligence</a:t>
            </a:r>
          </a:p>
        </p:txBody>
      </p:sp>
      <p:sp>
        <p:nvSpPr>
          <p:cNvPr id="33" name="TextBox 32"/>
          <p:cNvSpPr txBox="1"/>
          <p:nvPr/>
        </p:nvSpPr>
        <p:spPr>
          <a:xfrm>
            <a:off x="6510528" y="3621023"/>
            <a:ext cx="5349240" cy="548640"/>
          </a:xfrm>
          <a:prstGeom prst="rect">
            <a:avLst/>
          </a:prstGeom>
          <a:noFill/>
        </p:spPr>
        <p:txBody>
          <a:bodyPr wrap="square">
            <a:spAutoFit/>
          </a:bodyPr>
          <a:lstStyle/>
          <a:p>
            <a:pPr algn="l"/>
            <a:r>
              <a:rPr sz="1000" b="0" i="0">
                <a:solidFill>
                  <a:srgbClr val="B4BED6"/>
                </a:solidFill>
                <a:latin typeface="Barlow Condensed"/>
              </a:rPr>
              <a:t>Signal confidence + preparedness score unique to each org. No generic platform replicates this.</a:t>
            </a:r>
          </a:p>
        </p:txBody>
      </p:sp>
      <p:sp>
        <p:nvSpPr>
          <p:cNvPr id="34" name="Rectangle 33"/>
          <p:cNvSpPr/>
          <p:nvPr/>
        </p:nvSpPr>
        <p:spPr>
          <a:xfrm>
            <a:off x="6400800" y="4251959"/>
            <a:ext cx="544068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498848"/>
            <a:ext cx="5486400" cy="27432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4535424"/>
            <a:ext cx="5349240" cy="219456"/>
          </a:xfrm>
          <a:prstGeom prst="rect">
            <a:avLst/>
          </a:prstGeom>
          <a:noFill/>
        </p:spPr>
        <p:txBody>
          <a:bodyPr wrap="square">
            <a:spAutoFit/>
          </a:bodyPr>
          <a:lstStyle/>
          <a:p>
            <a:pPr algn="l"/>
            <a:r>
              <a:rPr sz="1050" b="1" i="0">
                <a:solidFill>
                  <a:srgbClr val="C9A84C"/>
                </a:solidFill>
                <a:latin typeface="Barlow Condensed"/>
              </a:rPr>
              <a:t>Encoding Permanence</a:t>
            </a:r>
          </a:p>
        </p:txBody>
      </p:sp>
      <p:sp>
        <p:nvSpPr>
          <p:cNvPr id="37" name="TextBox 36"/>
          <p:cNvSpPr txBox="1"/>
          <p:nvPr/>
        </p:nvSpPr>
        <p:spPr>
          <a:xfrm>
            <a:off x="6510528" y="4828032"/>
            <a:ext cx="5349240" cy="548640"/>
          </a:xfrm>
          <a:prstGeom prst="rect">
            <a:avLst/>
          </a:prstGeom>
          <a:noFill/>
        </p:spPr>
        <p:txBody>
          <a:bodyPr wrap="square">
            <a:spAutoFit/>
          </a:bodyPr>
          <a:lstStyle/>
          <a:p>
            <a:pPr algn="l"/>
            <a:r>
              <a:rPr sz="1000" b="0" i="0">
                <a:solidFill>
                  <a:srgbClr val="B4BED6"/>
                </a:solidFill>
                <a:latin typeface="Barlow Condensed"/>
              </a:rPr>
              <a:t>18 months of activations creates an intelligence layer competitors cannot offer on day one.</a:t>
            </a:r>
          </a:p>
        </p:txBody>
      </p:sp>
      <p:sp>
        <p:nvSpPr>
          <p:cNvPr id="38" name="Rectangle 37"/>
          <p:cNvSpPr/>
          <p:nvPr/>
        </p:nvSpPr>
        <p:spPr>
          <a:xfrm>
            <a:off x="411480" y="5449824"/>
            <a:ext cx="10881359"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5513832"/>
            <a:ext cx="11155680" cy="768096"/>
          </a:xfrm>
          <a:prstGeom prst="rect">
            <a:avLst/>
          </a:prstGeom>
          <a:noFill/>
        </p:spPr>
        <p:txBody>
          <a:bodyPr wrap="square">
            <a:spAutoFit/>
          </a:bodyPr>
          <a:lstStyle/>
          <a:p>
            <a:pPr algn="l"/>
            <a:r>
              <a:rPr sz="900" b="0" i="1">
                <a:solidFill>
                  <a:srgbClr val="B4BED6"/>
                </a:solidFill>
                <a:latin typeface="Georgia"/>
              </a:rPr>
              <a:t>"Signal Labs routes the signal. ServiceNow runs the workflow. McKinsey arrives after the trigger. We had the response pre-staged before any of them were called."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05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vaughnmartin.com/how-it-executes</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HOW IT WORKS</a:t>
            </a:r>
          </a:p>
        </p:txBody>
      </p:sp>
      <p:sp>
        <p:nvSpPr>
          <p:cNvPr id="8" name="TextBox 7"/>
          <p:cNvSpPr txBox="1"/>
          <p:nvPr/>
        </p:nvSpPr>
        <p:spPr>
          <a:xfrm>
            <a:off x="411480" y="475488"/>
            <a:ext cx="5669280" cy="517144"/>
          </a:xfrm>
          <a:prstGeom prst="rect">
            <a:avLst/>
          </a:prstGeom>
          <a:noFill/>
        </p:spPr>
        <p:txBody>
          <a:bodyPr wrap="square">
            <a:spAutoFit/>
          </a:bodyPr>
          <a:lstStyle/>
          <a:p>
            <a:pPr algn="l"/>
            <a:r>
              <a:rPr sz="2900" b="1" i="0">
                <a:solidFill>
                  <a:srgbClr val="FFFFFF"/>
                </a:solidFill>
                <a:latin typeface="Barlow Condensed"/>
              </a:rPr>
              <a:t>FROM TRIGGER TO</a:t>
            </a:r>
          </a:p>
        </p:txBody>
      </p:sp>
      <p:sp>
        <p:nvSpPr>
          <p:cNvPr id="9" name="TextBox 8"/>
          <p:cNvSpPr txBox="1"/>
          <p:nvPr/>
        </p:nvSpPr>
        <p:spPr>
          <a:xfrm>
            <a:off x="411480" y="946912"/>
            <a:ext cx="5669280" cy="517144"/>
          </a:xfrm>
          <a:prstGeom prst="rect">
            <a:avLst/>
          </a:prstGeom>
          <a:noFill/>
        </p:spPr>
        <p:txBody>
          <a:bodyPr wrap="square">
            <a:spAutoFit/>
          </a:bodyPr>
          <a:lstStyle/>
          <a:p>
            <a:pPr algn="l"/>
            <a:r>
              <a:rPr sz="2900" b="1" i="0">
                <a:solidFill>
                  <a:srgbClr val="C9A84C"/>
                </a:solidFill>
                <a:latin typeface="Barlow Condensed"/>
              </a:rPr>
              <a:t>EXECUTION IN 12 MINUTES.</a:t>
            </a:r>
          </a:p>
        </p:txBody>
      </p:sp>
      <p:sp>
        <p:nvSpPr>
          <p:cNvPr id="10" name="Rectangle 9"/>
          <p:cNvSpPr/>
          <p:nvPr/>
        </p:nvSpPr>
        <p:spPr>
          <a:xfrm>
            <a:off x="411480" y="1883664"/>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011680"/>
            <a:ext cx="457200" cy="420624"/>
          </a:xfrm>
          <a:prstGeom prst="rect">
            <a:avLst/>
          </a:prstGeom>
          <a:noFill/>
        </p:spPr>
        <p:txBody>
          <a:bodyPr wrap="square">
            <a:spAutoFit/>
          </a:bodyPr>
          <a:lstStyle/>
          <a:p>
            <a:pPr algn="l"/>
            <a:r>
              <a:rPr sz="1700" b="1" i="0">
                <a:solidFill>
                  <a:srgbClr val="C9A84C"/>
                </a:solidFill>
                <a:latin typeface="Barlow Condensed"/>
              </a:rPr>
              <a:t>①</a:t>
            </a:r>
          </a:p>
        </p:txBody>
      </p:sp>
      <p:sp>
        <p:nvSpPr>
          <p:cNvPr id="12" name="TextBox 11"/>
          <p:cNvSpPr txBox="1"/>
          <p:nvPr/>
        </p:nvSpPr>
        <p:spPr>
          <a:xfrm>
            <a:off x="932688" y="2048256"/>
            <a:ext cx="5065776" cy="402336"/>
          </a:xfrm>
          <a:prstGeom prst="rect">
            <a:avLst/>
          </a:prstGeom>
          <a:noFill/>
        </p:spPr>
        <p:txBody>
          <a:bodyPr wrap="square">
            <a:spAutoFit/>
          </a:bodyPr>
          <a:lstStyle/>
          <a:p>
            <a:pPr algn="l"/>
            <a:r>
              <a:rPr sz="1100" b="0" i="0">
                <a:solidFill>
                  <a:srgbClr val="FFFFFF"/>
                </a:solidFill>
                <a:latin typeface="Barlow Condensed"/>
              </a:rPr>
              <a:t>Signal detected — confidence scored against 221 strategic trigger patterns</a:t>
            </a:r>
          </a:p>
        </p:txBody>
      </p:sp>
      <p:sp>
        <p:nvSpPr>
          <p:cNvPr id="13" name="TextBox 12"/>
          <p:cNvSpPr txBox="1"/>
          <p:nvPr/>
        </p:nvSpPr>
        <p:spPr>
          <a:xfrm>
            <a:off x="411480" y="2505456"/>
            <a:ext cx="457200" cy="420624"/>
          </a:xfrm>
          <a:prstGeom prst="rect">
            <a:avLst/>
          </a:prstGeom>
          <a:noFill/>
        </p:spPr>
        <p:txBody>
          <a:bodyPr wrap="square">
            <a:spAutoFit/>
          </a:bodyPr>
          <a:lstStyle/>
          <a:p>
            <a:pPr algn="l"/>
            <a:r>
              <a:rPr sz="1700" b="1" i="0">
                <a:solidFill>
                  <a:srgbClr val="C9A84C"/>
                </a:solidFill>
                <a:latin typeface="Barlow Condensed"/>
              </a:rPr>
              <a:t>②</a:t>
            </a:r>
          </a:p>
        </p:txBody>
      </p:sp>
      <p:sp>
        <p:nvSpPr>
          <p:cNvPr id="14" name="TextBox 13"/>
          <p:cNvSpPr txBox="1"/>
          <p:nvPr/>
        </p:nvSpPr>
        <p:spPr>
          <a:xfrm>
            <a:off x="932688" y="2542032"/>
            <a:ext cx="5065776" cy="402336"/>
          </a:xfrm>
          <a:prstGeom prst="rect">
            <a:avLst/>
          </a:prstGeom>
          <a:noFill/>
        </p:spPr>
        <p:txBody>
          <a:bodyPr wrap="square">
            <a:spAutoFit/>
          </a:bodyPr>
          <a:lstStyle/>
          <a:p>
            <a:pPr algn="l"/>
            <a:r>
              <a:rPr sz="1100" b="0" i="0">
                <a:solidFill>
                  <a:srgbClr val="FFFFFF"/>
                </a:solidFill>
                <a:latin typeface="Barlow Condensed"/>
              </a:rPr>
              <a:t>Matching Readiness Protocol staged — tasks assigned, stakeholders mapped</a:t>
            </a:r>
          </a:p>
        </p:txBody>
      </p:sp>
      <p:sp>
        <p:nvSpPr>
          <p:cNvPr id="15" name="TextBox 14"/>
          <p:cNvSpPr txBox="1"/>
          <p:nvPr/>
        </p:nvSpPr>
        <p:spPr>
          <a:xfrm>
            <a:off x="411480" y="2999232"/>
            <a:ext cx="457200" cy="420624"/>
          </a:xfrm>
          <a:prstGeom prst="rect">
            <a:avLst/>
          </a:prstGeom>
          <a:noFill/>
        </p:spPr>
        <p:txBody>
          <a:bodyPr wrap="square">
            <a:spAutoFit/>
          </a:bodyPr>
          <a:lstStyle/>
          <a:p>
            <a:pPr algn="l"/>
            <a:r>
              <a:rPr sz="1700" b="1" i="0">
                <a:solidFill>
                  <a:srgbClr val="C9A84C"/>
                </a:solidFill>
                <a:latin typeface="Barlow Condensed"/>
              </a:rPr>
              <a:t>③</a:t>
            </a:r>
          </a:p>
        </p:txBody>
      </p:sp>
      <p:sp>
        <p:nvSpPr>
          <p:cNvPr id="16" name="TextBox 15"/>
          <p:cNvSpPr txBox="1"/>
          <p:nvPr/>
        </p:nvSpPr>
        <p:spPr>
          <a:xfrm>
            <a:off x="932688" y="3035808"/>
            <a:ext cx="5065776" cy="402336"/>
          </a:xfrm>
          <a:prstGeom prst="rect">
            <a:avLst/>
          </a:prstGeom>
          <a:noFill/>
        </p:spPr>
        <p:txBody>
          <a:bodyPr wrap="square">
            <a:spAutoFit/>
          </a:bodyPr>
          <a:lstStyle/>
          <a:p>
            <a:pPr algn="l"/>
            <a:r>
              <a:rPr sz="1100" b="0" i="0">
                <a:solidFill>
                  <a:srgbClr val="FFFFFF"/>
                </a:solidFill>
                <a:latin typeface="Barlow Condensed"/>
              </a:rPr>
              <a:t>Board-ready execution brief delivered — pre-approved communication streams, authority chain</a:t>
            </a:r>
          </a:p>
        </p:txBody>
      </p:sp>
      <p:sp>
        <p:nvSpPr>
          <p:cNvPr id="17" name="TextBox 16"/>
          <p:cNvSpPr txBox="1"/>
          <p:nvPr/>
        </p:nvSpPr>
        <p:spPr>
          <a:xfrm>
            <a:off x="411480" y="3493008"/>
            <a:ext cx="457200" cy="420624"/>
          </a:xfrm>
          <a:prstGeom prst="rect">
            <a:avLst/>
          </a:prstGeom>
          <a:noFill/>
        </p:spPr>
        <p:txBody>
          <a:bodyPr wrap="square">
            <a:spAutoFit/>
          </a:bodyPr>
          <a:lstStyle/>
          <a:p>
            <a:pPr algn="l"/>
            <a:r>
              <a:rPr sz="1700" b="1" i="0">
                <a:solidFill>
                  <a:srgbClr val="C9A84C"/>
                </a:solidFill>
                <a:latin typeface="Barlow Condensed"/>
              </a:rPr>
              <a:t>④</a:t>
            </a:r>
          </a:p>
        </p:txBody>
      </p:sp>
      <p:sp>
        <p:nvSpPr>
          <p:cNvPr id="18" name="TextBox 17"/>
          <p:cNvSpPr txBox="1"/>
          <p:nvPr/>
        </p:nvSpPr>
        <p:spPr>
          <a:xfrm>
            <a:off x="932688" y="3529584"/>
            <a:ext cx="5065776" cy="402336"/>
          </a:xfrm>
          <a:prstGeom prst="rect">
            <a:avLst/>
          </a:prstGeom>
          <a:noFill/>
        </p:spPr>
        <p:txBody>
          <a:bodyPr wrap="square">
            <a:spAutoFit/>
          </a:bodyPr>
          <a:lstStyle/>
          <a:p>
            <a:pPr algn="l"/>
            <a:r>
              <a:rPr sz="1100" b="0" i="0">
                <a:solidFill>
                  <a:srgbClr val="FFFFFF"/>
                </a:solidFill>
                <a:latin typeface="Barlow Condensed"/>
              </a:rPr>
              <a:t>Executive authorizes — four real choices including Stand Down. No action without sign-off.</a:t>
            </a:r>
          </a:p>
        </p:txBody>
      </p:sp>
      <p:sp>
        <p:nvSpPr>
          <p:cNvPr id="19" name="TextBox 18"/>
          <p:cNvSpPr txBox="1"/>
          <p:nvPr/>
        </p:nvSpPr>
        <p:spPr>
          <a:xfrm>
            <a:off x="411480" y="3986784"/>
            <a:ext cx="457200" cy="420624"/>
          </a:xfrm>
          <a:prstGeom prst="rect">
            <a:avLst/>
          </a:prstGeom>
          <a:noFill/>
        </p:spPr>
        <p:txBody>
          <a:bodyPr wrap="square">
            <a:spAutoFit/>
          </a:bodyPr>
          <a:lstStyle/>
          <a:p>
            <a:pPr algn="l"/>
            <a:r>
              <a:rPr sz="1700" b="1" i="0">
                <a:solidFill>
                  <a:srgbClr val="C9A84C"/>
                </a:solidFill>
                <a:latin typeface="Barlow Condensed"/>
              </a:rPr>
              <a:t>⑤</a:t>
            </a:r>
          </a:p>
        </p:txBody>
      </p:sp>
      <p:sp>
        <p:nvSpPr>
          <p:cNvPr id="20" name="TextBox 19"/>
          <p:cNvSpPr txBox="1"/>
          <p:nvPr/>
        </p:nvSpPr>
        <p:spPr>
          <a:xfrm>
            <a:off x="932688" y="4023360"/>
            <a:ext cx="5065776" cy="402336"/>
          </a:xfrm>
          <a:prstGeom prst="rect">
            <a:avLst/>
          </a:prstGeom>
          <a:noFill/>
        </p:spPr>
        <p:txBody>
          <a:bodyPr wrap="square">
            <a:spAutoFit/>
          </a:bodyPr>
          <a:lstStyle/>
          <a:p>
            <a:pPr algn="l"/>
            <a:r>
              <a:rPr sz="1100" b="0" i="0">
                <a:solidFill>
                  <a:srgbClr val="FFFFFF"/>
                </a:solidFill>
                <a:latin typeface="Barlow Condensed"/>
              </a:rPr>
              <a:t>Response live — 12 minutes from signal to coordinated organizational execution</a:t>
            </a:r>
          </a:p>
        </p:txBody>
      </p:sp>
      <p:sp>
        <p:nvSpPr>
          <p:cNvPr id="21" name="Rectangle 20"/>
          <p:cNvSpPr/>
          <p:nvPr/>
        </p:nvSpPr>
        <p:spPr>
          <a:xfrm>
            <a:off x="411480" y="4535424"/>
            <a:ext cx="5596128" cy="62179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535424"/>
            <a:ext cx="5596128" cy="2377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572000"/>
            <a:ext cx="5449824" cy="310896"/>
          </a:xfrm>
          <a:prstGeom prst="rect">
            <a:avLst/>
          </a:prstGeom>
          <a:noFill/>
        </p:spPr>
        <p:txBody>
          <a:bodyPr wrap="square">
            <a:spAutoFit/>
          </a:bodyPr>
          <a:lstStyle/>
          <a:p>
            <a:pPr algn="l"/>
            <a:r>
              <a:rPr sz="1400" b="1" i="0">
                <a:solidFill>
                  <a:srgbClr val="C9A84C"/>
                </a:solidFill>
                <a:latin typeface="Barlow Condensed"/>
              </a:rPr>
              <a:t>3,600×  EXECUTION HEAD START</a:t>
            </a:r>
          </a:p>
        </p:txBody>
      </p:sp>
      <p:sp>
        <p:nvSpPr>
          <p:cNvPr id="24" name="TextBox 23"/>
          <p:cNvSpPr txBox="1"/>
          <p:nvPr/>
        </p:nvSpPr>
        <p:spPr>
          <a:xfrm>
            <a:off x="548640" y="4864608"/>
            <a:ext cx="5449824" cy="237744"/>
          </a:xfrm>
          <a:prstGeom prst="rect">
            <a:avLst/>
          </a:prstGeom>
          <a:noFill/>
        </p:spPr>
        <p:txBody>
          <a:bodyPr wrap="square">
            <a:spAutoFit/>
          </a:bodyPr>
          <a:lstStyle/>
          <a:p>
            <a:pPr algn="l"/>
            <a:r>
              <a:rPr sz="900" b="0" i="0">
                <a:solidFill>
                  <a:srgbClr val="B4BED6"/>
                </a:solidFill>
                <a:latin typeface="Barlow Condensed"/>
              </a:rPr>
              <a:t>30 days of mobilization compressed to 12 minutes  ·  startup to Fortune 500</a:t>
            </a:r>
          </a:p>
        </p:txBody>
      </p:sp>
      <p:sp>
        <p:nvSpPr>
          <p:cNvPr id="25" name="Rectangle 24"/>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"The AI monitors, but humans decide. We turn 30 days of unmanaged chaos and a potential $47M penalty into a controlled, 12-minute executive sign-off."</a:t>
            </a:r>
          </a:p>
        </p:txBody>
      </p:sp>
      <p:sp>
        <p:nvSpPr>
          <p:cNvPr id="27" name="Rectangle 26"/>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wow_12min_scenarios.jpg"/>
          <p:cNvPicPr>
            <a:picLocks noChangeAspect="1"/>
          </p:cNvPicPr>
          <p:nvPr/>
        </p:nvPicPr>
        <p:blipFill>
          <a:blip r:embed="rId2"/>
          <a:stretch>
            <a:fillRect/>
          </a:stretch>
        </p:blipFill>
        <p:spPr>
          <a:xfrm>
            <a:off x="6400800" y="502920"/>
            <a:ext cx="5468112" cy="5888736"/>
          </a:xfrm>
          <a:prstGeom prst="rect">
            <a:avLst/>
          </a:prstGeom>
        </p:spPr>
      </p:pic>
      <p:sp>
        <p:nvSpPr>
          <p:cNvPr id="30" name="Rectangle 29"/>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06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vaughnmartin.com/proof-story</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PROOF — NOW, NOT ROADMAP</a:t>
            </a:r>
          </a:p>
        </p:txBody>
      </p:sp>
      <p:sp>
        <p:nvSpPr>
          <p:cNvPr id="8" name="TextBox 7"/>
          <p:cNvSpPr txBox="1"/>
          <p:nvPr/>
        </p:nvSpPr>
        <p:spPr>
          <a:xfrm>
            <a:off x="411480" y="475488"/>
            <a:ext cx="5669280" cy="663448"/>
          </a:xfrm>
          <a:prstGeom prst="rect">
            <a:avLst/>
          </a:prstGeom>
          <a:noFill/>
        </p:spPr>
        <p:txBody>
          <a:bodyPr wrap="square">
            <a:spAutoFit/>
          </a:bodyPr>
          <a:lstStyle/>
          <a:p>
            <a:pPr algn="l"/>
            <a:r>
              <a:rPr sz="3800" b="1" i="0">
                <a:solidFill>
                  <a:srgbClr val="FFFFFF"/>
                </a:solidFill>
                <a:latin typeface="Barlow Condensed"/>
              </a:rPr>
              <a:t>BUILT.</a:t>
            </a:r>
          </a:p>
        </p:txBody>
      </p:sp>
      <p:sp>
        <p:nvSpPr>
          <p:cNvPr id="9" name="TextBox 8"/>
          <p:cNvSpPr txBox="1"/>
          <p:nvPr/>
        </p:nvSpPr>
        <p:spPr>
          <a:xfrm>
            <a:off x="411480" y="1093216"/>
            <a:ext cx="5669280" cy="663448"/>
          </a:xfrm>
          <a:prstGeom prst="rect">
            <a:avLst/>
          </a:prstGeom>
          <a:noFill/>
        </p:spPr>
        <p:txBody>
          <a:bodyPr wrap="square">
            <a:spAutoFit/>
          </a:bodyPr>
          <a:lstStyle/>
          <a:p>
            <a:pPr algn="l"/>
            <a:r>
              <a:rPr sz="3800" b="1" i="0">
                <a:solidFill>
                  <a:srgbClr val="C9A84C"/>
                </a:solidFill>
                <a:latin typeface="Barlow Condensed"/>
              </a:rPr>
              <a:t>LIVE.</a:t>
            </a:r>
          </a:p>
        </p:txBody>
      </p:sp>
      <p:sp>
        <p:nvSpPr>
          <p:cNvPr id="10" name="TextBox 9"/>
          <p:cNvSpPr txBox="1"/>
          <p:nvPr/>
        </p:nvSpPr>
        <p:spPr>
          <a:xfrm>
            <a:off x="411480" y="1710943"/>
            <a:ext cx="5669280" cy="435863"/>
          </a:xfrm>
          <a:prstGeom prst="rect">
            <a:avLst/>
          </a:prstGeom>
          <a:noFill/>
        </p:spPr>
        <p:txBody>
          <a:bodyPr wrap="square">
            <a:spAutoFit/>
          </a:bodyPr>
          <a:lstStyle/>
          <a:p>
            <a:pPr algn="l"/>
            <a:r>
              <a:rPr sz="2400" b="1" i="0">
                <a:solidFill>
                  <a:srgbClr val="B4BED6"/>
                </a:solidFill>
                <a:latin typeface="Barlow Condensed"/>
              </a:rPr>
              <a:t>IN PRODUCTION NOW.</a:t>
            </a:r>
          </a:p>
        </p:txBody>
      </p:sp>
      <p:sp>
        <p:nvSpPr>
          <p:cNvPr id="11" name="Rectangle 10"/>
          <p:cNvSpPr/>
          <p:nvPr/>
        </p:nvSpPr>
        <p:spPr>
          <a:xfrm>
            <a:off x="411480" y="2423160"/>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560320"/>
            <a:ext cx="5669280" cy="365760"/>
          </a:xfrm>
          <a:prstGeom prst="rect">
            <a:avLst/>
          </a:prstGeom>
          <a:noFill/>
        </p:spPr>
        <p:txBody>
          <a:bodyPr wrap="square">
            <a:spAutoFit/>
          </a:bodyPr>
          <a:lstStyle/>
          <a:p>
            <a:r>
              <a:rPr sz="1100">
                <a:solidFill>
                  <a:srgbClr val="FFFFFF"/>
                </a:solidFill>
                <a:latin typeface="Barlow Condensed"/>
              </a:rPr>
              <a:t>▶  Production platform live — vaughnmartin.com</a:t>
            </a:r>
          </a:p>
        </p:txBody>
      </p:sp>
      <p:sp>
        <p:nvSpPr>
          <p:cNvPr id="13" name="TextBox 12"/>
          <p:cNvSpPr txBox="1"/>
          <p:nvPr/>
        </p:nvSpPr>
        <p:spPr>
          <a:xfrm>
            <a:off x="411480" y="2912363"/>
            <a:ext cx="5669280" cy="365760"/>
          </a:xfrm>
          <a:prstGeom prst="rect">
            <a:avLst/>
          </a:prstGeom>
          <a:noFill/>
        </p:spPr>
        <p:txBody>
          <a:bodyPr wrap="square">
            <a:spAutoFit/>
          </a:bodyPr>
          <a:lstStyle/>
          <a:p>
            <a:r>
              <a:rPr sz="1100">
                <a:solidFill>
                  <a:srgbClr val="FFFFFF"/>
                </a:solidFill>
                <a:latin typeface="Barlow Condensed"/>
              </a:rPr>
              <a:t>▶  170 protocols active · 221 triggers monitored · 248+ data points</a:t>
            </a:r>
          </a:p>
        </p:txBody>
      </p:sp>
      <p:sp>
        <p:nvSpPr>
          <p:cNvPr id="14" name="TextBox 13"/>
          <p:cNvSpPr txBox="1"/>
          <p:nvPr/>
        </p:nvSpPr>
        <p:spPr>
          <a:xfrm>
            <a:off x="411480" y="3264407"/>
            <a:ext cx="5669280" cy="365760"/>
          </a:xfrm>
          <a:prstGeom prst="rect">
            <a:avLst/>
          </a:prstGeom>
          <a:noFill/>
        </p:spPr>
        <p:txBody>
          <a:bodyPr wrap="square">
            <a:spAutoFit/>
          </a:bodyPr>
          <a:lstStyle/>
          <a:p>
            <a:r>
              <a:rPr sz="1100">
                <a:solidFill>
                  <a:srgbClr val="FFFFFF"/>
                </a:solidFill>
                <a:latin typeface="Barlow Condensed"/>
              </a:rPr>
              <a:t>▶  Full public execution walkthrough at vaughnmartin.com/how-it-executes</a:t>
            </a:r>
          </a:p>
        </p:txBody>
      </p:sp>
      <p:sp>
        <p:nvSpPr>
          <p:cNvPr id="15" name="TextBox 14"/>
          <p:cNvSpPr txBox="1"/>
          <p:nvPr/>
        </p:nvSpPr>
        <p:spPr>
          <a:xfrm>
            <a:off x="411480" y="3616451"/>
            <a:ext cx="5669280" cy="365760"/>
          </a:xfrm>
          <a:prstGeom prst="rect">
            <a:avLst/>
          </a:prstGeom>
          <a:noFill/>
        </p:spPr>
        <p:txBody>
          <a:bodyPr wrap="square">
            <a:spAutoFit/>
          </a:bodyPr>
          <a:lstStyle/>
          <a:p>
            <a:r>
              <a:rPr sz="1100">
                <a:solidFill>
                  <a:srgbClr val="FFFFFF"/>
                </a:solidFill>
                <a:latin typeface="Barlow Condensed"/>
              </a:rPr>
              <a:t>▶  12-Minute Test Drive — run any of 7 real scenarios now, live</a:t>
            </a:r>
          </a:p>
        </p:txBody>
      </p:sp>
      <p:sp>
        <p:nvSpPr>
          <p:cNvPr id="16" name="TextBox 15"/>
          <p:cNvSpPr txBox="1"/>
          <p:nvPr/>
        </p:nvSpPr>
        <p:spPr>
          <a:xfrm>
            <a:off x="411480" y="3968495"/>
            <a:ext cx="5669280" cy="365760"/>
          </a:xfrm>
          <a:prstGeom prst="rect">
            <a:avLst/>
          </a:prstGeom>
          <a:noFill/>
        </p:spPr>
        <p:txBody>
          <a:bodyPr wrap="square">
            <a:spAutoFit/>
          </a:bodyPr>
          <a:lstStyle/>
          <a:p>
            <a:r>
              <a:rPr sz="1100">
                <a:solidFill>
                  <a:srgbClr val="FFFFFF"/>
                </a:solidFill>
                <a:latin typeface="Barlow Condensed"/>
              </a:rPr>
              <a:t>▶  Founding Partner cohort open for 90-day validation partnership</a:t>
            </a:r>
          </a:p>
        </p:txBody>
      </p:sp>
      <p:sp>
        <p:nvSpPr>
          <p:cNvPr id="17" name="Rectangle 16"/>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"Same trigger. Same company. Entirely different outcome. The only variable: whether the response was pre-staged before the trigger fired."</a:t>
            </a:r>
          </a:p>
        </p:txBody>
      </p:sp>
      <p:sp>
        <p:nvSpPr>
          <p:cNvPr id="19" name="Rectangle 18"/>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ow_proof_timelines.jpg"/>
          <p:cNvPicPr>
            <a:picLocks noChangeAspect="1"/>
          </p:cNvPicPr>
          <p:nvPr/>
        </p:nvPicPr>
        <p:blipFill>
          <a:blip r:embed="rId2"/>
          <a:stretch>
            <a:fillRect/>
          </a:stretch>
        </p:blipFill>
        <p:spPr>
          <a:xfrm>
            <a:off x="6400800" y="502920"/>
            <a:ext cx="5468112" cy="5888736"/>
          </a:xfrm>
          <a:prstGeom prst="rect">
            <a:avLst/>
          </a:prstGeom>
        </p:spPr>
      </p:pic>
      <p:sp>
        <p:nvSpPr>
          <p:cNvPr id="22" name="Rectangle 21"/>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07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vaughnmartin.com/roi-calculator</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BUSINESS CASE</a:t>
            </a:r>
          </a:p>
        </p:txBody>
      </p:sp>
      <p:sp>
        <p:nvSpPr>
          <p:cNvPr id="8" name="TextBox 7"/>
          <p:cNvSpPr txBox="1"/>
          <p:nvPr/>
        </p:nvSpPr>
        <p:spPr>
          <a:xfrm>
            <a:off x="411480" y="475488"/>
            <a:ext cx="5669280" cy="549656"/>
          </a:xfrm>
          <a:prstGeom prst="rect">
            <a:avLst/>
          </a:prstGeom>
          <a:noFill/>
        </p:spPr>
        <p:txBody>
          <a:bodyPr wrap="square">
            <a:spAutoFit/>
          </a:bodyPr>
          <a:lstStyle/>
          <a:p>
            <a:pPr algn="l"/>
            <a:r>
              <a:rPr sz="3100" b="1" i="0">
                <a:solidFill>
                  <a:srgbClr val="FFFFFF"/>
                </a:solidFill>
                <a:latin typeface="Barlow Condensed"/>
              </a:rPr>
              <a:t>A TRIVIAL REALLOCATION</a:t>
            </a:r>
          </a:p>
        </p:txBody>
      </p:sp>
      <p:sp>
        <p:nvSpPr>
          <p:cNvPr id="9" name="TextBox 8"/>
          <p:cNvSpPr txBox="1"/>
          <p:nvPr/>
        </p:nvSpPr>
        <p:spPr>
          <a:xfrm>
            <a:off x="411480" y="979424"/>
            <a:ext cx="5669280" cy="549656"/>
          </a:xfrm>
          <a:prstGeom prst="rect">
            <a:avLst/>
          </a:prstGeom>
          <a:noFill/>
        </p:spPr>
        <p:txBody>
          <a:bodyPr wrap="square">
            <a:spAutoFit/>
          </a:bodyPr>
          <a:lstStyle/>
          <a:p>
            <a:pPr algn="l"/>
            <a:r>
              <a:rPr sz="3100" b="1" i="0">
                <a:solidFill>
                  <a:srgbClr val="C9A84C"/>
                </a:solidFill>
                <a:latin typeface="Barlow Condensed"/>
              </a:rPr>
              <a:t>OF EXISTING WASTE.</a:t>
            </a:r>
          </a:p>
        </p:txBody>
      </p:sp>
      <p:sp>
        <p:nvSpPr>
          <p:cNvPr id="10" name="Rectangle 9"/>
          <p:cNvSpPr/>
          <p:nvPr/>
        </p:nvSpPr>
        <p:spPr>
          <a:xfrm>
            <a:off x="411480" y="1792224"/>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920240"/>
            <a:ext cx="5669280" cy="365760"/>
          </a:xfrm>
          <a:prstGeom prst="rect">
            <a:avLst/>
          </a:prstGeom>
          <a:noFill/>
        </p:spPr>
        <p:txBody>
          <a:bodyPr wrap="square">
            <a:spAutoFit/>
          </a:bodyPr>
          <a:lstStyle/>
          <a:p>
            <a:r>
              <a:rPr sz="1150">
                <a:solidFill>
                  <a:srgbClr val="FFFFFF"/>
                </a:solidFill>
                <a:latin typeface="Barlow Condensed"/>
              </a:rPr>
              <a:t>▶  Enterprises already burn millions on reactive, post-trigger consulting retainers</a:t>
            </a:r>
          </a:p>
        </p:txBody>
      </p:sp>
      <p:sp>
        <p:nvSpPr>
          <p:cNvPr id="12" name="TextBox 11"/>
          <p:cNvSpPr txBox="1"/>
          <p:nvPr/>
        </p:nvSpPr>
        <p:spPr>
          <a:xfrm>
            <a:off x="411480" y="2272284"/>
            <a:ext cx="5669280" cy="365760"/>
          </a:xfrm>
          <a:prstGeom prst="rect">
            <a:avLst/>
          </a:prstGeom>
          <a:noFill/>
        </p:spPr>
        <p:txBody>
          <a:bodyPr wrap="square">
            <a:spAutoFit/>
          </a:bodyPr>
          <a:lstStyle/>
          <a:p>
            <a:r>
              <a:rPr sz="1150">
                <a:solidFill>
                  <a:srgbClr val="FFFFFF"/>
                </a:solidFill>
                <a:latin typeface="Barlow Condensed"/>
              </a:rPr>
              <a:t>▶  Readiness OS converts panic-driven spend into repeatable software infrastructure</a:t>
            </a:r>
          </a:p>
        </p:txBody>
      </p:sp>
      <p:sp>
        <p:nvSpPr>
          <p:cNvPr id="13" name="TextBox 12"/>
          <p:cNvSpPr txBox="1"/>
          <p:nvPr/>
        </p:nvSpPr>
        <p:spPr>
          <a:xfrm>
            <a:off x="411480" y="2624328"/>
            <a:ext cx="5669280" cy="365760"/>
          </a:xfrm>
          <a:prstGeom prst="rect">
            <a:avLst/>
          </a:prstGeom>
          <a:noFill/>
        </p:spPr>
        <p:txBody>
          <a:bodyPr wrap="square">
            <a:spAutoFit/>
          </a:bodyPr>
          <a:lstStyle/>
          <a:p>
            <a:r>
              <a:rPr sz="1150">
                <a:solidFill>
                  <a:srgbClr val="FFFFFF"/>
                </a:solidFill>
                <a:latin typeface="Barlow Condensed"/>
              </a:rPr>
              <a:t>▶  We are not asking for net-new budget — we are replacing existing waste</a:t>
            </a:r>
          </a:p>
        </p:txBody>
      </p:sp>
      <p:sp>
        <p:nvSpPr>
          <p:cNvPr id="14" name="TextBox 13"/>
          <p:cNvSpPr txBox="1"/>
          <p:nvPr/>
        </p:nvSpPr>
        <p:spPr>
          <a:xfrm>
            <a:off x="411480" y="2976372"/>
            <a:ext cx="5669280" cy="365760"/>
          </a:xfrm>
          <a:prstGeom prst="rect">
            <a:avLst/>
          </a:prstGeom>
          <a:noFill/>
        </p:spPr>
        <p:txBody>
          <a:bodyPr wrap="square">
            <a:spAutoFit/>
          </a:bodyPr>
          <a:lstStyle/>
          <a:p>
            <a:r>
              <a:rPr sz="1150">
                <a:solidFill>
                  <a:srgbClr val="FFFFFF"/>
                </a:solidFill>
                <a:latin typeface="Barlow Condensed"/>
              </a:rPr>
              <a:t>▶  Estimated $61.3M annual value for enterprises facing 3+ strategic triggers</a:t>
            </a:r>
          </a:p>
        </p:txBody>
      </p:sp>
      <p:sp>
        <p:nvSpPr>
          <p:cNvPr id="15" name="TextBox 14"/>
          <p:cNvSpPr txBox="1"/>
          <p:nvPr/>
        </p:nvSpPr>
        <p:spPr>
          <a:xfrm>
            <a:off x="411480" y="3657600"/>
            <a:ext cx="5669280" cy="201168"/>
          </a:xfrm>
          <a:prstGeom prst="rect">
            <a:avLst/>
          </a:prstGeom>
          <a:noFill/>
        </p:spPr>
        <p:txBody>
          <a:bodyPr wrap="square">
            <a:spAutoFit/>
          </a:bodyPr>
          <a:lstStyle/>
          <a:p>
            <a:pPr algn="l"/>
            <a:r>
              <a:rPr sz="800" b="1" i="0">
                <a:solidFill>
                  <a:srgbClr val="C9A84C"/>
                </a:solidFill>
                <a:latin typeface="Barlow Condensed"/>
              </a:rPr>
              <a:t>PRICING — FOUNDED ON REALLOCATION LOGIC</a:t>
            </a:r>
          </a:p>
        </p:txBody>
      </p:sp>
      <p:sp>
        <p:nvSpPr>
          <p:cNvPr id="16" name="TextBox 15"/>
          <p:cNvSpPr txBox="1"/>
          <p:nvPr/>
        </p:nvSpPr>
        <p:spPr>
          <a:xfrm>
            <a:off x="411480" y="3858768"/>
            <a:ext cx="1920240" cy="274320"/>
          </a:xfrm>
          <a:prstGeom prst="rect">
            <a:avLst/>
          </a:prstGeom>
          <a:noFill/>
        </p:spPr>
        <p:txBody>
          <a:bodyPr wrap="square">
            <a:spAutoFit/>
          </a:bodyPr>
          <a:lstStyle/>
          <a:p>
            <a:pPr algn="l"/>
            <a:r>
              <a:rPr sz="1000" b="1" i="0">
                <a:solidFill>
                  <a:srgbClr val="C9A84C"/>
                </a:solidFill>
                <a:latin typeface="Barlow Condensed"/>
              </a:rPr>
              <a:t>Founding Partner</a:t>
            </a:r>
          </a:p>
        </p:txBody>
      </p:sp>
      <p:sp>
        <p:nvSpPr>
          <p:cNvPr id="17" name="TextBox 16"/>
          <p:cNvSpPr txBox="1"/>
          <p:nvPr/>
        </p:nvSpPr>
        <p:spPr>
          <a:xfrm>
            <a:off x="2423160" y="3858768"/>
            <a:ext cx="3657600" cy="274320"/>
          </a:xfrm>
          <a:prstGeom prst="rect">
            <a:avLst/>
          </a:prstGeom>
          <a:noFill/>
        </p:spPr>
        <p:txBody>
          <a:bodyPr wrap="square">
            <a:spAutoFit/>
          </a:bodyPr>
          <a:lstStyle/>
          <a:p>
            <a:pPr algn="l"/>
            <a:r>
              <a:rPr sz="1000" b="0" i="0">
                <a:solidFill>
                  <a:srgbClr val="B4BED6"/>
                </a:solidFill>
                <a:latin typeface="Barlow Condensed"/>
              </a:rPr>
              <a:t>$75K / 90-day validation  ·  12 seats  ·  Cohort forming now</a:t>
            </a:r>
          </a:p>
        </p:txBody>
      </p:sp>
      <p:sp>
        <p:nvSpPr>
          <p:cNvPr id="18" name="Rectangle 17"/>
          <p:cNvSpPr/>
          <p:nvPr/>
        </p:nvSpPr>
        <p:spPr>
          <a:xfrm>
            <a:off x="411480" y="4114800"/>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4197096"/>
            <a:ext cx="1920240" cy="274320"/>
          </a:xfrm>
          <a:prstGeom prst="rect">
            <a:avLst/>
          </a:prstGeom>
          <a:noFill/>
        </p:spPr>
        <p:txBody>
          <a:bodyPr wrap="square">
            <a:spAutoFit/>
          </a:bodyPr>
          <a:lstStyle/>
          <a:p>
            <a:pPr algn="l"/>
            <a:r>
              <a:rPr sz="1000" b="1" i="0">
                <a:solidFill>
                  <a:srgbClr val="C9A84C"/>
                </a:solidFill>
                <a:latin typeface="Barlow Condensed"/>
              </a:rPr>
              <a:t>Growth</a:t>
            </a:r>
          </a:p>
        </p:txBody>
      </p:sp>
      <p:sp>
        <p:nvSpPr>
          <p:cNvPr id="20" name="TextBox 19"/>
          <p:cNvSpPr txBox="1"/>
          <p:nvPr/>
        </p:nvSpPr>
        <p:spPr>
          <a:xfrm>
            <a:off x="2423160" y="4197096"/>
            <a:ext cx="3657600" cy="274320"/>
          </a:xfrm>
          <a:prstGeom prst="rect">
            <a:avLst/>
          </a:prstGeom>
          <a:noFill/>
        </p:spPr>
        <p:txBody>
          <a:bodyPr wrap="square">
            <a:spAutoFit/>
          </a:bodyPr>
          <a:lstStyle/>
          <a:p>
            <a:pPr algn="l"/>
            <a:r>
              <a:rPr sz="1000" b="0" i="0">
                <a:solidFill>
                  <a:srgbClr val="B4BED6"/>
                </a:solidFill>
                <a:latin typeface="Barlow Condensed"/>
              </a:rPr>
              <a:t>$75K–$250K annually  ·  Replaces $400K–$800K consulting retainer</a:t>
            </a:r>
          </a:p>
        </p:txBody>
      </p:sp>
      <p:sp>
        <p:nvSpPr>
          <p:cNvPr id="21" name="Rectangle 20"/>
          <p:cNvSpPr/>
          <p:nvPr/>
        </p:nvSpPr>
        <p:spPr>
          <a:xfrm>
            <a:off x="411480" y="4453128"/>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535424"/>
            <a:ext cx="1920240" cy="274320"/>
          </a:xfrm>
          <a:prstGeom prst="rect">
            <a:avLst/>
          </a:prstGeom>
          <a:noFill/>
        </p:spPr>
        <p:txBody>
          <a:bodyPr wrap="square">
            <a:spAutoFit/>
          </a:bodyPr>
          <a:lstStyle/>
          <a:p>
            <a:pPr algn="l"/>
            <a:r>
              <a:rPr sz="1000" b="1" i="0">
                <a:solidFill>
                  <a:srgbClr val="C9A84C"/>
                </a:solidFill>
                <a:latin typeface="Barlow Condensed"/>
              </a:rPr>
              <a:t>Enterprise</a:t>
            </a:r>
          </a:p>
        </p:txBody>
      </p:sp>
      <p:sp>
        <p:nvSpPr>
          <p:cNvPr id="23" name="TextBox 22"/>
          <p:cNvSpPr txBox="1"/>
          <p:nvPr/>
        </p:nvSpPr>
        <p:spPr>
          <a:xfrm>
            <a:off x="2423160" y="4535424"/>
            <a:ext cx="3657600" cy="274320"/>
          </a:xfrm>
          <a:prstGeom prst="rect">
            <a:avLst/>
          </a:prstGeom>
          <a:noFill/>
        </p:spPr>
        <p:txBody>
          <a:bodyPr wrap="square">
            <a:spAutoFit/>
          </a:bodyPr>
          <a:lstStyle/>
          <a:p>
            <a:pPr algn="l"/>
            <a:r>
              <a:rPr sz="1000" b="0" i="0">
                <a:solidFill>
                  <a:srgbClr val="B4BED6"/>
                </a:solidFill>
                <a:latin typeface="Barlow Condensed"/>
              </a:rPr>
              <a:t>$250K+  ·  Microsoft stack integration  ·  Custom SLA</a:t>
            </a:r>
          </a:p>
        </p:txBody>
      </p:sp>
      <p:sp>
        <p:nvSpPr>
          <p:cNvPr id="24" name="Rectangle 23"/>
          <p:cNvSpPr/>
          <p:nvPr/>
        </p:nvSpPr>
        <p:spPr>
          <a:xfrm>
            <a:off x="411480" y="4791456"/>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"We are not asking CFOs to find net-new budget in a tight economy. We are converting that wasteful, panic-driven spend into repeatable software infrastructure that generates immediate, compounding ROI."</a:t>
            </a:r>
          </a:p>
        </p:txBody>
      </p:sp>
      <p:sp>
        <p:nvSpPr>
          <p:cNvPr id="27" name="Rectangle 26"/>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wow_roi_results.jpg"/>
          <p:cNvPicPr>
            <a:picLocks noChangeAspect="1"/>
          </p:cNvPicPr>
          <p:nvPr/>
        </p:nvPicPr>
        <p:blipFill>
          <a:blip r:embed="rId2"/>
          <a:stretch>
            <a:fillRect/>
          </a:stretch>
        </p:blipFill>
        <p:spPr>
          <a:xfrm>
            <a:off x="6400800" y="502920"/>
            <a:ext cx="5468112" cy="5888736"/>
          </a:xfrm>
          <a:prstGeom prst="rect">
            <a:avLst/>
          </a:prstGeom>
        </p:spPr>
      </p:pic>
      <p:sp>
        <p:nvSpPr>
          <p:cNvPr id="30" name="Rectangle 29"/>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98480" y="82296"/>
            <a:ext cx="1371600" cy="219456"/>
          </a:xfrm>
          <a:prstGeom prst="rect">
            <a:avLst/>
          </a:prstGeom>
          <a:noFill/>
        </p:spPr>
        <p:txBody>
          <a:bodyPr wrap="square">
            <a:spAutoFit/>
          </a:bodyPr>
          <a:lstStyle/>
          <a:p>
            <a:pPr algn="r"/>
            <a:r>
              <a:rPr sz="750" b="1" i="0">
                <a:solidFill>
                  <a:srgbClr val="C9A84C"/>
                </a:solidFill>
                <a:latin typeface="Barlow Condensed"/>
              </a:rPr>
              <a:t>SLIDE 08  ·  08</a:t>
            </a:r>
          </a:p>
        </p:txBody>
      </p:sp>
      <p:sp>
        <p:nvSpPr>
          <p:cNvPr id="4" name="Rectangle 3"/>
          <p:cNvSpPr/>
          <p:nvPr/>
        </p:nvSpPr>
        <p:spPr>
          <a:xfrm>
            <a:off x="0" y="6729984"/>
            <a:ext cx="12188952" cy="128016"/>
          </a:xfrm>
          <a:prstGeom prst="rect">
            <a:avLst/>
          </a:prstGeom>
          <a:solidFill>
            <a:srgbClr val="080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748272"/>
            <a:ext cx="4572000" cy="182880"/>
          </a:xfrm>
          <a:prstGeom prst="rect">
            <a:avLst/>
          </a:prstGeom>
          <a:noFill/>
        </p:spPr>
        <p:txBody>
          <a:bodyPr wrap="square">
            <a:spAutoFit/>
          </a:bodyPr>
          <a:lstStyle/>
          <a:p>
            <a:pPr algn="l"/>
            <a:r>
              <a:rPr sz="750" b="1" i="0">
                <a:solidFill>
                  <a:srgbClr val="C9A84C"/>
                </a:solidFill>
                <a:latin typeface="Barlow Condensed"/>
              </a:rPr>
              <a:t>VaughnMartin  ·  READINESS OS</a:t>
            </a:r>
          </a:p>
        </p:txBody>
      </p:sp>
      <p:sp>
        <p:nvSpPr>
          <p:cNvPr id="6" name="TextBox 5"/>
          <p:cNvSpPr txBox="1"/>
          <p:nvPr/>
        </p:nvSpPr>
        <p:spPr>
          <a:xfrm>
            <a:off x="7315200" y="6748272"/>
            <a:ext cx="4663440" cy="182880"/>
          </a:xfrm>
          <a:prstGeom prst="rect">
            <a:avLst/>
          </a:prstGeom>
          <a:noFill/>
        </p:spPr>
        <p:txBody>
          <a:bodyPr wrap="square">
            <a:spAutoFit/>
          </a:bodyPr>
          <a:lstStyle/>
          <a:p>
            <a:pPr algn="r"/>
            <a:r>
              <a:rPr sz="750" b="0" i="0">
                <a:solidFill>
                  <a:srgbClr val="B4BED6"/>
                </a:solidFill>
                <a:latin typeface="Barlow Condensed"/>
              </a:rPr>
              <a:t>vaughnmartin.com/founding-partner-program</a:t>
            </a:r>
          </a:p>
        </p:txBody>
      </p:sp>
      <p:sp>
        <p:nvSpPr>
          <p:cNvPr id="7" name="TextBox 6"/>
          <p:cNvSpPr txBox="1"/>
          <p:nvPr/>
        </p:nvSpPr>
        <p:spPr>
          <a:xfrm>
            <a:off x="411480" y="237744"/>
            <a:ext cx="5669280" cy="201168"/>
          </a:xfrm>
          <a:prstGeom prst="rect">
            <a:avLst/>
          </a:prstGeom>
          <a:noFill/>
        </p:spPr>
        <p:txBody>
          <a:bodyPr wrap="square">
            <a:spAutoFit/>
          </a:bodyPr>
          <a:lstStyle/>
          <a:p>
            <a:pPr algn="l"/>
            <a:r>
              <a:rPr sz="800" b="1" i="0">
                <a:solidFill>
                  <a:srgbClr val="C9A84C"/>
                </a:solidFill>
                <a:latin typeface="Barlow Condensed"/>
              </a:rPr>
              <a:t>THE ASK</a:t>
            </a:r>
          </a:p>
        </p:txBody>
      </p:sp>
      <p:sp>
        <p:nvSpPr>
          <p:cNvPr id="8" name="TextBox 7"/>
          <p:cNvSpPr txBox="1"/>
          <p:nvPr/>
        </p:nvSpPr>
        <p:spPr>
          <a:xfrm>
            <a:off x="411480" y="475488"/>
            <a:ext cx="5669280" cy="387096"/>
          </a:xfrm>
          <a:prstGeom prst="rect">
            <a:avLst/>
          </a:prstGeom>
          <a:noFill/>
        </p:spPr>
        <p:txBody>
          <a:bodyPr wrap="square">
            <a:spAutoFit/>
          </a:bodyPr>
          <a:lstStyle/>
          <a:p>
            <a:pPr algn="l"/>
            <a:r>
              <a:rPr sz="2100" b="1" i="0">
                <a:solidFill>
                  <a:srgbClr val="C9A84C"/>
                </a:solidFill>
                <a:latin typeface="Barlow Condensed"/>
              </a:rPr>
              <a:t>CATEGORY CREATION:</a:t>
            </a:r>
          </a:p>
        </p:txBody>
      </p:sp>
      <p:sp>
        <p:nvSpPr>
          <p:cNvPr id="9" name="TextBox 8"/>
          <p:cNvSpPr txBox="1"/>
          <p:nvPr/>
        </p:nvSpPr>
        <p:spPr>
          <a:xfrm>
            <a:off x="411480" y="816864"/>
            <a:ext cx="5669280" cy="549656"/>
          </a:xfrm>
          <a:prstGeom prst="rect">
            <a:avLst/>
          </a:prstGeom>
          <a:noFill/>
        </p:spPr>
        <p:txBody>
          <a:bodyPr wrap="square">
            <a:spAutoFit/>
          </a:bodyPr>
          <a:lstStyle/>
          <a:p>
            <a:pPr algn="l"/>
            <a:r>
              <a:rPr sz="3100" b="1" i="0">
                <a:solidFill>
                  <a:srgbClr val="FFFFFF"/>
                </a:solidFill>
                <a:latin typeface="Barlow Condensed"/>
              </a:rPr>
              <a:t>PREPARATION INFRASTRUCTURE</a:t>
            </a:r>
          </a:p>
        </p:txBody>
      </p:sp>
      <p:sp>
        <p:nvSpPr>
          <p:cNvPr id="10" name="Rectangle 9"/>
          <p:cNvSpPr/>
          <p:nvPr/>
        </p:nvSpPr>
        <p:spPr>
          <a:xfrm>
            <a:off x="411480" y="1810512"/>
            <a:ext cx="557784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956816"/>
            <a:ext cx="5669280" cy="365760"/>
          </a:xfrm>
          <a:prstGeom prst="rect">
            <a:avLst/>
          </a:prstGeom>
          <a:noFill/>
        </p:spPr>
        <p:txBody>
          <a:bodyPr wrap="square">
            <a:spAutoFit/>
          </a:bodyPr>
          <a:lstStyle/>
          <a:p>
            <a:r>
              <a:rPr sz="1200">
                <a:solidFill>
                  <a:srgbClr val="FFFFFF"/>
                </a:solidFill>
                <a:latin typeface="Barlow Condensed"/>
              </a:rPr>
              <a:t>▶  Raising: Up to $1,000,000</a:t>
            </a:r>
          </a:p>
        </p:txBody>
      </p:sp>
      <p:sp>
        <p:nvSpPr>
          <p:cNvPr id="12" name="TextBox 11"/>
          <p:cNvSpPr txBox="1"/>
          <p:nvPr/>
        </p:nvSpPr>
        <p:spPr>
          <a:xfrm>
            <a:off x="411480" y="2308860"/>
            <a:ext cx="5669280" cy="365760"/>
          </a:xfrm>
          <a:prstGeom prst="rect">
            <a:avLst/>
          </a:prstGeom>
          <a:noFill/>
        </p:spPr>
        <p:txBody>
          <a:bodyPr wrap="square">
            <a:spAutoFit/>
          </a:bodyPr>
          <a:lstStyle/>
          <a:p>
            <a:r>
              <a:rPr sz="1200">
                <a:solidFill>
                  <a:srgbClr val="FFFFFF"/>
                </a:solidFill>
                <a:latin typeface="Barlow Condensed"/>
              </a:rPr>
              <a:t>▶  Product hardening + enterprise-grade access controls</a:t>
            </a:r>
          </a:p>
        </p:txBody>
      </p:sp>
      <p:sp>
        <p:nvSpPr>
          <p:cNvPr id="13" name="TextBox 12"/>
          <p:cNvSpPr txBox="1"/>
          <p:nvPr/>
        </p:nvSpPr>
        <p:spPr>
          <a:xfrm>
            <a:off x="411480" y="2660904"/>
            <a:ext cx="5669280" cy="365760"/>
          </a:xfrm>
          <a:prstGeom prst="rect">
            <a:avLst/>
          </a:prstGeom>
          <a:noFill/>
        </p:spPr>
        <p:txBody>
          <a:bodyPr wrap="square">
            <a:spAutoFit/>
          </a:bodyPr>
          <a:lstStyle/>
          <a:p>
            <a:r>
              <a:rPr sz="1200">
                <a:solidFill>
                  <a:srgbClr val="FFFFFF"/>
                </a:solidFill>
                <a:latin typeface="Barlow Condensed"/>
              </a:rPr>
              <a:t>▶  Founding Partner conversions + repeatable GTM motion</a:t>
            </a:r>
          </a:p>
        </p:txBody>
      </p:sp>
      <p:sp>
        <p:nvSpPr>
          <p:cNvPr id="14" name="TextBox 13"/>
          <p:cNvSpPr txBox="1"/>
          <p:nvPr/>
        </p:nvSpPr>
        <p:spPr>
          <a:xfrm>
            <a:off x="411480" y="3012948"/>
            <a:ext cx="5669280" cy="365760"/>
          </a:xfrm>
          <a:prstGeom prst="rect">
            <a:avLst/>
          </a:prstGeom>
          <a:noFill/>
        </p:spPr>
        <p:txBody>
          <a:bodyPr wrap="square">
            <a:spAutoFit/>
          </a:bodyPr>
          <a:lstStyle/>
          <a:p>
            <a:r>
              <a:rPr sz="1200">
                <a:solidFill>
                  <a:srgbClr val="FFFFFF"/>
                </a:solidFill>
                <a:latin typeface="Barlow Condensed"/>
              </a:rPr>
              <a:t>▶  Microsoft integration certification</a:t>
            </a:r>
          </a:p>
        </p:txBody>
      </p:sp>
      <p:sp>
        <p:nvSpPr>
          <p:cNvPr id="15" name="Rectangle 14"/>
          <p:cNvSpPr/>
          <p:nvPr/>
        </p:nvSpPr>
        <p:spPr>
          <a:xfrm>
            <a:off x="411480" y="3127248"/>
            <a:ext cx="5596128" cy="420624"/>
          </a:xfrm>
          <a:prstGeom prst="rect">
            <a:avLst/>
          </a:prstGeom>
          <a:solidFill>
            <a:srgbClr val="1A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127248"/>
            <a:ext cx="5596128" cy="2377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163824"/>
            <a:ext cx="5449824" cy="329184"/>
          </a:xfrm>
          <a:prstGeom prst="rect">
            <a:avLst/>
          </a:prstGeom>
          <a:noFill/>
        </p:spPr>
        <p:txBody>
          <a:bodyPr wrap="square">
            <a:spAutoFit/>
          </a:bodyPr>
          <a:lstStyle/>
          <a:p>
            <a:pPr algn="l"/>
            <a:r>
              <a:rPr sz="950" b="1" i="0">
                <a:solidFill>
                  <a:srgbClr val="C9A84C"/>
                </a:solidFill>
                <a:latin typeface="Barlow Condensed"/>
              </a:rPr>
              <a:t>FOUNDING PARTNER COHORT  ·  12 SEATS  ·  FORMING NOW  ·  LIMITED AVAILABILITY</a:t>
            </a:r>
          </a:p>
        </p:txBody>
      </p:sp>
      <p:sp>
        <p:nvSpPr>
          <p:cNvPr id="18" name="TextBox 17"/>
          <p:cNvSpPr txBox="1"/>
          <p:nvPr/>
        </p:nvSpPr>
        <p:spPr>
          <a:xfrm>
            <a:off x="411480" y="3675887"/>
            <a:ext cx="5669280" cy="201168"/>
          </a:xfrm>
          <a:prstGeom prst="rect">
            <a:avLst/>
          </a:prstGeom>
          <a:noFill/>
        </p:spPr>
        <p:txBody>
          <a:bodyPr wrap="square">
            <a:spAutoFit/>
          </a:bodyPr>
          <a:lstStyle/>
          <a:p>
            <a:pPr algn="l"/>
            <a:r>
              <a:rPr sz="800" b="1" i="0">
                <a:solidFill>
                  <a:srgbClr val="C9A84C"/>
                </a:solidFill>
                <a:latin typeface="Barlow Condensed"/>
              </a:rPr>
              <a:t>18-MONTH RUNWAY TO SERIES A</a:t>
            </a:r>
          </a:p>
        </p:txBody>
      </p:sp>
      <p:sp>
        <p:nvSpPr>
          <p:cNvPr id="19" name="TextBox 18"/>
          <p:cNvSpPr txBox="1"/>
          <p:nvPr/>
        </p:nvSpPr>
        <p:spPr>
          <a:xfrm>
            <a:off x="411480" y="3877056"/>
            <a:ext cx="914400" cy="274320"/>
          </a:xfrm>
          <a:prstGeom prst="rect">
            <a:avLst/>
          </a:prstGeom>
          <a:noFill/>
        </p:spPr>
        <p:txBody>
          <a:bodyPr wrap="square">
            <a:spAutoFit/>
          </a:bodyPr>
          <a:lstStyle/>
          <a:p>
            <a:pPr algn="l"/>
            <a:r>
              <a:rPr sz="1000" b="1" i="0">
                <a:solidFill>
                  <a:srgbClr val="C9A84C"/>
                </a:solidFill>
                <a:latin typeface="Barlow Condensed"/>
              </a:rPr>
              <a:t>Mo. 6</a:t>
            </a:r>
          </a:p>
        </p:txBody>
      </p:sp>
      <p:sp>
        <p:nvSpPr>
          <p:cNvPr id="20" name="TextBox 19"/>
          <p:cNvSpPr txBox="1"/>
          <p:nvPr/>
        </p:nvSpPr>
        <p:spPr>
          <a:xfrm>
            <a:off x="1417320" y="3877056"/>
            <a:ext cx="4663440" cy="274320"/>
          </a:xfrm>
          <a:prstGeom prst="rect">
            <a:avLst/>
          </a:prstGeom>
          <a:noFill/>
        </p:spPr>
        <p:txBody>
          <a:bodyPr wrap="square">
            <a:spAutoFit/>
          </a:bodyPr>
          <a:lstStyle/>
          <a:p>
            <a:pPr algn="l"/>
            <a:r>
              <a:rPr sz="1000" b="0" i="0">
                <a:solidFill>
                  <a:srgbClr val="B4BED6"/>
                </a:solidFill>
                <a:latin typeface="Barlow Condensed"/>
              </a:rPr>
              <a:t>3 Founding Partners on recurring contracts</a:t>
            </a:r>
          </a:p>
        </p:txBody>
      </p:sp>
      <p:sp>
        <p:nvSpPr>
          <p:cNvPr id="21" name="Rectangle 20"/>
          <p:cNvSpPr/>
          <p:nvPr/>
        </p:nvSpPr>
        <p:spPr>
          <a:xfrm>
            <a:off x="411480" y="4133088"/>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215384"/>
            <a:ext cx="914400" cy="274320"/>
          </a:xfrm>
          <a:prstGeom prst="rect">
            <a:avLst/>
          </a:prstGeom>
          <a:noFill/>
        </p:spPr>
        <p:txBody>
          <a:bodyPr wrap="square">
            <a:spAutoFit/>
          </a:bodyPr>
          <a:lstStyle/>
          <a:p>
            <a:pPr algn="l"/>
            <a:r>
              <a:rPr sz="1000" b="1" i="0">
                <a:solidFill>
                  <a:srgbClr val="C9A84C"/>
                </a:solidFill>
                <a:latin typeface="Barlow Condensed"/>
              </a:rPr>
              <a:t>Mo. 9</a:t>
            </a:r>
          </a:p>
        </p:txBody>
      </p:sp>
      <p:sp>
        <p:nvSpPr>
          <p:cNvPr id="23" name="TextBox 22"/>
          <p:cNvSpPr txBox="1"/>
          <p:nvPr/>
        </p:nvSpPr>
        <p:spPr>
          <a:xfrm>
            <a:off x="1417320" y="4215384"/>
            <a:ext cx="4663440" cy="274320"/>
          </a:xfrm>
          <a:prstGeom prst="rect">
            <a:avLst/>
          </a:prstGeom>
          <a:noFill/>
        </p:spPr>
        <p:txBody>
          <a:bodyPr wrap="square">
            <a:spAutoFit/>
          </a:bodyPr>
          <a:lstStyle/>
          <a:p>
            <a:pPr algn="l"/>
            <a:r>
              <a:rPr sz="1000" b="0" i="0">
                <a:solidFill>
                  <a:srgbClr val="B4BED6"/>
                </a:solidFill>
                <a:latin typeface="Barlow Condensed"/>
              </a:rPr>
              <a:t>Enterprise controls complete  ·  Microsoft integration certified</a:t>
            </a:r>
          </a:p>
        </p:txBody>
      </p:sp>
      <p:sp>
        <p:nvSpPr>
          <p:cNvPr id="24" name="Rectangle 23"/>
          <p:cNvSpPr/>
          <p:nvPr/>
        </p:nvSpPr>
        <p:spPr>
          <a:xfrm>
            <a:off x="411480" y="4471416"/>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4553712"/>
            <a:ext cx="914400" cy="274320"/>
          </a:xfrm>
          <a:prstGeom prst="rect">
            <a:avLst/>
          </a:prstGeom>
          <a:noFill/>
        </p:spPr>
        <p:txBody>
          <a:bodyPr wrap="square">
            <a:spAutoFit/>
          </a:bodyPr>
          <a:lstStyle/>
          <a:p>
            <a:pPr algn="l"/>
            <a:r>
              <a:rPr sz="1000" b="1" i="0">
                <a:solidFill>
                  <a:srgbClr val="C9A84C"/>
                </a:solidFill>
                <a:latin typeface="Barlow Condensed"/>
              </a:rPr>
              <a:t>Mo. 12</a:t>
            </a:r>
          </a:p>
        </p:txBody>
      </p:sp>
      <p:sp>
        <p:nvSpPr>
          <p:cNvPr id="26" name="TextBox 25"/>
          <p:cNvSpPr txBox="1"/>
          <p:nvPr/>
        </p:nvSpPr>
        <p:spPr>
          <a:xfrm>
            <a:off x="1417320" y="4553712"/>
            <a:ext cx="4663440" cy="274320"/>
          </a:xfrm>
          <a:prstGeom prst="rect">
            <a:avLst/>
          </a:prstGeom>
          <a:noFill/>
        </p:spPr>
        <p:txBody>
          <a:bodyPr wrap="square">
            <a:spAutoFit/>
          </a:bodyPr>
          <a:lstStyle/>
          <a:p>
            <a:pPr algn="l"/>
            <a:r>
              <a:rPr sz="1000" b="0" i="0">
                <a:solidFill>
                  <a:srgbClr val="B4BED6"/>
                </a:solidFill>
                <a:latin typeface="Barlow Condensed"/>
              </a:rPr>
              <a:t>Repeatable GTM with documented proof stories</a:t>
            </a:r>
          </a:p>
        </p:txBody>
      </p:sp>
      <p:sp>
        <p:nvSpPr>
          <p:cNvPr id="27" name="Rectangle 26"/>
          <p:cNvSpPr/>
          <p:nvPr/>
        </p:nvSpPr>
        <p:spPr>
          <a:xfrm>
            <a:off x="411480" y="4809744"/>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4892040"/>
            <a:ext cx="914400" cy="274320"/>
          </a:xfrm>
          <a:prstGeom prst="rect">
            <a:avLst/>
          </a:prstGeom>
          <a:noFill/>
        </p:spPr>
        <p:txBody>
          <a:bodyPr wrap="square">
            <a:spAutoFit/>
          </a:bodyPr>
          <a:lstStyle/>
          <a:p>
            <a:pPr algn="l"/>
            <a:r>
              <a:rPr sz="1000" b="1" i="0">
                <a:solidFill>
                  <a:srgbClr val="C9A84C"/>
                </a:solidFill>
                <a:latin typeface="Barlow Condensed"/>
              </a:rPr>
              <a:t>Mo. 18</a:t>
            </a:r>
          </a:p>
        </p:txBody>
      </p:sp>
      <p:sp>
        <p:nvSpPr>
          <p:cNvPr id="29" name="TextBox 28"/>
          <p:cNvSpPr txBox="1"/>
          <p:nvPr/>
        </p:nvSpPr>
        <p:spPr>
          <a:xfrm>
            <a:off x="1417320" y="4892040"/>
            <a:ext cx="4663440" cy="274320"/>
          </a:xfrm>
          <a:prstGeom prst="rect">
            <a:avLst/>
          </a:prstGeom>
          <a:noFill/>
        </p:spPr>
        <p:txBody>
          <a:bodyPr wrap="square">
            <a:spAutoFit/>
          </a:bodyPr>
          <a:lstStyle/>
          <a:p>
            <a:pPr algn="l"/>
            <a:r>
              <a:rPr sz="1000" b="0" i="0">
                <a:solidFill>
                  <a:srgbClr val="B4BED6"/>
                </a:solidFill>
                <a:latin typeface="Barlow Condensed"/>
              </a:rPr>
              <a:t>Category established  ·  Series A ready</a:t>
            </a:r>
          </a:p>
        </p:txBody>
      </p:sp>
      <p:sp>
        <p:nvSpPr>
          <p:cNvPr id="30" name="Rectangle 29"/>
          <p:cNvSpPr/>
          <p:nvPr/>
        </p:nvSpPr>
        <p:spPr>
          <a:xfrm>
            <a:off x="411480" y="5148072"/>
            <a:ext cx="5577840" cy="1097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5193792"/>
            <a:ext cx="5596128" cy="658368"/>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5193792"/>
            <a:ext cx="5596128" cy="2377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230368"/>
            <a:ext cx="5449824" cy="256032"/>
          </a:xfrm>
          <a:prstGeom prst="rect">
            <a:avLst/>
          </a:prstGeom>
          <a:noFill/>
        </p:spPr>
        <p:txBody>
          <a:bodyPr wrap="square">
            <a:spAutoFit/>
          </a:bodyPr>
          <a:lstStyle/>
          <a:p>
            <a:pPr algn="l"/>
            <a:r>
              <a:rPr sz="1000" b="1" i="0">
                <a:solidFill>
                  <a:srgbClr val="C9A84C"/>
                </a:solidFill>
                <a:latin typeface="Barlow Condensed"/>
              </a:rPr>
              <a:t>PREPARATION  →  READINESS  →  FEARLESS</a:t>
            </a:r>
          </a:p>
        </p:txBody>
      </p:sp>
      <p:sp>
        <p:nvSpPr>
          <p:cNvPr id="34" name="TextBox 33"/>
          <p:cNvSpPr txBox="1"/>
          <p:nvPr/>
        </p:nvSpPr>
        <p:spPr>
          <a:xfrm>
            <a:off x="548640" y="5486400"/>
            <a:ext cx="5449824" cy="310896"/>
          </a:xfrm>
          <a:prstGeom prst="rect">
            <a:avLst/>
          </a:prstGeom>
          <a:noFill/>
        </p:spPr>
        <p:txBody>
          <a:bodyPr wrap="square">
            <a:spAutoFit/>
          </a:bodyPr>
          <a:lstStyle/>
          <a:p>
            <a:pPr algn="l"/>
            <a:r>
              <a:rPr sz="900" b="0" i="0">
                <a:solidFill>
                  <a:srgbClr val="B4BED6"/>
                </a:solidFill>
                <a:latin typeface="Barlow Condensed"/>
              </a:rPr>
              <a:t>Any organization prepared for every situation it expects to face is no longer afraid of strategic triggers — it is fearless.</a:t>
            </a:r>
          </a:p>
        </p:txBody>
      </p:sp>
      <p:sp>
        <p:nvSpPr>
          <p:cNvPr id="35" name="Rectangle 34"/>
          <p:cNvSpPr/>
          <p:nvPr/>
        </p:nvSpPr>
        <p:spPr>
          <a:xfrm>
            <a:off x="411480" y="5449824"/>
            <a:ext cx="5394960" cy="10972"/>
          </a:xfrm>
          <a:prstGeom prst="rect">
            <a:avLst/>
          </a:prstGeom>
          <a:solidFill>
            <a:srgbClr val="A08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5513832"/>
            <a:ext cx="5669280" cy="768096"/>
          </a:xfrm>
          <a:prstGeom prst="rect">
            <a:avLst/>
          </a:prstGeom>
          <a:noFill/>
        </p:spPr>
        <p:txBody>
          <a:bodyPr wrap="square">
            <a:spAutoFit/>
          </a:bodyPr>
          <a:lstStyle/>
          <a:p>
            <a:pPr algn="l"/>
            <a:r>
              <a:rPr sz="900" b="0" i="1">
                <a:solidFill>
                  <a:srgbClr val="B4BED6"/>
                </a:solidFill>
                <a:latin typeface="Georgia"/>
              </a:rPr>
              <a:t>"The platform is live. The metrics are undeniable. We are 18 months from Series A ready. Let's build the future of fearless execution together."</a:t>
            </a:r>
          </a:p>
        </p:txBody>
      </p:sp>
      <p:sp>
        <p:nvSpPr>
          <p:cNvPr id="37" name="Rectangle 36"/>
          <p:cNvSpPr/>
          <p:nvPr/>
        </p:nvSpPr>
        <p:spPr>
          <a:xfrm>
            <a:off x="6455664" y="557784"/>
            <a:ext cx="5468112" cy="5888736"/>
          </a:xfrm>
          <a:prstGeom prst="rect">
            <a:avLst/>
          </a:prstGeom>
          <a:solidFill>
            <a:srgbClr val="0407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64224" y="502920"/>
            <a:ext cx="36576" cy="58887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wow_exec_brief.jpg"/>
          <p:cNvPicPr>
            <a:picLocks noChangeAspect="1"/>
          </p:cNvPicPr>
          <p:nvPr/>
        </p:nvPicPr>
        <p:blipFill>
          <a:blip r:embed="rId2"/>
          <a:stretch>
            <a:fillRect/>
          </a:stretch>
        </p:blipFill>
        <p:spPr>
          <a:xfrm>
            <a:off x="6400800" y="502920"/>
            <a:ext cx="5468112" cy="5888736"/>
          </a:xfrm>
          <a:prstGeom prst="rect">
            <a:avLst/>
          </a:prstGeom>
        </p:spPr>
      </p:pic>
      <p:sp>
        <p:nvSpPr>
          <p:cNvPr id="40" name="Rectangle 39"/>
          <p:cNvSpPr/>
          <p:nvPr/>
        </p:nvSpPr>
        <p:spPr>
          <a:xfrm>
            <a:off x="6400800" y="6190488"/>
            <a:ext cx="5468112" cy="201168"/>
          </a:xfrm>
          <a:prstGeom prst="rect">
            <a:avLst/>
          </a:prstGeom>
          <a:solidFill>
            <a:srgbClr val="050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D28"/>
        </a:solidFill>
        <a:effectLst/>
      </p:bgPr>
    </p:bg>
    <p:spTree>
      <p:nvGrpSpPr>
        <p:cNvPr id="1" name=""/>
        <p:cNvGrpSpPr/>
        <p:nvPr/>
      </p:nvGrpSpPr>
      <p:grpSpPr/>
      <p:sp>
        <p:nvSpPr>
          <p:cNvPr id="2" name="Rectangle 1"/>
          <p:cNvSpPr/>
          <p:nvPr/>
        </p:nvSpPr>
        <p:spPr>
          <a:xfrm>
            <a:off x="0" y="0"/>
            <a:ext cx="12188952" cy="43891"/>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88952" cy="164592"/>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201168"/>
          </a:xfrm>
          <a:prstGeom prst="rect">
            <a:avLst/>
          </a:prstGeom>
          <a:noFill/>
        </p:spPr>
        <p:txBody>
          <a:bodyPr wrap="square">
            <a:spAutoFit/>
          </a:bodyPr>
          <a:lstStyle/>
          <a:p>
            <a:pPr algn="l"/>
            <a:r>
              <a:rPr sz="800" b="1" i="0">
                <a:solidFill>
                  <a:srgbClr val="C9A84C"/>
                </a:solidFill>
                <a:latin typeface="Barlow Condensed"/>
              </a:rPr>
              <a:t>PITCH DEFENSE  ·  3 CRITICAL TRAPS TO AVOID</a:t>
            </a:r>
          </a:p>
        </p:txBody>
      </p:sp>
      <p:sp>
        <p:nvSpPr>
          <p:cNvPr id="5" name="Rectangle 4"/>
          <p:cNvSpPr/>
          <p:nvPr/>
        </p:nvSpPr>
        <p:spPr>
          <a:xfrm>
            <a:off x="457200" y="457200"/>
            <a:ext cx="11247120" cy="109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621792"/>
            <a:ext cx="11365992" cy="173736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621792"/>
            <a:ext cx="11365992" cy="2377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76656"/>
            <a:ext cx="11155680" cy="274320"/>
          </a:xfrm>
          <a:prstGeom prst="rect">
            <a:avLst/>
          </a:prstGeom>
          <a:noFill/>
        </p:spPr>
        <p:txBody>
          <a:bodyPr wrap="square">
            <a:spAutoFit/>
          </a:bodyPr>
          <a:lstStyle/>
          <a:p>
            <a:pPr algn="l"/>
            <a:r>
              <a:rPr sz="1000" b="1" i="0">
                <a:solidFill>
                  <a:srgbClr val="C9A84C"/>
                </a:solidFill>
                <a:latin typeface="Barlow Condensed"/>
              </a:rPr>
              <a:t>TRAP 1  ·  "Can't ServiceNow just add this as a feature?"</a:t>
            </a:r>
          </a:p>
        </p:txBody>
      </p:sp>
      <p:sp>
        <p:nvSpPr>
          <p:cNvPr id="9" name="TextBox 8"/>
          <p:cNvSpPr txBox="1"/>
          <p:nvPr/>
        </p:nvSpPr>
        <p:spPr>
          <a:xfrm>
            <a:off x="548640" y="987552"/>
            <a:ext cx="11155680" cy="1188720"/>
          </a:xfrm>
          <a:prstGeom prst="rect">
            <a:avLst/>
          </a:prstGeom>
          <a:noFill/>
        </p:spPr>
        <p:txBody>
          <a:bodyPr wrap="square">
            <a:spAutoFit/>
          </a:bodyPr>
          <a:lstStyle/>
          <a:p>
            <a:pPr algn="l"/>
            <a:r>
              <a:rPr sz="1000" b="0" i="1">
                <a:solidFill>
                  <a:srgbClr val="B4BED6"/>
                </a:solidFill>
                <a:latin typeface="Georgia"/>
              </a:rPr>
              <a:t>"No. ServiceNow is an asynchronous ticketing router built for post-alignment execution. VaughnMartin is a synchronous readiness engine that pre-stages the organizational alignment itself. They track the work. We engineer the capability to do it."</a:t>
            </a:r>
          </a:p>
        </p:txBody>
      </p:sp>
      <p:sp>
        <p:nvSpPr>
          <p:cNvPr id="10" name="Rectangle 9"/>
          <p:cNvSpPr/>
          <p:nvPr/>
        </p:nvSpPr>
        <p:spPr>
          <a:xfrm>
            <a:off x="411480" y="2542032"/>
            <a:ext cx="11365992" cy="173736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542032"/>
            <a:ext cx="11365992" cy="23774"/>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96896"/>
            <a:ext cx="11155680" cy="274320"/>
          </a:xfrm>
          <a:prstGeom prst="rect">
            <a:avLst/>
          </a:prstGeom>
          <a:noFill/>
        </p:spPr>
        <p:txBody>
          <a:bodyPr wrap="square">
            <a:spAutoFit/>
          </a:bodyPr>
          <a:lstStyle/>
          <a:p>
            <a:pPr algn="l"/>
            <a:r>
              <a:rPr sz="1000" b="1" i="0">
                <a:solidFill>
                  <a:srgbClr val="C9A84C"/>
                </a:solidFill>
                <a:latin typeface="Barlow Condensed"/>
              </a:rPr>
              <a:t>TRAP 2  ·  "What about AI taking autonomous action in a crisis?"</a:t>
            </a:r>
          </a:p>
        </p:txBody>
      </p:sp>
      <p:sp>
        <p:nvSpPr>
          <p:cNvPr id="13" name="TextBox 12"/>
          <p:cNvSpPr txBox="1"/>
          <p:nvPr/>
        </p:nvSpPr>
        <p:spPr>
          <a:xfrm>
            <a:off x="548640" y="2907792"/>
            <a:ext cx="11155680" cy="1188720"/>
          </a:xfrm>
          <a:prstGeom prst="rect">
            <a:avLst/>
          </a:prstGeom>
          <a:noFill/>
        </p:spPr>
        <p:txBody>
          <a:bodyPr wrap="square">
            <a:spAutoFit/>
          </a:bodyPr>
          <a:lstStyle/>
          <a:p>
            <a:pPr algn="l"/>
            <a:r>
              <a:rPr sz="1000" b="0" i="1">
                <a:solidFill>
                  <a:srgbClr val="B4BED6"/>
                </a:solidFill>
                <a:latin typeface="Georgia"/>
              </a:rPr>
              <a:t>"The system stages the choice in seconds, but an executive must click authorize. No action deploys without explicit sign-off. Say this line every time you mention speed."</a:t>
            </a:r>
          </a:p>
        </p:txBody>
      </p:sp>
      <p:sp>
        <p:nvSpPr>
          <p:cNvPr id="14" name="Rectangle 13"/>
          <p:cNvSpPr/>
          <p:nvPr/>
        </p:nvSpPr>
        <p:spPr>
          <a:xfrm>
            <a:off x="411480" y="4462272"/>
            <a:ext cx="11365992" cy="1737360"/>
          </a:xfrm>
          <a:prstGeom prst="rect">
            <a:avLst/>
          </a:prstGeom>
          <a:solidFill>
            <a:srgbClr val="101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462272"/>
            <a:ext cx="11365992" cy="23774"/>
          </a:xfrm>
          <a:prstGeom prst="rect">
            <a:avLst/>
          </a:prstGeom>
          <a:solidFill>
            <a:srgbClr val="B4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517136"/>
            <a:ext cx="11155680" cy="274320"/>
          </a:xfrm>
          <a:prstGeom prst="rect">
            <a:avLst/>
          </a:prstGeom>
          <a:noFill/>
        </p:spPr>
        <p:txBody>
          <a:bodyPr wrap="square">
            <a:spAutoFit/>
          </a:bodyPr>
          <a:lstStyle/>
          <a:p>
            <a:pPr algn="l"/>
            <a:r>
              <a:rPr sz="1000" b="1" i="0">
                <a:solidFill>
                  <a:srgbClr val="C9A84C"/>
                </a:solidFill>
                <a:latin typeface="Barlow Condensed"/>
              </a:rPr>
              <a:t>TRAP 3  ·  "How long does it take to build 170 protocols for a new client?"</a:t>
            </a:r>
          </a:p>
        </p:txBody>
      </p:sp>
      <p:sp>
        <p:nvSpPr>
          <p:cNvPr id="17" name="TextBox 16"/>
          <p:cNvSpPr txBox="1"/>
          <p:nvPr/>
        </p:nvSpPr>
        <p:spPr>
          <a:xfrm>
            <a:off x="548640" y="4828032"/>
            <a:ext cx="11155680" cy="1188720"/>
          </a:xfrm>
          <a:prstGeom prst="rect">
            <a:avLst/>
          </a:prstGeom>
          <a:noFill/>
        </p:spPr>
        <p:txBody>
          <a:bodyPr wrap="square">
            <a:spAutoFit/>
          </a:bodyPr>
          <a:lstStyle/>
          <a:p>
            <a:pPr algn="l"/>
            <a:r>
              <a:rPr sz="1000" b="0" i="1">
                <a:solidFill>
                  <a:srgbClr val="B4BED6"/>
                </a:solidFill>
                <a:latin typeface="Georgia"/>
              </a:rPr>
              <a:t>"They don't build from scratch. VaughnMartin ships with 170 out-of-the-box protocols for the most common enterprise threats. Onboarding is a configuration process — not a consulting project. 90 days to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