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0"/>
            <a:ext cx="4507992" cy="6858000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Barlow Condensed"/>
              </a:rPr>
              <a:t>VaughnMartin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91440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Barlow Condensed"/>
              </a:rPr>
              <a:t>READINESS 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261872"/>
            <a:ext cx="457200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7040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FFFFFF"/>
                </a:solidFill>
                <a:latin typeface="Georgia"/>
              </a:rPr>
              <a:t>The response is 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423160"/>
            <a:ext cx="7040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1">
                <a:solidFill>
                  <a:srgbClr val="C9A84C"/>
                </a:solidFill>
                <a:latin typeface="Georgia"/>
              </a:rPr>
              <a:t>before the trigger fires.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3520440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4BED6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3822191"/>
            <a:ext cx="6766560" cy="137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09728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INVESTOR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37160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4BED6"/>
                </a:solidFill>
                <a:latin typeface="Barlow Condensed"/>
              </a:rPr>
              <a:t>MAY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664208"/>
            <a:ext cx="3840480" cy="10972"/>
          </a:xfrm>
          <a:prstGeom prst="rect">
            <a:avLst/>
          </a:prstGeom>
          <a:solidFill>
            <a:srgbClr val="A08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92024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46888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4BED6"/>
                </a:solidFill>
                <a:latin typeface="Barlow Condensed"/>
              </a:rPr>
              <a:t>Readiness Protocols pre-staged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2788920"/>
            <a:ext cx="384048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3035808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58444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4BED6"/>
                </a:solidFill>
                <a:latin typeface="Barlow Condensed"/>
              </a:rPr>
              <a:t>Strategic triggers monitored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3904488"/>
            <a:ext cx="384048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4151376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470001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4BED6"/>
                </a:solidFill>
                <a:latin typeface="Barlow Condensed"/>
              </a:rPr>
              <a:t>30 days → execution complete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9560" y="5020056"/>
            <a:ext cx="384048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09560" y="5266944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581558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4BED6"/>
                </a:solidFill>
                <a:latin typeface="Barlow Condensed"/>
              </a:rPr>
              <a:t>Execution head start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6675120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4BED6"/>
                </a:solidFill>
                <a:latin typeface="Barlow Condensed"/>
              </a:rPr>
              <a:t>vaughnmartin.com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6675120"/>
            <a:ext cx="4663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4BED6"/>
                </a:solidFill>
                <a:latin typeface="Barlow Condensed"/>
              </a:rPr>
              <a:t>CONFIDENTIAL  ·  NOT FOR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0" y="82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Barlow Condensed"/>
              </a:rPr>
              <a:t>SLIDE 01  ·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74827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748272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B4BED6"/>
                </a:solidFill>
                <a:latin typeface="Barlow Condensed"/>
              </a:rPr>
              <a:t>vaughnmartin.com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3774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88"/>
            <a:ext cx="5669280" cy="582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Barlow Condensed"/>
              </a:rPr>
              <a:t>THE TRIGGER FIRES.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11936"/>
            <a:ext cx="5669280" cy="582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C9A84C"/>
                </a:solidFill>
                <a:latin typeface="Barlow Condensed"/>
              </a:rPr>
              <a:t>MOBILIZATION TAKES 30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01952"/>
            <a:ext cx="5577840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FFFFFF"/>
                </a:solidFill>
                <a:latin typeface="Barlow Condensed"/>
              </a:rPr>
              <a:t>▶  Startup to Fortune 500 enterprises detect strategic triggers quickly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8201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FFFFFF"/>
                </a:solidFill>
                <a:latin typeface="Barlow Condensed"/>
              </a:rPr>
              <a:t>▶  Most spend 30 days aligning ownership, authority, and sequence before execution begins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3405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FFFFFF"/>
                </a:solidFill>
                <a:latin typeface="Barlow Condensed"/>
              </a:rPr>
              <a:t>▶  The delay is not execution — it is mobilization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0861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FFFFFF"/>
                </a:solidFill>
                <a:latin typeface="Barlow Condensed"/>
              </a:rPr>
              <a:t>▶  Every week of delay is a window the competitor, regulator, or activist owns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114800"/>
            <a:ext cx="2560320" cy="8412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4114800"/>
            <a:ext cx="2560320" cy="2560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4151376"/>
            <a:ext cx="23774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" y="4617720"/>
            <a:ext cx="2377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4BED6"/>
                </a:solidFill>
                <a:latin typeface="Barlow Condensed"/>
              </a:rPr>
              <a:t>Execution Head Start  ·  30 days → 12 minutes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065776"/>
            <a:ext cx="5596128" cy="53035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54498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4BED6"/>
                </a:solidFill>
                <a:latin typeface="Barlow Condensed"/>
              </a:rPr>
              <a:t>$4.4T at risk annually from enterprise coordination failures. Preparation Infrastructure is the unclaimed software layer above every existing AI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449824"/>
            <a:ext cx="5394960" cy="10972"/>
          </a:xfrm>
          <a:prstGeom prst="rect">
            <a:avLst/>
          </a:prstGeom>
          <a:solidFill>
            <a:srgbClr val="A08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513832"/>
            <a:ext cx="56692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BED6"/>
                </a:solidFill>
                <a:latin typeface="Georgia"/>
              </a:rPr>
              <a:t>"Most organizations do not have a strategy problem. They have a mobilization problem. When a trigger fires, the first weeks are spent figuring out who decides."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5664" y="557784"/>
            <a:ext cx="5468112" cy="5888736"/>
          </a:xfrm>
          <a:prstGeom prst="rect">
            <a:avLst/>
          </a:prstGeom>
          <a:solidFill>
            <a:srgbClr val="04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64224" y="502920"/>
            <a:ext cx="36576" cy="5888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ow_command_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02920"/>
            <a:ext cx="5468112" cy="5888736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400800" y="6190488"/>
            <a:ext cx="5468112" cy="201168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0" y="82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Barlow Condensed"/>
              </a:rPr>
              <a:t>SLIDE 02  ·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74827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748272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B4BED6"/>
                </a:solidFill>
                <a:latin typeface="Barlow Condensed"/>
              </a:rPr>
              <a:t>vaughnmartin.com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37744"/>
            <a:ext cx="11338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THE FOUNDER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88"/>
            <a:ext cx="11338560" cy="663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Barlow Condensed"/>
              </a:rPr>
              <a:t>BUILT FROM BOTH WORLDS.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54480"/>
            <a:ext cx="11155680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719072"/>
            <a:ext cx="5285232" cy="237744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737360"/>
            <a:ext cx="5102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FORTUNE 500 OPERATIONS  ·  20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048256"/>
            <a:ext cx="5102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Barlow Condensed"/>
              </a:rPr>
              <a:t>·  Ford · Toyota · Lockheed Martin · Charles Schwab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2395728"/>
            <a:ext cx="5102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Barlow Condensed"/>
              </a:rPr>
              <a:t>·  Watched the 30-day mobilization failure repeat across every organization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743200"/>
            <a:ext cx="5102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Barlow Condensed"/>
              </a:rPr>
              <a:t>·  Same preparation gap — different trigger, identical delay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90672"/>
            <a:ext cx="5102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Barlow Condensed"/>
              </a:rPr>
              <a:t>·  Built Readiness OS in 2023 to end that pattern permanently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719072"/>
            <a:ext cx="5285232" cy="237744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737360"/>
            <a:ext cx="5102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Barlow Condensed"/>
              </a:rPr>
              <a:t>STANFORD UNIVERSITY  ·  FOOTBALL COACHING  ·  5 YEARS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048256"/>
            <a:ext cx="5102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Barlow Condensed"/>
              </a:rPr>
              <a:t>·  Major college football — a billion-dollar coordinated operation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395728"/>
            <a:ext cx="5102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Barlow Condensed"/>
              </a:rPr>
              <a:t>·  40-second play clock — full organizational response under pressure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743200"/>
            <a:ext cx="5102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Barlow Condensed"/>
              </a:rPr>
              <a:t>·  Every response pre-staged before the trigger fires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3090672"/>
            <a:ext cx="5102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Barlow Condensed"/>
              </a:rPr>
              <a:t>·  The preparation IS the execution — not a metaphor, the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11155680" cy="274320"/>
          </a:xfrm>
          <a:prstGeom prst="rect">
            <a:avLst/>
          </a:prstGeom>
          <a:solidFill>
            <a:srgbClr val="162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58444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9A84C"/>
                </a:solidFill>
                <a:latin typeface="Barlow Condensed"/>
              </a:rPr>
              <a:t>THE INTERSECTION  —  WHERE PREPARATION DISCIPLINE MEETS ENTERPRISE EXECUTION FAILURE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449824"/>
            <a:ext cx="10881359" cy="10972"/>
          </a:xfrm>
          <a:prstGeom prst="rect">
            <a:avLst/>
          </a:prstGeom>
          <a:solidFill>
            <a:srgbClr val="A08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5513832"/>
            <a:ext cx="111556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BED6"/>
                </a:solidFill>
                <a:latin typeface="Georgia"/>
              </a:rPr>
              <a:t>"Very few people get exposure to both worlds at the depth where those lessons translate directly. I did. And I built the infrastructure that closes the gap permanently."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0" y="82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Barlow Condensed"/>
              </a:rPr>
              <a:t>SLIDE 03  ·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74827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748272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B4BED6"/>
                </a:solidFill>
                <a:latin typeface="Barlow Condensed"/>
              </a:rPr>
              <a:t>vaughnmartin.com/how-it-executes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3774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THE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88"/>
            <a:ext cx="5669280" cy="354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C9A84C"/>
                </a:solidFill>
                <a:latin typeface="Barlow Condensed"/>
              </a:rPr>
              <a:t>READINESS OS: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784352"/>
            <a:ext cx="56692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23264"/>
            <a:ext cx="56692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86000"/>
            <a:ext cx="5577840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41401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170 Readiness Protocols — Growth &amp; Positioning, Risk &amp; Resilience, Transformation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660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221 strategic trigger patterns monitored continuously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1181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248+ data points confidence-scored every 15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4701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AI monitors. Executives authorize. No protocol activates without sign-off.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822191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3,600× Execution Head Start — 30 days compressed to 12 minutes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449824"/>
            <a:ext cx="5394960" cy="10972"/>
          </a:xfrm>
          <a:prstGeom prst="rect">
            <a:avLst/>
          </a:prstGeom>
          <a:solidFill>
            <a:srgbClr val="A08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513832"/>
            <a:ext cx="56692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BED6"/>
                </a:solidFill>
                <a:latin typeface="Georgia"/>
              </a:rPr>
              <a:t>"Every enterprise has Microsoft's AI stack. None have the operating model to use it. Readiness OS is that operating model layer — not a replacement, the orchestrator."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55664" y="557784"/>
            <a:ext cx="5468112" cy="5888736"/>
          </a:xfrm>
          <a:prstGeom prst="rect">
            <a:avLst/>
          </a:prstGeom>
          <a:solidFill>
            <a:srgbClr val="04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64224" y="502920"/>
            <a:ext cx="36576" cy="5888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ow_executes_ch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02920"/>
            <a:ext cx="5468112" cy="588873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400800" y="6190488"/>
            <a:ext cx="5468112" cy="201168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0" y="82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Barlow Condensed"/>
              </a:rPr>
              <a:t>SLIDE 04  ·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74827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748272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B4BED6"/>
                </a:solidFill>
                <a:latin typeface="Barlow Condensed"/>
              </a:rPr>
              <a:t>vaughnmartin.com/platform-reality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37744"/>
            <a:ext cx="11338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WHY WE 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88"/>
            <a:ext cx="11338560" cy="598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Barlow Condensed"/>
              </a:rPr>
              <a:t>THE MOAT COMPOUNDS.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28191"/>
            <a:ext cx="11338560" cy="419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B4BED6"/>
                </a:solidFill>
                <a:latin typeface="Barlow Condensed"/>
              </a:rPr>
              <a:t>COMPETITORS START AT ZERO.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37360"/>
            <a:ext cx="11155680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88366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WHERE COMPETITORS STOP SHORT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084831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Signal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0848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Routes the signal. Stops before the response is staged.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340863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4231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ServiceNow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423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Automates workflows after alignment. We pre-stage the alignment.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679191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7614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Microsoft Copilot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7614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Produces intelligence. We pre-stage the organizational response to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017520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09981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McKinsey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309981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Arrives after the trigger fires. We were ready before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355848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883664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THE MOAT — WHAT MAKES US HARD TO CATCH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084831"/>
            <a:ext cx="5486400" cy="274320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2121408"/>
            <a:ext cx="5349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Barlow Condensed"/>
              </a:rPr>
              <a:t>Compounding Loop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2414015"/>
            <a:ext cx="5349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Every activation encodes what held. Preparation compounds after each cycle.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044952"/>
            <a:ext cx="544068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291839"/>
            <a:ext cx="5486400" cy="274320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3328415"/>
            <a:ext cx="5349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Barlow Condensed"/>
              </a:rPr>
              <a:t>Org Context Intelligence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3621023"/>
            <a:ext cx="5349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Signal confidence + preparedness score. No generic platform replicates this.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51959"/>
            <a:ext cx="544068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4498848"/>
            <a:ext cx="5486400" cy="274320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535424"/>
            <a:ext cx="5349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Barlow Condensed"/>
              </a:rPr>
              <a:t>Encoding Permanence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4828032"/>
            <a:ext cx="5349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18 months of activations creates an intelligence layer competitors cannot offer on day one.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449824"/>
            <a:ext cx="10881359" cy="10972"/>
          </a:xfrm>
          <a:prstGeom prst="rect">
            <a:avLst/>
          </a:prstGeom>
          <a:solidFill>
            <a:srgbClr val="A08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5513832"/>
            <a:ext cx="111556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BED6"/>
                </a:solidFill>
                <a:latin typeface="Georgia"/>
              </a:rPr>
              <a:t>"Signal Labs routes the signal. ServiceNow runs the workflow. McKinsey arrives after the trigger. We had the response pre-staged before any of them were called."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0" y="82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Barlow Condensed"/>
              </a:rPr>
              <a:t>SLIDE 05  ·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74827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748272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B4BED6"/>
                </a:solidFill>
                <a:latin typeface="Barlow Condensed"/>
              </a:rPr>
              <a:t>vaughnmartin.com/how-it-executes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3774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88"/>
            <a:ext cx="5669280" cy="517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Barlow Condensed"/>
              </a:rPr>
              <a:t>FROM TRIGGER 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46912"/>
            <a:ext cx="5669280" cy="517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C9A84C"/>
                </a:solidFill>
                <a:latin typeface="Barlow Condensed"/>
              </a:rPr>
              <a:t>EXECUTION IN 12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83664"/>
            <a:ext cx="5577840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457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9A84C"/>
                </a:solidFill>
                <a:latin typeface="Barlow Condensed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048256"/>
            <a:ext cx="50657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Barlow Condensed"/>
              </a:rPr>
              <a:t>Signal detected — confidence scored against 221 strategic trigger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05456"/>
            <a:ext cx="457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9A84C"/>
                </a:solidFill>
                <a:latin typeface="Barlow Condensed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542032"/>
            <a:ext cx="50657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Barlow Condensed"/>
              </a:rPr>
              <a:t>Matching Readiness Protocol staged — tasks assigned, stakeholders mapped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999232"/>
            <a:ext cx="457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9A84C"/>
                </a:solidFill>
                <a:latin typeface="Barlow Condensed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035808"/>
            <a:ext cx="50657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Barlow Condensed"/>
              </a:rPr>
              <a:t>Execution Brief delivered — full decision context pre-staged, ready to authorize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93008"/>
            <a:ext cx="457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9A84C"/>
                </a:solidFill>
                <a:latin typeface="Barlow Condensed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529584"/>
            <a:ext cx="50657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Barlow Condensed"/>
              </a:rPr>
              <a:t>Executive authorizes — four real choices including Stand Down. No action without sign-off.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986784"/>
            <a:ext cx="457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9A84C"/>
                </a:solidFill>
                <a:latin typeface="Barlow Condensed"/>
              </a:rPr>
              <a:t>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023360"/>
            <a:ext cx="50657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Barlow Condensed"/>
              </a:rPr>
              <a:t>Response live — 12 minutes from signal to coordinated organizational execution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35424"/>
            <a:ext cx="5596128" cy="62179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535424"/>
            <a:ext cx="5596128" cy="2377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572000"/>
            <a:ext cx="54498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Barlow Condensed"/>
              </a:rPr>
              <a:t>3,600×  EXECUTION HEAD 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64608"/>
            <a:ext cx="54498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4BED6"/>
                </a:solidFill>
                <a:latin typeface="Barlow Condensed"/>
              </a:rPr>
              <a:t>30 days of mobilization compressed to 12 minutes  ·  startup to Fortune 500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449824"/>
            <a:ext cx="5394960" cy="10972"/>
          </a:xfrm>
          <a:prstGeom prst="rect">
            <a:avLst/>
          </a:prstGeom>
          <a:solidFill>
            <a:srgbClr val="A08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5513832"/>
            <a:ext cx="56692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BED6"/>
                </a:solidFill>
                <a:latin typeface="Georgia"/>
              </a:rPr>
              <a:t>"The preparation is the execution. When the trigger fires, the response is already designed, assigned, and waiting for executive authorization."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55664" y="557784"/>
            <a:ext cx="5468112" cy="5888736"/>
          </a:xfrm>
          <a:prstGeom prst="rect">
            <a:avLst/>
          </a:prstGeom>
          <a:solidFill>
            <a:srgbClr val="04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64224" y="502920"/>
            <a:ext cx="36576" cy="5888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ow_12min_scenari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02920"/>
            <a:ext cx="5468112" cy="5888736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400800" y="6190488"/>
            <a:ext cx="5468112" cy="201168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0" y="82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Barlow Condensed"/>
              </a:rPr>
              <a:t>SLIDE 06  ·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74827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748272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B4BED6"/>
                </a:solidFill>
                <a:latin typeface="Barlow Condensed"/>
              </a:rPr>
              <a:t>vaughnmartin.com/proof-story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3774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PROOF — NOW, NOT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88"/>
            <a:ext cx="5669280" cy="663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Barlow Condensed"/>
              </a:rPr>
              <a:t>BUILT.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3216"/>
            <a:ext cx="5669280" cy="663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9A84C"/>
                </a:solidFill>
                <a:latin typeface="Barlow Condensed"/>
              </a:rPr>
              <a:t>LIVE.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0943"/>
            <a:ext cx="5669280" cy="435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B4BED6"/>
                </a:solidFill>
                <a:latin typeface="Barlow Condensed"/>
              </a:rPr>
              <a:t>IN PRODUCTION NOW.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5577840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560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Production platform live — vaughnmartin.com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912363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170 protocols active · 221 triggers monitored · 248+ data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264407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Full public execution walkthrough at vaughnmartin.com/how-it-executes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616451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12-Minute Test Drive — run any of 7 real scenarios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968495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Founding Partner cohort open for 90-day validation partnership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449824"/>
            <a:ext cx="5394960" cy="10972"/>
          </a:xfrm>
          <a:prstGeom prst="rect">
            <a:avLst/>
          </a:prstGeom>
          <a:solidFill>
            <a:srgbClr val="A08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513832"/>
            <a:ext cx="56692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BED6"/>
                </a:solidFill>
                <a:latin typeface="Georgia"/>
              </a:rPr>
              <a:t>"This is not a roadmap concept. The platform is live, running, and testable. Run a full scenario now at vaughnmartin.com/how-it-executes."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55664" y="557784"/>
            <a:ext cx="5468112" cy="5888736"/>
          </a:xfrm>
          <a:prstGeom prst="rect">
            <a:avLst/>
          </a:prstGeom>
          <a:solidFill>
            <a:srgbClr val="04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64224" y="502920"/>
            <a:ext cx="36576" cy="5888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ow_proof_timeli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02920"/>
            <a:ext cx="5468112" cy="588873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400800" y="6190488"/>
            <a:ext cx="5468112" cy="201168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0" y="82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Barlow Condensed"/>
              </a:rPr>
              <a:t>SLIDE 07  ·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74827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748272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B4BED6"/>
                </a:solidFill>
                <a:latin typeface="Barlow Condensed"/>
              </a:rPr>
              <a:t>vaughnmartin.com/roi-calculator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3774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BUSINESS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88"/>
            <a:ext cx="5669280" cy="500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Barlow Condensed"/>
              </a:rPr>
              <a:t>REPLACE EXISTING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30656"/>
            <a:ext cx="5669280" cy="500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Barlow Condensed"/>
              </a:rPr>
              <a:t>SPEND WITH EXECUTION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385824"/>
            <a:ext cx="5669280" cy="500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Barlow Condensed"/>
              </a:rPr>
              <a:t>INFRASTRUCTURE.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304288"/>
            <a:ext cx="5577840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4323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Existing budgets already fund reactive, post-trigger response motions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7843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Readiness OS shifts spend to pre-staged execution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136391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Estimated $61.3M annual value for enterprises facing 3+ strategic triggers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488435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Barlow Condensed"/>
              </a:rPr>
              <a:t>▶  Replaces $400K–$800K consulting retainer with repeatable 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23360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PRICING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2245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422452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$75K / 90-day validation  ·  12 seats  ·  Cohort forming now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480560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5628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456285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$75K–$250K annually  ·  Annual recurring  ·  No per-seat pricing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818888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90118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Enterprise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90118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$250K+  ·  Microsoft stack integration  ·  Custom SLA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157216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5449824"/>
            <a:ext cx="5394960" cy="10972"/>
          </a:xfrm>
          <a:prstGeom prst="rect">
            <a:avLst/>
          </a:prstGeom>
          <a:solidFill>
            <a:srgbClr val="A08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513832"/>
            <a:ext cx="56692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BED6"/>
                </a:solidFill>
                <a:latin typeface="Georgia"/>
              </a:rPr>
              <a:t>"We are not asking enterprises to invent new budget. We are replacing existing response spend with a repeatable operating model that compounds in value with every activation."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55664" y="557784"/>
            <a:ext cx="5468112" cy="5888736"/>
          </a:xfrm>
          <a:prstGeom prst="rect">
            <a:avLst/>
          </a:prstGeom>
          <a:solidFill>
            <a:srgbClr val="04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4224" y="502920"/>
            <a:ext cx="36576" cy="5888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ow_roi_res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02920"/>
            <a:ext cx="5468112" cy="588873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400800" y="6190488"/>
            <a:ext cx="5468112" cy="201168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0" y="82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Barlow Condensed"/>
              </a:rPr>
              <a:t>SLIDE 08  ·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080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74827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Barlow Condensed"/>
              </a:rPr>
              <a:t>VaughnMartin  ·  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748272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B4BED6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3774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88"/>
            <a:ext cx="5669280" cy="38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C9A84C"/>
                </a:solidFill>
                <a:latin typeface="Barlow Condensed"/>
              </a:rPr>
              <a:t>CATEGORY CREATION: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16864"/>
            <a:ext cx="5669280" cy="54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Barlow Condensed"/>
              </a:rPr>
              <a:t>PREPARATION INFRASTRUCTURE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10512"/>
            <a:ext cx="5577840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95681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Barlow Condensed"/>
              </a:rPr>
              <a:t>▶  Raising: Up to $1,000,000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088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Barlow Condensed"/>
              </a:rPr>
              <a:t>▶  Product hardening + enterprise-grade access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609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Barlow Condensed"/>
              </a:rPr>
              <a:t>▶  Founding Partner conversions + repeatable GTM 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108960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18-MONTH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101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Mo.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31012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3 Founding Partners on recurring contracts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566160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6484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Mo.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64845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Enterprise controls complete  ·  Microsoft integration certified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904488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9867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Mo.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98678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Repeatable GTM with documented proof stories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42816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32511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Mo. 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3251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4BED6"/>
                </a:solidFill>
                <a:latin typeface="Barlow Condensed"/>
              </a:rPr>
              <a:t>Category established  ·  Series A ready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581144"/>
            <a:ext cx="5577840" cy="1097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5157216"/>
            <a:ext cx="5596128" cy="71323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157216"/>
            <a:ext cx="5596128" cy="2377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193792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449824"/>
            <a:ext cx="5449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4BED6"/>
                </a:solidFill>
                <a:latin typeface="Barlow Condensed"/>
              </a:rPr>
              <a:t>Any organization prepared for every situation it expects to face is no longer afraid of strategic triggers — it is fearless.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449824"/>
            <a:ext cx="5394960" cy="10972"/>
          </a:xfrm>
          <a:prstGeom prst="rect">
            <a:avLst/>
          </a:prstGeom>
          <a:solidFill>
            <a:srgbClr val="A08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5513832"/>
            <a:ext cx="56692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BED6"/>
                </a:solidFill>
                <a:latin typeface="Georgia"/>
              </a:rPr>
              <a:t>"Every enterprise has AI capability. Very few have mobilization readiness. We built that layer. The response is ready before the trigger fires."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55664" y="557784"/>
            <a:ext cx="5468112" cy="5888736"/>
          </a:xfrm>
          <a:prstGeom prst="rect">
            <a:avLst/>
          </a:prstGeom>
          <a:solidFill>
            <a:srgbClr val="04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64224" y="502920"/>
            <a:ext cx="36576" cy="5888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ow_exec_brie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02920"/>
            <a:ext cx="5468112" cy="5888736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400800" y="6190488"/>
            <a:ext cx="5468112" cy="201168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APPENDIX  ·  SOURCES &amp;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6499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4BED6"/>
                </a:solidFill>
                <a:latin typeface="Barlow Condensed"/>
              </a:rPr>
              <a:t>VaughnMartin Readiness OS  ·  Investor Pitch  ·  May 2026  ·  vaughnmartin.com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