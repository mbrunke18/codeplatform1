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"/>
            <a:ext cx="12188952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3152"/>
            <a:ext cx="1701746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97112" y="1920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B8A6E"/>
                </a:solidFill>
                <a:latin typeface="Calibri"/>
              </a:rPr>
              <a:t>POST-DIGITAL ENTERPRISE SHIFT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914400"/>
            <a:ext cx="457200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1042416"/>
            <a:ext cx="55092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Built for the Post-Digital Enterprise Shift.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2322576"/>
            <a:ext cx="55092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B8A6E"/>
                </a:solidFill>
                <a:latin typeface="Georgia"/>
              </a:rPr>
              <a:t>From task automation to governed operational autonomy.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2944368"/>
            <a:ext cx="5509260" cy="27432"/>
          </a:xfrm>
          <a:prstGeom prst="rect">
            <a:avLst/>
          </a:prstGeom>
          <a:solidFill>
            <a:srgbClr val="1E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3108960"/>
            <a:ext cx="5509260" cy="950976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" y="3108960"/>
            <a:ext cx="36576" cy="9509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28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AUTONOMY 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2"/>
            <a:ext cx="52898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096B2"/>
                </a:solidFill>
                <a:latin typeface="Calibri"/>
              </a:rPr>
              <a:t>Most enterprises are entering an autonomy era driven by AI agents and adaptive systems — the operating model hasn't caught 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" y="4169664"/>
            <a:ext cx="5509260" cy="950976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" y="4169664"/>
            <a:ext cx="36576" cy="9509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61104"/>
            <a:ext cx="528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B8A6E"/>
                </a:solidFill>
                <a:latin typeface="Calibri"/>
              </a:rPr>
              <a:t>FOCUSED WHERE VALUE IS HIGHEST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17136"/>
            <a:ext cx="52898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096B2"/>
                </a:solidFill>
                <a:latin typeface="Calibri"/>
              </a:rPr>
              <a:t>Readiness OS directs this shift to strategic detection, executive decisioning, and coordinated execution — not task automation.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" y="5230368"/>
            <a:ext cx="5509260" cy="950976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2336" y="5230368"/>
            <a:ext cx="36576" cy="9509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21808"/>
            <a:ext cx="528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CONTROLLED PATH TO AUTONOMY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77840"/>
            <a:ext cx="52898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096B2"/>
                </a:solidFill>
                <a:latin typeface="Calibri"/>
              </a:rPr>
              <a:t>Machine-speed monitoring + human authority + full auditability. Faster without losing control.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914400"/>
            <a:ext cx="55092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7332"/>
                </a:solidFill>
                <a:latin typeface="Calibri"/>
              </a:rPr>
              <a:t>WHERE READINESS OS FITS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7356" y="1298448"/>
            <a:ext cx="5509260" cy="676656"/>
          </a:xfrm>
          <a:prstGeom prst="rect">
            <a:avLst/>
          </a:prstGeom>
          <a:solidFill>
            <a:srgbClr val="0C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7356" y="1298448"/>
            <a:ext cx="5509260" cy="457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1948" y="1389888"/>
            <a:ext cx="52532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8A6E"/>
                </a:solidFill>
                <a:latin typeface="Calibri"/>
              </a:rPr>
              <a:t>AUTONOMY SHIFT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1948" y="1664208"/>
            <a:ext cx="52532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FD4"/>
                </a:solidFill>
                <a:latin typeface="Calibri"/>
              </a:rPr>
              <a:t>Post-digital enterprise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7356" y="2066544"/>
            <a:ext cx="5509260" cy="676656"/>
          </a:xfrm>
          <a:prstGeom prst="rect">
            <a:avLst/>
          </a:prstGeom>
          <a:solidFill>
            <a:srgbClr val="0C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7356" y="2066544"/>
            <a:ext cx="55092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1948" y="2157984"/>
            <a:ext cx="52532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READINESS 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1948" y="2432304"/>
            <a:ext cx="52532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FD4"/>
                </a:solidFill>
                <a:latin typeface="Calibri"/>
              </a:rPr>
              <a:t>Governed execution readiness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77356" y="2834640"/>
            <a:ext cx="5509260" cy="676656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7356" y="2834640"/>
            <a:ext cx="36576" cy="676656"/>
          </a:xfrm>
          <a:prstGeom prst="rect">
            <a:avLst/>
          </a:prstGeom>
          <a:solidFill>
            <a:srgbClr val="DCC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2926080"/>
            <a:ext cx="52532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C070"/>
                </a:solidFill>
                <a:latin typeface="Calibri"/>
              </a:rPr>
              <a:t>MAP · MONITOR · DECIDE · EXECUTE · LEARN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1948" y="3200400"/>
            <a:ext cx="52532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6B2"/>
                </a:solidFill>
                <a:latin typeface="Calibri"/>
              </a:rPr>
              <a:t>The full advantage lifecycle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7356" y="3602736"/>
            <a:ext cx="5509260" cy="676656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7356" y="3602736"/>
            <a:ext cx="36576" cy="676656"/>
          </a:xfrm>
          <a:prstGeom prst="rect">
            <a:avLst/>
          </a:prstGeom>
          <a:solidFill>
            <a:srgbClr val="5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1948" y="3694176"/>
            <a:ext cx="52532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8BD4"/>
                </a:solidFill>
                <a:latin typeface="Calibri"/>
              </a:rPr>
              <a:t>MICROSOFT AI STACK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1948" y="3968496"/>
            <a:ext cx="52532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6B2"/>
                </a:solidFill>
                <a:latin typeface="Calibri"/>
              </a:rPr>
              <a:t>Copilot · Entra · Teams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7356" y="4370832"/>
            <a:ext cx="5509260" cy="676656"/>
          </a:xfrm>
          <a:prstGeom prst="rect">
            <a:avLst/>
          </a:prstGeom>
          <a:solidFill>
            <a:srgbClr val="0C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77356" y="4370832"/>
            <a:ext cx="36576" cy="676656"/>
          </a:xfrm>
          <a:prstGeom prst="rect">
            <a:avLst/>
          </a:prstGeom>
          <a:solidFill>
            <a:srgbClr val="444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1948" y="4462272"/>
            <a:ext cx="52532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C66"/>
                </a:solidFill>
                <a:latin typeface="Calibri"/>
              </a:rPr>
              <a:t>ERP / CRM / ITSM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1948" y="4736592"/>
            <a:ext cx="52532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6B2"/>
                </a:solidFill>
                <a:latin typeface="Calibri"/>
              </a:rPr>
              <a:t>Existing enterprise systems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" y="6601968"/>
            <a:ext cx="731337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7332"/>
                </a:solidFill>
                <a:latin typeface="Georgia"/>
              </a:rPr>
              <a:t>Signal advantage before execution advantage.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1672" y="6601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3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