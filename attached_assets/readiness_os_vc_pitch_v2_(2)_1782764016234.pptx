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9" d="100"/>
          <a:sy n="219" d="100"/>
        </p:scale>
        <p:origin x="12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y Brunke (CDI)" userId="aa0f0d8e-10a8-4398-ac74-f826db4e9c62" providerId="ADAL" clId="{146842E8-C763-4B12-9863-E2A35E1F904D}"/>
    <pc:docChg chg="modSld">
      <pc:chgData name="Marty Brunke (CDI)" userId="aa0f0d8e-10a8-4398-ac74-f826db4e9c62" providerId="ADAL" clId="{146842E8-C763-4B12-9863-E2A35E1F904D}" dt="2026-06-26T20:55:05.966" v="76" actId="403"/>
      <pc:docMkLst>
        <pc:docMk/>
      </pc:docMkLst>
      <pc:sldChg chg="modSp mod">
        <pc:chgData name="Marty Brunke (CDI)" userId="aa0f0d8e-10a8-4398-ac74-f826db4e9c62" providerId="ADAL" clId="{146842E8-C763-4B12-9863-E2A35E1F904D}" dt="2026-06-26T20:51:28.382" v="2" actId="1076"/>
        <pc:sldMkLst>
          <pc:docMk/>
          <pc:sldMk cId="0" sldId="257"/>
        </pc:sldMkLst>
        <pc:spChg chg="mod">
          <ac:chgData name="Marty Brunke (CDI)" userId="aa0f0d8e-10a8-4398-ac74-f826db4e9c62" providerId="ADAL" clId="{146842E8-C763-4B12-9863-E2A35E1F904D}" dt="2026-06-26T20:51:28.382" v="2" actId="1076"/>
          <ac:spMkLst>
            <pc:docMk/>
            <pc:sldMk cId="0" sldId="257"/>
            <ac:spMk id="82" creationId="{00000000-0000-0000-0000-000000000000}"/>
          </ac:spMkLst>
        </pc:spChg>
      </pc:sldChg>
      <pc:sldChg chg="modSp mod">
        <pc:chgData name="Marty Brunke (CDI)" userId="aa0f0d8e-10a8-4398-ac74-f826db4e9c62" providerId="ADAL" clId="{146842E8-C763-4B12-9863-E2A35E1F904D}" dt="2026-06-26T20:51:35.521" v="4" actId="404"/>
        <pc:sldMkLst>
          <pc:docMk/>
          <pc:sldMk cId="0" sldId="258"/>
        </pc:sldMkLst>
        <pc:spChg chg="mod">
          <ac:chgData name="Marty Brunke (CDI)" userId="aa0f0d8e-10a8-4398-ac74-f826db4e9c62" providerId="ADAL" clId="{146842E8-C763-4B12-9863-E2A35E1F904D}" dt="2026-06-26T20:51:35.521" v="4" actId="404"/>
          <ac:spMkLst>
            <pc:docMk/>
            <pc:sldMk cId="0" sldId="258"/>
            <ac:spMk id="50" creationId="{00000000-0000-0000-0000-000000000000}"/>
          </ac:spMkLst>
        </pc:spChg>
      </pc:sldChg>
      <pc:sldChg chg="modSp mod">
        <pc:chgData name="Marty Brunke (CDI)" userId="aa0f0d8e-10a8-4398-ac74-f826db4e9c62" providerId="ADAL" clId="{146842E8-C763-4B12-9863-E2A35E1F904D}" dt="2026-06-26T20:55:05.966" v="76" actId="403"/>
        <pc:sldMkLst>
          <pc:docMk/>
          <pc:sldMk cId="0" sldId="259"/>
        </pc:sldMkLst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5:05.966" v="76" actId="403"/>
          <ac:spMkLst>
            <pc:docMk/>
            <pc:sldMk cId="0" sldId="259"/>
            <ac:spMk id="39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55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56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58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61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67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68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69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70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09.110" v="41" actId="1035"/>
          <ac:spMkLst>
            <pc:docMk/>
            <pc:sldMk cId="0" sldId="259"/>
            <ac:spMk id="72" creationId="{00000000-0000-0000-0000-000000000000}"/>
          </ac:spMkLst>
        </pc:spChg>
      </pc:sldChg>
      <pc:sldChg chg="modSp mod">
        <pc:chgData name="Marty Brunke (CDI)" userId="aa0f0d8e-10a8-4398-ac74-f826db4e9c62" providerId="ADAL" clId="{146842E8-C763-4B12-9863-E2A35E1F904D}" dt="2026-06-26T20:52:40.961" v="45" actId="1076"/>
        <pc:sldMkLst>
          <pc:docMk/>
          <pc:sldMk cId="0" sldId="260"/>
        </pc:sldMkLst>
        <pc:spChg chg="mod">
          <ac:chgData name="Marty Brunke (CDI)" userId="aa0f0d8e-10a8-4398-ac74-f826db4e9c62" providerId="ADAL" clId="{146842E8-C763-4B12-9863-E2A35E1F904D}" dt="2026-06-26T20:52:40.961" v="45" actId="1076"/>
          <ac:spMkLst>
            <pc:docMk/>
            <pc:sldMk cId="0" sldId="260"/>
            <ac:spMk id="85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2:27.800" v="43" actId="1076"/>
          <ac:spMkLst>
            <pc:docMk/>
            <pc:sldMk cId="0" sldId="260"/>
            <ac:spMk id="86" creationId="{00000000-0000-0000-0000-000000000000}"/>
          </ac:spMkLst>
        </pc:spChg>
      </pc:sldChg>
      <pc:sldChg chg="modSp mod">
        <pc:chgData name="Marty Brunke (CDI)" userId="aa0f0d8e-10a8-4398-ac74-f826db4e9c62" providerId="ADAL" clId="{146842E8-C763-4B12-9863-E2A35E1F904D}" dt="2026-06-26T20:52:55.288" v="46" actId="1076"/>
        <pc:sldMkLst>
          <pc:docMk/>
          <pc:sldMk cId="0" sldId="261"/>
        </pc:sldMkLst>
        <pc:spChg chg="mod">
          <ac:chgData name="Marty Brunke (CDI)" userId="aa0f0d8e-10a8-4398-ac74-f826db4e9c62" providerId="ADAL" clId="{146842E8-C763-4B12-9863-E2A35E1F904D}" dt="2026-06-26T20:52:55.288" v="46" actId="1076"/>
          <ac:spMkLst>
            <pc:docMk/>
            <pc:sldMk cId="0" sldId="261"/>
            <ac:spMk id="37" creationId="{00000000-0000-0000-0000-000000000000}"/>
          </ac:spMkLst>
        </pc:spChg>
      </pc:sldChg>
      <pc:sldChg chg="modSp mod">
        <pc:chgData name="Marty Brunke (CDI)" userId="aa0f0d8e-10a8-4398-ac74-f826db4e9c62" providerId="ADAL" clId="{146842E8-C763-4B12-9863-E2A35E1F904D}" dt="2026-06-26T20:53:19.879" v="48" actId="1076"/>
        <pc:sldMkLst>
          <pc:docMk/>
          <pc:sldMk cId="0" sldId="263"/>
        </pc:sldMkLst>
        <pc:spChg chg="mod">
          <ac:chgData name="Marty Brunke (CDI)" userId="aa0f0d8e-10a8-4398-ac74-f826db4e9c62" providerId="ADAL" clId="{146842E8-C763-4B12-9863-E2A35E1F904D}" dt="2026-06-26T20:53:19.879" v="48" actId="1076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Marty Brunke (CDI)" userId="aa0f0d8e-10a8-4398-ac74-f826db4e9c62" providerId="ADAL" clId="{146842E8-C763-4B12-9863-E2A35E1F904D}" dt="2026-06-26T20:54:28.682" v="63" actId="404"/>
        <pc:sldMkLst>
          <pc:docMk/>
          <pc:sldMk cId="0" sldId="264"/>
        </pc:sldMkLst>
        <pc:spChg chg="mod">
          <ac:chgData name="Marty Brunke (CDI)" userId="aa0f0d8e-10a8-4398-ac74-f826db4e9c62" providerId="ADAL" clId="{146842E8-C763-4B12-9863-E2A35E1F904D}" dt="2026-06-26T20:54:28.682" v="63" actId="404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Marty Brunke (CDI)" userId="aa0f0d8e-10a8-4398-ac74-f826db4e9c62" providerId="ADAL" clId="{146842E8-C763-4B12-9863-E2A35E1F904D}" dt="2026-06-26T20:53:40.706" v="50" actId="1076"/>
        <pc:sldMkLst>
          <pc:docMk/>
          <pc:sldMk cId="0" sldId="265"/>
        </pc:sldMkLst>
        <pc:spChg chg="mod">
          <ac:chgData name="Marty Brunke (CDI)" userId="aa0f0d8e-10a8-4398-ac74-f826db4e9c62" providerId="ADAL" clId="{146842E8-C763-4B12-9863-E2A35E1F904D}" dt="2026-06-26T20:53:40.706" v="50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3:32.680" v="49" actId="1076"/>
          <ac:spMkLst>
            <pc:docMk/>
            <pc:sldMk cId="0" sldId="265"/>
            <ac:spMk id="26" creationId="{00000000-0000-0000-0000-000000000000}"/>
          </ac:spMkLst>
        </pc:spChg>
      </pc:sldChg>
      <pc:sldChg chg="modSp mod">
        <pc:chgData name="Marty Brunke (CDI)" userId="aa0f0d8e-10a8-4398-ac74-f826db4e9c62" providerId="ADAL" clId="{146842E8-C763-4B12-9863-E2A35E1F904D}" dt="2026-06-26T20:54:11.288" v="62" actId="404"/>
        <pc:sldMkLst>
          <pc:docMk/>
          <pc:sldMk cId="0" sldId="266"/>
        </pc:sldMkLst>
        <pc:spChg chg="mod">
          <ac:chgData name="Marty Brunke (CDI)" userId="aa0f0d8e-10a8-4398-ac74-f826db4e9c62" providerId="ADAL" clId="{146842E8-C763-4B12-9863-E2A35E1F904D}" dt="2026-06-26T20:54:11.288" v="62" actId="404"/>
          <ac:spMkLst>
            <pc:docMk/>
            <pc:sldMk cId="0" sldId="266"/>
            <ac:spMk id="5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4:03.190" v="60" actId="1036"/>
          <ac:spMkLst>
            <pc:docMk/>
            <pc:sldMk cId="0" sldId="266"/>
            <ac:spMk id="33" creationId="{00000000-0000-0000-0000-000000000000}"/>
          </ac:spMkLst>
        </pc:spChg>
        <pc:spChg chg="mod">
          <ac:chgData name="Marty Brunke (CDI)" userId="aa0f0d8e-10a8-4398-ac74-f826db4e9c62" providerId="ADAL" clId="{146842E8-C763-4B12-9863-E2A35E1F904D}" dt="2026-06-26T20:53:54.778" v="51" actId="1076"/>
          <ac:spMkLst>
            <pc:docMk/>
            <pc:sldMk cId="0" sldId="266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68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Four situations. No product. Let the room feel the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timeline is the argument. $1.7M at 72pt. The kicker: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$7B+ TAM. $0 in this layer. First mover owns the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pivot. First use of teal. Relief after red. Let the question breathe.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9 domains. This is not a ransomware tool. It is the operating model for every strategic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Microsoft built the engine. We built the transmission. $13B is our market validation. 47K enterprises are the prospect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platform is not the moat. The institutional memory is the moat. Competitor can copy the product. They cannot copy what 500 activations taught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economics are clear: entry $75K, three feature tiers at fixed annual prices, 5-year LTV by tier. Dr. Huang validated the platform after 4 weeks of direct review. $75K. 12 seats. vaughnmartin.com.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situations.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C-suite leader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these moments.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502920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02920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3:17 AM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822960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40080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40080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$180K/hr exposure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window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87752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258775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9:47 AM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87752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Activist Investor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2907792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724912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2724912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$2.3B market cap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87752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4-hr window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87752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672584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11:22 AM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72584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Inquiry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4992624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4809744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4809744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$847M penalty risk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72584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48-hr window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72584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757416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757416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PM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57416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War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7077456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6894576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6894576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 pipeline at risk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757416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window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57416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REALITY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time.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548640" y="1828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 ARRIVES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37360" y="18928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1792224" y="20025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96596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owns the decision.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65960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productive response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2286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37360" y="2350008"/>
            <a:ext cx="109728" cy="109728"/>
          </a:xfrm>
          <a:prstGeom prst="ellipse">
            <a:avLst/>
          </a:prstGeom>
          <a:solidFill>
            <a:srgbClr val="C0392B">
              <a:alpha val="9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1792224" y="24597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196596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7F4">
                    <a:alpha val="8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meeting. Room still being decided.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65960" y="2542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>
                    <a:alpha val="7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+$50K, zero action taken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37360" y="2807208"/>
            <a:ext cx="109728" cy="109728"/>
          </a:xfrm>
          <a:prstGeom prst="ellipse">
            <a:avLst/>
          </a:prstGeom>
          <a:solidFill>
            <a:srgbClr val="C0392B">
              <a:alpha val="84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1792224" y="29169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196596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7F4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 engaged at emergency rates.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965960" y="2999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>
                    <a:alpha val="69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+$75K, no position yet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32004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>
                    <a:alpha val="7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737360" y="3264408"/>
            <a:ext cx="109728" cy="109728"/>
          </a:xfrm>
          <a:prstGeom prst="ellipse">
            <a:avLst/>
          </a:prstGeom>
          <a:solidFill>
            <a:srgbClr val="C0392B">
              <a:alpha val="76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1792224" y="33741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1965960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7F4">
                    <a:alpha val="7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draft. Three teams disagree on it.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965960" y="3456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>
                    <a:alpha val="61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+$120K, window closing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48640" y="3657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37360" y="3721608"/>
            <a:ext cx="109728" cy="109728"/>
          </a:xfrm>
          <a:prstGeom prst="ellipse">
            <a:avLst/>
          </a:prstGeom>
          <a:solidFill>
            <a:srgbClr val="C0392B">
              <a:alpha val="68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1792224" y="38313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196596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briefed. IR fielding unapproved calls.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965960" y="3913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>
                    <a:alpha val="5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+$300K, damage ongoing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4114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737360" y="4178808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196596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7F4">
                    <a:alpha val="6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response finally achieved.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965960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$1.7M+ total mobilized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0" y="17373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080210"/>
          </a:solidFill>
          <a:ln w="19050">
            <a:solidFill>
              <a:srgbClr val="C0392B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548640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486400" y="21762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0392B">
                    <a:alpha val="94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$1.7M+</a:t>
            </a:r>
            <a:endParaRPr lang="en-US" sz="7200" dirty="0"/>
          </a:p>
        </p:txBody>
      </p:sp>
      <p:sp>
        <p:nvSpPr>
          <p:cNvPr id="72" name="Text 70"/>
          <p:cNvSpPr/>
          <p:nvPr/>
        </p:nvSpPr>
        <p:spPr>
          <a:xfrm>
            <a:off x="548640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strategic event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760720" y="3675888"/>
            <a:ext cx="2743200" cy="0"/>
          </a:xfrm>
          <a:prstGeom prst="line">
            <a:avLst/>
          </a:prstGeom>
          <a:noFill/>
          <a:ln w="6350">
            <a:solidFill>
              <a:srgbClr val="C0392B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562356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time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40664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$50K–$200K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23560" y="4059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406640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$25K–$150K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23560" y="4352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406640" y="4352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$50K–$500K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623560" y="4645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/ penalties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406640" y="4645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48640" y="4695009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 repeats 15–20 times every year in any enterprise — across 180 documented strategic situations. Every single one an unscripted improvisation.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enterprise.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year.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exceptions.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176272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080D20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0292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254203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$7B+</a:t>
            </a:r>
            <a:endParaRPr lang="en-US" sz="9000" dirty="0"/>
          </a:p>
        </p:txBody>
      </p:sp>
      <p:sp>
        <p:nvSpPr>
          <p:cNvPr id="43" name="Text 41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Core pricing alone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" y="3968496"/>
            <a:ext cx="3200400" cy="0"/>
          </a:xfrm>
          <a:prstGeom prst="line">
            <a:avLst/>
          </a:prstGeom>
          <a:noFill/>
          <a:ln w="635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40080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47,000 enterprises ($100M+ revenue)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$150K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strategic situations annually (conservative: 4–6)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compounding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502920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617720" y="5760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4617720" y="1490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situations/yr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667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enterprise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617720" y="2039112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4617720" y="2112264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$10.2M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4617720" y="3026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exposure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63640" y="22037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enterprise per year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617720" y="3575304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2B8A6E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4617720" y="364845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8A6E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4617720" y="45628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layer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37398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this yet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-107411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response was</a:t>
            </a:r>
            <a:endParaRPr lang="en-US" sz="32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 before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 arrived?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502920" y="2212848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020F0A"/>
          </a:solidFill>
          <a:ln w="25400">
            <a:solidFill>
              <a:srgbClr val="2B8A6E">
                <a:alpha val="9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23957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2212848" y="2633472"/>
            <a:ext cx="201168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450592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8A6E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5029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3,600× Execution Head Start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2920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situation arrives — The Response Is Ready Before the Trigger Fires.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" y="3895344"/>
            <a:ext cx="338328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943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43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5087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087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4231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4231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375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3375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2160301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663440" y="22334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47488" y="2206021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situation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47488" y="243462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· 9 domains · 210 total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0" y="2745517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663440" y="281866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47488" y="2791237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threshold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047488" y="301983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triggers · 39 live sources · 15-min cycles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0" y="3330733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4663440" y="340388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47488" y="3376453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executive choices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047488" y="360505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· Adjust · Switch · Stand down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0" y="3915949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4663440" y="398910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047488" y="3961669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through your stack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047488" y="419026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connectors · Microsoft, Salesforce, ServiceNow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0" y="4501165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4663440" y="457431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47488" y="4546885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every learning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047488" y="477548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loop — smarter after every activation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BREADTH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point solution.  </a:t>
            </a: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model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strategic situation.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8521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Strategy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6148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76148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· activist defense · distressed asset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351129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8756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68756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1129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disruption · pricing · market entry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43737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1364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61364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3737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collapse · ERP failure · capacity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58521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Innovation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6148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276148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· cyber breach · AI disruption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8328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351129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8756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568756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51129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· algorithmic failure · bias event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0936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643737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Opportunities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1364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861364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3737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entry · partnership · acquisition sprint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58521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Reputation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76148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276148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8521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crisis · product recall · misconduct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38328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351129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68756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568756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51129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inquiry · GDPR · SEC investigation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0936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643737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Leadership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61364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861364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43737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departure · succession · mass resignation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25196" y="4822263"/>
            <a:ext cx="8321040" cy="267570"/>
          </a:xfrm>
          <a:prstGeom prst="roundRect">
            <a:avLst>
              <a:gd name="adj" fmla="val 14286"/>
            </a:avLst>
          </a:prstGeom>
          <a:solidFill>
            <a:srgbClr val="0A0C1A"/>
          </a:solidFill>
          <a:ln w="1016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425196" y="47731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core  ·  </a:t>
            </a: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compound cross-domain  ·  </a:t>
            </a: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total  ·  </a:t>
            </a: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strategic domains  ·  </a:t>
            </a:r>
            <a:r>
              <a:rPr lang="en-US" sz="11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your enterprise will ever face.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503920" y="18973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spent $13B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this category exists.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left the response layer empty.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502920" y="2395728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FULL STACK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" y="27066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·  Teams  ·  Copilot  ·  SharePoint  ·  Entra  ·  Power Platform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108960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02920" y="3236976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94360" y="3310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EXECUTION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3547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whether the AI tool can run a task. Does not govern who responds or when.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3950208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502920" y="4078224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D0820"/>
          </a:solidFill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94360" y="41513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— UNCLAIMED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4360" y="4389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Governs: When situation presents itself — who does what, in 12 minutes? Pre-staged. Already built.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502920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4A9EE8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029200" y="59436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E8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$13B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6172200" y="594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validated the market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72200" y="90525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 invested in Azure OpenAI + Copilot proves enterprises will buy AI infrastructure. The orchestration layer is proven. The response layer is not.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0" y="2039112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5029200" y="21305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47K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6172200" y="2130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distribution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72200" y="24414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Microsoft enterprise customer is a Readiness OS prospect. We sit above their stack — not beside it.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0" y="3575304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2B8A6E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5029200" y="36667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8A6E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617220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wins the category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72200" y="39776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strategic response coordination. The category does not yet exist as a budget line. We name it. We own 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competitor can copy
the platform.
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cannot copy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learns.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502920" y="2944368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080D20"/>
          </a:solidFill>
          <a:ln w="12700">
            <a:solidFill>
              <a:srgbClr val="2B8A6E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0292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 LOOP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0392B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435608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66928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27632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627632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2423160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554480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15184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2615184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3410712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2542032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02736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2B8A6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3602736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3529584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Each cycle — the protocol improves. The moat widens.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502920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5138928" y="59436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improves the protocol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38928" y="886968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activations: proven or disproven. What held under pressure gets encoded. What failed gets corrected.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0" y="1618488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5138928" y="170992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compounds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38928" y="2002536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start generic. After 12 months they reflect your specific risk profile, stakeholder map, decision patterns.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0" y="2734056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5138928" y="282549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widens with every client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138928" y="3118104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tier: protocols improve across every client's activations. A competitor who starts today cannot close the gap.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29200" y="3849624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5138928" y="39410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can copy Day 1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138928" y="4233672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copy Day 365. The institutional memory encoded from every activation is the defensibility no spec can replicate.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74320"/>
            <a:ext cx="502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THIRD-PARTY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694944"/>
            <a:ext cx="8503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0" b="0" i="0">
                <a:solidFill>
                  <a:srgbClr val="C9A84C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99" y="1723644"/>
            <a:ext cx="754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 dirty="0">
                <a:solidFill>
                  <a:srgbClr val="FFFFFF"/>
                </a:solidFill>
                <a:latin typeface="Georgia"/>
              </a:rPr>
              <a:t>Martin is building the architecture that makes clarity possible before pressure arrives.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44368"/>
            <a:ext cx="34747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54096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Barlow"/>
              </a:rPr>
              <a:t>DR. KERRY HUANG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198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Barlow"/>
              </a:rPr>
              <a:t>Fortune 50 AVP  ·  ESI Top 1% Researcher  ·  Forbes Business Council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12463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88"/>
                </a:solidFill>
                <a:latin typeface="Barlow"/>
              </a:rPr>
              <a:t>408-firm study basis  ·  4 weeks of direct platform review  ·  Public repost · April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An independent Fortune 50 operator — with no commercial relationship — spent 4 weeks reviewing the platform and staked her professional reputation on a public endorsement. That is not a customer quote. That is external validation of the thesis.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74320"/>
            <a:ext cx="502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EARLY MOMENTUM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694944"/>
            <a:ext cx="8503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82296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Georgia"/>
              </a:rPr>
              <a:t>Not a concept. A live system with early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600200"/>
            <a:ext cx="4160520" cy="123444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600200"/>
            <a:ext cx="45720" cy="123444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" y="1700784"/>
            <a:ext cx="3995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2B8A6E"/>
                </a:solidFill>
                <a:latin typeface="Barlow"/>
              </a:rPr>
              <a:t>PRODUCT —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929384"/>
            <a:ext cx="3995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vaughnmartin.com is operational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240280"/>
            <a:ext cx="3995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180 Readiness Protocols staged · 231 triggers monitored · Live signal pipeline every 15 min · Production infrastructure, not a prototype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4160520" cy="123444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600200"/>
            <a:ext cx="45720" cy="1234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8304" y="1700784"/>
            <a:ext cx="3995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THIRD-PARTY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1929384"/>
            <a:ext cx="3995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Dr. Kerry Huang · Fortune 50 AVP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240280"/>
            <a:ext cx="3995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ESI Top 1% researcher · Forbes Business Council · 408-firm study · 4 weeks direct platform review · Public repost April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926080"/>
            <a:ext cx="4160520" cy="123444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2926080"/>
            <a:ext cx="45720" cy="123444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" y="3026664"/>
            <a:ext cx="3995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2B8A6E"/>
                </a:solidFill>
                <a:latin typeface="Barlow"/>
              </a:rPr>
              <a:t>ENTERPRISE CONVERSATIONS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3255264"/>
            <a:ext cx="3995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2 Founding Partner discussions 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3566160"/>
            <a:ext cx="3995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$150K–$450K ACV range · Enterprise-caliber prospects · Inbound-initiated conversations · Founding Partner Program structure in 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926080"/>
            <a:ext cx="4160520" cy="123444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17720" y="2926080"/>
            <a:ext cx="45720" cy="1234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3026664"/>
            <a:ext cx="3995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CATEGORY 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3255264"/>
            <a:ext cx="3995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Microsoft $13B confirms the layer exists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3566160"/>
            <a:ext cx="3995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47,000 enterprise Copilot deployments with no coordination infrastructure above them · Zero direct competitors in Readiness Infrastructure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4224528"/>
            <a:ext cx="8503920" cy="10972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7939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7788"/>
                </a:solidFill>
                <a:latin typeface="Barlow"/>
              </a:rPr>
              <a:t>vaughnmartin.com · founding@vaughnmartin.com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74320"/>
            <a:ext cx="502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THE FOUNDER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694944"/>
            <a:ext cx="8503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822960"/>
            <a:ext cx="49377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Martin Brunke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6276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Barlow"/>
              </a:rPr>
              <a:t>Founder &amp; CEO  ·  VaughnMartin  ·  Readiness 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2011680"/>
            <a:ext cx="2377440" cy="1463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2130552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THE ORIGIN OF THE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9572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  <a:latin typeface="Barlow"/>
              </a:rPr>
              <a:t>Five years on the Stanford Cardinal sideline. 60–80 decisions in 3 hours. Every response pre-staged before the game started. When the situation changed at the line of scrimmage — no timeout, no alignment cycle. Eleven people pivoted in 40 seconds because the system was built before the pressure arrived. Then I walked into corporate America and watched the same trigger take 30 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493008"/>
            <a:ext cx="4754880" cy="12801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3621024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20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62102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inside enterprise mobilization at Ford, Lockheed, Toyota, Schwab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95935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Built &amp;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95935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180 protocols · 231 triggers · live signal pipeline · production-grade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29768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29768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Readiness Infrastructure — the operating model layer above Microsoft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804672"/>
            <a:ext cx="3566160" cy="376732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30368" y="804672"/>
            <a:ext cx="45720" cy="37673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960120"/>
            <a:ext cx="3218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THIRD-PARTY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1261872"/>
            <a:ext cx="3200400" cy="1280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1389888"/>
            <a:ext cx="32186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Georgia"/>
              </a:rPr>
              <a:t>“Martin is building the architecture that makes clarity possible before pressure arrives.”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852928"/>
            <a:ext cx="32186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DR. KERRY HUANG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136392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Fortune 50 AVP · ESI Top 1% Researcher
Forbes Business Council · 408-firm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639312"/>
            <a:ext cx="3218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77788"/>
                </a:solidFill>
                <a:latin typeface="Barlow"/>
              </a:rPr>
              <a:t>Public repost · April 2026 · 4 weeks direct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4641031"/>
            <a:ext cx="8503920" cy="10972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4715546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777788"/>
                </a:solidFill>
                <a:latin typeface="Barlow"/>
              </a:rPr>
              <a:t>vaughnmartin.com · founding@vaughnmartin.com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74320"/>
            <a:ext cx="502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694944"/>
            <a:ext cx="8503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822960"/>
            <a:ext cx="436048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Georgia"/>
              </a:rPr>
              <a:t>Pre-Seed Round  ·  Closing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481328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 i="0">
                <a:solidFill>
                  <a:srgbClr val="C9A84C"/>
                </a:solidFill>
                <a:latin typeface="Georgia"/>
              </a:rPr>
              <a:t>$750,000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3591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  <a:latin typeface="Barlow"/>
              </a:rPr>
              <a:t>SAFE  ·  $8M post-money cap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761488"/>
            <a:ext cx="4114800" cy="1463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2889504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18211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Enterprise Sales Hire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318211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18211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  <a:latin typeface="Barlow"/>
              </a:rPr>
              <a:t>$375K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520440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GTM &amp; Demo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352044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52044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  <a:latin typeface="Barlow"/>
              </a:rPr>
              <a:t>$188K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587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Runway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858768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385876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  <a:latin typeface="Barlow"/>
              </a:rPr>
              <a:t>$187K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804672"/>
            <a:ext cx="4059936" cy="376732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804672"/>
            <a:ext cx="45720" cy="376732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19472" y="960120"/>
            <a:ext cx="3657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2B8A6E"/>
                </a:solidFill>
                <a:latin typeface="Barlow"/>
              </a:rPr>
              <a:t>WHAT THIS UNLOCKS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9472" y="1261872"/>
            <a:ext cx="3566160" cy="12801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9472" y="1417320"/>
            <a:ext cx="960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Runway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1417320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18 months to close Founding Partners and reach ARR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1810512"/>
            <a:ext cx="960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Sales hire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6168" y="1810512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Dedicated enterprise rep — the one missing piece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2203704"/>
            <a:ext cx="960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GTM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6168" y="2203704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Events, travel, executive briefings at $150K–$450K ACV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2596896"/>
            <a:ext cx="960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Proof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16168" y="2596896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3–5 Founding Partners = defensible ARR by Q4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2990088"/>
            <a:ext cx="960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Moat velocity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16168" y="2990088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ADVANCE loop compounds with every activation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601901"/>
            <a:ext cx="8503920" cy="10972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4791601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777788"/>
                </a:solidFill>
                <a:latin typeface="Barlow"/>
              </a:rPr>
              <a:t>vaughnmartin.com · founding@vaughnmartin.com · Deck reviewed by appointment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1595</Words>
  <Application>Microsoft Office PowerPoint</Application>
  <PresentationFormat>On-screen Show (16:9)</PresentationFormat>
  <Paragraphs>280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Barlow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Readiness OS — VaughnMartin</dc:title>
  <dc:subject>PptxGenJS Presentation</dc:subject>
  <dc:creator>Martin Brunke</dc:creator>
  <cp:lastModifiedBy>Marty Brunke (CDI)</cp:lastModifiedBy>
  <cp:revision>1</cp:revision>
  <dcterms:created xsi:type="dcterms:W3CDTF">2026-06-26T02:09:00Z</dcterms:created>
  <dcterms:modified xsi:type="dcterms:W3CDTF">2026-06-26T20:55:06Z</dcterms:modified>
</cp:coreProperties>
</file>