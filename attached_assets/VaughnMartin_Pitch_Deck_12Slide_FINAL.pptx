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841248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700784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259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ormorant Garamond"/>
              </a:rPr>
              <a:t>When a strategic trigger fires —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ormorant Garamond"/>
              </a:rPr>
              <a:t>are you ready in 12 minutes,</a:t>
            </a:r>
          </a:p>
          <a:p>
            <a:pPr algn="l"/>
            <a:r>
              <a:rPr sz="4000" b="1">
                <a:solidFill>
                  <a:srgbClr val="C9A84C"/>
                </a:solidFill>
                <a:latin typeface="Cormorant Garamond"/>
              </a:rPr>
              <a:t>or starting from zero?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99943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Signal advantage before execution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443984"/>
            <a:ext cx="9262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96B2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10912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Most organizations don't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can't execute — they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detect too 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523744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523744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401568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401568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493008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NO PRE-STAGED DECISION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Ownership is contested in real time. No protocol is ready to deploy.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4279392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4279392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70832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45152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605332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877824"/>
            <a:ext cx="7141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096B2"/>
                </a:solidFill>
                <a:latin typeface="Calibri"/>
              </a:rPr>
              <a:t>TYPICAL RESPONSE TIMELINE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432304"/>
            <a:ext cx="7141464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2304288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8076529" y="2304288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2753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2753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1" name="Oval 30"/>
          <p:cNvSpPr/>
          <p:nvPr/>
        </p:nvSpPr>
        <p:spPr>
          <a:xfrm>
            <a:off x="11361602" y="2304288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67826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7826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706623"/>
            <a:ext cx="7141464" cy="109728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2706623"/>
            <a:ext cx="7141464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2816352"/>
            <a:ext cx="68671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127248"/>
            <a:ext cx="68671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
Your organization was still scheduling alignment meetings.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986784"/>
            <a:ext cx="7141464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4096512"/>
            <a:ext cx="7141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" y="5532120"/>
            <a:ext cx="8668512" cy="658368"/>
          </a:xfrm>
          <a:prstGeom prst="rect">
            <a:avLst/>
          </a:prstGeom>
          <a:solidFill>
            <a:srgbClr val="080E28"/>
          </a:solidFill>
          <a:ln w="18288">
            <a:solidFill>
              <a:srgbClr val="1E28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59612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Barlow Condensed"/>
              </a:rPr>
              <a:t>Who calls who?  ·  Where's the brief?  ·  Who owns it?  ·  Who authorizes?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888736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89A"/>
                </a:solidFill>
                <a:latin typeface="Cormorant Garamond"/>
              </a:rPr>
              <a:t>This is a readiness problem, not a talent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87552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Not just faster response — a compounding edge: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408176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B8A6E"/>
                </a:solidFill>
                <a:latin typeface="Georgia"/>
              </a:rPr>
              <a:t>earlier signal window + 12-minute coordinated execution.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03120"/>
            <a:ext cx="10835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2688335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 on your terms, not generic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688335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7238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4476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37160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Define every strategic situation your organization has faced or is likely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248+ data points. Customer-defined thresholds. Every 15 minutes.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92624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Pre-assigned decision rights. Executives authorize. Execution deploys.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87768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Roles, budgets, and communications deploy in 12 minutes.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2912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 — patterns improve the next response cycle.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AAAFC8"/>
                </a:solidFill>
              </a:rPr>
              <a:t>Every activation feeds forward. Each cycle improves the next.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2336" y="1389888"/>
            <a:ext cx="11393424" cy="310896"/>
          </a:xfrm>
          <a:prstGeom prst="rect">
            <a:avLst/>
          </a:prstGeom>
          <a:solidFill>
            <a:srgbClr val="060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16" y="1426464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B8A6E"/>
                </a:solidFill>
                <a:latin typeface="Barlow Condensed"/>
              </a:rPr>
              <a:t>AI monitors continuously.  Executives authorize decisively.  Teams execute in 12 minutes.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Where leadership sees what 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13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Detection on your terms, 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84C"/>
                </a:solidFill>
              </a:rPr>
              <a:t>CONTINUOUS PATTERN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Scored against your defined escalation logic. Signal confidence surfaced at detection.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13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AI monitors. 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 —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Activation Console · 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347472"/>
          </a:xfrm>
          <a:prstGeom prst="rect">
            <a:avLst/>
          </a:prstGeom>
          <a:solidFill>
            <a:srgbClr val="1A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0" y="1517904"/>
            <a:ext cx="100584" cy="100584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14721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⚠  SIGNAL DETECTED  ·  HIGH PRIORITY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1472184"/>
            <a:ext cx="3154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09:02:17  ·  13F SEC FILING  ·  EDGAR 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1604772"/>
            <a:ext cx="6720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Activist Investor  —  Elliott Management Partners, L.P.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1773936"/>
            <a:ext cx="6940296" cy="749808"/>
          </a:xfrm>
          <a:prstGeom prst="rect">
            <a:avLst/>
          </a:prstGeom>
          <a:solidFill>
            <a:srgbClr val="0E1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1773936"/>
            <a:ext cx="32004" cy="749808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38928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POSITION FILED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9.2% stake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$2.1B market value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39584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1880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CAMPAIGN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1880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 Representation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21880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+ Strategic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22536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04832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WINDOW TO RESPOND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4832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72 hours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04832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before media breaks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57860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SYSTEM RISK 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76288" y="25786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6B5B"/>
                </a:solidFill>
                <a:latin typeface="Calibri"/>
              </a:rPr>
              <a:t>89 / 100   ·   CRITICAL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0" y="2770632"/>
            <a:ext cx="6940296" cy="118872"/>
          </a:xfrm>
          <a:prstGeom prst="rect">
            <a:avLst/>
          </a:prstGeom>
          <a:solidFill>
            <a:srgbClr val="141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0" y="2770632"/>
            <a:ext cx="6176863" cy="118872"/>
          </a:xfrm>
          <a:prstGeom prst="rect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187775" y="2770632"/>
            <a:ext cx="164592" cy="118872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0" y="2971800"/>
            <a:ext cx="6940296" cy="877824"/>
          </a:xfrm>
          <a:prstGeom prst="rect">
            <a:avLst/>
          </a:prstGeom>
          <a:solidFill>
            <a:srgbClr val="07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2971800"/>
            <a:ext cx="6940296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20640" y="30358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SYSTEM RECOMMENDATION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3218688"/>
            <a:ext cx="6720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eorgia"/>
              </a:rPr>
              <a:t>Protocol #42 — Activist Investor Response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57216" y="3506724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66944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28 tasks pre-staged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57216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66944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8 stakeholders mapped with decision rights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57216" y="3753612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66944" y="3721608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Board communication drafted and ready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27364" y="3506724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37092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Legal team and PR firm notified automatically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27364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37092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Shareholder messaging pre-approved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0" y="3941064"/>
            <a:ext cx="6940296" cy="1078992"/>
          </a:xfrm>
          <a:prstGeom prst="rect">
            <a:avLst/>
          </a:prstGeom>
          <a:solidFill>
            <a:srgbClr val="08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29200" y="3941064"/>
            <a:ext cx="6940296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29200" y="3941064"/>
            <a:ext cx="54864" cy="10789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12080" y="40233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EXECUTIVE AUTHORIZATION REQUIRED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2245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eorgia"/>
              </a:rPr>
              <a:t>Sarah Chen  ·  Chief Strategy Officer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12080" y="44439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Protocol #42 is staged and ready. Authorization releases 28 tasks across 8 stakeholders.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35440" y="4123944"/>
            <a:ext cx="1408176" cy="3657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35440" y="4206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AUTHORIZE  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53344" y="42062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VIEW BRIEF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0" y="5074920"/>
            <a:ext cx="6940296" cy="256032"/>
          </a:xfrm>
          <a:prstGeom prst="rect">
            <a:avLst/>
          </a:prstGeom>
          <a:solidFill>
            <a:srgbClr val="07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120640"/>
            <a:ext cx="675741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✓  AUTHORIZED  09:14:33  ·  Sarah Chen, CSO  ·  Activation ID: ACT-2026-042-04  ·  Audit logged  ·  Board brief auto-generated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From decision to coordinated 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Execution Dashboard · Protocol #42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420624"/>
          </a:xfrm>
          <a:prstGeom prst="rect">
            <a:avLst/>
          </a:prstGeom>
          <a:solidFill>
            <a:srgbClr val="05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10912" y="1472184"/>
            <a:ext cx="2560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0056" y="1453896"/>
            <a:ext cx="237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8384" y="14447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BB97"/>
                </a:solidFill>
                <a:latin typeface="Courier New"/>
              </a:rPr>
              <a:t>11:47  ELAPSED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4" y="1627632"/>
            <a:ext cx="1645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BB97"/>
                </a:solidFill>
                <a:latin typeface="Calibri"/>
              </a:rPr>
              <a:t>0:13 REMAINING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0608" y="1499616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PROTOCOL #42  ·  ACTIVIST INVESTOR RESPONSE  ·  EXECUTION ACTIVE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1773936"/>
            <a:ext cx="7269480" cy="128016"/>
          </a:xfrm>
          <a:prstGeom prst="rect">
            <a:avLst/>
          </a:prstGeom>
          <a:solidFill>
            <a:srgbClr val="0C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64608" y="1773936"/>
            <a:ext cx="7145898" cy="12801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937354" y="1773936"/>
            <a:ext cx="146304" cy="128016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03736" y="1773936"/>
            <a:ext cx="5120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98.3%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2624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92624" y="1938528"/>
            <a:ext cx="2240279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02352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ROLES DEPLOYED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3591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03591" y="1938528"/>
            <a:ext cx="2240279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13319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BUDGET RELEASED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14560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14560" y="1938528"/>
            <a:ext cx="2240279" cy="36576"/>
          </a:xfrm>
          <a:prstGeom prst="rect">
            <a:avLst/>
          </a:prstGeom>
          <a:solidFill>
            <a:srgbClr val="55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4288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58BD4"/>
                </a:solidFill>
                <a:latin typeface="Calibri"/>
              </a:rPr>
              <a:t>COMMS STAGED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84064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84064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38928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5232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General Counsel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5232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Notified  ·  0:42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84064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84064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38928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5232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Strategy Officer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5232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Authorized  ·  1:15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84064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84064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38928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5232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Financial Officer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85232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Briefed  ·  2:08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84064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4064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38928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85232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Head of Investor Relations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5232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Active  ·  3:22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064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84064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38928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85232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Chair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85232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Alerted  ·  4:01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84064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84064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38928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85232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Communications Director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5232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Engaged  ·  5:14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84064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84064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85232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External PR Firm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5232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Activating...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84064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84064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38928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85232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M&amp;A Counsel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85232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13319" y="2249424"/>
            <a:ext cx="202082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096B2"/>
                </a:solidFill>
                <a:latin typeface="Calibri"/>
              </a:rPr>
              <a:t>TOTAL PRE-AUTHORIZED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13319" y="2414016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Georgia"/>
              </a:rPr>
              <a:t>$2,400,000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13319" y="2670048"/>
            <a:ext cx="20208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3 cost centers unlocked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95031" y="2834640"/>
            <a:ext cx="2057399" cy="22860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495031" y="2907792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95031" y="2907792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6471" y="2953512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Legal Retainer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6471" y="3154680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$800,000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95031" y="3419856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95031" y="3419856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586471" y="3465576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PR / Crisis Comms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86471" y="3666744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$400,000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95031" y="3931920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5031" y="3931920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6471" y="3977640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Investment Banking Advisory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6471" y="4178808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$750,000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495031" y="4443984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495031" y="4443984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86471" y="4489704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Board Counsel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586471" y="4690872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$250,000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495031" y="4956048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495031" y="4956048"/>
            <a:ext cx="27432" cy="457200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586471" y="5001768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96B2"/>
                </a:solidFill>
                <a:latin typeface="Calibri"/>
              </a:rPr>
              <a:t>◎ Shareholder Defense Fund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6471" y="5202936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96B2"/>
                </a:solidFill>
                <a:latin typeface="Calibri"/>
              </a:rPr>
              <a:t>$200,000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06000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906000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960864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07168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Alert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07168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Delivered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06000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906000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60864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07168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Press Hold Statement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07168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06000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906000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960864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107168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Shareholder Letter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07168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06000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906000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60864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07168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Employee Communication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07168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06000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906000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60864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107168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Analyst Brief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07168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Prepared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906000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906000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960864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107168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SEC Response Template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107168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06000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906000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960864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07168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Media Q&amp;A Brief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07168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In Progress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906000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906000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960864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107168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Town Hall Script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07168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Pending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64608" y="6108192"/>
            <a:ext cx="7269480" cy="384048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864608" y="6108192"/>
            <a:ext cx="7269480" cy="27432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65776" y="6199632"/>
            <a:ext cx="6867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DBB97"/>
                </a:solidFill>
                <a:latin typeface="Calibri"/>
              </a:rPr>
              <a:t>✓  FULL CROSS-FUNCTIONAL DEPLOYMENT  ·  12 minutes  ·  28 tasks  ·  6 roles active  ·  $2.4M released  ·  14 comms staged  ·  Zero meetings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12-MINUTE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F2E"/>
                </a:solidFill>
                <a:latin typeface="Georgia"/>
              </a:rPr>
              <a:t>Activist investor discloses 8.3% stake. 9:47 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98448"/>
            <a:ext cx="11384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27A"/>
                </a:solidFill>
                <a:latin typeface="Georgia"/>
              </a:rPr>
              <a:t>One trigger. Two completely different organizations.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773936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773936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B5B"/>
                </a:solidFill>
              </a:rPr>
              <a:t>✕  WITHOUT READINESS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73936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7393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DBB97"/>
                </a:solidFill>
              </a:rPr>
              <a:t>✓  WITH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2860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9:47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359152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Disclosure detected by IR team — begins manual distribution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2359152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Signal detected. Protocol #47 identified. Stakeholder map loaded.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03580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108960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Legal, IR, CEO calendars checked. No common slot until 2 PM.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108960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Board materials pre-staged. Draft communications queued for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3785616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10:12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858768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Someone suggests pulling the defense advisor deck from last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858768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Executive authorization requested — one click to activate.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4480560"/>
            <a:ext cx="5554980" cy="694944"/>
          </a:xfrm>
          <a:prstGeom prst="rect">
            <a:avLst/>
          </a:prstGeom>
          <a:solidFill>
            <a:srgbClr val="FF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480560"/>
            <a:ext cx="5554980" cy="694944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535424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6B5B"/>
                </a:solidFill>
              </a:rPr>
              <a:t>DAY 14 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08576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5544"/>
                </a:solidFill>
              </a:rPr>
              <a:t>Still in alignment meetings. No coordinated response. The window has closed.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7940" y="4608576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DBB97"/>
                </a:solidFill>
              </a:rPr>
              <a:t>Coordinated response live. Legal, IR, board, external counsel — all notified. 12 minutes.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5907024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980176"/>
            <a:ext cx="10835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1828800"/>
            <a:ext cx="36576" cy="5010912"/>
          </a:xfrm>
          <a:prstGeom prst="rect">
            <a:avLst/>
          </a:prstGeom>
          <a:solidFill>
            <a:srgbClr val="1E2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2336" y="5596128"/>
            <a:ext cx="5230368" cy="347472"/>
          </a:xfrm>
          <a:prstGeom prst="rect">
            <a:avLst/>
          </a:prstGeom>
          <a:solidFill>
            <a:srgbClr val="1A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650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30 days to mobilize — after the trigger fires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88736" y="5596128"/>
            <a:ext cx="5897880" cy="347472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56509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BB97"/>
                </a:solidFill>
                <a:latin typeface="Calibri"/>
              </a:rPr>
              <a:t>12 minutes — response complete, before the window closes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Live in production. Detection active. Execution architecture staged.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80160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0789A"/>
                </a:solidFill>
              </a:rPr>
              <a:t>Signal monitoring live. Protocol library armed. Executive authorization pathways ready.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62763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60934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57276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" y="199339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97510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93852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235915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234086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30428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962656"/>
            <a:ext cx="2777490" cy="34930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126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962656"/>
            <a:ext cx="2777490" cy="34930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019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962656"/>
            <a:ext cx="2777490" cy="34930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912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962656"/>
            <a:ext cx="2777490" cy="349300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35024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17904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70789A"/>
                </a:solidFill>
              </a:rPr>
              <a:t>12 Founding Partners · $75K / 90-day validation · Fortune 1000 readiness leaders · Direct founder access throughout.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526E"/>
                </a:solidFill>
              </a:rPr>
              <a:t>Success metric: one live trigger handled inside Readiness OS with documented mobilization compression vs.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17904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ROI is built from real organizational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17904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99616"/>
            <a:ext cx="107259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ormorant Garamond"/>
              </a:rPr>
              <a:t>Enterprises detect signals.</a:t>
            </a:r>
          </a:p>
          <a:p>
            <a:pPr algn="l"/>
            <a:r>
              <a:rPr sz="2000" b="1">
                <a:solidFill>
                  <a:srgbClr val="C9A84C"/>
                </a:solidFill>
                <a:latin typeface="Cormorant Garamond"/>
              </a:rPr>
              <a:t>The gap is mobilization — 30 days vs. 12 minutes.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ormorant Garamond"/>
              </a:rPr>
              <a:t>Readiness OS closes that gap before the trigger fires.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35915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WHO WE'RE PARTNERING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70789A"/>
                </a:solidFill>
              </a:rPr>
              <a:t>Fortune 1000 organizations and aligned investors. 90-day validation partnership. 12 founding cohort slots.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54203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4407408"/>
            <a:ext cx="9994392" cy="53035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498848"/>
            <a:ext cx="9628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5504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13  / 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2523744"/>
            <a:ext cx="5577840" cy="1463040"/>
          </a:xfrm>
          <a:prstGeom prst="rect">
            <a:avLst/>
          </a:prstGeom>
          <a:solidFill>
            <a:srgbClr val="0C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91072" y="2523744"/>
            <a:ext cx="5577840" cy="54864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2523744"/>
            <a:ext cx="54864" cy="146304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615184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97"/>
                </a:solidFill>
                <a:latin typeface="Calibri"/>
              </a:rPr>
              <a:t>NEXT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2871216"/>
            <a:ext cx="52852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Executive Scenario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3364992"/>
            <a:ext cx="52852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CBB"/>
                </a:solidFill>
                <a:latin typeface="Calibri"/>
              </a:rPr>
              <a:t>We walk your specific trigger context through Readiness OS live — from signal detection to 12-minute execution.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37376" y="4041648"/>
            <a:ext cx="2377440" cy="3840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0965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A0F2E"/>
                </a:solidFill>
                <a:latin typeface="Calibri"/>
              </a:rPr>
              <a:t>REQUEST YOUR SESSION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4498848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96B2"/>
                </a:solidFill>
                <a:latin typeface="Calibri"/>
              </a:rPr>
              <a:t>founding@vaughnmartin.com  ·  vaughnmartin.com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164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Barlow Condensed"/>
              </a:rPr>
              <a:t>WHY 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457200"/>
            <a:ext cx="1097280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530352"/>
            <a:ext cx="7132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ormorant Garamond"/>
              </a:rPr>
              <a:t>AI capability is accelerating faster than
enterprise execution readiness.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7190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Barlow Condensed"/>
              </a:rPr>
              <a:t>AI REALITY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5029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2084831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Barlow Condensed"/>
              </a:rPr>
              <a:t>● Capability accelerating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22576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89A"/>
                </a:solidFill>
                <a:latin typeface="Calibri"/>
              </a:rPr>
              <a:t>AI performance, tooling, and adoption continue to accelerate across all industries.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743200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Barlow Condensed"/>
              </a:rPr>
              <a:t>● Governance lagging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80944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89A"/>
                </a:solidFill>
                <a:latin typeface="Calibri"/>
              </a:rPr>
              <a:t>Safety, accountability, and operational trust frameworks are not keeping 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3401568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Barlow Condensed"/>
              </a:rPr>
              <a:t>● Adoption mainstream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39311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89A"/>
                </a:solidFill>
                <a:latin typeface="Calibri"/>
              </a:rPr>
              <a:t>AI is no longer experimental — the gap is now who can govern and act on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719072"/>
            <a:ext cx="5285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Barlow Condensed"/>
              </a:rPr>
              <a:t>THE EXECUTION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975104"/>
            <a:ext cx="5029200" cy="2286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84831"/>
            <a:ext cx="51937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Barlow Condensed"/>
              </a:rPr>
              <a:t>The competitive gap is no longer who has AI —
it is who can execute with speed, control, and authority.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79776"/>
            <a:ext cx="51937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0789A"/>
                </a:solidFill>
                <a:latin typeface="Calibri"/>
              </a:rPr>
              <a:t>Most organizations can now detect more signals
but still struggle to decide and mobilize fast enough.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474720"/>
            <a:ext cx="51937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DBB97"/>
                </a:solidFill>
                <a:latin typeface="Calibri"/>
              </a:rPr>
              <a:t>Readiness OS closes that gap: AI monitors continuously,
executives authorize decisively, teams execute in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6053328"/>
            <a:ext cx="11375136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610819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A526E"/>
                </a:solidFill>
                <a:latin typeface="Calibri"/>
              </a:rPr>
              <a:t>Source: Stanford HAI, AI Index Report 2026 (capability acceleration + governance readiness gap)  ·  Gartner Autonomous Business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658368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404862"/>
                </a:solidFill>
                <a:latin typeface="Barlow Condensed"/>
              </a:rPr>
              <a:t>VaughnMartin · Readiness 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58368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A526E"/>
                </a:solidFill>
                <a:latin typeface="Calibri"/>
              </a:rPr>
              <a:t>4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