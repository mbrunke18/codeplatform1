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1.jpg"/><Relationship Id="rId5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887468" y="758952"/>
            <a:ext cx="1042416" cy="1042416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905756" y="777240"/>
            <a:ext cx="1005840" cy="1005840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5756" y="928116"/>
            <a:ext cx="1005840" cy="653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9612" y="817473"/>
            <a:ext cx="146304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9612" y="1300276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5644" y="128198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1436" y="2029968"/>
            <a:ext cx="29260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157984"/>
            <a:ext cx="103601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Signal Advantage.</a:t>
            </a:r>
          </a:p>
          <a:p>
            <a:pPr algn="ctr"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Execution Advantage.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25696"/>
            <a:ext cx="999439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C9A84C"/>
                </a:solidFill>
                <a:latin typeface="Georgia"/>
              </a:rPr>
              <a:t>The response is ready before the trigger fires.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230368"/>
            <a:ext cx="9445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555A72"/>
                </a:solidFill>
                <a:latin typeface="Calibri"/>
              </a:rPr>
              <a:t>READINESS OS  ·  FORTUNE 1000  ·  VAUGHNMARTIN.COM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6304" y="6528816"/>
            <a:ext cx="292608" cy="292608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4592" y="6547104"/>
            <a:ext cx="256032" cy="256032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" y="6585508"/>
            <a:ext cx="256032" cy="166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57345"/>
            <a:ext cx="1463040" cy="133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680240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66619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6685" y="6592824"/>
            <a:ext cx="4875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999EB8"/>
                </a:solidFill>
                <a:latin typeface="Calibri"/>
              </a:rPr>
              <a:t>VAUGHNMARTIN  ·  READINESS OS  ·  1 of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1672" y="65928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99EB8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0" y="0"/>
            <a:ext cx="725119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146304"/>
            <a:ext cx="438912" cy="438912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4048" y="164592"/>
            <a:ext cx="402336" cy="402336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224942"/>
            <a:ext cx="402336" cy="261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0685"/>
            <a:ext cx="1463040" cy="209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73806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5551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713232"/>
            <a:ext cx="4297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7332"/>
                </a:solidFill>
                <a:latin typeface="Calibri"/>
              </a:rPr>
              <a:t>THE PROBLEM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960120"/>
            <a:ext cx="5029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042415"/>
            <a:ext cx="4297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A0F2E"/>
                </a:solidFill>
                <a:latin typeface="Calibri"/>
              </a:rPr>
              <a:t>Most organizations miss</a:t>
            </a:r>
          </a:p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0A0F2E"/>
                </a:solidFill>
                <a:latin typeface="Calibri"/>
              </a:rPr>
              <a:t>the window before they align.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450592"/>
            <a:ext cx="4297680" cy="676656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450592"/>
            <a:ext cx="36576" cy="6766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523744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LATE DETECTION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2761488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By the time the trigger is visible, the competitor has already moved.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3200400"/>
            <a:ext cx="4297680" cy="676656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3200400"/>
            <a:ext cx="36576" cy="6766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3273552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UNCLEAR AUTHORITY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" y="3511296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Ownership is contested in real time. No one has a pre-staged decision path.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950208"/>
            <a:ext cx="4297680" cy="676656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3950208"/>
            <a:ext cx="36576" cy="6766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4023360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COORDINATION DELAY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" y="4261104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30 days of alignment before execution even begins.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4791456"/>
            <a:ext cx="4297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A526B"/>
                </a:solidFill>
                <a:latin typeface="Georgia"/>
              </a:rPr>
              <a:t>"The window does not wait for the org chart."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57200"/>
            <a:ext cx="67391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THE TYPICAL RESPONSE TIMELINE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2176272"/>
            <a:ext cx="6739128" cy="54864"/>
          </a:xfrm>
          <a:prstGeom prst="rect">
            <a:avLst/>
          </a:prstGeom>
          <a:solidFill>
            <a:srgbClr val="20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157216" y="2057400"/>
            <a:ext cx="292608" cy="29260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1591056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B8A6E"/>
                </a:solidFill>
                <a:latin typeface="Calibri"/>
              </a:rPr>
              <a:t>T+0  SIGNAL</a:t>
            </a:r>
          </a:p>
        </p:txBody>
      </p:sp>
      <p:sp>
        <p:nvSpPr>
          <p:cNvPr id="31" name="Oval 30"/>
          <p:cNvSpPr/>
          <p:nvPr/>
        </p:nvSpPr>
        <p:spPr>
          <a:xfrm>
            <a:off x="8189823" y="2057400"/>
            <a:ext cx="292608" cy="292608"/>
          </a:xfrm>
          <a:prstGeom prst="ellipse">
            <a:avLst/>
          </a:prstGeom>
          <a:solidFill>
            <a:srgbClr val="C86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50327" y="1591056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6028"/>
                </a:solidFill>
                <a:latin typeface="Calibri"/>
              </a:rPr>
              <a:t>DAY 14  ALIGNMENT</a:t>
            </a:r>
          </a:p>
        </p:txBody>
      </p:sp>
      <p:sp>
        <p:nvSpPr>
          <p:cNvPr id="33" name="Oval 32"/>
          <p:cNvSpPr/>
          <p:nvPr/>
        </p:nvSpPr>
        <p:spPr>
          <a:xfrm>
            <a:off x="11222431" y="2057400"/>
            <a:ext cx="292608" cy="292608"/>
          </a:xfrm>
          <a:prstGeom prst="ellipse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682935" y="1591056"/>
            <a:ext cx="1371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C4444"/>
                </a:solidFill>
                <a:latin typeface="Calibri"/>
              </a:rPr>
              <a:t>DAY 30+  RESPONSE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03520" y="2670048"/>
            <a:ext cx="6739128" cy="1207008"/>
          </a:xfrm>
          <a:prstGeom prst="rect">
            <a:avLst/>
          </a:prstGeom>
          <a:solidFill>
            <a:srgbClr val="28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303520" y="2670048"/>
            <a:ext cx="6739128" cy="4572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0" y="2761488"/>
            <a:ext cx="67391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644"/>
                </a:solidFill>
                <a:latin typeface="Calibri"/>
              </a:rPr>
              <a:t>LOST WINDOW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108960"/>
            <a:ext cx="646480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CAAAA"/>
                </a:solidFill>
                <a:latin typeface="Calibri"/>
              </a:rPr>
              <a:t>The trigger fired. The competitor acted.
Your organization was still in alignment meetings.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03520" y="4078224"/>
            <a:ext cx="6739128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0" y="4187952"/>
            <a:ext cx="673912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2B8A6E"/>
                </a:solidFill>
                <a:latin typeface="Georgia"/>
              </a:rPr>
              <a:t>Readiness OS compresses mobilization to 12 minutes.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46304" y="6528816"/>
            <a:ext cx="292608" cy="292608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64592" y="6547104"/>
            <a:ext cx="256032" cy="256032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4592" y="6585508"/>
            <a:ext cx="256032" cy="166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557345"/>
            <a:ext cx="1463040" cy="133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6680240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66619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6685" y="6592824"/>
            <a:ext cx="4875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999EB8"/>
                </a:solidFill>
                <a:latin typeface="Calibri"/>
              </a:rPr>
              <a:t>VAUGHNMARTIN  ·  READINESS OS  ·  2 of 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91672" y="65928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99EB8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37744" y="146304"/>
            <a:ext cx="438912" cy="438912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56032" y="164592"/>
            <a:ext cx="402336" cy="402336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224942"/>
            <a:ext cx="402336" cy="261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0685"/>
            <a:ext cx="1463040" cy="209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373806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5551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749808"/>
            <a:ext cx="609447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THE TWO-STAGE ADVANTAGE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987552"/>
            <a:ext cx="50292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1060704"/>
            <a:ext cx="6338255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Earlier signal.</a:t>
            </a:r>
          </a:p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Faster mobilization.</a:t>
            </a:r>
          </a:p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Compounding edge.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2999232"/>
            <a:ext cx="11676888" cy="566928"/>
          </a:xfrm>
          <a:prstGeom prst="rect">
            <a:avLst/>
          </a:prstGeom>
          <a:solidFill>
            <a:srgbClr val="0C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090672"/>
            <a:ext cx="11274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Calibri"/>
              </a:rPr>
              <a:t>Signal Lead Time  +  Mobilization Compression  =  Compounding Advantage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" y="3730752"/>
            <a:ext cx="5618988" cy="1865376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56032" y="3730752"/>
            <a:ext cx="5618988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3840480"/>
            <a:ext cx="53446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Calibri"/>
              </a:rPr>
              <a:t>SIGNAL LEAD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169663"/>
            <a:ext cx="5344668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9EB8"/>
                </a:solidFill>
                <a:latin typeface="Calibri"/>
              </a:rPr>
              <a:t>System monitoring across 248+ data points and 221 trigger patterns — defined by your organization on your terms.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4476" y="3730752"/>
            <a:ext cx="5618988" cy="1865376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94476" y="3730752"/>
            <a:ext cx="5618988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7356" y="3840480"/>
            <a:ext cx="53446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Calibri"/>
              </a:rPr>
              <a:t>MOBILIZATION COMPRESSION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7356" y="4169663"/>
            <a:ext cx="5344668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9EB8"/>
                </a:solidFill>
                <a:latin typeface="Calibri"/>
              </a:rPr>
              <a:t>170 Readiness Protocols pre-staged across 9 strategic domains. Response architecture ready before the trigger fires.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5559552"/>
            <a:ext cx="12188952" cy="950976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5559552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0" y="5687568"/>
            <a:ext cx="304723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84C"/>
                </a:solidFill>
                <a:latin typeface="Calibri"/>
              </a:rPr>
              <a:t>248+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0" y="6181344"/>
            <a:ext cx="304723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99EB8"/>
                </a:solidFill>
                <a:latin typeface="Calibri"/>
              </a:rPr>
              <a:t>data points monitored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38094" y="5650992"/>
            <a:ext cx="9144" cy="621792"/>
          </a:xfrm>
          <a:prstGeom prst="rect">
            <a:avLst/>
          </a:prstGeom>
          <a:solidFill>
            <a:srgbClr val="1E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47238" y="5687568"/>
            <a:ext cx="304723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84C"/>
                </a:solidFill>
                <a:latin typeface="Calibri"/>
              </a:rPr>
              <a:t>221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47238" y="6181344"/>
            <a:ext cx="304723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99EB8"/>
                </a:solidFill>
                <a:latin typeface="Calibri"/>
              </a:rPr>
              <a:t>trigger patterns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5332" y="5650992"/>
            <a:ext cx="9144" cy="621792"/>
          </a:xfrm>
          <a:prstGeom prst="rect">
            <a:avLst/>
          </a:prstGeom>
          <a:solidFill>
            <a:srgbClr val="1E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4476" y="5687568"/>
            <a:ext cx="304723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84C"/>
                </a:solidFill>
                <a:latin typeface="Calibri"/>
              </a:rPr>
              <a:t>170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6" y="6181344"/>
            <a:ext cx="304723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99EB8"/>
                </a:solidFill>
                <a:latin typeface="Calibri"/>
              </a:rPr>
              <a:t>Readiness Protocols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32570" y="5650992"/>
            <a:ext cx="9144" cy="621792"/>
          </a:xfrm>
          <a:prstGeom prst="rect">
            <a:avLst/>
          </a:prstGeom>
          <a:solidFill>
            <a:srgbClr val="1E2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1714" y="5687568"/>
            <a:ext cx="304723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1714" y="6181344"/>
            <a:ext cx="304723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999EB8"/>
                </a:solidFill>
                <a:latin typeface="Calibri"/>
              </a:rPr>
              <a:t>strategic domains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46304" y="6528816"/>
            <a:ext cx="292608" cy="292608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64592" y="6547104"/>
            <a:ext cx="256032" cy="256032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4592" y="6585508"/>
            <a:ext cx="256032" cy="166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557345"/>
            <a:ext cx="1463040" cy="133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6680240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66619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6685" y="6592824"/>
            <a:ext cx="4875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999EB8"/>
                </a:solidFill>
                <a:latin typeface="Calibri"/>
              </a:rPr>
              <a:t>VAUGHNMARTIN  ·  READINESS OS  ·  3 of 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91672" y="65928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99EB8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37744" y="146304"/>
            <a:ext cx="438912" cy="438912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56032" y="164592"/>
            <a:ext cx="402336" cy="402336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224942"/>
            <a:ext cx="402336" cy="261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0685"/>
            <a:ext cx="1463040" cy="209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373806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5551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749808"/>
            <a:ext cx="609447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7332"/>
                </a:solidFill>
                <a:latin typeface="Calibri"/>
              </a:rPr>
              <a:t>THE PRODUCT 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987552"/>
            <a:ext cx="5029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1060704"/>
            <a:ext cx="1164031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Map  →  Monitor  →  Decide  →  Execute  →  Learn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14316" y="1645920"/>
            <a:ext cx="25603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1901952"/>
            <a:ext cx="2265883" cy="4517136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68" y="1901952"/>
            <a:ext cx="2265883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23797" y="2029968"/>
            <a:ext cx="420624" cy="420624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3525" y="2112264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F2E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" y="2560320"/>
            <a:ext cx="2119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Calibri"/>
              </a:rPr>
              <a:t>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" y="2834640"/>
            <a:ext cx="21195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55A72"/>
                </a:solidFill>
                <a:latin typeface="Calibri"/>
              </a:rPr>
              <a:t>Scenarios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108960"/>
            <a:ext cx="1936699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" y="3218688"/>
            <a:ext cx="2083003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99EB8"/>
                </a:solidFill>
                <a:latin typeface="Calibri"/>
              </a:rPr>
              <a:t>Define every strategic situation your organization has faced, is facing, or is likely to face.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58491" y="1901952"/>
            <a:ext cx="2265883" cy="4517136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58491" y="1901952"/>
            <a:ext cx="2265883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481120" y="2029968"/>
            <a:ext cx="420624" cy="420624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90848" y="2112264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F2E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49931" y="2560320"/>
            <a:ext cx="2119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B8A6E"/>
                </a:solidFill>
                <a:latin typeface="Calibri"/>
              </a:rPr>
              <a:t>MONITOR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49931" y="2834640"/>
            <a:ext cx="21195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55A72"/>
                </a:solidFill>
                <a:latin typeface="Calibri"/>
              </a:rPr>
              <a:t>Triggers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23083" y="3108960"/>
            <a:ext cx="1936699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68219" y="3218688"/>
            <a:ext cx="2083003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99EB8"/>
                </a:solidFill>
                <a:latin typeface="Calibri"/>
              </a:rPr>
              <a:t>System monitoring of customer-defined thresholds — 248+ data points, every 15 minutes.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15814" y="1901952"/>
            <a:ext cx="2265883" cy="4517136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915814" y="1901952"/>
            <a:ext cx="2265883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838444" y="2029968"/>
            <a:ext cx="420624" cy="420624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8172" y="2112264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F2E"/>
                </a:solidFill>
                <a:latin typeface="Calibri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7254" y="2560320"/>
            <a:ext cx="2119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Calibri"/>
              </a:rPr>
              <a:t>DECIDE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07254" y="2834640"/>
            <a:ext cx="21195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55A72"/>
                </a:solidFill>
                <a:latin typeface="Calibri"/>
              </a:rPr>
              <a:t>Authority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80406" y="3108960"/>
            <a:ext cx="1936699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5542" y="3218688"/>
            <a:ext cx="2083003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99EB8"/>
                </a:solidFill>
                <a:latin typeface="Calibri"/>
              </a:rPr>
              <a:t>Explicit executive authorization at every decision point. AI monitors. Executives decide.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73137" y="1901952"/>
            <a:ext cx="2265883" cy="4517136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73137" y="1901952"/>
            <a:ext cx="2265883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195767" y="2029968"/>
            <a:ext cx="420624" cy="420624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5495" y="2112264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F2E"/>
                </a:solidFill>
                <a:latin typeface="Calibr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4577" y="2560320"/>
            <a:ext cx="2119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2B8A6E"/>
                </a:solidFill>
                <a:latin typeface="Calibri"/>
              </a:rPr>
              <a:t>EXECUTE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64577" y="2834640"/>
            <a:ext cx="21195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55A72"/>
                </a:solidFill>
                <a:latin typeface="Calibri"/>
              </a:rPr>
              <a:t>Action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37729" y="3108960"/>
            <a:ext cx="1936699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82865" y="3218688"/>
            <a:ext cx="2083003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99EB8"/>
                </a:solidFill>
                <a:latin typeface="Calibri"/>
              </a:rPr>
              <a:t>Roles, budgets, communications deploy in coordinated sequence. 12 minutes from authorization.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30460" y="1901952"/>
            <a:ext cx="2265883" cy="4517136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630460" y="1901952"/>
            <a:ext cx="2265883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553090" y="2029968"/>
            <a:ext cx="420624" cy="420624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62818" y="2112264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0F2E"/>
                </a:solidFill>
                <a:latin typeface="Calibr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21900" y="2560320"/>
            <a:ext cx="2119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9A84C"/>
                </a:solidFill>
                <a:latin typeface="Calibri"/>
              </a:rPr>
              <a:t>LEARN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21900" y="2834640"/>
            <a:ext cx="211957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55A72"/>
                </a:solidFill>
                <a:latin typeface="Calibri"/>
              </a:rPr>
              <a:t>Readiness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795052" y="3108960"/>
            <a:ext cx="1936699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40188" y="3218688"/>
            <a:ext cx="2083003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99EB8"/>
                </a:solidFill>
                <a:latin typeface="Calibri"/>
              </a:rPr>
              <a:t>Every activation feeds forward. Patterns and outcomes improve the next response cycle.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46304" y="6528816"/>
            <a:ext cx="292608" cy="292608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4592" y="6547104"/>
            <a:ext cx="256032" cy="256032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64592" y="6585508"/>
            <a:ext cx="256032" cy="166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6557345"/>
            <a:ext cx="1463040" cy="133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6680240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4672" y="66619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6685" y="6592824"/>
            <a:ext cx="4875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999EB8"/>
                </a:solidFill>
                <a:latin typeface="Calibri"/>
              </a:rPr>
              <a:t>VAUGHNMARTIN  ·  READINESS OS  ·  4 of 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91672" y="65928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99EB8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0" y="0"/>
            <a:ext cx="725119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146304"/>
            <a:ext cx="438912" cy="438912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4048" y="164592"/>
            <a:ext cx="402336" cy="402336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224942"/>
            <a:ext cx="402336" cy="261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0685"/>
            <a:ext cx="1463040" cy="209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73806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5551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713232"/>
            <a:ext cx="4297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MISSION CONTROL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960120"/>
            <a:ext cx="50292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033271"/>
            <a:ext cx="4297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0A0F2E"/>
                </a:solidFill>
                <a:latin typeface="Calibri"/>
              </a:rPr>
              <a:t>Where leadership sees what is</a:t>
            </a:r>
          </a:p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0A0F2E"/>
                </a:solidFill>
                <a:latin typeface="Calibri"/>
              </a:rPr>
              <a:t>forming — and what to do now.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487168"/>
            <a:ext cx="4297680" cy="1219200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487168"/>
            <a:ext cx="36576" cy="12192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569464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A0F2E"/>
                </a:solidFill>
                <a:latin typeface="Calibri"/>
              </a:rPr>
              <a:t>EMERGING SITUATION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2834640"/>
            <a:ext cx="4114800" cy="780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Live signal detections scored against 221 trigger patterns across 9 strategic domains.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3797808"/>
            <a:ext cx="4297680" cy="1219200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3797808"/>
            <a:ext cx="36576" cy="12192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3880104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A0F2E"/>
                </a:solidFill>
                <a:latin typeface="Calibri"/>
              </a:rPr>
              <a:t>DECISION WINDOW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" y="4145280"/>
            <a:ext cx="4114800" cy="780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System-recommended Readiness Protocol surfaced with signal confidence score.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5108448"/>
            <a:ext cx="4297680" cy="1219200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5108448"/>
            <a:ext cx="36576" cy="12192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5190744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A0F2E"/>
                </a:solidFill>
                <a:latin typeface="Calibri"/>
              </a:rPr>
              <a:t>ONE-CLICK AUTHORIZATION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" y="5455920"/>
            <a:ext cx="4114800" cy="780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Executive sign-off deploys the pre-staged execution plan immediately.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75504" y="310896"/>
            <a:ext cx="6958584" cy="274320"/>
          </a:xfrm>
          <a:prstGeom prst="rect">
            <a:avLst/>
          </a:prstGeom>
          <a:solidFill>
            <a:srgbClr val="18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266944" y="393192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22392" y="393192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77840" y="393192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79008" y="365760"/>
            <a:ext cx="6245352" cy="164592"/>
          </a:xfrm>
          <a:prstGeom prst="rect">
            <a:avLst/>
          </a:prstGeom>
          <a:solidFill>
            <a:srgbClr val="25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33872" y="365760"/>
            <a:ext cx="615391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EB8"/>
                </a:solidFill>
                <a:latin typeface="Calibri"/>
              </a:rPr>
              <a:t>vaughnmartin.com/command-tower</a:t>
            </a:r>
          </a:p>
        </p:txBody>
      </p:sp>
      <p:pic>
        <p:nvPicPr>
          <p:cNvPr id="32" name="Picture 31" descr="slide_mission_contr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4" y="585216"/>
            <a:ext cx="6958584" cy="5925312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46304" y="6528816"/>
            <a:ext cx="292608" cy="292608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64592" y="6547104"/>
            <a:ext cx="256032" cy="256032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4592" y="6585508"/>
            <a:ext cx="256032" cy="166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557345"/>
            <a:ext cx="1463040" cy="133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6680240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" y="66619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6685" y="6592824"/>
            <a:ext cx="4875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4A526B"/>
                </a:solidFill>
                <a:latin typeface="Calibri"/>
              </a:rPr>
              <a:t>VAUGHNMARTIN  ·  READINESS OS  ·  5 of 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91672" y="65928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4A526B"/>
                </a:solidFill>
                <a:latin typeface="Calibri"/>
              </a:rPr>
              <a:t>5  / 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0" y="0"/>
            <a:ext cx="725119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146304"/>
            <a:ext cx="438912" cy="438912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4048" y="164592"/>
            <a:ext cx="402336" cy="402336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224942"/>
            <a:ext cx="402336" cy="261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0685"/>
            <a:ext cx="1463040" cy="209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73806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5551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713232"/>
            <a:ext cx="4297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7332"/>
                </a:solidFill>
                <a:latin typeface="Calibri"/>
              </a:rPr>
              <a:t>TRIGGER ARCHITECTURE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960120"/>
            <a:ext cx="5029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033271"/>
            <a:ext cx="4297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0A0F2E"/>
                </a:solidFill>
                <a:latin typeface="Calibri"/>
              </a:rPr>
              <a:t>Detection on your terms,</a:t>
            </a:r>
          </a:p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0A0F2E"/>
                </a:solidFill>
                <a:latin typeface="Calibri"/>
              </a:rPr>
              <a:t>not after the fact.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487168"/>
            <a:ext cx="4297680" cy="1874520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487168"/>
            <a:ext cx="36576" cy="18745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569464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A0F2E"/>
                </a:solidFill>
                <a:latin typeface="Calibri"/>
              </a:rPr>
              <a:t>CUSTOMER-DEFINED THRESHOLDS + ESCALATION LOGIC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2834640"/>
            <a:ext cx="4114800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You define what constitutes a trigger — sources, thresholds, escalation paths. Continuous monitoring every 15 minutes.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453128"/>
            <a:ext cx="4297680" cy="1874520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4453128"/>
            <a:ext cx="36576" cy="18745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535424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A0F2E"/>
                </a:solidFill>
                <a:latin typeface="Calibri"/>
              </a:rPr>
              <a:t>248+ DATA POINTS  ·  221 TRIGGER 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" y="4800600"/>
            <a:ext cx="4114800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System-scored signal detections surfaced before the situation becomes a crisis.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75504" y="310896"/>
            <a:ext cx="6958584" cy="274320"/>
          </a:xfrm>
          <a:prstGeom prst="rect">
            <a:avLst/>
          </a:prstGeom>
          <a:solidFill>
            <a:srgbClr val="18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266944" y="393192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422392" y="393192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577840" y="393192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79008" y="365760"/>
            <a:ext cx="6245352" cy="164592"/>
          </a:xfrm>
          <a:prstGeom prst="rect">
            <a:avLst/>
          </a:prstGeom>
          <a:solidFill>
            <a:srgbClr val="25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33872" y="365760"/>
            <a:ext cx="615391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EB8"/>
                </a:solidFill>
                <a:latin typeface="Calibri"/>
              </a:rPr>
              <a:t>vaughnmartin.com — Signal Monitoring</a:t>
            </a:r>
          </a:p>
        </p:txBody>
      </p:sp>
      <p:pic>
        <p:nvPicPr>
          <p:cNvPr id="28" name="Picture 27" descr="deck_sign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4" y="585216"/>
            <a:ext cx="6958584" cy="592531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6304" y="6528816"/>
            <a:ext cx="292608" cy="292608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64592" y="6547104"/>
            <a:ext cx="256032" cy="256032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585508"/>
            <a:ext cx="256032" cy="166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557345"/>
            <a:ext cx="1463040" cy="133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680240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66619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6685" y="6592824"/>
            <a:ext cx="4875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4A526B"/>
                </a:solidFill>
                <a:latin typeface="Calibri"/>
              </a:rPr>
              <a:t>VAUGHNMARTIN  ·  READINESS OS  ·  6 of 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1672" y="65928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4A526B"/>
                </a:solidFill>
                <a:latin typeface="Calibri"/>
              </a:rPr>
              <a:t>6  / 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0" y="0"/>
            <a:ext cx="725119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146304"/>
            <a:ext cx="438912" cy="438912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4048" y="164592"/>
            <a:ext cx="402336" cy="402336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224942"/>
            <a:ext cx="402336" cy="261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0685"/>
            <a:ext cx="1463040" cy="209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73806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5551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713232"/>
            <a:ext cx="4297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7332"/>
                </a:solidFill>
                <a:latin typeface="Calibri"/>
              </a:rPr>
              <a:t>DECISION + GOVERNANCE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960120"/>
            <a:ext cx="5029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033271"/>
            <a:ext cx="4297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0A0F2E"/>
                </a:solidFill>
                <a:latin typeface="Calibri"/>
              </a:rPr>
              <a:t>AI monitors.</a:t>
            </a:r>
          </a:p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0A0F2E"/>
                </a:solidFill>
                <a:latin typeface="Calibri"/>
              </a:rPr>
              <a:t>Executives authorize.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487168"/>
            <a:ext cx="4297680" cy="1874520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487168"/>
            <a:ext cx="36576" cy="18745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569464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A0F2E"/>
                </a:solidFill>
                <a:latin typeface="Calibri"/>
              </a:rPr>
              <a:t>HUMAN DECISION AUTHORITY PRESERVED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2834640"/>
            <a:ext cx="4114800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No Readiness Protocol activates without explicit executive sign-off. Preparation compresses mobilization. The decision stays human.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453128"/>
            <a:ext cx="4297680" cy="1874520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4453128"/>
            <a:ext cx="36576" cy="18745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535424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A0F2E"/>
                </a:solidFill>
                <a:latin typeface="Calibri"/>
              </a:rPr>
              <a:t>TRACEABLE ACTIVATION PATHWAY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" y="4800600"/>
            <a:ext cx="4114800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Every authorization logged with timestamp, decision-maker, and full context. Board-ready audit trail.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75504" y="310896"/>
            <a:ext cx="6958584" cy="274320"/>
          </a:xfrm>
          <a:prstGeom prst="rect">
            <a:avLst/>
          </a:prstGeom>
          <a:solidFill>
            <a:srgbClr val="18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266944" y="393192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422392" y="393192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577840" y="393192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79008" y="365760"/>
            <a:ext cx="6245352" cy="164592"/>
          </a:xfrm>
          <a:prstGeom prst="rect">
            <a:avLst/>
          </a:prstGeom>
          <a:solidFill>
            <a:srgbClr val="25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33872" y="365760"/>
            <a:ext cx="615391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EB8"/>
                </a:solidFill>
                <a:latin typeface="Calibri"/>
              </a:rPr>
              <a:t>vaughnmartin.com — Activation Console</a:t>
            </a:r>
          </a:p>
        </p:txBody>
      </p:sp>
      <p:pic>
        <p:nvPicPr>
          <p:cNvPr id="28" name="Picture 27" descr="deck_activ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4" y="585216"/>
            <a:ext cx="6958584" cy="592531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6304" y="6528816"/>
            <a:ext cx="292608" cy="292608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64592" y="6547104"/>
            <a:ext cx="256032" cy="256032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585508"/>
            <a:ext cx="256032" cy="166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557345"/>
            <a:ext cx="1463040" cy="133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680240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66619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6685" y="6592824"/>
            <a:ext cx="4875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4A526B"/>
                </a:solidFill>
                <a:latin typeface="Calibri"/>
              </a:rPr>
              <a:t>VAUGHNMARTIN  ·  READINESS OS  ·  7 of 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1672" y="65928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4A526B"/>
                </a:solidFill>
                <a:latin typeface="Calibri"/>
              </a:rPr>
              <a:t>7  / 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0" y="0"/>
            <a:ext cx="725119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65760" y="146304"/>
            <a:ext cx="438912" cy="438912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4048" y="164592"/>
            <a:ext cx="402336" cy="402336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224942"/>
            <a:ext cx="402336" cy="261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0685"/>
            <a:ext cx="1463040" cy="209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73806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5551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713232"/>
            <a:ext cx="4297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B8A6E"/>
                </a:solidFill>
                <a:latin typeface="Calibri"/>
              </a:rPr>
              <a:t>EXECUTION ORCHESTRATION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960120"/>
            <a:ext cx="50292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033271"/>
            <a:ext cx="4297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0A0F2E"/>
                </a:solidFill>
                <a:latin typeface="Calibri"/>
              </a:rPr>
              <a:t>From decision to coordinated</a:t>
            </a:r>
          </a:p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0A0F2E"/>
                </a:solidFill>
                <a:latin typeface="Calibri"/>
              </a:rPr>
              <a:t>action in 12 minutes.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2487168"/>
            <a:ext cx="4297680" cy="1874520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048" y="2487168"/>
            <a:ext cx="36576" cy="18745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569464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A0F2E"/>
                </a:solidFill>
                <a:latin typeface="Calibri"/>
              </a:rPr>
              <a:t>ROLES  ·  BUDGET  ·  INTERNAL  ·  EXTERNAL COMMS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2834640"/>
            <a:ext cx="4114800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Every stakeholder notified. Spending authority unlocked. Messaging pre-staged across internal and external channels.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453128"/>
            <a:ext cx="4297680" cy="1874520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48" y="4453128"/>
            <a:ext cx="36576" cy="18745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535424"/>
            <a:ext cx="4114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A0F2E"/>
                </a:solidFill>
                <a:latin typeface="Calibri"/>
              </a:rPr>
              <a:t>FULL CROSS-FUNCTIONAL DEPLOYMENT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" y="4800600"/>
            <a:ext cx="4114800" cy="1435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The entire execution plan deploys in a single authorized action — coordinated, not chaotic.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75504" y="310896"/>
            <a:ext cx="6958584" cy="274320"/>
          </a:xfrm>
          <a:prstGeom prst="rect">
            <a:avLst/>
          </a:prstGeom>
          <a:solidFill>
            <a:srgbClr val="181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266944" y="393192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422392" y="393192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577840" y="393192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79008" y="365760"/>
            <a:ext cx="6245352" cy="164592"/>
          </a:xfrm>
          <a:prstGeom prst="rect">
            <a:avLst/>
          </a:prstGeom>
          <a:solidFill>
            <a:srgbClr val="25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33872" y="365760"/>
            <a:ext cx="6153912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99EB8"/>
                </a:solidFill>
                <a:latin typeface="Calibri"/>
              </a:rPr>
              <a:t>vaughnmartin.com/12-minute-experience</a:t>
            </a:r>
          </a:p>
        </p:txBody>
      </p:sp>
      <p:pic>
        <p:nvPicPr>
          <p:cNvPr id="28" name="Picture 27" descr="slide_execu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4" y="585216"/>
            <a:ext cx="6958584" cy="5925312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6304" y="6528816"/>
            <a:ext cx="292608" cy="292608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64592" y="6547104"/>
            <a:ext cx="256032" cy="256032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4592" y="6585508"/>
            <a:ext cx="256032" cy="166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557345"/>
            <a:ext cx="1463040" cy="133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6680240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66619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6685" y="6592824"/>
            <a:ext cx="4875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4A526B"/>
                </a:solidFill>
                <a:latin typeface="Calibri"/>
              </a:rPr>
              <a:t>VAUGHNMARTIN  ·  READINESS OS  ·  8 of 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1672" y="65928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4A526B"/>
                </a:solidFill>
                <a:latin typeface="Calibri"/>
              </a:rPr>
              <a:t>8  / 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37744" y="146304"/>
            <a:ext cx="438912" cy="438912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56032" y="164592"/>
            <a:ext cx="402336" cy="402336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224942"/>
            <a:ext cx="402336" cy="261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0685"/>
            <a:ext cx="1463040" cy="209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373806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5551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749808"/>
            <a:ext cx="1167688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One trigger.  Two outcomes.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97196" y="1316736"/>
            <a:ext cx="219456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1426464"/>
            <a:ext cx="5692140" cy="365760"/>
          </a:xfrm>
          <a:prstGeom prst="rect">
            <a:avLst/>
          </a:prstGeom>
          <a:solidFill>
            <a:srgbClr val="280E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1481328"/>
            <a:ext cx="56921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6644"/>
                </a:solidFill>
                <a:latin typeface="Calibri"/>
              </a:rPr>
              <a:t>WITHOUT READINESS 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0780" y="1426464"/>
            <a:ext cx="5692140" cy="365760"/>
          </a:xfrm>
          <a:prstGeom prst="rect">
            <a:avLst/>
          </a:prstGeom>
          <a:solidFill>
            <a:srgbClr val="061E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0780" y="1481328"/>
            <a:ext cx="56921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B8A6E"/>
                </a:solidFill>
                <a:latin typeface="Calibri"/>
              </a:rPr>
              <a:t>WITH READINESS 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1920240"/>
            <a:ext cx="5692140" cy="749808"/>
          </a:xfrm>
          <a:prstGeom prst="rect">
            <a:avLst/>
          </a:prstGeom>
          <a:solidFill>
            <a:srgbClr val="12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0780" y="1920240"/>
            <a:ext cx="5692140" cy="749808"/>
          </a:xfrm>
          <a:prstGeom prst="rect">
            <a:avLst/>
          </a:prstGeom>
          <a:solidFill>
            <a:srgbClr val="12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032" y="196596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8A7332"/>
                </a:solidFill>
                <a:latin typeface="Calibri"/>
              </a:rPr>
              <a:t>T+0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6736" y="2103120"/>
            <a:ext cx="4558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99EB8"/>
                </a:solidFill>
                <a:latin typeface="Calibri"/>
              </a:rPr>
              <a:t>Signal emerges — no notification system active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3932" y="2103120"/>
            <a:ext cx="55458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99EB8"/>
                </a:solidFill>
                <a:latin typeface="Calibri"/>
              </a:rPr>
              <a:t>Signal detected — Protocol immediately identified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6032" y="2724912"/>
            <a:ext cx="5692140" cy="749808"/>
          </a:xfrm>
          <a:prstGeom prst="rect">
            <a:avLst/>
          </a:prstGeom>
          <a:solidFill>
            <a:srgbClr val="20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724912"/>
            <a:ext cx="5692140" cy="749808"/>
          </a:xfrm>
          <a:prstGeom prst="rect">
            <a:avLst/>
          </a:prstGeom>
          <a:solidFill>
            <a:srgbClr val="06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" y="277063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8A7332"/>
                </a:solidFill>
                <a:latin typeface="Calibri"/>
              </a:rPr>
              <a:t>T+12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6736" y="2907792"/>
            <a:ext cx="4558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DBBBB"/>
                </a:solidFill>
                <a:latin typeface="Calibri"/>
              </a:rPr>
              <a:t>First stakeholder calls begin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3932" y="2907792"/>
            <a:ext cx="55458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B8A6E"/>
                </a:solidFill>
                <a:latin typeface="Calibri"/>
              </a:rPr>
              <a:t>Coordinated execution live — all roles active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3529584"/>
            <a:ext cx="5692140" cy="749808"/>
          </a:xfrm>
          <a:prstGeom prst="rect">
            <a:avLst/>
          </a:prstGeom>
          <a:solidFill>
            <a:srgbClr val="20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40780" y="3529584"/>
            <a:ext cx="5692140" cy="749808"/>
          </a:xfrm>
          <a:prstGeom prst="rect">
            <a:avLst/>
          </a:prstGeom>
          <a:solidFill>
            <a:srgbClr val="06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6032" y="357530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8A7332"/>
                </a:solidFill>
                <a:latin typeface="Calibri"/>
              </a:rPr>
              <a:t>T+Day 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16736" y="3712464"/>
            <a:ext cx="4558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DBBBB"/>
                </a:solidFill>
                <a:latin typeface="Calibri"/>
              </a:rPr>
              <a:t>Ownership alignment still in progress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3932" y="3712464"/>
            <a:ext cx="55458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B8A6E"/>
                </a:solidFill>
                <a:latin typeface="Calibri"/>
              </a:rPr>
              <a:t>First activation retrospective complete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56032" y="4334256"/>
            <a:ext cx="5692140" cy="749808"/>
          </a:xfrm>
          <a:prstGeom prst="rect">
            <a:avLst/>
          </a:prstGeom>
          <a:solidFill>
            <a:srgbClr val="20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40780" y="4334256"/>
            <a:ext cx="5692140" cy="749808"/>
          </a:xfrm>
          <a:prstGeom prst="rect">
            <a:avLst/>
          </a:prstGeom>
          <a:solidFill>
            <a:srgbClr val="06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" y="4379976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8A7332"/>
                </a:solidFill>
                <a:latin typeface="Calibri"/>
              </a:rPr>
              <a:t>T+Day 30+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16736" y="4517136"/>
            <a:ext cx="455828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DDBBBB"/>
                </a:solidFill>
                <a:latin typeface="Calibri"/>
              </a:rPr>
              <a:t>Response plan finally approved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3932" y="4517136"/>
            <a:ext cx="55458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B8A6E"/>
                </a:solidFill>
                <a:latin typeface="Calibri"/>
              </a:rPr>
              <a:t>Protocol updated — ready for the next event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5760720"/>
            <a:ext cx="12188952" cy="749808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5760720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870448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1">
                <a:solidFill>
                  <a:srgbClr val="C9A84C"/>
                </a:solidFill>
                <a:latin typeface="Georgia"/>
              </a:rPr>
              <a:t>"The response is ready before the trigger fires."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46304" y="6528816"/>
            <a:ext cx="292608" cy="292608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64592" y="6547104"/>
            <a:ext cx="256032" cy="256032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4592" y="6585508"/>
            <a:ext cx="256032" cy="166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557345"/>
            <a:ext cx="1463040" cy="133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6680240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" y="66619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6685" y="6592824"/>
            <a:ext cx="4875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999EB8"/>
                </a:solidFill>
                <a:latin typeface="Calibri"/>
              </a:rPr>
              <a:t>VAUGHNMARTIN  ·  READINESS OS  ·  9 of 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91672" y="65928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99EB8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37744" y="146304"/>
            <a:ext cx="438912" cy="438912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56032" y="164592"/>
            <a:ext cx="402336" cy="402336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224942"/>
            <a:ext cx="402336" cy="261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0685"/>
            <a:ext cx="1463040" cy="209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373806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5551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" y="749808"/>
            <a:ext cx="609447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A7332"/>
                </a:solidFill>
                <a:latin typeface="Calibri"/>
              </a:rPr>
              <a:t>LIVE PRODUCTION — PROOF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" y="987552"/>
            <a:ext cx="50292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" y="1060704"/>
            <a:ext cx="5606917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Live production platform,</a:t>
            </a:r>
          </a:p>
          <a:p>
            <a:pPr algn="l"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not concept slides.</a:t>
            </a:r>
          </a:p>
        </p:txBody>
      </p:sp>
      <p:sp>
        <p:nvSpPr>
          <p:cNvPr id="13" name="Oval 12"/>
          <p:cNvSpPr/>
          <p:nvPr/>
        </p:nvSpPr>
        <p:spPr>
          <a:xfrm>
            <a:off x="256032" y="2231136"/>
            <a:ext cx="219456" cy="21945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" y="2221992"/>
            <a:ext cx="2194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176272"/>
            <a:ext cx="53631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FD8"/>
                </a:solidFill>
                <a:latin typeface="Calibri"/>
              </a:rPr>
              <a:t>Live onboarding flow and getting-started hub</a:t>
            </a:r>
          </a:p>
        </p:txBody>
      </p:sp>
      <p:sp>
        <p:nvSpPr>
          <p:cNvPr id="16" name="Oval 15"/>
          <p:cNvSpPr/>
          <p:nvPr/>
        </p:nvSpPr>
        <p:spPr>
          <a:xfrm>
            <a:off x="256032" y="2633472"/>
            <a:ext cx="219456" cy="21945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6032" y="2624328"/>
            <a:ext cx="2194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578608"/>
            <a:ext cx="53631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FD8"/>
                </a:solidFill>
                <a:latin typeface="Calibri"/>
              </a:rPr>
              <a:t>Live protocol activation — authorization → execution</a:t>
            </a:r>
          </a:p>
        </p:txBody>
      </p:sp>
      <p:sp>
        <p:nvSpPr>
          <p:cNvPr id="19" name="Oval 18"/>
          <p:cNvSpPr/>
          <p:nvPr/>
        </p:nvSpPr>
        <p:spPr>
          <a:xfrm>
            <a:off x="256032" y="3035808"/>
            <a:ext cx="219456" cy="21945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" y="3026664"/>
            <a:ext cx="21945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980944"/>
            <a:ext cx="536313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CCFD8"/>
                </a:solidFill>
                <a:latin typeface="Calibri"/>
              </a:rPr>
              <a:t>Live executive decision materials and buyer packet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3054096"/>
            <a:ext cx="2827782" cy="219456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" y="3054096"/>
            <a:ext cx="282778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Onboarding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" y="3310128"/>
            <a:ext cx="282778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lide_onboar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3346704"/>
            <a:ext cx="2827782" cy="3090672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3175254" y="3054096"/>
            <a:ext cx="2827782" cy="219456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75254" y="3054096"/>
            <a:ext cx="282778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Protocol Library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75254" y="3310128"/>
            <a:ext cx="282778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lide_protocol_libra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5254" y="3346704"/>
            <a:ext cx="2827782" cy="3090672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094476" y="3054096"/>
            <a:ext cx="2827782" cy="219456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4476" y="3054096"/>
            <a:ext cx="282778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Mission Control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4476" y="3310128"/>
            <a:ext cx="282778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lide_mission_contro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76" y="3346704"/>
            <a:ext cx="2827782" cy="3090672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9013698" y="3054096"/>
            <a:ext cx="2827782" cy="219456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13698" y="3054096"/>
            <a:ext cx="282778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Buyer Decision Packet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13698" y="3310128"/>
            <a:ext cx="282778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lide_buyer_packe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3698" y="3346704"/>
            <a:ext cx="2827782" cy="3090672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46304" y="6528816"/>
            <a:ext cx="292608" cy="292608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64592" y="6547104"/>
            <a:ext cx="256032" cy="256032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4592" y="6585508"/>
            <a:ext cx="256032" cy="166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557345"/>
            <a:ext cx="1463040" cy="133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6680240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" y="66619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6685" y="6592824"/>
            <a:ext cx="4875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999EB8"/>
                </a:solidFill>
                <a:latin typeface="Calibri"/>
              </a:rPr>
              <a:t>VAUGHNMARTIN  ·  READINESS OS  ·  10 of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91672" y="65928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99EB8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37744" y="182880"/>
            <a:ext cx="438912" cy="438912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6032" y="201168"/>
            <a:ext cx="402336" cy="402336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261518"/>
            <a:ext cx="402336" cy="261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7261"/>
            <a:ext cx="1463040" cy="209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410382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6" y="39209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" y="768096"/>
            <a:ext cx="609447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A0F2E"/>
                </a:solidFill>
                <a:latin typeface="Calibri"/>
              </a:rPr>
              <a:t>COMMERCIAL MOTION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" y="1005840"/>
            <a:ext cx="502920" cy="36576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" y="1078992"/>
            <a:ext cx="658203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A0F2E"/>
                </a:solidFill>
                <a:latin typeface="Calibri"/>
              </a:rPr>
              <a:t>Focused entry.</a:t>
            </a:r>
          </a:p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A0F2E"/>
                </a:solidFill>
                <a:latin typeface="Calibri"/>
              </a:rPr>
              <a:t>Measurable proof.</a:t>
            </a:r>
          </a:p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0A0F2E"/>
                </a:solidFill>
                <a:latin typeface="Calibri"/>
              </a:rPr>
              <a:t>Scalable expansion.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834640"/>
            <a:ext cx="3782568" cy="3584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834640"/>
            <a:ext cx="3782568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" y="2926080"/>
            <a:ext cx="3508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" y="3255264"/>
            <a:ext cx="35082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FOUNDING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" y="3584448"/>
            <a:ext cx="35082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ENGAGEMENT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" y="3950208"/>
            <a:ext cx="3453384" cy="27432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" y="4041648"/>
            <a:ext cx="350824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Select Fortune 1000 organizations — structured 90-day validation partnership. Full platform access and direct founder engagement.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5760720"/>
            <a:ext cx="3526536" cy="548640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5815584"/>
            <a:ext cx="33802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526B"/>
                </a:solidFill>
                <a:latin typeface="Calibri"/>
              </a:rPr>
              <a:t>Success: one live trigger handled inside Readiness OS with documented mobilization compression vs. baseline.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48328" y="2834640"/>
            <a:ext cx="3782568" cy="3584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48328" y="2834640"/>
            <a:ext cx="3782568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12920" y="2926080"/>
            <a:ext cx="3508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B8A6E"/>
                </a:solidFill>
                <a:latin typeface="Calibri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2920" y="3255264"/>
            <a:ext cx="35082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OPERATIONAL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2920" y="3584448"/>
            <a:ext cx="35082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OUTCOME PROOF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12920" y="3950208"/>
            <a:ext cx="3453384" cy="27432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12920" y="4041648"/>
            <a:ext cx="350824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Live activation generates documented time-to-execution data. The ROI case is built from real organizational performance — not projections.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0624" y="2834640"/>
            <a:ext cx="3782568" cy="3584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0624" y="2834640"/>
            <a:ext cx="3782568" cy="4572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05216" y="2926080"/>
            <a:ext cx="350824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A0F2E"/>
                </a:solidFill>
                <a:latin typeface="Calibri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5216" y="3255264"/>
            <a:ext cx="35082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ENTERPRISE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05216" y="3584448"/>
            <a:ext cx="35082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EXPANSION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05216" y="3950208"/>
            <a:ext cx="3453384" cy="27432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05216" y="4041648"/>
            <a:ext cx="350824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A526B"/>
                </a:solidFill>
                <a:latin typeface="Calibri"/>
              </a:rPr>
              <a:t>Proven ROI drives expansion across additional domains, protocol packs, and organization-wide deployment.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68640" y="5760720"/>
            <a:ext cx="3526536" cy="548640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0080" y="5815584"/>
            <a:ext cx="33802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4A526B"/>
                </a:solidFill>
                <a:latin typeface="Calibri"/>
              </a:rPr>
              <a:t>Predictable contract growth from validated, quantified outcomes.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E8E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46304" y="6528816"/>
            <a:ext cx="292608" cy="292608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64592" y="6547104"/>
            <a:ext cx="256032" cy="256032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64592" y="6585508"/>
            <a:ext cx="256032" cy="166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557345"/>
            <a:ext cx="1463040" cy="133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6680240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" y="66619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6685" y="6592824"/>
            <a:ext cx="4875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4A526B"/>
                </a:solidFill>
                <a:latin typeface="Calibri"/>
              </a:rPr>
              <a:t>VAUGHNMARTIN  ·  READINESS OS  ·  11 of 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91672" y="65928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4A526B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997196" y="457200"/>
            <a:ext cx="950976" cy="950976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015484" y="475488"/>
            <a:ext cx="914400" cy="914400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15484" y="612648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7900" y="512064"/>
            <a:ext cx="1463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9" name="Rectangle 8"/>
          <p:cNvSpPr/>
          <p:nvPr/>
        </p:nvSpPr>
        <p:spPr>
          <a:xfrm>
            <a:off x="6057900" y="950976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3932" y="93268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73936"/>
            <a:ext cx="1072591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Partner with us to scale Readiness OS.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8636" y="2450592"/>
            <a:ext cx="20116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2615184"/>
            <a:ext cx="9994392" cy="713232"/>
          </a:xfrm>
          <a:prstGeom prst="rect">
            <a:avLst/>
          </a:prstGeom>
          <a:solidFill>
            <a:srgbClr val="0C10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2706624"/>
            <a:ext cx="962863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9A84C"/>
                </a:solidFill>
                <a:latin typeface="Georgia"/>
              </a:rPr>
              <a:t>"If advantage belongs to organizations that see earlier and execute decisively, let's partner."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3547872"/>
            <a:ext cx="5029200" cy="1591056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12" y="3547872"/>
            <a:ext cx="50292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4709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FOUNDING PARTNERS + ALIGNED INVESTORS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023360"/>
            <a:ext cx="4709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99EB8"/>
                </a:solidFill>
                <a:latin typeface="Calibri"/>
              </a:rPr>
              <a:t>90-day validation partnership  ·  Direct founder access  ·  First-mover enterprise positioning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73952" y="3547872"/>
            <a:ext cx="5029200" cy="1591056"/>
          </a:xfrm>
          <a:prstGeom prst="rect">
            <a:avLst/>
          </a:prstGeom>
          <a:solidFill>
            <a:srgbClr val="0C1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73952" y="3547872"/>
            <a:ext cx="502920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3657600"/>
            <a:ext cx="4709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IMMEDIATE NEXT STEP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832" y="4023360"/>
            <a:ext cx="4709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99EB8"/>
                </a:solidFill>
                <a:latin typeface="Calibri"/>
              </a:rPr>
              <a:t>Executive Scenario Session — we walk your specific trigger context through Readiness OS live, in real time.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449824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A7332"/>
                </a:solidFill>
                <a:latin typeface="Calibri"/>
              </a:rPr>
              <a:t>vaughnmartin.com  ·  founding@vaughnmartin.com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609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510528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6304" y="6528816"/>
            <a:ext cx="292608" cy="292608"/>
          </a:xfrm>
          <a:prstGeom prst="ellipse">
            <a:avLst/>
          </a:prstGeom>
          <a:solidFill>
            <a:srgbClr val="06091C"/>
          </a:solidFill>
          <a:ln w="228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4592" y="6547104"/>
            <a:ext cx="256032" cy="256032"/>
          </a:xfrm>
          <a:prstGeom prst="ellipse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4592" y="6585508"/>
            <a:ext cx="256032" cy="166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57345"/>
            <a:ext cx="1463040" cy="133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6680240"/>
            <a:ext cx="201168" cy="182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2" y="66619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6685" y="6592824"/>
            <a:ext cx="48755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999EB8"/>
                </a:solidFill>
                <a:latin typeface="Calibri"/>
              </a:rPr>
              <a:t>VAUGHNMARTIN  ·  READINESS OS  ·  12 of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1672" y="65928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999EB8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