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56" y="822960"/>
            <a:ext cx="1920240" cy="1280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722876" y="2331720"/>
            <a:ext cx="2743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999439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Signal Advantage</a:t>
            </a:r>
          </a:p>
          <a:p>
            <a:pPr algn="ctr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Before Execution Advantage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See earlier.  Decide with authority.  Execute in 12 minutes.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45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55A7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57607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4048" y="777240"/>
            <a:ext cx="27432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7772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042415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432511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0A0F2E"/>
                </a:solidFill>
                <a:latin typeface="Calibri"/>
              </a:rPr>
              <a:t>Most organizations miss</a:t>
            </a:r>
          </a:p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0A0F2E"/>
                </a:solidFill>
                <a:latin typeface="Calibri"/>
              </a:rPr>
              <a:t>the window before they align.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487168"/>
            <a:ext cx="4325112" cy="475488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487168"/>
            <a:ext cx="36576" cy="4754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96896"/>
            <a:ext cx="4142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Triggers are detected too late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3054096"/>
            <a:ext cx="4325112" cy="475488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3054096"/>
            <a:ext cx="36576" cy="4754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4142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Authority is unclear in the moment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3621024"/>
            <a:ext cx="4325112" cy="475488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21024"/>
            <a:ext cx="36576" cy="4754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730752"/>
            <a:ext cx="4142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Coordination starts after the risk is already moving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4315968"/>
            <a:ext cx="43251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526B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02920"/>
            <a:ext cx="6656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THE TYPICAL RESPONSE TIMELINE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240280"/>
            <a:ext cx="6656832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93792" y="2121408"/>
            <a:ext cx="310896" cy="31089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155448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188366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5" name="Oval 24"/>
          <p:cNvSpPr/>
          <p:nvPr/>
        </p:nvSpPr>
        <p:spPr>
          <a:xfrm>
            <a:off x="8189366" y="2121408"/>
            <a:ext cx="310896" cy="310896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734" y="155448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1–14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734" y="188366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28" name="Oval 27"/>
          <p:cNvSpPr/>
          <p:nvPr/>
        </p:nvSpPr>
        <p:spPr>
          <a:xfrm>
            <a:off x="11184940" y="2121408"/>
            <a:ext cx="310896" cy="310896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00308" y="155448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00308" y="188366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49240" y="2743200"/>
            <a:ext cx="6656832" cy="1188720"/>
          </a:xfrm>
          <a:prstGeom prst="rect">
            <a:avLst/>
          </a:prstGeom>
          <a:solidFill>
            <a:srgbClr val="28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49240" y="2743200"/>
            <a:ext cx="6656832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2834640"/>
            <a:ext cx="63825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644"/>
                </a:solidFill>
                <a:latin typeface="Calibri"/>
              </a:rPr>
              <a:t>⚠  LOST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200400"/>
            <a:ext cx="6382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AAAA"/>
                </a:solidFill>
                <a:latin typeface="Calibri"/>
              </a:rPr>
              <a:t>The trigger fired. The competitor acted.
Your organization was still in alignment meetings.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49240" y="4133087"/>
            <a:ext cx="665683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9240" y="4224528"/>
            <a:ext cx="6656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2B8A6E"/>
                </a:solidFill>
                <a:latin typeface="Georgia"/>
              </a:rPr>
              <a:t>Readiness OS compresses mobilization to 12 minutes.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64592"/>
            <a:ext cx="576072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6032" y="749808"/>
            <a:ext cx="274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005840"/>
            <a:ext cx="50292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097280"/>
            <a:ext cx="633825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Earlier signal.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Faster mobilization.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Compounding edge.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944368"/>
            <a:ext cx="11676888" cy="594360"/>
          </a:xfrm>
          <a:prstGeom prst="rect">
            <a:avLst/>
          </a:prstGeom>
          <a:solidFill>
            <a:srgbClr val="0C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044952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3703320"/>
            <a:ext cx="5618988" cy="1874519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703320"/>
            <a:ext cx="561898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3803904"/>
            <a:ext cx="53446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133087"/>
            <a:ext cx="53446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9EB8"/>
                </a:solidFill>
                <a:latin typeface="Calibri"/>
              </a:rPr>
              <a:t>System monitoring across 248+ data points and 221 trigger patterns, defined on your terms — not discovered after the fact.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4476" y="3703320"/>
            <a:ext cx="5618988" cy="1874519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03320"/>
            <a:ext cx="561898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7356" y="3803904"/>
            <a:ext cx="53446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7356" y="4133087"/>
            <a:ext cx="53446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9EB8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559552"/>
            <a:ext cx="12188952" cy="950976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55955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248+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172200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data points monitored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38094" y="5650992"/>
            <a:ext cx="9144" cy="640080"/>
          </a:xfrm>
          <a:prstGeom prst="rect">
            <a:avLst/>
          </a:prstGeom>
          <a:solidFill>
            <a:srgbClr val="1E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7238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7238" y="6172200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trigger patterns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5332" y="5650992"/>
            <a:ext cx="9144" cy="640080"/>
          </a:xfrm>
          <a:prstGeom prst="rect">
            <a:avLst/>
          </a:prstGeom>
          <a:solidFill>
            <a:srgbClr val="1E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4476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170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4476" y="6172200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Readiness Protocols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32570" y="5650992"/>
            <a:ext cx="9144" cy="640080"/>
          </a:xfrm>
          <a:prstGeom prst="rect">
            <a:avLst/>
          </a:prstGeom>
          <a:solidFill>
            <a:srgbClr val="1E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1714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1714" y="6172200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strategic domains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64592"/>
            <a:ext cx="576072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6032" y="749808"/>
            <a:ext cx="27432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00584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4905756" y="169164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920240"/>
            <a:ext cx="2254910" cy="4462272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1920240"/>
            <a:ext cx="225491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9167" y="2057400"/>
            <a:ext cx="438912" cy="43891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8895" y="213969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606040"/>
            <a:ext cx="210860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2889504"/>
            <a:ext cx="210860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Scenarios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925726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3255264"/>
            <a:ext cx="207203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Define every strategic situation your organization has faced, is facing, or is likely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7518" y="1920240"/>
            <a:ext cx="2254910" cy="4462272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47518" y="1920240"/>
            <a:ext cx="225491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55517" y="2057400"/>
            <a:ext cx="438912" cy="438912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5245" y="213969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8958" y="2606040"/>
            <a:ext cx="210860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8958" y="2889504"/>
            <a:ext cx="210860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Triggers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2110" y="3154680"/>
            <a:ext cx="1925726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7246" y="3255264"/>
            <a:ext cx="207203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System monitoring of customer-defined thresholds. 248+ data points. Every 15 minutes.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93868" y="1920240"/>
            <a:ext cx="2254910" cy="4462272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93868" y="1920240"/>
            <a:ext cx="225491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01868" y="2057400"/>
            <a:ext cx="438912" cy="43891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11596" y="213969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5308" y="2606040"/>
            <a:ext cx="210860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5308" y="2889504"/>
            <a:ext cx="210860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Authority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58460" y="3154680"/>
            <a:ext cx="1925726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03596" y="3255264"/>
            <a:ext cx="207203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Explicit executive authorization at every decision point. AI monitors. Executives decide.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0219" y="1920240"/>
            <a:ext cx="2254910" cy="4462272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40219" y="1920240"/>
            <a:ext cx="225491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48218" y="2057400"/>
            <a:ext cx="438912" cy="438912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946" y="213969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1659" y="2606040"/>
            <a:ext cx="210860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1659" y="2889504"/>
            <a:ext cx="210860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Action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4811" y="3154680"/>
            <a:ext cx="1925726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49947" y="3255264"/>
            <a:ext cx="207203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Roles, budgets, internal and external comms deploy in coordinated sequence — in minutes.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6569" y="1920240"/>
            <a:ext cx="2254910" cy="4462272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86569" y="1920240"/>
            <a:ext cx="225491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494568" y="2057400"/>
            <a:ext cx="438912" cy="438912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4296" y="213969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A0F2E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8009" y="2606040"/>
            <a:ext cx="210860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8009" y="2889504"/>
            <a:ext cx="210860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Readiness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51161" y="3154680"/>
            <a:ext cx="1925726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6297" y="3255264"/>
            <a:ext cx="207203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Every activation feeds forward. Signal patterns and outcomes improve the next response.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57607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4048" y="749808"/>
            <a:ext cx="274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005840"/>
            <a:ext cx="50292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78992"/>
            <a:ext cx="4325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Where leadership sees what</a:t>
            </a:r>
          </a:p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578608"/>
            <a:ext cx="4325112" cy="1176528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78608"/>
            <a:ext cx="36576" cy="11765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670048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944368"/>
            <a:ext cx="4142232" cy="71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846576"/>
            <a:ext cx="4325112" cy="1176528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3846576"/>
            <a:ext cx="36576" cy="11765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38016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212336"/>
            <a:ext cx="4142232" cy="71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114544"/>
            <a:ext cx="4325112" cy="1176528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5114544"/>
            <a:ext cx="36576" cy="11765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5205984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RECOMMENDED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5480304"/>
            <a:ext cx="4142232" cy="71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One executive authorization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3792" y="347472"/>
            <a:ext cx="6922008" cy="310896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94376" y="448056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68112" y="448056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41848" y="448056"/>
            <a:ext cx="100584" cy="100584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411480"/>
            <a:ext cx="6144768" cy="182880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07024" y="411480"/>
            <a:ext cx="6053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99EB8"/>
                </a:solidFill>
                <a:latin typeface="Calibri"/>
              </a:rPr>
              <a:t>vaughnmartin.com/command-tower</a:t>
            </a:r>
          </a:p>
        </p:txBody>
      </p:sp>
      <p:pic>
        <p:nvPicPr>
          <p:cNvPr id="28" name="Picture 27" descr="slide_mission_contro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658368"/>
            <a:ext cx="6922008" cy="585216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26B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57607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4048" y="749808"/>
            <a:ext cx="27432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00584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78992"/>
            <a:ext cx="4325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Detection on your terms,</a:t>
            </a:r>
          </a:p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578608"/>
            <a:ext cx="4325112" cy="181051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78608"/>
            <a:ext cx="36576" cy="18105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670048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A6E20"/>
                </a:solidFill>
                <a:latin typeface="Calibri"/>
              </a:rPr>
              <a:t>CUSTOMER-DEFINED THRESHOLDS + ESCALATION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944368"/>
            <a:ext cx="41422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You define what constitutes a trigger for your organization — thresholds, sources, and escalation paths — not a generic alert.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480560"/>
            <a:ext cx="4325112" cy="181051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4480560"/>
            <a:ext cx="36576" cy="18105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572000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A6E20"/>
                </a:solidFill>
                <a:latin typeface="Calibri"/>
              </a:rPr>
              <a:t>REDUCES MISSED AND LATE DETECTION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846320"/>
            <a:ext cx="41422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Continuous monitoring every 15 minutes across 248+ data points. System-scored and surfaced before it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93792" y="347472"/>
            <a:ext cx="6922008" cy="310896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94376" y="448056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68112" y="448056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41848" y="448056"/>
            <a:ext cx="100584" cy="100584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2160" y="411480"/>
            <a:ext cx="6144768" cy="182880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411480"/>
            <a:ext cx="6053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99EB8"/>
                </a:solidFill>
                <a:latin typeface="Calibri"/>
              </a:rPr>
              <a:t>vaughnmartin.com — Signal Monitoring</a:t>
            </a:r>
          </a:p>
        </p:txBody>
      </p:sp>
      <p:pic>
        <p:nvPicPr>
          <p:cNvPr id="24" name="Picture 23" descr="deck_sign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658368"/>
            <a:ext cx="6922008" cy="58521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26B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57607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4048" y="749808"/>
            <a:ext cx="27432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00584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78992"/>
            <a:ext cx="4325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AI monitors.</a:t>
            </a:r>
          </a:p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578608"/>
            <a:ext cx="4325112" cy="181051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78608"/>
            <a:ext cx="36576" cy="18105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670048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A6E20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944368"/>
            <a:ext cx="41422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No Readiness Protocol activates without explicit executive sign-off. The preparation compresses mobilization;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480560"/>
            <a:ext cx="4325112" cy="181051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4480560"/>
            <a:ext cx="36576" cy="18105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572000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A6E20"/>
                </a:solidFill>
                <a:latin typeface="Calibri"/>
              </a:rPr>
              <a:t>TRACEABLE, AUDITABLE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846320"/>
            <a:ext cx="41422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Every authorization logged with timestamp, decision-maker, and full context. Board-ready audit trail from trigger to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93792" y="347472"/>
            <a:ext cx="6922008" cy="310896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94376" y="448056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68112" y="448056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41848" y="448056"/>
            <a:ext cx="100584" cy="100584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2160" y="411480"/>
            <a:ext cx="6144768" cy="182880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411480"/>
            <a:ext cx="6053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99EB8"/>
                </a:solidFill>
                <a:latin typeface="Calibri"/>
              </a:rPr>
              <a:t>vaughnmartin.com — Activation Console</a:t>
            </a:r>
          </a:p>
        </p:txBody>
      </p:sp>
      <p:pic>
        <p:nvPicPr>
          <p:cNvPr id="24" name="Picture 23" descr="deck_acti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658368"/>
            <a:ext cx="6922008" cy="58521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26B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57607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4048" y="749808"/>
            <a:ext cx="274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005840"/>
            <a:ext cx="50292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78992"/>
            <a:ext cx="432511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From decision to coordinated</a:t>
            </a:r>
          </a:p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action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578608"/>
            <a:ext cx="4325112" cy="181051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78608"/>
            <a:ext cx="36576" cy="181051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670048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ROLES  ·  BUDGET  ·  INTERNAL COMMS  ·  EXTERNAL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944368"/>
            <a:ext cx="41422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Every stakeholder notified. Spending authority unlocked. Leadership messaging and external communications pre-staged and ready.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480560"/>
            <a:ext cx="4325112" cy="181051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4480560"/>
            <a:ext cx="36576" cy="181051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572000"/>
            <a:ext cx="4142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846320"/>
            <a:ext cx="4142232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The entire execution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93792" y="347472"/>
            <a:ext cx="6922008" cy="310896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94376" y="448056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68112" y="448056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41848" y="448056"/>
            <a:ext cx="100584" cy="100584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2160" y="411480"/>
            <a:ext cx="6144768" cy="182880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411480"/>
            <a:ext cx="6053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99EB8"/>
                </a:solidFill>
                <a:latin typeface="Calibri"/>
              </a:rPr>
              <a:t>vaughnmartin.com/12-minute-experience</a:t>
            </a:r>
          </a:p>
        </p:txBody>
      </p:sp>
      <p:pic>
        <p:nvPicPr>
          <p:cNvPr id="24" name="Picture 23" descr="slide_execu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658368"/>
            <a:ext cx="6922008" cy="58521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26B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64592"/>
            <a:ext cx="57607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749808"/>
            <a:ext cx="116768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One trigger.  Two outcomes.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7196" y="1325880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444752"/>
            <a:ext cx="5682996" cy="384048"/>
          </a:xfrm>
          <a:prstGeom prst="rect">
            <a:avLst/>
          </a:prstGeom>
          <a:solidFill>
            <a:srgbClr val="28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508760"/>
            <a:ext cx="56829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6644"/>
                </a:solidFill>
                <a:latin typeface="Calibri"/>
              </a:rPr>
              <a:t>WITHOUT READINESS OS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9068" y="1444752"/>
            <a:ext cx="5682996" cy="384048"/>
          </a:xfrm>
          <a:prstGeom prst="rect">
            <a:avLst/>
          </a:prstGeom>
          <a:solidFill>
            <a:srgbClr val="061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9068" y="1508760"/>
            <a:ext cx="56829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WITH READINESS 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920240"/>
            <a:ext cx="5682996" cy="749808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9068" y="1920240"/>
            <a:ext cx="5682996" cy="749808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96596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84832"/>
            <a:ext cx="45125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Signal emerges — nobody has been notified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2220" y="2084832"/>
            <a:ext cx="55184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Signal detected — Readiness Protocol identified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724912"/>
            <a:ext cx="5682996" cy="749808"/>
          </a:xfrm>
          <a:prstGeom prst="rect">
            <a:avLst/>
          </a:prstGeom>
          <a:solidFill>
            <a:srgbClr val="20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9068" y="2724912"/>
            <a:ext cx="5682996" cy="749808"/>
          </a:xfrm>
          <a:prstGeom prst="rect">
            <a:avLst/>
          </a:prstGeom>
          <a:solidFill>
            <a:srgbClr val="06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277063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T+12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889504"/>
            <a:ext cx="45125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DBBBB"/>
                </a:solidFill>
                <a:latin typeface="Calibri"/>
              </a:rPr>
              <a:t>First stakeholder calls begin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2220" y="2889504"/>
            <a:ext cx="55184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Coordinated execution live — all roles active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3529584"/>
            <a:ext cx="5682996" cy="749808"/>
          </a:xfrm>
          <a:prstGeom prst="rect">
            <a:avLst/>
          </a:prstGeom>
          <a:solidFill>
            <a:srgbClr val="20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9068" y="3529584"/>
            <a:ext cx="5682996" cy="749808"/>
          </a:xfrm>
          <a:prstGeom prst="rect">
            <a:avLst/>
          </a:prstGeom>
          <a:solidFill>
            <a:srgbClr val="06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357530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T+Day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694176"/>
            <a:ext cx="45125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DBBBB"/>
                </a:solidFill>
                <a:latin typeface="Calibri"/>
              </a:rPr>
              <a:t>Ownership alignment still in progress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2220" y="3694176"/>
            <a:ext cx="55184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First activation retrospective complete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334256"/>
            <a:ext cx="5682996" cy="749808"/>
          </a:xfrm>
          <a:prstGeom prst="rect">
            <a:avLst/>
          </a:prstGeom>
          <a:solidFill>
            <a:srgbClr val="20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9068" y="4334256"/>
            <a:ext cx="5682996" cy="749808"/>
          </a:xfrm>
          <a:prstGeom prst="rect">
            <a:avLst/>
          </a:prstGeom>
          <a:solidFill>
            <a:srgbClr val="06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437997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T+Day 30+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98848"/>
            <a:ext cx="45125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DBBBB"/>
                </a:solidFill>
                <a:latin typeface="Calibri"/>
              </a:rPr>
              <a:t>Response plan finally approved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2220" y="4498848"/>
            <a:ext cx="55184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Readiness Protocol updated for next event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5742432"/>
            <a:ext cx="12188952" cy="768096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574243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64592"/>
            <a:ext cx="576072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6032" y="749808"/>
            <a:ext cx="27432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LIVE PRODUCTION — PROOF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00584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078992"/>
            <a:ext cx="585069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Live production platform,</a:t>
            </a:r>
          </a:p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not concept slides.</a:t>
            </a:r>
          </a:p>
        </p:txBody>
      </p:sp>
      <p:sp>
        <p:nvSpPr>
          <p:cNvPr id="9" name="Oval 8"/>
          <p:cNvSpPr/>
          <p:nvPr/>
        </p:nvSpPr>
        <p:spPr>
          <a:xfrm>
            <a:off x="256032" y="2221992"/>
            <a:ext cx="237744" cy="237744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2212848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76272"/>
            <a:ext cx="560691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FD8"/>
                </a:solidFill>
                <a:latin typeface="Calibri"/>
              </a:rPr>
              <a:t>Live onboarding flow</a:t>
            </a:r>
          </a:p>
        </p:txBody>
      </p:sp>
      <p:sp>
        <p:nvSpPr>
          <p:cNvPr id="12" name="Oval 11"/>
          <p:cNvSpPr/>
          <p:nvPr/>
        </p:nvSpPr>
        <p:spPr>
          <a:xfrm>
            <a:off x="256032" y="2624328"/>
            <a:ext cx="237744" cy="237744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261518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78608"/>
            <a:ext cx="560691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FD8"/>
                </a:solidFill>
                <a:latin typeface="Calibri"/>
              </a:rPr>
              <a:t>Live protocol activation path</a:t>
            </a:r>
          </a:p>
        </p:txBody>
      </p:sp>
      <p:sp>
        <p:nvSpPr>
          <p:cNvPr id="15" name="Oval 14"/>
          <p:cNvSpPr/>
          <p:nvPr/>
        </p:nvSpPr>
        <p:spPr>
          <a:xfrm>
            <a:off x="256032" y="3026664"/>
            <a:ext cx="237744" cy="237744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30175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980944"/>
            <a:ext cx="560691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FD8"/>
                </a:solidFill>
                <a:latin typeface="Calibri"/>
              </a:rPr>
              <a:t>Live executive decision 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090672"/>
            <a:ext cx="2827782" cy="237744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" y="3090672"/>
            <a:ext cx="28277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3364992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401568"/>
            <a:ext cx="2827782" cy="30175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175254" y="3090672"/>
            <a:ext cx="2827782" cy="237744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75254" y="3090672"/>
            <a:ext cx="28277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75254" y="3364992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254" y="3401568"/>
            <a:ext cx="2827782" cy="30175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094476" y="3090672"/>
            <a:ext cx="2827782" cy="237744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4476" y="3090672"/>
            <a:ext cx="28277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3364992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76" y="3401568"/>
            <a:ext cx="2827782" cy="30175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13698" y="3090672"/>
            <a:ext cx="2827782" cy="237744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13698" y="3090672"/>
            <a:ext cx="28277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13698" y="3364992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3698" y="3401568"/>
            <a:ext cx="2827782" cy="301752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01168"/>
            <a:ext cx="57607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56032" y="749808"/>
            <a:ext cx="27432" cy="25603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98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COMMERCIAL MOTION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005840"/>
            <a:ext cx="502920" cy="365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078992"/>
            <a:ext cx="6703923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A0F2E"/>
                </a:solidFill>
                <a:latin typeface="Calibri"/>
              </a:rPr>
              <a:t>Focused entry,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A0F2E"/>
                </a:solidFill>
                <a:latin typeface="Calibri"/>
              </a:rPr>
              <a:t>measurable proof,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A0F2E"/>
                </a:solidFill>
                <a:latin typeface="Calibri"/>
              </a:rPr>
              <a:t>scalable expansion.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2834640"/>
            <a:ext cx="3782568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2834640"/>
            <a:ext cx="378256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2926080"/>
            <a:ext cx="3508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273552"/>
            <a:ext cx="3508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621024"/>
            <a:ext cx="3508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" y="4005072"/>
            <a:ext cx="3453384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" y="4096512"/>
            <a:ext cx="35082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Select Fortune 1000 organizations in a structured 90-day validation partnership. Full platform access and direct founder engagement.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5724144"/>
            <a:ext cx="3526536" cy="548640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5779008"/>
            <a:ext cx="3380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526B"/>
                </a:solidFill>
                <a:latin typeface="Calibri"/>
              </a:rPr>
              <a:t>90-day success: one live trigger handled inside Readiness OS with measurable mobilization compression vs. baseline.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48328" y="2834640"/>
            <a:ext cx="3782568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48328" y="2834640"/>
            <a:ext cx="378256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2920" y="2926080"/>
            <a:ext cx="3508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920" y="3273552"/>
            <a:ext cx="3508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2920" y="3621024"/>
            <a:ext cx="3508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2920" y="4005072"/>
            <a:ext cx="3453384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2920" y="4096512"/>
            <a:ext cx="35082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Live activation generates documented time-to-execution data. The ROI case is built from real organizational performance, not projections.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0624" y="2834640"/>
            <a:ext cx="3782568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0624" y="2834640"/>
            <a:ext cx="378256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5216" y="2926080"/>
            <a:ext cx="3508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5216" y="3273552"/>
            <a:ext cx="3508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5216" y="3621024"/>
            <a:ext cx="35082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05216" y="4005072"/>
            <a:ext cx="3453384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5216" y="4096512"/>
            <a:ext cx="35082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68640" y="5724144"/>
            <a:ext cx="3526536" cy="548640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0080" y="5779008"/>
            <a:ext cx="3380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526B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BE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26B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502920"/>
            <a:ext cx="1508760" cy="1005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722876" y="1691640"/>
            <a:ext cx="27432" cy="256032"/>
          </a:xfrm>
          <a:prstGeom prst="rect">
            <a:avLst/>
          </a:prstGeom>
          <a:solidFill>
            <a:srgbClr val="8A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4316" y="1691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7332"/>
                </a:solidFill>
                <a:latin typeface="Calibri"/>
              </a:rPr>
              <a:t>ASK +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Partner with us to scale Readiness 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8636" y="2615184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788920"/>
            <a:ext cx="9994392" cy="749808"/>
          </a:xfrm>
          <a:prstGeom prst="rect">
            <a:avLst/>
          </a:prstGeom>
          <a:solidFill>
            <a:srgbClr val="0C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871216"/>
            <a:ext cx="96286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1">
                <a:solidFill>
                  <a:srgbClr val="C9A84C"/>
                </a:solidFill>
                <a:latin typeface="Georgia"/>
              </a:rPr>
              <a:t>"If advantage belongs to organizations that see earlier and execute decisively, let's partner."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67328"/>
            <a:ext cx="4937760" cy="1572768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767328"/>
            <a:ext cx="493776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6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FOUNDING PARTNERS + ALIGNED INVESTORS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79392"/>
            <a:ext cx="4617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90-day validation partnership  ·  Direct founder access  ·  First-mover enterprise positioning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3767328"/>
            <a:ext cx="4937760" cy="1572768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3767328"/>
            <a:ext cx="493776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877056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8A6E"/>
                </a:solidFill>
                <a:latin typeface="Calibri"/>
              </a:rPr>
              <a:t>IMMEDIATE NEXT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279392"/>
            <a:ext cx="4617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Executive Scenario Session — we walk your specific trigger context through Readiness OS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595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oise-logo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547104"/>
            <a:ext cx="41148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000232" y="6583680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99EB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