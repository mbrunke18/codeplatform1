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jpg"/><Relationship Id="rId4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2.jpg"/><Relationship Id="rId6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343" y="841248"/>
            <a:ext cx="2356264" cy="65836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631436" y="1700784"/>
            <a:ext cx="29260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72591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Signal Advantage.</a:t>
            </a:r>
          </a:p>
          <a:p>
            <a:pPr algn="ctr">
              <a:spcAft>
                <a:spcPts val="200"/>
              </a:spcAft>
            </a:pPr>
            <a:r>
              <a:rPr sz="4800" b="1" i="0">
                <a:solidFill>
                  <a:srgbClr val="FFFFFF"/>
                </a:solidFill>
                <a:latin typeface="Calibri"/>
              </a:rPr>
              <a:t>Execution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99943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9A84C"/>
                </a:solidFill>
                <a:latin typeface="Georgia"/>
              </a:rPr>
              <a:t>Signal advantage before execution advantage.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443984"/>
            <a:ext cx="9262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9096B2"/>
                </a:solidFill>
                <a:latin typeface="Georgia"/>
              </a:rPr>
              <a:t>The response is ready before the trigger fires.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010912"/>
            <a:ext cx="8531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READINESS OS  ·  FORTUNE 1000  ·  VAUGHNMARTIN.COM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  / 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426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Most organizations don't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can't execute — they lose because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0A0F2E"/>
                </a:solidFill>
                <a:latin typeface="Georgia"/>
              </a:rPr>
              <a:t>they detect too late.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523744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523744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61518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LATE 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889504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By the time the trigger is visible, the competitor has already moved.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401568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401568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493008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NO PRE-STAGED DECISION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767328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Ownership is contested in real time. No protocol is ready to deploy.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4279392"/>
            <a:ext cx="4059936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4279392"/>
            <a:ext cx="45720" cy="7498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70832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30-DAY COORDINATION DELAY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645152"/>
            <a:ext cx="380390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Alignment meetings begin after the trigger fires — not before.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" y="6053328"/>
            <a:ext cx="405993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27A"/>
                </a:solidFill>
                <a:latin typeface="Georgia"/>
              </a:rPr>
              <a:t>"The window does not wait for the org chart."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877824"/>
            <a:ext cx="714146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9096B2"/>
                </a:solidFill>
                <a:latin typeface="Calibri"/>
              </a:rPr>
              <a:t>TYPICAL RESPONSE TIMELINE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2432304"/>
            <a:ext cx="7141464" cy="54864"/>
          </a:xfrm>
          <a:prstGeom prst="rect">
            <a:avLst/>
          </a:prstGeom>
          <a:solidFill>
            <a:srgbClr val="20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91456" y="2304288"/>
            <a:ext cx="292608" cy="29260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B8A6E"/>
                </a:solidFill>
                <a:latin typeface="Calibri"/>
              </a:rPr>
              <a:t>T+0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SIGNAL</a:t>
            </a:r>
          </a:p>
        </p:txBody>
      </p:sp>
      <p:sp>
        <p:nvSpPr>
          <p:cNvPr id="28" name="Oval 27"/>
          <p:cNvSpPr/>
          <p:nvPr/>
        </p:nvSpPr>
        <p:spPr>
          <a:xfrm>
            <a:off x="8076529" y="2304288"/>
            <a:ext cx="292608" cy="292608"/>
          </a:xfrm>
          <a:prstGeom prst="ellipse">
            <a:avLst/>
          </a:prstGeom>
          <a:solidFill>
            <a:srgbClr val="C86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2753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86028"/>
                </a:solidFill>
                <a:latin typeface="Calibri"/>
              </a:rPr>
              <a:t>DAY 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2753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86028"/>
                </a:solidFill>
                <a:latin typeface="Calibri"/>
              </a:rPr>
              <a:t>ALIGNMENT</a:t>
            </a:r>
          </a:p>
        </p:txBody>
      </p:sp>
      <p:sp>
        <p:nvSpPr>
          <p:cNvPr id="31" name="Oval 30"/>
          <p:cNvSpPr/>
          <p:nvPr/>
        </p:nvSpPr>
        <p:spPr>
          <a:xfrm>
            <a:off x="11361602" y="2304288"/>
            <a:ext cx="292608" cy="292608"/>
          </a:xfrm>
          <a:prstGeom prst="ellipse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67826" y="168249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C4444"/>
                </a:solidFill>
                <a:latin typeface="Calibri"/>
              </a:rPr>
              <a:t>DAY 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67826" y="197510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4444"/>
                </a:solidFill>
                <a:latin typeface="Calibri"/>
              </a:rPr>
              <a:t>RESPONSE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0" y="2706623"/>
            <a:ext cx="7141464" cy="1097280"/>
          </a:xfrm>
          <a:prstGeom prst="rect">
            <a:avLst/>
          </a:prstGeom>
          <a:solidFill>
            <a:srgbClr val="FF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37760" y="2706623"/>
            <a:ext cx="7141464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20640" y="2816352"/>
            <a:ext cx="686714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2222"/>
                </a:solidFill>
                <a:latin typeface="Calibri"/>
              </a:rPr>
              <a:t>LOST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3127248"/>
            <a:ext cx="686714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82222"/>
                </a:solidFill>
                <a:latin typeface="Calibri"/>
              </a:rPr>
              <a:t>The trigger fired. The competitor acted.
Your organization was still scheduling alignment meetings.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3986784"/>
            <a:ext cx="7141464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4096512"/>
            <a:ext cx="714146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2B8A6E"/>
                </a:solidFill>
                <a:latin typeface="Georgia"/>
              </a:rPr>
              <a:t>Readiness OS compresses this to 12 minutes.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2  / 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THE TWO-STAGE ADVANTAGE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987552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Not just faster response — a compounding edge: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408176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B8A6E"/>
                </a:solidFill>
                <a:latin typeface="Georgia"/>
              </a:rPr>
              <a:t>earlier signal window + 12-minute coordinated execution.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993392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103120"/>
            <a:ext cx="10835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Calibri"/>
              </a:rPr>
              <a:t>Signal Lead Time  +  Mobilization Compression  =  Compounding Advantage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2336" y="2688335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SIGNAL LEAD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System monitoring across 248+ data points and 221 trigger patterns — defined by your organization on your terms, not generic alerts.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2688335"/>
            <a:ext cx="5554980" cy="20482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1636" y="2688335"/>
            <a:ext cx="555498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4516" y="2816352"/>
            <a:ext cx="52806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MOBILIZATION COMPRESSION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4516" y="3145536"/>
            <a:ext cx="52806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C66"/>
                </a:solidFill>
                <a:latin typeface="Calibri"/>
              </a:rPr>
              <a:t>170 Readiness Protocols pre-staged across 9 strategic domains. Response architecture ready before the trigger fires.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248+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0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data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7238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221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7238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4476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2B8A6E"/>
                </a:solidFill>
                <a:latin typeface="Calibri"/>
              </a:rPr>
              <a:t>170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4476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 Protocols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1714" y="5870448"/>
            <a:ext cx="304723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1714" y="6272784"/>
            <a:ext cx="304723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strategic domains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3  / 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PRODUCT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0F2E"/>
                </a:solidFill>
                <a:latin typeface="Calibri"/>
              </a:rPr>
              <a:t>Map  →  Monitor  →  Decide  →  Execute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905756" y="1371600"/>
            <a:ext cx="237744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03020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12748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MAP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Scenarios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Define every strategic situation your organization has faced or is likely to 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7480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98164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7892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MONITOR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Triggers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80360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System monitoring of customer-defined thresholds — 248+ data points, every 15 minutes.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92624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92624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93308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03036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064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DECIDE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Authority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2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Explicit executive authorization at every point. AI monitors. Executives decide.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87768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87768" y="1554480"/>
            <a:ext cx="2203704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188452" y="1682496"/>
            <a:ext cx="402336" cy="402336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98180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79208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B8A6E"/>
                </a:solidFill>
                <a:latin typeface="Calibri"/>
              </a:rPr>
              <a:t>EXECUTE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0648" y="2688336"/>
            <a:ext cx="1837944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Roles, budgets, and communications deploy in coordinated sequence in 12 minutes.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82912" y="1554480"/>
            <a:ext cx="2203704" cy="4882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82912" y="1554480"/>
            <a:ext cx="2203704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483596" y="1682496"/>
            <a:ext cx="402336" cy="402336"/>
          </a:xfrm>
          <a:prstGeom prst="ellipse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593324" y="1755648"/>
            <a:ext cx="182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74352" y="2194560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C9A84C"/>
                </a:solidFill>
                <a:latin typeface="Calibri"/>
              </a:rPr>
              <a:t>LEARN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74352" y="2450592"/>
            <a:ext cx="2057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A627A"/>
                </a:solidFill>
                <a:latin typeface="Calibri"/>
              </a:rPr>
              <a:t>Readiness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765792" y="2688336"/>
            <a:ext cx="1837944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92640" y="2798064"/>
            <a:ext cx="2002536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C66"/>
                </a:solidFill>
                <a:latin typeface="Calibri"/>
              </a:rPr>
              <a:t>Every activation feeds forward — patterns improve the next response cycle.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4  / 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MISSION CONTROL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Where leadership sees what is forming — and what to do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EMERGING SITUATION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signal detections scored against 221 trigger patterns across 9 strategic domains.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DECISION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System-recommended Readiness Protocol surfaced with signal confidence score.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ONE-CLICK AUTHORIZATION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Executive sign-off deploys the pre-staged execution plan immediately.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vaughnmartin.com/command-tower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5  /  12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TRIGGER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Detection on your terms, not after the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CUSTOMER-DEFINED THRESHOLDS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You define what constitutes a trigger — sources, thresholds, escalation paths. Not generic alerts.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37124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37124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039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248+ DATA POINTS  ·  EVERY 15 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782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Continuous monitoring scored and surfaced before the situation becomes a crisis.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5084064"/>
            <a:ext cx="4059936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2336" y="5084064"/>
            <a:ext cx="45720" cy="12984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51755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221 TRIGGER 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49824"/>
            <a:ext cx="380390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Scored against your defined escalation logic. Signal confidence surfaced at detection.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Signal Monitoring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6  /  12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1060704"/>
            <a:ext cx="7269480" cy="5431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DECISION +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AI monitors. Executives authorize.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HUMAN DECISION AUTHORITY PRESERVED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No Readiness Protocol activates without explicit executive sign-off. The decision stays human.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TRACEABLE ACTIVATION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authorization logged with timestamp, decision-maker, and full context — board-ready audit trail.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 — Activation Console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7  /  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Activation Console · LIVE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347472"/>
          </a:xfrm>
          <a:prstGeom prst="rect">
            <a:avLst/>
          </a:prstGeom>
          <a:solidFill>
            <a:srgbClr val="1A07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0" y="1517904"/>
            <a:ext cx="100584" cy="100584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0" y="1472184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6B5B"/>
                </a:solidFill>
                <a:latin typeface="Calibri"/>
              </a:rPr>
              <a:t>⚠  SIGNAL DETECTED  ·  HIGH PRIORITY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1472184"/>
            <a:ext cx="3154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09:02:17  ·  13F SEC FILING  ·  EDGAR 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1604772"/>
            <a:ext cx="672084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Activist Investor  —  Elliott Management Partners, L.P.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0" y="1773936"/>
            <a:ext cx="6940296" cy="749808"/>
          </a:xfrm>
          <a:prstGeom prst="rect">
            <a:avLst/>
          </a:prstGeom>
          <a:solidFill>
            <a:srgbClr val="0E1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0" y="1773936"/>
            <a:ext cx="32004" cy="749808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38928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POSITION FILED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9.2% stake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38928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$2.1B market value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39584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21880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CAMPAIGN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21880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Board Representation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21880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+ Strategic Review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22536" y="1865376"/>
            <a:ext cx="9144" cy="566928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04832" y="1856231"/>
            <a:ext cx="2154936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WINDOW TO RESPOND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04832" y="2020824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72 hours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04832" y="2194560"/>
            <a:ext cx="215493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CEDC"/>
                </a:solidFill>
                <a:latin typeface="Calibri"/>
              </a:rPr>
              <a:t>before media breaks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257860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096B2"/>
                </a:solidFill>
                <a:latin typeface="Calibri"/>
              </a:rPr>
              <a:t>SYSTEM RISK SCORE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76288" y="25786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6B5B"/>
                </a:solidFill>
                <a:latin typeface="Calibri"/>
              </a:rPr>
              <a:t>89 / 100   ·   CRITICAL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0" y="2770632"/>
            <a:ext cx="6940296" cy="118872"/>
          </a:xfrm>
          <a:prstGeom prst="rect">
            <a:avLst/>
          </a:prstGeom>
          <a:solidFill>
            <a:srgbClr val="141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29200" y="2770632"/>
            <a:ext cx="6176863" cy="118872"/>
          </a:xfrm>
          <a:prstGeom prst="rect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187775" y="2770632"/>
            <a:ext cx="164592" cy="118872"/>
          </a:xfrm>
          <a:prstGeom prst="rect">
            <a:avLst/>
          </a:prstGeom>
          <a:solidFill>
            <a:srgbClr val="FF6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29200" y="2971800"/>
            <a:ext cx="6940296" cy="877824"/>
          </a:xfrm>
          <a:prstGeom prst="rect">
            <a:avLst/>
          </a:prstGeom>
          <a:solidFill>
            <a:srgbClr val="07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0" y="2971800"/>
            <a:ext cx="6940296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20640" y="3035808"/>
            <a:ext cx="2286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Calibri"/>
              </a:rPr>
              <a:t>SYSTEM RECOMMENDATION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20640" y="3218688"/>
            <a:ext cx="6720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Georgia"/>
              </a:rPr>
              <a:t>Protocol #42 — Activist Investor Response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57216" y="3506724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266944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28 tasks pre-staged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57216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66944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8 stakeholders mapped with decision rights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57216" y="3753612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66944" y="3721608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Board communication drafted and ready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627364" y="3506724"/>
            <a:ext cx="64008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37092" y="3474720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Legal team and PR firm notified automatically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27364" y="3630168"/>
            <a:ext cx="64008" cy="64008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37092" y="3598163"/>
            <a:ext cx="3232404" cy="123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Shareholder messaging pre-approved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0" y="3941064"/>
            <a:ext cx="6940296" cy="1078992"/>
          </a:xfrm>
          <a:prstGeom prst="rect">
            <a:avLst/>
          </a:prstGeom>
          <a:solidFill>
            <a:srgbClr val="08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029200" y="3941064"/>
            <a:ext cx="6940296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29200" y="3941064"/>
            <a:ext cx="54864" cy="107899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212080" y="402336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Calibri"/>
              </a:rPr>
              <a:t>EXECUTIVE AUTHORIZATION REQUIRED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224528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Georgia"/>
              </a:rPr>
              <a:t>Sarah Chen  ·  Chief Strategy Officer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12080" y="44439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CCEDC"/>
                </a:solidFill>
                <a:latin typeface="Calibri"/>
              </a:rPr>
              <a:t>Protocol #42 is staged and ready. Authorization releases 28 tasks across 8 stakeholders.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235440" y="4123944"/>
            <a:ext cx="1408176" cy="3657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35440" y="4206240"/>
            <a:ext cx="14081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A0F2E"/>
                </a:solidFill>
                <a:latin typeface="Calibri"/>
              </a:rPr>
              <a:t>AUTHORIZE  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753344" y="4123944"/>
            <a:ext cx="1097280" cy="365760"/>
          </a:xfrm>
          <a:prstGeom prst="rect">
            <a:avLst/>
          </a:prstGeom>
          <a:solidFill>
            <a:srgbClr val="121A44"/>
          </a:solidFill>
          <a:ln w="9144">
            <a:solidFill>
              <a:srgbClr val="555C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753344" y="42062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9096B2"/>
                </a:solidFill>
                <a:latin typeface="Calibri"/>
              </a:rPr>
              <a:t>VIEW BRIEF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0" y="5074920"/>
            <a:ext cx="6940296" cy="256032"/>
          </a:xfrm>
          <a:prstGeom prst="rect">
            <a:avLst/>
          </a:prstGeom>
          <a:solidFill>
            <a:srgbClr val="07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120640"/>
            <a:ext cx="6757416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✓  AUTHORIZED  09:14:33  ·  Sarah Chen, CSO  ·  Activation ID: ACT-2026-042-04  ·  Audit logged  ·  Board brief auto-generated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663440" y="0"/>
            <a:ext cx="7525512" cy="6858000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2B8A6E"/>
                </a:solidFill>
                <a:latin typeface="Calibri"/>
              </a:rPr>
              <a:t>EXECUTION ORCHESTRATION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02336" y="877824"/>
            <a:ext cx="4572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987552"/>
            <a:ext cx="4059936" cy="12252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0F2E"/>
                </a:solidFill>
                <a:latin typeface="Georgia"/>
              </a:rPr>
              <a:t>From decision to coordinated action in 12 minutes.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23408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23408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4323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ROLES  ·  BUDGET  ·  COMMS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066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Every stakeholder notified. Spending authority unlocked. Messaging pre-staged across all channels.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98264"/>
            <a:ext cx="4059936" cy="1984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02336" y="4398264"/>
            <a:ext cx="45720" cy="198424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489704"/>
            <a:ext cx="380390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A0F2E"/>
                </a:solidFill>
                <a:latin typeface="Calibri"/>
              </a:rPr>
              <a:t>FULL CROSS-FUNCTIONAL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764024"/>
            <a:ext cx="3803904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The entire plan — people, funds, and communications — deploys in a single authorized action.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64608" y="804672"/>
            <a:ext cx="7269480" cy="256032"/>
          </a:xfrm>
          <a:prstGeom prst="rect">
            <a:avLst/>
          </a:prstGeom>
          <a:solidFill>
            <a:srgbClr val="1A1E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46904" y="877824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93208" y="877824"/>
            <a:ext cx="91440" cy="91440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239512" y="877824"/>
            <a:ext cx="91440" cy="91440"/>
          </a:xfrm>
          <a:prstGeom prst="ellipse">
            <a:avLst/>
          </a:prstGeom>
          <a:solidFill>
            <a:srgbClr val="28C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850392"/>
            <a:ext cx="6611112" cy="155448"/>
          </a:xfrm>
          <a:prstGeom prst="rect">
            <a:avLst/>
          </a:prstGeom>
          <a:solidFill>
            <a:srgbClr val="2529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58968" y="850392"/>
            <a:ext cx="65379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50" b="0" i="0">
                <a:solidFill>
                  <a:srgbClr val="9096B2"/>
                </a:solidFill>
                <a:latin typeface="Calibri"/>
              </a:rPr>
              <a:t>vaughnmartin.com/12-minute-experience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8  /  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64608" y="1060704"/>
            <a:ext cx="7269480" cy="5431536"/>
          </a:xfrm>
          <a:prstGeom prst="rect">
            <a:avLst/>
          </a:prstGeom>
          <a:solidFill>
            <a:srgbClr val="0C1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64608" y="1060704"/>
            <a:ext cx="7269480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64608" y="1060704"/>
            <a:ext cx="7269480" cy="292608"/>
          </a:xfrm>
          <a:prstGeom prst="rect">
            <a:avLst/>
          </a:prstGeom>
          <a:solidFill>
            <a:srgbClr val="070B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92624" y="1161288"/>
            <a:ext cx="91440" cy="91440"/>
          </a:xfrm>
          <a:prstGeom prst="ellipse">
            <a:avLst/>
          </a:prstGeom>
          <a:solidFill>
            <a:srgbClr val="C0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138928" y="1161288"/>
            <a:ext cx="91440" cy="91440"/>
          </a:xfrm>
          <a:prstGeom prst="ellipse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285232" y="1161288"/>
            <a:ext cx="91440" cy="91440"/>
          </a:xfrm>
          <a:prstGeom prst="ellipse">
            <a:avLst/>
          </a:prstGeom>
          <a:solidFill>
            <a:srgbClr val="278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68112" y="1124712"/>
            <a:ext cx="6501384" cy="164592"/>
          </a:xfrm>
          <a:prstGeom prst="rect">
            <a:avLst/>
          </a:prstGeom>
          <a:solidFill>
            <a:srgbClr val="121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41264" y="1129284"/>
            <a:ext cx="6355080" cy="15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readinessOS.vaughnmartin.com  —  Execution Dashboard · Protocol #42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864608" y="1389888"/>
            <a:ext cx="7269480" cy="420624"/>
          </a:xfrm>
          <a:prstGeom prst="rect">
            <a:avLst/>
          </a:prstGeom>
          <a:solidFill>
            <a:srgbClr val="050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4608" y="1389888"/>
            <a:ext cx="7269480" cy="22860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10912" y="1472184"/>
            <a:ext cx="256032" cy="256032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0056" y="1453896"/>
            <a:ext cx="237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8384" y="1444752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DBB97"/>
                </a:solidFill>
                <a:latin typeface="Courier New"/>
              </a:rPr>
              <a:t>11:47  ELAPSED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4" y="1627632"/>
            <a:ext cx="164592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DBB97"/>
                </a:solidFill>
                <a:latin typeface="Calibri"/>
              </a:rPr>
              <a:t>0:13 REMAINING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50608" y="1499616"/>
            <a:ext cx="478231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PROTOCOL #42  ·  ACTIVIST INVESTOR RESPONSE  ·  EXECUTION ACTIVE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8" y="1773936"/>
            <a:ext cx="7269480" cy="128016"/>
          </a:xfrm>
          <a:prstGeom prst="rect">
            <a:avLst/>
          </a:prstGeom>
          <a:solidFill>
            <a:srgbClr val="0C14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864608" y="1773936"/>
            <a:ext cx="7145898" cy="12801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937354" y="1773936"/>
            <a:ext cx="146304" cy="128016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603736" y="1773936"/>
            <a:ext cx="512064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1" i="0">
                <a:solidFill>
                  <a:srgbClr val="0A0F2E"/>
                </a:solidFill>
                <a:latin typeface="Calibri"/>
              </a:rPr>
              <a:t>98.3%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2624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92624" y="1938528"/>
            <a:ext cx="2240279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02352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2B8A6E"/>
                </a:solidFill>
                <a:latin typeface="Calibri"/>
              </a:rPr>
              <a:t>ROLES DEPLOYED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03591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403591" y="1938528"/>
            <a:ext cx="2240279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513319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C9A84C"/>
                </a:solidFill>
                <a:latin typeface="Calibri"/>
              </a:rPr>
              <a:t>BUDGET RELEASED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14560" y="1938528"/>
            <a:ext cx="2240279" cy="4151376"/>
          </a:xfrm>
          <a:prstGeom prst="rect">
            <a:avLst/>
          </a:prstGeom>
          <a:solidFill>
            <a:srgbClr val="0A1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14560" y="1938528"/>
            <a:ext cx="2240279" cy="36576"/>
          </a:xfrm>
          <a:prstGeom prst="rect">
            <a:avLst/>
          </a:prstGeom>
          <a:solidFill>
            <a:srgbClr val="558B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24288" y="2011680"/>
            <a:ext cx="20208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558BD4"/>
                </a:solidFill>
                <a:latin typeface="Calibri"/>
              </a:rPr>
              <a:t>COMMS STAGED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84064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84064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38928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5232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General Counsel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5232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Notified  ·  0:42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84064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84064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38928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5232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Strategy Officer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5232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Authorized  ·  1:15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84064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84064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38928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85232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Chief Financial Officer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85232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Briefed  ·  2:08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84064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84064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138928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85232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Head of Investor Relations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85232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Active  ·  3:22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064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084064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138928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285232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Chair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285232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Alerted  ·  4:01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84064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084064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38928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85232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Communications Director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85232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Engaged  ·  5:14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84064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084064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138928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285232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External PR Firm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285232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Activating...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84064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084064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138928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85232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M&amp;A Counsel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285232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513319" y="2249424"/>
            <a:ext cx="202082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9096B2"/>
                </a:solidFill>
                <a:latin typeface="Calibri"/>
              </a:rPr>
              <a:t>TOTAL PRE-AUTHORIZED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13319" y="2414016"/>
            <a:ext cx="2020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Georgia"/>
              </a:rPr>
              <a:t>$2,400,000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513319" y="2670048"/>
            <a:ext cx="20208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3 cost centers unlocked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495031" y="2834640"/>
            <a:ext cx="2057399" cy="22860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495031" y="2907792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495031" y="2907792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86471" y="2953512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Legal Retainer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86471" y="3154680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$800,000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495031" y="3419856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495031" y="3419856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7586471" y="3465576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PR / Crisis Comms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586471" y="3666744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$400,000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495031" y="3931920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495031" y="3931920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586471" y="3977640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Investment Banking Advisory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86471" y="4178808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$750,000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495031" y="4443984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495031" y="4443984"/>
            <a:ext cx="27432" cy="457200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586471" y="4489704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✓ Board Counsel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586471" y="4690872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$250,000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7495031" y="4956048"/>
            <a:ext cx="2057399" cy="457200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495031" y="4956048"/>
            <a:ext cx="27432" cy="457200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586471" y="5001768"/>
            <a:ext cx="1911095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96B2"/>
                </a:solidFill>
                <a:latin typeface="Calibri"/>
              </a:rPr>
              <a:t>◎ Shareholder Defense Fund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586471" y="5202936"/>
            <a:ext cx="1911095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96B2"/>
                </a:solidFill>
                <a:latin typeface="Calibri"/>
              </a:rPr>
              <a:t>$200,000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906000" y="224942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9906000" y="224942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960864" y="228600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107168" y="228600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Board Alert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107168" y="246888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3DBB97"/>
                </a:solidFill>
                <a:latin typeface="Calibri"/>
              </a:rPr>
              <a:t>Delivered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906000" y="271576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9906000" y="2715768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960864" y="275234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107168" y="275234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Press Hold Statement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107168" y="293522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9906000" y="318211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9906000" y="3182112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960864" y="321868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107168" y="321868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Shareholder Letter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07168" y="340156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Drafted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906000" y="3648456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906000" y="3648456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60864" y="3685032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07168" y="3685032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Employee Communication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07168" y="3867912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Queued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906000" y="4114800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906000" y="4114800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60864" y="4151376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107168" y="4151376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Analyst Brief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107168" y="4334256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Prepared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906000" y="4581144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906000" y="4581144"/>
            <a:ext cx="27432" cy="402336"/>
          </a:xfrm>
          <a:prstGeom prst="rect">
            <a:avLst/>
          </a:prstGeom>
          <a:solidFill>
            <a:srgbClr val="3DB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960864" y="4617720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DBB7A"/>
                </a:solidFill>
                <a:latin typeface="Calibri"/>
              </a:rPr>
              <a:t>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107168" y="4617720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SEC Response Template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107168" y="4800600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Ready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9906000" y="5047488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9906000" y="5047488"/>
            <a:ext cx="27432" cy="402336"/>
          </a:xfrm>
          <a:prstGeom prst="rect">
            <a:avLst/>
          </a:prstGeom>
          <a:solidFill>
            <a:srgbClr val="E08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960864" y="5084064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8A20"/>
                </a:solidFill>
                <a:latin typeface="Calibri"/>
              </a:rPr>
              <a:t>◎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07168" y="5084064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Media Q&amp;A Brief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107168" y="5266944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In Progress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9906000" y="5513832"/>
            <a:ext cx="2057399" cy="402336"/>
          </a:xfrm>
          <a:prstGeom prst="rect">
            <a:avLst/>
          </a:prstGeom>
          <a:solidFill>
            <a:srgbClr val="0C1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9906000" y="5513832"/>
            <a:ext cx="27432" cy="402336"/>
          </a:xfrm>
          <a:prstGeom prst="rect">
            <a:avLst/>
          </a:prstGeom>
          <a:solidFill>
            <a:srgbClr val="555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960864" y="5550408"/>
            <a:ext cx="1645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555C78"/>
                </a:solidFill>
                <a:latin typeface="Calibri"/>
              </a:rPr>
              <a:t>○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107168" y="5550408"/>
            <a:ext cx="1801367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Town Hall Script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107168" y="5733288"/>
            <a:ext cx="1801367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Pending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864608" y="6108192"/>
            <a:ext cx="7269480" cy="384048"/>
          </a:xfrm>
          <a:prstGeom prst="rect">
            <a:avLst/>
          </a:prstGeom>
          <a:solidFill>
            <a:srgbClr val="0414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4864608" y="6108192"/>
            <a:ext cx="7269480" cy="27432"/>
          </a:xfrm>
          <a:prstGeom prst="rect">
            <a:avLst/>
          </a:prstGeom>
          <a:solidFill>
            <a:srgbClr val="3DB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65776" y="6199632"/>
            <a:ext cx="68671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DBB97"/>
                </a:solidFill>
                <a:latin typeface="Calibri"/>
              </a:rPr>
              <a:t>✓  FULL CROSS-FUNCTIONAL DEPLOYMENT  ·  12 minutes  ·  28 tasks  ·  6 roles active  ·  $2.4M released  ·  14 comms staged  ·  Zero meetings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THE 12-MINUTE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0F2E"/>
                </a:solidFill>
                <a:latin typeface="Georgia"/>
              </a:rPr>
              <a:t>Activist investor discloses 8.3% stake. 9:47 AM.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98448"/>
            <a:ext cx="11384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A627A"/>
                </a:solidFill>
                <a:latin typeface="Georgia"/>
              </a:rPr>
              <a:t>One trigger. Two completely different organizations.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" y="1773936"/>
            <a:ext cx="5554980" cy="347472"/>
          </a:xfrm>
          <a:prstGeom prst="rect">
            <a:avLst/>
          </a:prstGeom>
          <a:solidFill>
            <a:srgbClr val="FFEE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773936"/>
            <a:ext cx="5554980" cy="4572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C2222"/>
                </a:solidFill>
                <a:latin typeface="Calibri"/>
              </a:rPr>
              <a:t>WITHOUT READINESS 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73936"/>
            <a:ext cx="5554980" cy="347472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73936"/>
            <a:ext cx="555498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1636" y="1837944"/>
            <a:ext cx="5554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B8A6E"/>
                </a:solidFill>
                <a:latin typeface="Calibri"/>
              </a:rPr>
              <a:t>WITH READINESS 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2231136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228600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9:47 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359152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Disclosure detected by IR team — begins manual distribution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7940" y="2359152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Signal detected. Protocol #47 identified. Stakeholder map loaded.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1636" y="2980944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" y="3035808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108960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Legal, IR, CEO calendars checked. No common slot until 2 PM.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108960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Board materials pre-staged. Draft communications queued for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30752"/>
            <a:ext cx="555498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3785616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10:12 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3858768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Someone suggests pulling the defense advisor deck from last year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7940" y="3858768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27A"/>
                </a:solidFill>
                <a:latin typeface="Calibri"/>
              </a:rPr>
              <a:t>Executive authorization requested — one click to activate.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" y="4480560"/>
            <a:ext cx="5554980" cy="694944"/>
          </a:xfrm>
          <a:prstGeom prst="rect">
            <a:avLst/>
          </a:prstGeom>
          <a:solidFill>
            <a:srgbClr val="FFF4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31636" y="4480560"/>
            <a:ext cx="5554980" cy="694944"/>
          </a:xfrm>
          <a:prstGeom prst="rect">
            <a:avLst/>
          </a:prstGeom>
          <a:solidFill>
            <a:srgbClr val="E8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4535424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8A7332"/>
                </a:solidFill>
                <a:latin typeface="Calibri"/>
              </a:rPr>
              <a:t>9:59 AM →
12 minutes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08576"/>
            <a:ext cx="4402836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2222"/>
                </a:solidFill>
                <a:latin typeface="Calibri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7940" y="4608576"/>
            <a:ext cx="53721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B8A6E"/>
                </a:solidFill>
                <a:latin typeface="Calibri"/>
              </a:rPr>
              <a:t>Coordinated response live. Legal, IR, external counsel, board notified.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" y="5907024"/>
            <a:ext cx="11384280" cy="51206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5980176"/>
            <a:ext cx="108356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9  / 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LIVE PRODUCTION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A0F2E"/>
                </a:solidFill>
                <a:latin typeface="Calibri"/>
              </a:rPr>
              <a:t>Live production software: onboarding, protocol flow,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280160"/>
            <a:ext cx="11384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B8A6E"/>
                </a:solidFill>
                <a:latin typeface="Calibri"/>
              </a:rPr>
              <a:t>decision gates, and execution pathways are active now.</a:t>
            </a:r>
          </a:p>
        </p:txBody>
      </p:sp>
      <p:sp>
        <p:nvSpPr>
          <p:cNvPr id="9" name="Oval 8"/>
          <p:cNvSpPr/>
          <p:nvPr/>
        </p:nvSpPr>
        <p:spPr>
          <a:xfrm>
            <a:off x="402336" y="162763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2336" y="160934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157276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onboarding flow and getting-started hub</a:t>
            </a:r>
          </a:p>
        </p:txBody>
      </p:sp>
      <p:sp>
        <p:nvSpPr>
          <p:cNvPr id="12" name="Oval 11"/>
          <p:cNvSpPr/>
          <p:nvPr/>
        </p:nvSpPr>
        <p:spPr>
          <a:xfrm>
            <a:off x="402336" y="199339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2336" y="197510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193852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protocol activation: authorization → execution</a:t>
            </a:r>
          </a:p>
        </p:txBody>
      </p:sp>
      <p:sp>
        <p:nvSpPr>
          <p:cNvPr id="15" name="Oval 14"/>
          <p:cNvSpPr/>
          <p:nvPr/>
        </p:nvSpPr>
        <p:spPr>
          <a:xfrm>
            <a:off x="402336" y="2359152"/>
            <a:ext cx="201168" cy="201168"/>
          </a:xfrm>
          <a:prstGeom prst="ellipse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2340864"/>
            <a:ext cx="2011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" y="2304288"/>
            <a:ext cx="609447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0F2E"/>
                </a:solidFill>
                <a:latin typeface="Calibri"/>
              </a:rPr>
              <a:t>Live executive decision materials and buyer packet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Onboarding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slide_onboar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" y="2962656"/>
            <a:ext cx="2777490" cy="3493008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7126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Protocol Library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7126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lide_protocol_libra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1266" y="2962656"/>
            <a:ext cx="2777490" cy="349300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4019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Mission Control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019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lide_mission_contro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0196" y="2962656"/>
            <a:ext cx="2777490" cy="349300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9126" y="2688336"/>
            <a:ext cx="277749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8A7332"/>
                </a:solidFill>
                <a:latin typeface="Calibri"/>
              </a:rPr>
              <a:t>Buyer Decision Packet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9126" y="2926080"/>
            <a:ext cx="277749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lide_buyer_packe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9126" y="2962656"/>
            <a:ext cx="2777490" cy="3493008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10  / 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85216"/>
            <a:ext cx="12188952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73152"/>
            <a:ext cx="1701746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97112" y="192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1" i="0">
                <a:solidFill>
                  <a:srgbClr val="C9A84C"/>
                </a:solidFill>
                <a:latin typeface="Calibri"/>
              </a:rPr>
              <a:t>COMMERCIAL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" y="877824"/>
            <a:ext cx="11384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A0F2E"/>
                </a:solidFill>
                <a:latin typeface="Calibri"/>
              </a:rPr>
              <a:t>Focused entry.  Measurable proof.  Scalable expansion.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7196" y="1335024"/>
            <a:ext cx="219456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2336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02336" y="1517904"/>
            <a:ext cx="3721608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ENGAGEMENT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Select Fortune 1000 organizations — 90-day structured validation partnership with direct founder engagement.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Success: one live trigger handled inside Readiness OS with documented mobilization compression vs. baseline.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33672" y="1517904"/>
            <a:ext cx="3721608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B8A6E"/>
                </a:solidFill>
                <a:latin typeface="Calibr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6552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OPERATIONAL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6552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OUTCOME PROOF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6552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16552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Live activation generates documented time-to-execution data. ROI is built from real organizational performance — not projections.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65008" y="1517904"/>
            <a:ext cx="3721608" cy="4919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1517904"/>
            <a:ext cx="3721608" cy="4572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47888" y="16093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47888" y="1938528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231136"/>
            <a:ext cx="3429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EXPANSION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2560319"/>
            <a:ext cx="3355848" cy="27432"/>
          </a:xfrm>
          <a:prstGeom prst="rect">
            <a:avLst/>
          </a:prstGeom>
          <a:solidFill>
            <a:srgbClr val="E6E2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47888" y="2651760"/>
            <a:ext cx="3429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C66"/>
                </a:solidFill>
                <a:latin typeface="Calibri"/>
              </a:rPr>
              <a:t>Proven ROI drives expansion across additional domains, protocol packs, and organization-wide deployment.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11312" y="5742432"/>
            <a:ext cx="3429000" cy="585216"/>
          </a:xfrm>
          <a:prstGeom prst="rect">
            <a:avLst/>
          </a:prstGeom>
          <a:solidFill>
            <a:srgbClr val="F5F2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02752" y="5797296"/>
            <a:ext cx="3282696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A627A"/>
                </a:solidFill>
                <a:latin typeface="Calibri"/>
              </a:rPr>
              <a:t>Predictable contract growth from validated, quantified outcomes.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11  / 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m_logo_hi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973" y="658368"/>
            <a:ext cx="2029005" cy="566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499616"/>
            <a:ext cx="107259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We're building with leaders who want operating advantage,
not another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8636" y="2359152"/>
            <a:ext cx="201168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542032"/>
            <a:ext cx="502920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9A84C"/>
                </a:solidFill>
                <a:latin typeface="Calibri"/>
              </a:rPr>
              <a:t>WHO WE'RE PARTNERING WITH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Fortune 1000 organizations and aligned investors. 90-day validation partnership. Direct founder access. First-mover positioning.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2542032"/>
            <a:ext cx="5029200" cy="1664208"/>
          </a:xfrm>
          <a:prstGeom prst="rect">
            <a:avLst/>
          </a:prstGeom>
          <a:solidFill>
            <a:srgbClr val="0D1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542032"/>
            <a:ext cx="5029200" cy="4572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3408" y="2651760"/>
            <a:ext cx="46817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B8A6E"/>
                </a:solidFill>
                <a:latin typeface="Calibri"/>
              </a:rPr>
              <a:t>NEXT STEP: EXECUTIVE SCENARIO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3017520"/>
            <a:ext cx="4681728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96B2"/>
                </a:solidFill>
                <a:latin typeface="Calibri"/>
              </a:rPr>
              <a:t>We walk your specific trigger context through Readiness OS live — signal detection through 12-minute execution.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4407408"/>
            <a:ext cx="9994392" cy="530352"/>
          </a:xfrm>
          <a:prstGeom prst="rect">
            <a:avLst/>
          </a:prstGeom>
          <a:solidFill>
            <a:srgbClr val="0C1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4498848"/>
            <a:ext cx="96286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C9A84C"/>
                </a:solidFill>
                <a:latin typeface="Georgia"/>
              </a:rPr>
              <a:t>"The response is ready before the trigger fires."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75504"/>
            <a:ext cx="112745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8A7332"/>
                </a:solidFill>
                <a:latin typeface="Calibri"/>
              </a:rPr>
              <a:t>vaughnmartin.com  ·  founding@vaughnmartin.com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28816"/>
            <a:ext cx="12188952" cy="329184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528816"/>
            <a:ext cx="12188952" cy="27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6592824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096B2"/>
                </a:solidFill>
                <a:latin typeface="Calibri"/>
              </a:rPr>
              <a:t>Confidential — For Authorized Recipients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1672" y="65928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096B2"/>
                </a:solidFill>
                <a:latin typeface="Calibri"/>
              </a:rPr>
              <a:t>12  /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