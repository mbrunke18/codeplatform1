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Define every strategic situation your organization has faced or is likely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248+ data points. Customer-defined thresholds. Every 15 minutes.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Pre-assigned decision rights. Executives authorize. Execution deploys.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Roles, budgets, and communications deploy in 12 minutes.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Every activation feeds forward. Each cycle improves the next.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12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84C"/>
                </a:solidFill>
              </a:rPr>
              <a:t>CONTINUOUS PATTERN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12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Activation Console ·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347472"/>
          </a:xfrm>
          <a:prstGeom prst="rect">
            <a:avLst/>
          </a:prstGeom>
          <a:solidFill>
            <a:srgbClr val="1A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1517904"/>
            <a:ext cx="100584" cy="100584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14721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⚠  SIGNAL DETECTED  ·  HIGH PRIORITY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1472184"/>
            <a:ext cx="3154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09:02:17  ·  13F SEC FILING  ·  EDGAR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1604772"/>
            <a:ext cx="6720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Activist Investor  —  Elliott Management Partners, L.P.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1773936"/>
            <a:ext cx="6940296" cy="749808"/>
          </a:xfrm>
          <a:prstGeom prst="rect">
            <a:avLst/>
          </a:prstGeom>
          <a:solidFill>
            <a:srgbClr val="0E1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1773936"/>
            <a:ext cx="32004" cy="749808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POSITION FILED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9.2% stake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$2.1B market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39584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1880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CAMPAIGN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1880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 Representation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21880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+ Strategic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22536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4832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WINDOW TO RESPOND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4832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72 hours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04832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before media breaks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57860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SYSTEM RISK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25786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6B5B"/>
                </a:solidFill>
                <a:latin typeface="Calibri"/>
              </a:rPr>
              <a:t>89 / 100   ·   CRITICAL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0" y="2770632"/>
            <a:ext cx="6940296" cy="118872"/>
          </a:xfrm>
          <a:prstGeom prst="rect">
            <a:avLst/>
          </a:prstGeom>
          <a:solidFill>
            <a:srgbClr val="141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0" y="2770632"/>
            <a:ext cx="6176863" cy="118872"/>
          </a:xfrm>
          <a:prstGeom prst="rect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187775" y="2770632"/>
            <a:ext cx="164592" cy="118872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0" y="2971800"/>
            <a:ext cx="6940296" cy="877824"/>
          </a:xfrm>
          <a:prstGeom prst="rect">
            <a:avLst/>
          </a:prstGeom>
          <a:solidFill>
            <a:srgbClr val="0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2971800"/>
            <a:ext cx="6940296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30358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SYSTEM RECOMMENDATION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3218688"/>
            <a:ext cx="6720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eorgia"/>
              </a:rPr>
              <a:t>Protocol #42 — Activist Investor Response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57216" y="3506724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4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28 tasks pre-staged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57216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66944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8 stakeholders mapped with decision rights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57216" y="375361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66944" y="3721608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Board communication drafted and ready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27364" y="3506724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37092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Legal team and PR firm notified automatically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27364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37092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Shareholder messaging pre-approved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3941064"/>
            <a:ext cx="6940296" cy="1078992"/>
          </a:xfrm>
          <a:prstGeom prst="rect">
            <a:avLst/>
          </a:prstGeom>
          <a:solidFill>
            <a:srgbClr val="08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0" y="3941064"/>
            <a:ext cx="6940296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29200" y="3941064"/>
            <a:ext cx="54864" cy="10789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0" y="40233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EXECUTIVE AUTHORIZATION REQUIRED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2245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eorgia"/>
              </a:rPr>
              <a:t>Sarah Chen  ·  Chief Strategy Officer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12080" y="44439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Protocol #42 is staged and ready. Authorization releases 28 tasks across 8 stakeholders.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35440" y="4123944"/>
            <a:ext cx="1408176" cy="3657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35440" y="4206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AUTHORIZE  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53344" y="42062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VIEW BRIEF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5074920"/>
            <a:ext cx="6940296" cy="256032"/>
          </a:xfrm>
          <a:prstGeom prst="rect">
            <a:avLst/>
          </a:prstGeom>
          <a:solidFill>
            <a:srgbClr val="07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120640"/>
            <a:ext cx="675741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✓  AUTHORIZED  09:14:33  ·  Sarah Chen, CSO  ·  Activation ID: ACT-2026-042-04  ·  Audit logged  ·  Board brief auto-generated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Execution Dashboard · Protocol #42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420624"/>
          </a:xfrm>
          <a:prstGeom prst="rect">
            <a:avLst/>
          </a:prstGeom>
          <a:solidFill>
            <a:srgbClr val="05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10912" y="1472184"/>
            <a:ext cx="2560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0056" y="1453896"/>
            <a:ext cx="237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384" y="14447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BB97"/>
                </a:solidFill>
                <a:latin typeface="Courier New"/>
              </a:rPr>
              <a:t>11:47  ELAPSED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4" y="1627632"/>
            <a:ext cx="1645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BB97"/>
                </a:solidFill>
                <a:latin typeface="Calibri"/>
              </a:rPr>
              <a:t>0:13 REMAINING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0608" y="1499616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PROTOCOL #42  ·  ACTIVIST INVESTOR RESPONSE  ·  EXECUTION ACTIVE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1773936"/>
            <a:ext cx="7269480" cy="128016"/>
          </a:xfrm>
          <a:prstGeom prst="rect">
            <a:avLst/>
          </a:prstGeom>
          <a:solidFill>
            <a:srgbClr val="0C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64608" y="1773936"/>
            <a:ext cx="7145898" cy="1280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937354" y="1773936"/>
            <a:ext cx="146304" cy="128016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03736" y="1773936"/>
            <a:ext cx="5120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98.3%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2624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92624" y="1938528"/>
            <a:ext cx="2240279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02352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ROLES DEPLOYED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3591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03591" y="1938528"/>
            <a:ext cx="2240279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13319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BUDGET RELEASED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14560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14560" y="1938528"/>
            <a:ext cx="2240279" cy="36576"/>
          </a:xfrm>
          <a:prstGeom prst="rect">
            <a:avLst/>
          </a:prstGeom>
          <a:solidFill>
            <a:srgbClr val="55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4288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58BD4"/>
                </a:solidFill>
                <a:latin typeface="Calibri"/>
              </a:rPr>
              <a:t>COMMS STAGED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84064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84064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38928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5232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General Counsel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5232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Notified  ·  0:42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84064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84064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38928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5232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Strategy Officer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5232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Authorized  ·  1:15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84064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84064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38928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5232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Financial Officer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85232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Briefed  ·  2:08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84064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4064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38928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85232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Head of Investor Relations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5232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Active  ·  3:22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064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84064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38928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85232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Chair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85232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Alerted  ·  4:01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84064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84064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38928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85232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Communications Director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5232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Engaged  ·  5:14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84064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84064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85232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External PR Firm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5232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Activating...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84064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84064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38928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85232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M&amp;A Counsel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85232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13319" y="2249424"/>
            <a:ext cx="202082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096B2"/>
                </a:solidFill>
                <a:latin typeface="Calibri"/>
              </a:rPr>
              <a:t>TOTAL PRE-AUTHORIZED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13319" y="2414016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Georgia"/>
              </a:rPr>
              <a:t>$2,400,000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13319" y="2670048"/>
            <a:ext cx="20208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3 cost centers unlocked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95031" y="2834640"/>
            <a:ext cx="2057399" cy="22860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95031" y="2907792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95031" y="2907792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6471" y="2953512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Legal Retainer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6471" y="3154680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$800,000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95031" y="3419856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95031" y="3419856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586471" y="3465576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PR / Crisis Comms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86471" y="3666744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$400,000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95031" y="3931920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5031" y="3931920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6471" y="3977640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Investment Banking Advisory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6471" y="4178808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$750,000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495031" y="4443984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495031" y="4443984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86471" y="4489704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Board Counsel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86471" y="4690872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$250,000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495031" y="4956048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495031" y="4956048"/>
            <a:ext cx="27432" cy="457200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586471" y="5001768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96B2"/>
                </a:solidFill>
                <a:latin typeface="Calibri"/>
              </a:rPr>
              <a:t>◎ Shareholder Defense Fund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6471" y="5202936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96B2"/>
                </a:solidFill>
                <a:latin typeface="Calibri"/>
              </a:rPr>
              <a:t>$200,000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06000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906000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60864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07168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Alert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07168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Delivered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06000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906000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60864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07168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Press Hold Statement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07168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06000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906000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60864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107168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Shareholder Letter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07168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06000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906000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0864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07168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Employee Communication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07168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06000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06000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60864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107168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Analyst Brief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07168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Prepared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906000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06000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60864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107168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SEC Response Template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107168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06000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906000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960864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07168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Media Q&amp;A Brief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07168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In Progress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906000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906000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960864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107168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Town Hall Script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07168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Pending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64608" y="6108192"/>
            <a:ext cx="7269480" cy="384048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864608" y="6108192"/>
            <a:ext cx="7269480" cy="27432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65776" y="6199632"/>
            <a:ext cx="6867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DBB97"/>
                </a:solidFill>
                <a:latin typeface="Calibri"/>
              </a:rPr>
              <a:t>✓  FULL CROSS-FUNCTIONAL DEPLOYMENT  ·  12 minutes  ·  28 tasks  ·  6 roles active  ·  $2.4M released  ·  14 comms staged  ·  Zero meetings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5B"/>
                </a:solidFill>
              </a:rPr>
              <a:t>✕  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DBB97"/>
                </a:solidFill>
              </a:rPr>
              <a:t>✓  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defense advisor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6B5B"/>
                </a:solidFill>
              </a:rPr>
              <a:t>DAY 14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5544"/>
                </a:solidFill>
              </a:rPr>
              <a:t>Still in alignment meetings. No coordinated response. The window has closed.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DBB97"/>
                </a:solidFill>
              </a:rPr>
              <a:t>Coordinated response live. Legal, IR, board, external counsel — all notified. 12 minutes.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1828800"/>
            <a:ext cx="36576" cy="5010912"/>
          </a:xfrm>
          <a:prstGeom prst="rect">
            <a:avLst/>
          </a:prstGeom>
          <a:solidFill>
            <a:srgbClr val="1E2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2336" y="5596128"/>
            <a:ext cx="5230368" cy="347472"/>
          </a:xfrm>
          <a:prstGeom prst="rect">
            <a:avLst/>
          </a:prstGeom>
          <a:solidFill>
            <a:srgbClr val="1A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650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30 days to mobilize — after the trigger fires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8736" y="5596128"/>
            <a:ext cx="5897880" cy="347472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56509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BB97"/>
                </a:solidFill>
                <a:latin typeface="Calibri"/>
              </a:rPr>
              <a:t>12 minutes — response complete, before the window closes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F2E"/>
                </a:solidFill>
                <a:latin typeface="Calibri"/>
              </a:rPr>
              <a:t>Live production software: onboarding, protocol flow,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B8A6E"/>
                </a:solidFill>
                <a:latin typeface="Calibri"/>
              </a:rPr>
              <a:t>decision gates, and execution pathways are active now.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62763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57276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199339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97510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3852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35915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34086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30428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Select Fortune 1000 organizations — 90-day structured validation partnership with direct founder engagement.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Success: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We're building with leaders who want operating advantage,
not another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Fortune 1000 organizations and aligned investors. 90-day validation partnership. Direct founder access. First-mover positioning.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2523744"/>
            <a:ext cx="5577840" cy="1463040"/>
          </a:xfrm>
          <a:prstGeom prst="rect">
            <a:avLst/>
          </a:prstGeom>
          <a:solidFill>
            <a:srgbClr val="0C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2523744"/>
            <a:ext cx="5577840" cy="54864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2523744"/>
            <a:ext cx="54864" cy="146304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615184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97"/>
                </a:solidFill>
                <a:latin typeface="Calibri"/>
              </a:rPr>
              <a:t>NEXT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2871216"/>
            <a:ext cx="5285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Executive Scenario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364992"/>
            <a:ext cx="52852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CBB"/>
                </a:solidFill>
                <a:latin typeface="Calibri"/>
              </a:rPr>
              <a:t>We walk your specific trigger context through Readiness OS live — from signal detection to 12-minute execution.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37376" y="4041648"/>
            <a:ext cx="2377440" cy="3840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0965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0F2E"/>
                </a:solidFill>
                <a:latin typeface="Calibri"/>
              </a:rPr>
              <a:t>REQUEST YOUR SESSION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498848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96B2"/>
                </a:solidFill>
                <a:latin typeface="Calibri"/>
              </a:rPr>
              <a:t>founding@vaughnmartin.com  ·  vaughnmartin.com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