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2.jpg"/><Relationship Id="rId6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343" y="841248"/>
            <a:ext cx="2356264" cy="65836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631436" y="1700784"/>
            <a:ext cx="29260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72591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Calibri"/>
              </a:rPr>
              <a:t>Signal Advantage.</a:t>
            </a:r>
          </a:p>
          <a:p>
            <a:pPr algn="ctr"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Calibri"/>
              </a:rPr>
              <a:t>Execution Advantage.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58768"/>
            <a:ext cx="99943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9A84C"/>
                </a:solidFill>
                <a:latin typeface="Georgia"/>
              </a:rPr>
              <a:t>Signal advantage before execution advantage.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443984"/>
            <a:ext cx="9262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9096B2"/>
                </a:solidFill>
                <a:latin typeface="Georgia"/>
              </a:rPr>
              <a:t>The response is ready before the trigger fires.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010912"/>
            <a:ext cx="8531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096B2"/>
                </a:solidFill>
                <a:latin typeface="Calibri"/>
              </a:rPr>
              <a:t>READINESS OS  ·  FORTUNE 1000  ·  VAUGHNMARTIN.COM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659282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Confidential — For Authorized Recipients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A0F2E"/>
                </a:solidFill>
                <a:latin typeface="Georgia"/>
              </a:rPr>
              <a:t>Most organizations don't lose because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A0F2E"/>
                </a:solidFill>
                <a:latin typeface="Georgia"/>
              </a:rPr>
              <a:t>they can't execute — they lose because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A0F2E"/>
                </a:solidFill>
                <a:latin typeface="Georgia"/>
              </a:rPr>
              <a:t>they detect too late.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523744"/>
            <a:ext cx="4059936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523744"/>
            <a:ext cx="45720" cy="7498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61518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LATE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889504"/>
            <a:ext cx="3803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By the time the trigger is visible, the competitor has already moved.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401568"/>
            <a:ext cx="4059936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3401568"/>
            <a:ext cx="45720" cy="7498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493008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NO PRE-STAGED DECISION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767328"/>
            <a:ext cx="3803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Ownership is contested in real time. No protocol is ready to deploy.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4279392"/>
            <a:ext cx="4059936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4279392"/>
            <a:ext cx="45720" cy="7498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370832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30-DAY COORDINATION DELAY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645152"/>
            <a:ext cx="3803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Alignment meetings begin after the trigger fires — not before.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" y="6053328"/>
            <a:ext cx="4059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627A"/>
                </a:solidFill>
                <a:latin typeface="Georgia"/>
              </a:rPr>
              <a:t>"The window does not wait for the org chart."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877824"/>
            <a:ext cx="71414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9096B2"/>
                </a:solidFill>
                <a:latin typeface="Calibri"/>
              </a:rPr>
              <a:t>TYPICAL RESPONSE TIMELINE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7760" y="2432304"/>
            <a:ext cx="7141464" cy="54864"/>
          </a:xfrm>
          <a:prstGeom prst="rect">
            <a:avLst/>
          </a:prstGeom>
          <a:solidFill>
            <a:srgbClr val="20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91456" y="2304288"/>
            <a:ext cx="292608" cy="29260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16824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B8A6E"/>
                </a:solidFill>
                <a:latin typeface="Calibri"/>
              </a:rPr>
              <a:t>T+0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1975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B8A6E"/>
                </a:solidFill>
                <a:latin typeface="Calibri"/>
              </a:rPr>
              <a:t>SIGNAL</a:t>
            </a:r>
          </a:p>
        </p:txBody>
      </p:sp>
      <p:sp>
        <p:nvSpPr>
          <p:cNvPr id="28" name="Oval 27"/>
          <p:cNvSpPr/>
          <p:nvPr/>
        </p:nvSpPr>
        <p:spPr>
          <a:xfrm>
            <a:off x="8076529" y="2304288"/>
            <a:ext cx="292608" cy="292608"/>
          </a:xfrm>
          <a:prstGeom prst="ellipse">
            <a:avLst/>
          </a:prstGeom>
          <a:solidFill>
            <a:srgbClr val="C86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82753" y="16824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86028"/>
                </a:solidFill>
                <a:latin typeface="Calibri"/>
              </a:rPr>
              <a:t>DAY 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2753" y="1975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6028"/>
                </a:solidFill>
                <a:latin typeface="Calibri"/>
              </a:rPr>
              <a:t>ALIGNMENT</a:t>
            </a:r>
          </a:p>
        </p:txBody>
      </p:sp>
      <p:sp>
        <p:nvSpPr>
          <p:cNvPr id="31" name="Oval 30"/>
          <p:cNvSpPr/>
          <p:nvPr/>
        </p:nvSpPr>
        <p:spPr>
          <a:xfrm>
            <a:off x="11361602" y="2304288"/>
            <a:ext cx="292608" cy="292608"/>
          </a:xfrm>
          <a:prstGeom prst="ellipse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67826" y="16824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4444"/>
                </a:solidFill>
                <a:latin typeface="Calibri"/>
              </a:rPr>
              <a:t>DAY 30+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67826" y="1975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C4444"/>
                </a:solidFill>
                <a:latin typeface="Calibri"/>
              </a:rPr>
              <a:t>RESPONSE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37760" y="2706623"/>
            <a:ext cx="7141464" cy="1097280"/>
          </a:xfrm>
          <a:prstGeom prst="rect">
            <a:avLst/>
          </a:prstGeom>
          <a:solidFill>
            <a:srgbClr val="FF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37760" y="2706623"/>
            <a:ext cx="7141464" cy="4572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0640" y="2816352"/>
            <a:ext cx="68671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2222"/>
                </a:solidFill>
                <a:latin typeface="Calibri"/>
              </a:rPr>
              <a:t>LOST WINDOW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3127248"/>
            <a:ext cx="68671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2222"/>
                </a:solidFill>
                <a:latin typeface="Calibri"/>
              </a:rPr>
              <a:t>The trigger fired. The competitor acted.
Your organization was still scheduling alignment meetings.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3986784"/>
            <a:ext cx="7141464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60" y="4096512"/>
            <a:ext cx="71414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B8A6E"/>
                </a:solidFill>
                <a:latin typeface="Georgia"/>
              </a:rPr>
              <a:t>Readiness OS compresses this to 12 minutes.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THE TWO-STAGE ADVANTAGE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" y="987552"/>
            <a:ext cx="11384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Not just faster response — a compounding edge: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1408176"/>
            <a:ext cx="11384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B8A6E"/>
                </a:solidFill>
                <a:latin typeface="Georgia"/>
              </a:rPr>
              <a:t>earlier signal window + 12-minute coordinated execution.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1993392"/>
            <a:ext cx="11384280" cy="51206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103120"/>
            <a:ext cx="10835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Calibri"/>
              </a:rPr>
              <a:t>Signal Lead Time  +  Mobilization Compression  =  Compounding Advantage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2688335"/>
            <a:ext cx="5554980" cy="20482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2688335"/>
            <a:ext cx="555498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2816352"/>
            <a:ext cx="52806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SIGNAL LEAD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3145536"/>
            <a:ext cx="52806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C66"/>
                </a:solidFill>
                <a:latin typeface="Calibri"/>
              </a:rPr>
              <a:t>System monitoring across 248+ data points and 221 trigger patterns — defined by your organization on your terms, not generic alerts.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636" y="2688335"/>
            <a:ext cx="5554980" cy="20482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1636" y="2688335"/>
            <a:ext cx="555498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4516" y="2816352"/>
            <a:ext cx="52806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MOBILIZATION COMPRESSION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4516" y="3145536"/>
            <a:ext cx="52806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C66"/>
                </a:solidFill>
                <a:latin typeface="Calibri"/>
              </a:rPr>
              <a:t>170 Readiness Protocols pre-staged across 9 strategic domains. Response architecture ready before the trigger fires.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B8A6E"/>
                </a:solidFill>
                <a:latin typeface="Calibri"/>
              </a:rPr>
              <a:t>248+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data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7238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Calibri"/>
              </a:rPr>
              <a:t>221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7238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trigger patterns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4476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B8A6E"/>
                </a:solidFill>
                <a:latin typeface="Calibri"/>
              </a:rPr>
              <a:t>170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4476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Readiness Protocols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1714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Calibri"/>
              </a:rPr>
              <a:t>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1714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strategic domains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PRODUCT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0F2E"/>
                </a:solidFill>
                <a:latin typeface="Calibri"/>
              </a:rPr>
              <a:t>Map  →  Monitor  →  Decide  →  Execute  →  Learn</a:t>
            </a:r>
          </a:p>
        </p:txBody>
      </p:sp>
      <p:sp>
        <p:nvSpPr>
          <p:cNvPr id="8" name="Rectangle 7"/>
          <p:cNvSpPr/>
          <p:nvPr/>
        </p:nvSpPr>
        <p:spPr>
          <a:xfrm>
            <a:off x="4905756" y="1371600"/>
            <a:ext cx="237744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2336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554480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3020" y="1682496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2748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Scenarios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" y="2688336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Define every strategic situation your organization has faced or is likely to face.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97480" y="1554480"/>
            <a:ext cx="2203704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98164" y="1682496"/>
            <a:ext cx="402336" cy="402336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892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B8A6E"/>
                </a:solidFill>
                <a:latin typeface="Calibri"/>
              </a:rPr>
              <a:t>MONITOR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Triggers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80360" y="2688336"/>
            <a:ext cx="1837944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07208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System monitoring of customer-defined thresholds — 248+ data points, every 15 minutes.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92624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92624" y="1554480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893308" y="1682496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03036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064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DECIDE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4064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Authority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75504" y="2688336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2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Explicit executive authorization at every point. AI monitors. Executives decide.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87768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87768" y="1554480"/>
            <a:ext cx="2203704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188452" y="1682496"/>
            <a:ext cx="402336" cy="402336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98180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79208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B8A6E"/>
                </a:solidFill>
                <a:latin typeface="Calibri"/>
              </a:rPr>
              <a:t>EXECUTE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70648" y="2688336"/>
            <a:ext cx="1837944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97496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Roles, budgets, and communications deploy in coordinated sequence in 12 minutes.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82912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82912" y="1554480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483596" y="1682496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93324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74352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LEARN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74352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Readiness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65792" y="2688336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0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Every activation feeds forward — patterns improve the next response cycle.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MISSION CONTROL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Where leadership sees what is forming — and what to do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2984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EMERGING SITUATION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Live signal detections scored against 221 trigger patterns across 9 strategic domains.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7124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3712464"/>
            <a:ext cx="45720" cy="12984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039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DECISION WINDOW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0782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System-recommended Readiness Protocol surfaced with signal confidence score.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50840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5084064"/>
            <a:ext cx="45720" cy="12984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755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ONE-CLICK AUTHORIZATION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4498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Executive sign-off deploys the pre-staged execution plan immediately.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vaughnmartin.com/command-tower</a:t>
            </a:r>
          </a:p>
        </p:txBody>
      </p:sp>
      <p:pic>
        <p:nvPicPr>
          <p:cNvPr id="28" name="Picture 27" descr="slide_mission_contro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060704"/>
            <a:ext cx="7269480" cy="5431536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TRIGGER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Detection on your terms, not after the fact.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2984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CUSTOMER-DEFINED THRESHOLDS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You define what constitutes a trigger — sources, thresholds, escalation paths. Not generic alerts.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7124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3712464"/>
            <a:ext cx="45720" cy="12984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039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248+ DATA POINTS  ·  EVERY 15 MINUTES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0782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Continuous monitoring scored and surfaced before the situation becomes a crisis.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50840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5084064"/>
            <a:ext cx="45720" cy="12984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755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221 TRIGGER 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4498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Scored against your defined escalation logic. Signal confidence surfaced at detection.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 — Signal Monitoring</a:t>
            </a:r>
          </a:p>
        </p:txBody>
      </p:sp>
      <p:pic>
        <p:nvPicPr>
          <p:cNvPr id="28" name="Picture 27" descr="deck_signal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060704"/>
            <a:ext cx="7269480" cy="5431536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DECISION + GOVERNANCE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AI monitors. Executives authorize.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9842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HUMAN DECISION AUTHORITY PRESERVED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No Readiness Protocol activates without explicit executive sign-off. The decision stays human.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3982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4398264"/>
            <a:ext cx="45720" cy="19842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4897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TRACEABLE ACTIVATION PATHWAY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640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Every authorization logged with timestamp, decision-maker, and full context — board-ready audit trail.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 — Activation Console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7  /  12</a:t>
            </a:r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060704"/>
            <a:ext cx="7269480" cy="54315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EXECUTION ORCHESTRATION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From decision to coordinated action in 12 minutes.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9842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ROLES  ·  BUDGET  ·  COMMS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Every stakeholder notified. Spending authority unlocked. Messaging pre-staged across all channels.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3982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4398264"/>
            <a:ext cx="45720" cy="19842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4897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FULL CROSS-FUNCTIONAL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640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The entire plan — people, funds, and communications — deploys in a single authorized action.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vaughnmartin.com/12-minute-experience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8  /  12</a:t>
            </a:r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060704"/>
            <a:ext cx="7269480" cy="54315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12-MINUTE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A0F2E"/>
                </a:solidFill>
                <a:latin typeface="Georgia"/>
              </a:rPr>
              <a:t>Activist investor discloses 8.3% stake. 9:47 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1298448"/>
            <a:ext cx="11384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A627A"/>
                </a:solidFill>
                <a:latin typeface="Georgia"/>
              </a:rPr>
              <a:t>One trigger. Two completely different organizations.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" y="1773936"/>
            <a:ext cx="5554980" cy="347472"/>
          </a:xfrm>
          <a:prstGeom prst="rect">
            <a:avLst/>
          </a:prstGeom>
          <a:solidFill>
            <a:srgbClr val="FF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773936"/>
            <a:ext cx="5554980" cy="4572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1837944"/>
            <a:ext cx="55549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C2222"/>
                </a:solidFill>
                <a:latin typeface="Calibri"/>
              </a:rPr>
              <a:t>WITHOUT READINESS 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73936"/>
            <a:ext cx="5554980" cy="34747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73936"/>
            <a:ext cx="555498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1636" y="1837944"/>
            <a:ext cx="55549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B8A6E"/>
                </a:solidFill>
                <a:latin typeface="Calibri"/>
              </a:rPr>
              <a:t>WITH READINESS 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" y="2231136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1636" y="2231136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" y="228600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9:47 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359152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Disclosure detected by IR team — begins manual distribution 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7940" y="2359152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Signal detected. Protocol #47 identified. Stakeholder map loaded.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2980944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2980944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" y="3035808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9:59 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108960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Legal, IR, CEO calendars checked. No common slot until 2 PM.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108960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Board materials pre-staged. Draft communications queued for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6" y="3730752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1636" y="3730752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3785616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10:12 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858768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Someone suggests pulling the defense advisor deck from last year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7940" y="3858768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Executive authorization requested — one click to activate.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" y="4480560"/>
            <a:ext cx="5554980" cy="694944"/>
          </a:xfrm>
          <a:prstGeom prst="rect">
            <a:avLst/>
          </a:prstGeom>
          <a:solidFill>
            <a:srgbClr val="FF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1636" y="4480560"/>
            <a:ext cx="5554980" cy="694944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6" y="4535424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9:59 AM →
12 minutes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608576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2222"/>
                </a:solidFill>
                <a:latin typeface="Calibri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7940" y="4608576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8A6E"/>
                </a:solidFill>
                <a:latin typeface="Calibri"/>
              </a:rPr>
              <a:t>Coordinated response live. Legal, IR, external counsel, board notified.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" y="5907024"/>
            <a:ext cx="11384280" cy="51206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5980176"/>
            <a:ext cx="10835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1">
                <a:solidFill>
                  <a:srgbClr val="C9A84C"/>
                </a:solidFill>
                <a:latin typeface="Georgia"/>
              </a:rPr>
              <a:t>"The response is ready before the trigger fires."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LIVE PRODUCTION PROOF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F2E"/>
                </a:solidFill>
                <a:latin typeface="Calibri"/>
              </a:rPr>
              <a:t>Live production software: onboarding, protocol flow,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1280160"/>
            <a:ext cx="11384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B8A6E"/>
                </a:solidFill>
                <a:latin typeface="Calibri"/>
              </a:rPr>
              <a:t>decision gates, and execution pathways are active now.</a:t>
            </a:r>
          </a:p>
        </p:txBody>
      </p:sp>
      <p:sp>
        <p:nvSpPr>
          <p:cNvPr id="9" name="Oval 8"/>
          <p:cNvSpPr/>
          <p:nvPr/>
        </p:nvSpPr>
        <p:spPr>
          <a:xfrm>
            <a:off x="402336" y="1627632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6" y="1609344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1572768"/>
            <a:ext cx="60944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onboarding flow and getting-started hub</a:t>
            </a:r>
          </a:p>
        </p:txBody>
      </p:sp>
      <p:sp>
        <p:nvSpPr>
          <p:cNvPr id="12" name="Oval 11"/>
          <p:cNvSpPr/>
          <p:nvPr/>
        </p:nvSpPr>
        <p:spPr>
          <a:xfrm>
            <a:off x="402336" y="1993392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" y="1975104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1938528"/>
            <a:ext cx="60944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protocol activation: authorization → execution</a:t>
            </a:r>
          </a:p>
        </p:txBody>
      </p:sp>
      <p:sp>
        <p:nvSpPr>
          <p:cNvPr id="15" name="Oval 14"/>
          <p:cNvSpPr/>
          <p:nvPr/>
        </p:nvSpPr>
        <p:spPr>
          <a:xfrm>
            <a:off x="402336" y="2359152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" y="2340864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2304288"/>
            <a:ext cx="60944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executive decision materials and buyer packet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Onboarding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lide_onboar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2962656"/>
            <a:ext cx="2777490" cy="349300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27126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7126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Protocol Library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7126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lide_protocol_libra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1266" y="2962656"/>
            <a:ext cx="2777490" cy="349300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14019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019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Mission Control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019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lide_mission_contro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0196" y="2962656"/>
            <a:ext cx="2777490" cy="3493008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900912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912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Buyer Decision Packet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0912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lide_buyer_packe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9126" y="2962656"/>
            <a:ext cx="2777490" cy="3493008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COMMERCIAL 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A0F2E"/>
                </a:solidFill>
                <a:latin typeface="Calibri"/>
              </a:rPr>
              <a:t>Focused entry.  Measurable proof.  Scalable expansion.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97196" y="1335024"/>
            <a:ext cx="219456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2336" y="1517904"/>
            <a:ext cx="3721608" cy="4919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517904"/>
            <a:ext cx="3721608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609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19385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FOUNDING PARTNER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2311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ENGAGEMENT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2560319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651760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Select Fortune 1000 organizations — 90-day structured validation partnership with direct founder engagement.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742432"/>
            <a:ext cx="3429000" cy="585216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797296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A627A"/>
                </a:solidFill>
                <a:latin typeface="Calibri"/>
              </a:rPr>
              <a:t>Success: one live trigger handled inside Readiness OS with documented mobilization compression vs. baseline.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33672" y="1517904"/>
            <a:ext cx="3721608" cy="4919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33672" y="1517904"/>
            <a:ext cx="3721608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6552" y="1609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8A6E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19385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OPERATIONAL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2" y="22311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OUTCOME PROOF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6552" y="2560319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16552" y="2651760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Live activation generates documented time-to-execution data. ROI is built from real organizational performance — not projections.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65008" y="1517904"/>
            <a:ext cx="3721608" cy="4919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65008" y="1517904"/>
            <a:ext cx="3721608" cy="4572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1609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19385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ENTERPRISE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22311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EXPANSION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47888" y="2560319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7888" y="2651760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Proven ROI drives expansion across additional domains, protocol packs, and organization-wide deployment.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11312" y="5742432"/>
            <a:ext cx="3429000" cy="585216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2752" y="5797296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A627A"/>
                </a:solidFill>
                <a:latin typeface="Calibri"/>
              </a:rPr>
              <a:t>Predictable contract growth from validated, quantified outcomes.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973" y="658368"/>
            <a:ext cx="2029005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99616"/>
            <a:ext cx="10725912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We're building with leaders who want operating advantage,
not another dashboard.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8636" y="2359152"/>
            <a:ext cx="20116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542032"/>
            <a:ext cx="5029200" cy="1664208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542032"/>
            <a:ext cx="502920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651760"/>
            <a:ext cx="4681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WHO WE'RE PARTNERING WITH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017520"/>
            <a:ext cx="4681728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96B2"/>
                </a:solidFill>
                <a:latin typeface="Calibri"/>
              </a:rPr>
              <a:t>Fortune 1000 organizations and aligned investors. 90-day validation partnership. Direct founder access. First-mover positioning.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542032"/>
            <a:ext cx="5029200" cy="1664208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542032"/>
            <a:ext cx="502920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2651760"/>
            <a:ext cx="4681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NEXT STEP: EXECUTIVE SCENARIO SESSION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3017520"/>
            <a:ext cx="4681728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96B2"/>
                </a:solidFill>
                <a:latin typeface="Calibri"/>
              </a:rPr>
              <a:t>We walk your specific trigger context through Readiness OS live — signal detection through 12-minute execution.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4407408"/>
            <a:ext cx="9994392" cy="530352"/>
          </a:xfrm>
          <a:prstGeom prst="rect">
            <a:avLst/>
          </a:prstGeom>
          <a:solidFill>
            <a:srgbClr val="0C1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4498848"/>
            <a:ext cx="96286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1">
                <a:solidFill>
                  <a:srgbClr val="C9A84C"/>
                </a:solidFill>
                <a:latin typeface="Georgia"/>
              </a:rPr>
              <a:t>"The response is ready before the trigger fires."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75504"/>
            <a:ext cx="11274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A7332"/>
                </a:solidFill>
                <a:latin typeface="Calibri"/>
              </a:rPr>
              <a:t>vaughnmartin.com  ·  founding@vaughnmartin.com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659282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Confidential — For Authorized Recipients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