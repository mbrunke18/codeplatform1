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2.jpg"/><Relationship Id="rId6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6343" y="914400"/>
            <a:ext cx="2356264" cy="65836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631436" y="1828800"/>
            <a:ext cx="292608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38528"/>
            <a:ext cx="103601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4800" b="1" i="0">
                <a:solidFill>
                  <a:srgbClr val="FFFFFF"/>
                </a:solidFill>
                <a:latin typeface="Calibri"/>
              </a:rPr>
              <a:t>Signal Advantage.</a:t>
            </a:r>
          </a:p>
          <a:p>
            <a:pPr algn="ctr">
              <a:spcAft>
                <a:spcPts val="200"/>
              </a:spcAft>
            </a:pPr>
            <a:r>
              <a:rPr sz="4800" b="1" i="0">
                <a:solidFill>
                  <a:srgbClr val="FFFFFF"/>
                </a:solidFill>
                <a:latin typeface="Calibri"/>
              </a:rPr>
              <a:t>Execution Advantage.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297680"/>
            <a:ext cx="96286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C9A84C"/>
                </a:solidFill>
                <a:latin typeface="Georgia"/>
              </a:rPr>
              <a:t>The response is ready before the trigger fires.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074920"/>
            <a:ext cx="8531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9096B2"/>
                </a:solidFill>
                <a:latin typeface="Calibri"/>
              </a:rPr>
              <a:t>READINESS OS  ·  FORTUNE 1000  ·  VAUGHNMARTIN.COM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6592824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Confidential — For Authorized Recipients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88552" y="19202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THE PROBLEM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914400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" y="1024128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A0F2E"/>
                </a:solidFill>
                <a:latin typeface="Georgia"/>
              </a:rPr>
              <a:t>Most organizations miss the window
before they even begin to align.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" y="2560320"/>
            <a:ext cx="493776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2560320"/>
            <a:ext cx="45720" cy="8229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651760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A0F2E"/>
                </a:solidFill>
                <a:latin typeface="Calibri"/>
              </a:rPr>
              <a:t>LATE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944368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C66"/>
                </a:solidFill>
                <a:latin typeface="Calibri"/>
              </a:rPr>
              <a:t>By the time the trigger is visible, the competitor has already moved.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" y="3511296"/>
            <a:ext cx="493776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2336" y="3511296"/>
            <a:ext cx="45720" cy="8229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602736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A0F2E"/>
                </a:solidFill>
                <a:latin typeface="Calibri"/>
              </a:rPr>
              <a:t>UNCLEAR AUTHORITY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895344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C66"/>
                </a:solidFill>
                <a:latin typeface="Calibri"/>
              </a:rPr>
              <a:t>No pre-staged decision path. Ownership is contested in real time.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4462272"/>
            <a:ext cx="493776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2336" y="4462272"/>
            <a:ext cx="45720" cy="8229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4553712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A0F2E"/>
                </a:solidFill>
                <a:latin typeface="Calibri"/>
              </a:rPr>
              <a:t>30-DAY COORDINATION DELAY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8463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C66"/>
                </a:solidFill>
                <a:latin typeface="Calibri"/>
              </a:rPr>
              <a:t>Alignment meetings begin after the trigger fires — not before.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" y="6016752"/>
            <a:ext cx="4937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A627A"/>
                </a:solidFill>
                <a:latin typeface="Georgia"/>
              </a:rPr>
              <a:t>"The window does not wait for the org chart."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7296" y="896112"/>
            <a:ext cx="61173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A627A"/>
                </a:solidFill>
                <a:latin typeface="Calibri"/>
              </a:rPr>
              <a:t>THE TYPICAL RESPONSE TIMELINE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97296" y="2450592"/>
            <a:ext cx="6117336" cy="54864"/>
          </a:xfrm>
          <a:prstGeom prst="rect">
            <a:avLst/>
          </a:prstGeom>
          <a:solidFill>
            <a:srgbClr val="E6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650992" y="2322576"/>
            <a:ext cx="292608" cy="29260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57216" y="170078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B8A6E"/>
                </a:solidFill>
                <a:latin typeface="Calibri"/>
              </a:rPr>
              <a:t>T+0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57216" y="2011680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B8A6E"/>
                </a:solidFill>
                <a:latin typeface="Calibri"/>
              </a:rPr>
              <a:t>SIGNAL</a:t>
            </a:r>
          </a:p>
        </p:txBody>
      </p:sp>
      <p:sp>
        <p:nvSpPr>
          <p:cNvPr id="27" name="Oval 26"/>
          <p:cNvSpPr/>
          <p:nvPr/>
        </p:nvSpPr>
        <p:spPr>
          <a:xfrm>
            <a:off x="8464966" y="2322576"/>
            <a:ext cx="292608" cy="292608"/>
          </a:xfrm>
          <a:prstGeom prst="ellipse">
            <a:avLst/>
          </a:prstGeom>
          <a:solidFill>
            <a:srgbClr val="C86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71190" y="170078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86028"/>
                </a:solidFill>
                <a:latin typeface="Calibri"/>
              </a:rPr>
              <a:t>DAY 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1190" y="2011680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86028"/>
                </a:solidFill>
                <a:latin typeface="Calibri"/>
              </a:rPr>
              <a:t>ALIGNMENT</a:t>
            </a:r>
          </a:p>
        </p:txBody>
      </p:sp>
      <p:sp>
        <p:nvSpPr>
          <p:cNvPr id="30" name="Oval 29"/>
          <p:cNvSpPr/>
          <p:nvPr/>
        </p:nvSpPr>
        <p:spPr>
          <a:xfrm>
            <a:off x="11278941" y="2322576"/>
            <a:ext cx="292608" cy="292608"/>
          </a:xfrm>
          <a:prstGeom prst="ellipse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5165" y="170078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4444"/>
                </a:solidFill>
                <a:latin typeface="Calibri"/>
              </a:rPr>
              <a:t>DAY 30+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5165" y="2011680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C4444"/>
                </a:solidFill>
                <a:latin typeface="Calibri"/>
              </a:rPr>
              <a:t>RESPONSE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97296" y="2706623"/>
            <a:ext cx="6117336" cy="1133856"/>
          </a:xfrm>
          <a:prstGeom prst="rect">
            <a:avLst/>
          </a:prstGeom>
          <a:solidFill>
            <a:srgbClr val="FF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797296" y="2706623"/>
            <a:ext cx="6117336" cy="4572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80176" y="2816352"/>
            <a:ext cx="58430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2222"/>
                </a:solidFill>
                <a:latin typeface="Calibri"/>
              </a:rPr>
              <a:t>LOST WINDOW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0176" y="3145536"/>
            <a:ext cx="58430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2222"/>
                </a:solidFill>
                <a:latin typeface="Calibri"/>
              </a:rPr>
              <a:t>The trigger fired. The competitor acted. Your organization was still scheduling alignment meetings.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97296" y="4023360"/>
            <a:ext cx="6117336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97296" y="4133088"/>
            <a:ext cx="6117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2B8A6E"/>
                </a:solidFill>
                <a:latin typeface="Georgia"/>
              </a:rPr>
              <a:t>Readiness OS compresses this to 12 minutes.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88552" y="19202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2B8A6E"/>
                </a:solidFill>
                <a:latin typeface="Calibri"/>
              </a:rPr>
              <a:t>THE TWO-STAGE ADVANTAGE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914400"/>
            <a:ext cx="4572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" y="1024128"/>
            <a:ext cx="6338255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600" b="1" i="0">
                <a:solidFill>
                  <a:srgbClr val="0A0F2E"/>
                </a:solidFill>
                <a:latin typeface="Georgia"/>
              </a:rPr>
              <a:t>Earlier signal.</a:t>
            </a:r>
          </a:p>
          <a:p>
            <a:pPr algn="l">
              <a:spcAft>
                <a:spcPts val="300"/>
              </a:spcAft>
            </a:pPr>
            <a:r>
              <a:rPr sz="3600" b="1" i="0">
                <a:solidFill>
                  <a:srgbClr val="0A0F2E"/>
                </a:solidFill>
                <a:latin typeface="Georgia"/>
              </a:rPr>
              <a:t>Faster mobilization.</a:t>
            </a:r>
          </a:p>
          <a:p>
            <a:pPr algn="l">
              <a:spcAft>
                <a:spcPts val="300"/>
              </a:spcAft>
            </a:pPr>
            <a:r>
              <a:rPr sz="3600" b="1" i="0">
                <a:solidFill>
                  <a:srgbClr val="0A0F2E"/>
                </a:solidFill>
                <a:latin typeface="Georgia"/>
              </a:rPr>
              <a:t>Compounding edge.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" y="2962656"/>
            <a:ext cx="11384280" cy="54864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3072384"/>
            <a:ext cx="10835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Calibri"/>
              </a:rPr>
              <a:t>Signal Lead Time  +  Mobilization Compression  =  Compounding Advantage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3694176"/>
            <a:ext cx="555498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2336" y="3694176"/>
            <a:ext cx="555498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3822192"/>
            <a:ext cx="52806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8A6E"/>
                </a:solidFill>
                <a:latin typeface="Calibri"/>
              </a:rPr>
              <a:t>SIGNAL LEAD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4151376"/>
            <a:ext cx="528066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C66"/>
                </a:solidFill>
                <a:latin typeface="Calibri"/>
              </a:rPr>
              <a:t>System monitoring across 248+ data points and 221 trigger patterns — defined by your organization, on your terms, not generic alerts.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1636" y="3694176"/>
            <a:ext cx="555498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1636" y="3694176"/>
            <a:ext cx="555498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4516" y="3822192"/>
            <a:ext cx="52806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MOBILIZATION COMPRESSION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4151376"/>
            <a:ext cx="528066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C66"/>
                </a:solidFill>
                <a:latin typeface="Calibri"/>
              </a:rPr>
              <a:t>170 Readiness Protocols pre-staged across 9 strategic domains. Response architecture ready before the trigger fires.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5888736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B8A6E"/>
                </a:solidFill>
                <a:latin typeface="Calibri"/>
              </a:rPr>
              <a:t>248+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6291072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data points monitored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7238" y="5888736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Calibri"/>
              </a:rPr>
              <a:t>221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7238" y="6291072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trigger patterns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4476" y="5888736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B8A6E"/>
                </a:solidFill>
                <a:latin typeface="Calibri"/>
              </a:rPr>
              <a:t>170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4476" y="6291072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Readiness Protocols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1714" y="5888736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Calibri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1714" y="6291072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strategic domains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88552" y="19202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THE PRODUCT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96112"/>
            <a:ext cx="11384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0F2E"/>
                </a:solidFill>
                <a:latin typeface="Calibri"/>
              </a:rPr>
              <a:t>Map  →  Monitor  →  Decide  →  Execute  →  Learn</a:t>
            </a:r>
          </a:p>
        </p:txBody>
      </p:sp>
      <p:sp>
        <p:nvSpPr>
          <p:cNvPr id="8" name="Rectangle 7"/>
          <p:cNvSpPr/>
          <p:nvPr/>
        </p:nvSpPr>
        <p:spPr>
          <a:xfrm>
            <a:off x="4905756" y="1408176"/>
            <a:ext cx="237744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2336" y="1591056"/>
            <a:ext cx="2203704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591056"/>
            <a:ext cx="2203704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03020" y="1719072"/>
            <a:ext cx="402336" cy="402336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2748" y="1792224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2231136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C9A84C"/>
                </a:solidFill>
                <a:latin typeface="Calibri"/>
              </a:rPr>
              <a:t>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2505456"/>
            <a:ext cx="2057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Scenarios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" y="2761488"/>
            <a:ext cx="1837944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2871216"/>
            <a:ext cx="2002536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Define every strategic situation your organization has faced or is likely to face.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97480" y="1591056"/>
            <a:ext cx="2203704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97480" y="1591056"/>
            <a:ext cx="2203704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98164" y="1719072"/>
            <a:ext cx="402336" cy="402336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7892" y="1792224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2231136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B8A6E"/>
                </a:solidFill>
                <a:latin typeface="Calibri"/>
              </a:rPr>
              <a:t>MONITOR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2505456"/>
            <a:ext cx="2057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Triggers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80360" y="2761488"/>
            <a:ext cx="1837944" cy="27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07208" y="2871216"/>
            <a:ext cx="2002536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System monitoring of customer-defined thresholds. 248+ data points. Every 15 minutes.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92624" y="1591056"/>
            <a:ext cx="2203704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992624" y="1591056"/>
            <a:ext cx="2203704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893308" y="1719072"/>
            <a:ext cx="402336" cy="402336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03036" y="1792224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064" y="2231136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C9A84C"/>
                </a:solidFill>
                <a:latin typeface="Calibri"/>
              </a:rPr>
              <a:t>DECIDE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4064" y="2505456"/>
            <a:ext cx="2057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Authority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75504" y="2761488"/>
            <a:ext cx="1837944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2352" y="2871216"/>
            <a:ext cx="2002536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Explicit executive authorization at every decision point. AI monitors. Executives decide.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87768" y="1591056"/>
            <a:ext cx="2203704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87768" y="1591056"/>
            <a:ext cx="2203704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188452" y="1719072"/>
            <a:ext cx="402336" cy="402336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98180" y="1792224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79208" y="2231136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B8A6E"/>
                </a:solidFill>
                <a:latin typeface="Calibri"/>
              </a:rPr>
              <a:t>EXECUTE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2505456"/>
            <a:ext cx="2057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Action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70648" y="2761488"/>
            <a:ext cx="1837944" cy="27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97496" y="2871216"/>
            <a:ext cx="2002536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Roles, budgets, and communications deploy in coordinated sequence in minutes.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82912" y="1591056"/>
            <a:ext cx="2203704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82912" y="1591056"/>
            <a:ext cx="2203704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483596" y="1719072"/>
            <a:ext cx="402336" cy="402336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93324" y="1792224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74352" y="2231136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C9A84C"/>
                </a:solidFill>
                <a:latin typeface="Calibri"/>
              </a:rPr>
              <a:t>LEARN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74352" y="2505456"/>
            <a:ext cx="2057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Readiness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765792" y="2761488"/>
            <a:ext cx="1837944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92640" y="2871216"/>
            <a:ext cx="2002536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Every activation feeds forward. Patterns and outcomes improve the next response.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88552" y="19202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2B8A6E"/>
                </a:solidFill>
                <a:latin typeface="Calibri"/>
              </a:rPr>
              <a:t>MISSION CONTROL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78224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A0F2E"/>
                </a:solidFill>
                <a:latin typeface="Georgia"/>
              </a:rPr>
              <a:t>Where leadership sees what is forming —</a:t>
            </a:r>
          </a:p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A0F2E"/>
                </a:solidFill>
                <a:latin typeface="Georgia"/>
              </a:rPr>
              <a:t>and what to do now.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59152"/>
            <a:ext cx="4078224" cy="12679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59152"/>
            <a:ext cx="45720" cy="126796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50592"/>
            <a:ext cx="3822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EMERGING SITUATION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24912"/>
            <a:ext cx="3822192" cy="810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Live signal detections scored against 221 trigger patterns across 9 strategic domains.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3718560"/>
            <a:ext cx="4078224" cy="12679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3718560"/>
            <a:ext cx="45720" cy="126796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10000"/>
            <a:ext cx="3822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DECISION WINDOW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084320"/>
            <a:ext cx="3822192" cy="810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System-recommended Readiness Protocol surfaced with signal confidence score.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5077968"/>
            <a:ext cx="4078224" cy="12679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5077968"/>
            <a:ext cx="45720" cy="126796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169408"/>
            <a:ext cx="3822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ONE-CLICK AUTHORIZATION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443728"/>
            <a:ext cx="3822192" cy="810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Executive sign-off deploys the pre-staged execution plan immediately.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64608" y="822960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46904" y="896112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093208" y="896112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239512" y="896112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13248" y="868680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8968" y="868680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vaughnmartin.com/command-tower</a:t>
            </a:r>
          </a:p>
        </p:txBody>
      </p:sp>
      <p:pic>
        <p:nvPicPr>
          <p:cNvPr id="28" name="Picture 27" descr="slide_mission_contro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1078992"/>
            <a:ext cx="7269480" cy="539496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88552" y="19202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TRIGGER 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78224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A0F2E"/>
                </a:solidFill>
                <a:latin typeface="Georgia"/>
              </a:rPr>
              <a:t>Detection on your terms,</a:t>
            </a:r>
          </a:p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A0F2E"/>
                </a:solidFill>
                <a:latin typeface="Georgia"/>
              </a:rPr>
              <a:t>not after the fact.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59152"/>
            <a:ext cx="4078224" cy="1947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59152"/>
            <a:ext cx="45720" cy="1947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50592"/>
            <a:ext cx="3822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CUSTOMER-DEFINED THRESHOLDS + ESCALATION LOGIC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24912"/>
            <a:ext cx="3822192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You define what constitutes a trigger — sources, thresholds, and escalation paths. Not generic alerts.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398264"/>
            <a:ext cx="4078224" cy="1947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4398264"/>
            <a:ext cx="45720" cy="1947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489704"/>
            <a:ext cx="3822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248+ DATA POINTS  ·  EVERY 15 MINUTES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764024"/>
            <a:ext cx="3822192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Continuous monitoring scored and surfaced before the situation becomes a crisis.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64608" y="822960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46904" y="896112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93208" y="896112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39512" y="896112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868680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58968" y="868680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 — Signal Monitoring</a:t>
            </a:r>
          </a:p>
        </p:txBody>
      </p:sp>
      <p:pic>
        <p:nvPicPr>
          <p:cNvPr id="24" name="Picture 23" descr="deck_signal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1078992"/>
            <a:ext cx="7269480" cy="539496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88552" y="19202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DECISION + GOVERNANCE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78224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A0F2E"/>
                </a:solidFill>
                <a:latin typeface="Georgia"/>
              </a:rPr>
              <a:t>AI monitors.</a:t>
            </a:r>
          </a:p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A0F2E"/>
                </a:solidFill>
                <a:latin typeface="Georgia"/>
              </a:rPr>
              <a:t>Executives authorize.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59152"/>
            <a:ext cx="4078224" cy="1947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59152"/>
            <a:ext cx="45720" cy="1947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50592"/>
            <a:ext cx="3822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HUMAN DECISION AUTHORITY PRESERVED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24912"/>
            <a:ext cx="3822192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No Readiness Protocol activates without explicit executive sign-off. The preparation compresses mobilization. The decision stays human.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398264"/>
            <a:ext cx="4078224" cy="1947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4398264"/>
            <a:ext cx="45720" cy="1947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489704"/>
            <a:ext cx="3822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TRACEABLE ACTIVATION PATHWAY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764024"/>
            <a:ext cx="3822192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Every authorization logged with timestamp, decision-maker, and full context. Board-ready audit trail.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64608" y="822960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46904" y="896112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93208" y="896112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39512" y="896112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868680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58968" y="868680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 — Activation Console</a:t>
            </a:r>
          </a:p>
        </p:txBody>
      </p:sp>
      <p:pic>
        <p:nvPicPr>
          <p:cNvPr id="24" name="Picture 23" descr="deck_activ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1078992"/>
            <a:ext cx="7269480" cy="539496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88552" y="19202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2B8A6E"/>
                </a:solidFill>
                <a:latin typeface="Calibri"/>
              </a:rPr>
              <a:t>EXECUTION ORCHESTRATION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78224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A0F2E"/>
                </a:solidFill>
                <a:latin typeface="Georgia"/>
              </a:rPr>
              <a:t>From decision to coordinated</a:t>
            </a:r>
          </a:p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A0F2E"/>
                </a:solidFill>
                <a:latin typeface="Georgia"/>
              </a:rPr>
              <a:t>action in 12 minutes.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59152"/>
            <a:ext cx="4078224" cy="1947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59152"/>
            <a:ext cx="45720" cy="194767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50592"/>
            <a:ext cx="3822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ROLES  ·  BUDGET  ·  INTERNAL  ·  EXTERNAL COMMS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24912"/>
            <a:ext cx="3822192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Every stakeholder notified. Spending authority unlocked. Messaging pre-staged across all channels.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398264"/>
            <a:ext cx="4078224" cy="1947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4398264"/>
            <a:ext cx="45720" cy="194767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489704"/>
            <a:ext cx="3822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FULL CROSS-FUNCTIONAL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764024"/>
            <a:ext cx="3822192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The entire plan — people, funds, communications — deploys in a single authorized action.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64608" y="822960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46904" y="896112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93208" y="896112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39512" y="896112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868680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58968" y="868680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vaughnmartin.com/12-minute-experience</a:t>
            </a:r>
          </a:p>
        </p:txBody>
      </p:sp>
      <p:pic>
        <p:nvPicPr>
          <p:cNvPr id="24" name="Picture 23" descr="slide_execu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1078992"/>
            <a:ext cx="7269480" cy="539496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88552" y="19202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ONE TRIGGER.  TWO OUTCOMES.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877824"/>
            <a:ext cx="5554980" cy="347472"/>
          </a:xfrm>
          <a:prstGeom prst="rect">
            <a:avLst/>
          </a:prstGeom>
          <a:solidFill>
            <a:srgbClr val="FFEE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5554980" cy="4572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41832"/>
            <a:ext cx="55549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C2222"/>
                </a:solidFill>
                <a:latin typeface="Calibri"/>
              </a:rPr>
              <a:t>WITHOUT READINESS 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1636" y="877824"/>
            <a:ext cx="5554980" cy="34747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877824"/>
            <a:ext cx="555498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1636" y="941832"/>
            <a:ext cx="55549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B8A6E"/>
                </a:solidFill>
                <a:latin typeface="Calibri"/>
              </a:rPr>
              <a:t>WITH READINESS 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" y="1335024"/>
            <a:ext cx="55549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1636" y="1335024"/>
            <a:ext cx="55549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13898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8A7332"/>
                </a:solidFill>
                <a:latin typeface="Calibri"/>
              </a:rPr>
              <a:t>T+0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1517904"/>
            <a:ext cx="43845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A627A"/>
                </a:solidFill>
                <a:latin typeface="Calibri"/>
              </a:rPr>
              <a:t>Signal emerges — no notification system active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7940" y="1517904"/>
            <a:ext cx="53721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A627A"/>
                </a:solidFill>
                <a:latin typeface="Calibri"/>
              </a:rPr>
              <a:t>Signal detected — Protocol identified immediately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2121408"/>
            <a:ext cx="5554980" cy="731520"/>
          </a:xfrm>
          <a:prstGeom prst="rect">
            <a:avLst/>
          </a:prstGeom>
          <a:solidFill>
            <a:srgbClr val="FF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1636" y="2121408"/>
            <a:ext cx="5554980" cy="731520"/>
          </a:xfrm>
          <a:prstGeom prst="rect">
            <a:avLst/>
          </a:prstGeom>
          <a:solidFill>
            <a:srgbClr val="E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" y="217627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8A7332"/>
                </a:solidFill>
                <a:latin typeface="Calibri"/>
              </a:rPr>
              <a:t>T+12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2304288"/>
            <a:ext cx="43845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A4444"/>
                </a:solidFill>
                <a:latin typeface="Calibri"/>
              </a:rPr>
              <a:t>First stakeholder calls begin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7940" y="2304288"/>
            <a:ext cx="53721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B8A6E"/>
                </a:solidFill>
                <a:latin typeface="Calibri"/>
              </a:rPr>
              <a:t>Coordinated execution live — all roles deployed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" y="2907792"/>
            <a:ext cx="5554980" cy="731520"/>
          </a:xfrm>
          <a:prstGeom prst="rect">
            <a:avLst/>
          </a:prstGeom>
          <a:solidFill>
            <a:srgbClr val="FF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1636" y="2907792"/>
            <a:ext cx="5554980" cy="731520"/>
          </a:xfrm>
          <a:prstGeom prst="rect">
            <a:avLst/>
          </a:prstGeom>
          <a:solidFill>
            <a:srgbClr val="E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2336" y="2962656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8A7332"/>
                </a:solidFill>
                <a:latin typeface="Calibri"/>
              </a:rPr>
              <a:t>T+Day 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3090672"/>
            <a:ext cx="43845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A4444"/>
                </a:solidFill>
                <a:latin typeface="Calibri"/>
              </a:rPr>
              <a:t>Ownership alignment still in progress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7940" y="3090672"/>
            <a:ext cx="53721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B8A6E"/>
                </a:solidFill>
                <a:latin typeface="Calibri"/>
              </a:rPr>
              <a:t>First activation retrospective complete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36" y="3694176"/>
            <a:ext cx="5554980" cy="731520"/>
          </a:xfrm>
          <a:prstGeom prst="rect">
            <a:avLst/>
          </a:prstGeom>
          <a:solidFill>
            <a:srgbClr val="FF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31636" y="3694176"/>
            <a:ext cx="5554980" cy="731520"/>
          </a:xfrm>
          <a:prstGeom prst="rect">
            <a:avLst/>
          </a:prstGeom>
          <a:solidFill>
            <a:srgbClr val="E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2336" y="374904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8A7332"/>
                </a:solidFill>
                <a:latin typeface="Calibri"/>
              </a:rPr>
              <a:t>T+Day 30+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3877056"/>
            <a:ext cx="43845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A4444"/>
                </a:solidFill>
                <a:latin typeface="Calibri"/>
              </a:rPr>
              <a:t>Response plan finally approved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7940" y="3877056"/>
            <a:ext cx="53721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B8A6E"/>
                </a:solidFill>
                <a:latin typeface="Calibri"/>
              </a:rPr>
              <a:t>Protocol updated — ready for the next event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36" y="5852160"/>
            <a:ext cx="11384280" cy="566928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656" y="5925312"/>
            <a:ext cx="10835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1">
                <a:solidFill>
                  <a:srgbClr val="C9A84C"/>
                </a:solidFill>
                <a:latin typeface="Georgia"/>
              </a:rPr>
              <a:t>"The response is ready before the trigger fires."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88552" y="19202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LIVE PRODUCTION — PROOF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96112"/>
            <a:ext cx="11384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0F2E"/>
                </a:solidFill>
                <a:latin typeface="Calibri"/>
              </a:rPr>
              <a:t>Live production platform. Not concept slides.</a:t>
            </a:r>
          </a:p>
        </p:txBody>
      </p:sp>
      <p:sp>
        <p:nvSpPr>
          <p:cNvPr id="8" name="Oval 7"/>
          <p:cNvSpPr/>
          <p:nvPr/>
        </p:nvSpPr>
        <p:spPr>
          <a:xfrm>
            <a:off x="402336" y="1591056"/>
            <a:ext cx="201168" cy="20116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572768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1536192"/>
            <a:ext cx="58506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0F2E"/>
                </a:solidFill>
                <a:latin typeface="Calibri"/>
              </a:rPr>
              <a:t>Live onboarding flow and getting-started hub</a:t>
            </a:r>
          </a:p>
        </p:txBody>
      </p:sp>
      <p:sp>
        <p:nvSpPr>
          <p:cNvPr id="11" name="Oval 10"/>
          <p:cNvSpPr/>
          <p:nvPr/>
        </p:nvSpPr>
        <p:spPr>
          <a:xfrm>
            <a:off x="402336" y="1956816"/>
            <a:ext cx="201168" cy="20116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1938528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1901952"/>
            <a:ext cx="58506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0F2E"/>
                </a:solidFill>
                <a:latin typeface="Calibri"/>
              </a:rPr>
              <a:t>Live protocol activation: authorization → execution</a:t>
            </a:r>
          </a:p>
        </p:txBody>
      </p:sp>
      <p:sp>
        <p:nvSpPr>
          <p:cNvPr id="14" name="Oval 13"/>
          <p:cNvSpPr/>
          <p:nvPr/>
        </p:nvSpPr>
        <p:spPr>
          <a:xfrm>
            <a:off x="402336" y="2322576"/>
            <a:ext cx="201168" cy="20116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2304288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267712"/>
            <a:ext cx="58506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0F2E"/>
                </a:solidFill>
                <a:latin typeface="Calibri"/>
              </a:rPr>
              <a:t>Live executive decision materials and buyer packet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2432303"/>
            <a:ext cx="277749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6" y="2432303"/>
            <a:ext cx="277749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Onboarding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" y="2688335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lide_onboar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2724911"/>
            <a:ext cx="2777490" cy="3712465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3271266" y="2432303"/>
            <a:ext cx="277749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71266" y="2432303"/>
            <a:ext cx="277749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Protocol Library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71266" y="2688335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lide_protocol_librar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1266" y="2724911"/>
            <a:ext cx="2777490" cy="3712465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140196" y="2432303"/>
            <a:ext cx="277749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40196" y="2432303"/>
            <a:ext cx="277749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Mission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0196" y="2688335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lide_mission_contro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0196" y="2724911"/>
            <a:ext cx="2777490" cy="3712465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9009126" y="2432303"/>
            <a:ext cx="277749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9126" y="2432303"/>
            <a:ext cx="277749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Buyer Decision Packet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09126" y="2688335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slide_buyer_packe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9126" y="2724911"/>
            <a:ext cx="2777490" cy="3712465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88552" y="19202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COMMERCIAL 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96112"/>
            <a:ext cx="11384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A0F2E"/>
                </a:solidFill>
                <a:latin typeface="Calibri"/>
              </a:rPr>
              <a:t>Focused entry.  Measurable proof.  Scalable expansion.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97196" y="1353312"/>
            <a:ext cx="219456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2336" y="1536192"/>
            <a:ext cx="3721608" cy="4901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536192"/>
            <a:ext cx="3721608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64592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1975104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FOUNDING PARTNER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286000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ENGAGEMENT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2633472"/>
            <a:ext cx="3355848" cy="27432"/>
          </a:xfrm>
          <a:prstGeom prst="rect">
            <a:avLst/>
          </a:prstGeom>
          <a:solidFill>
            <a:srgbClr val="E6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724912"/>
            <a:ext cx="3429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Select Fortune 1000 organizations — 90-day structured validation partnership. Full platform access and direct founder engagement.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742432"/>
            <a:ext cx="3429000" cy="585216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797296"/>
            <a:ext cx="32826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A627A"/>
                </a:solidFill>
                <a:latin typeface="Calibri"/>
              </a:rPr>
              <a:t>Success metric: one live trigger handled inside Readiness OS with documented mobilization compression.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33672" y="1536192"/>
            <a:ext cx="3721608" cy="4901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33672" y="1536192"/>
            <a:ext cx="3721608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6552" y="164592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8A6E"/>
                </a:solidFill>
                <a:latin typeface="Calibr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1975104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OPERATIONAL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6552" y="2286000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OUTCOME PROOF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6552" y="2633472"/>
            <a:ext cx="3355848" cy="27432"/>
          </a:xfrm>
          <a:prstGeom prst="rect">
            <a:avLst/>
          </a:prstGeom>
          <a:solidFill>
            <a:srgbClr val="E6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16552" y="2724912"/>
            <a:ext cx="3429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Live activation generates documented time-to-execution data. The ROI case is built from real performance — not projections.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65008" y="1536192"/>
            <a:ext cx="3721608" cy="4901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65008" y="1536192"/>
            <a:ext cx="3721608" cy="4572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7888" y="164592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1975104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ENTERPRISE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2286000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EXPANSION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47888" y="2633472"/>
            <a:ext cx="3355848" cy="27432"/>
          </a:xfrm>
          <a:prstGeom prst="rect">
            <a:avLst/>
          </a:prstGeom>
          <a:solidFill>
            <a:srgbClr val="E6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7888" y="2724912"/>
            <a:ext cx="3429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Proven ROI drives expansion across additional domains, protocol packs, and organization-wide deployment.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11312" y="5742432"/>
            <a:ext cx="3429000" cy="585216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2752" y="5797296"/>
            <a:ext cx="32826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A627A"/>
                </a:solidFill>
                <a:latin typeface="Calibri"/>
              </a:rPr>
              <a:t>Predictable contract growth from validated, quantified outcomes.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973" y="658368"/>
            <a:ext cx="2029005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572768"/>
            <a:ext cx="103601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Partner with us to scale Readiness 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8636" y="2212848"/>
            <a:ext cx="201168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88720" y="2377440"/>
            <a:ext cx="9811512" cy="713232"/>
          </a:xfrm>
          <a:prstGeom prst="rect">
            <a:avLst/>
          </a:prstGeom>
          <a:solidFill>
            <a:srgbClr val="0C1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468880"/>
            <a:ext cx="94457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C9A84C"/>
                </a:solidFill>
                <a:latin typeface="Georgia"/>
              </a:rPr>
              <a:t>"If advantage belongs to organizations that see earlier and execute decisively, let's partner."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310128"/>
            <a:ext cx="5029200" cy="1572768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310128"/>
            <a:ext cx="502920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19856"/>
            <a:ext cx="4681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FOUNDING PARTNERS + ALIGNED INVESTORS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785615"/>
            <a:ext cx="468172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096B2"/>
                </a:solidFill>
                <a:latin typeface="Calibri"/>
              </a:rPr>
              <a:t>90-day validation partnership  ·  Direct founder access  ·  First-mover enterprise positioning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3310128"/>
            <a:ext cx="5029200" cy="1572768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0" y="3310128"/>
            <a:ext cx="502920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3408" y="3419856"/>
            <a:ext cx="4681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8A6E"/>
                </a:solidFill>
                <a:latin typeface="Calibri"/>
              </a:rPr>
              <a:t>IMMEDIATE NEXT STEP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3408" y="3785615"/>
            <a:ext cx="468172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096B2"/>
                </a:solidFill>
                <a:latin typeface="Calibri"/>
              </a:rPr>
              <a:t>Executive Scenario Session — we walk your specific trigger context through Readiness OS live, in real time.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13892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A7332"/>
                </a:solidFill>
                <a:latin typeface="Calibri"/>
              </a:rPr>
              <a:t>vaughnmartin.com  ·  founding@vaughnmartin.com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6592824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Confidential — For Authorized Recipients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