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jpg"/><Relationship Id="rId4" Type="http://schemas.openxmlformats.org/officeDocument/2006/relationships/image" Target="../media/image7.jpg"/><Relationship Id="rId5" Type="http://schemas.openxmlformats.org/officeDocument/2006/relationships/image" Target="../media/image2.jpg"/><Relationship Id="rId6" Type="http://schemas.openxmlformats.org/officeDocument/2006/relationships/image" Target="../media/image8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6343" y="841248"/>
            <a:ext cx="2356264" cy="658368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4631436" y="1700784"/>
            <a:ext cx="29260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828800"/>
            <a:ext cx="10725912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Signal Advantage.</a:t>
            </a:r>
          </a:p>
          <a:p>
            <a:pPr algn="ctr">
              <a:spcAft>
                <a:spcPts val="200"/>
              </a:spcAft>
            </a:pPr>
            <a:r>
              <a:rPr sz="4800" b="1" i="0">
                <a:solidFill>
                  <a:srgbClr val="FFFFFF"/>
                </a:solidFill>
                <a:latin typeface="Calibri"/>
              </a:rPr>
              <a:t>Execution Advantage.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58768"/>
            <a:ext cx="999439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1">
                <a:solidFill>
                  <a:srgbClr val="C9A84C"/>
                </a:solidFill>
                <a:latin typeface="Georgia"/>
              </a:rPr>
              <a:t>Signal advantage before execution advantage.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4443984"/>
            <a:ext cx="92628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9096B2"/>
                </a:solidFill>
                <a:latin typeface="Georgia"/>
              </a:rPr>
              <a:t>The response is ready before the trigger fires.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5010912"/>
            <a:ext cx="853135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96B2"/>
                </a:solidFill>
                <a:latin typeface="Calibri"/>
              </a:rPr>
              <a:t>READINESS OS  ·  FORTUNE 1000  ·  VAUGHNMARTIN.COM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432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Confidential — For Authorized Recipients Only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1  / 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7525512" cy="6858000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THE PROBLEM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877824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987552"/>
            <a:ext cx="4059936" cy="14264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A0F2E"/>
                </a:solidFill>
                <a:latin typeface="Georgia"/>
              </a:rPr>
              <a:t>Most organizations don't lose because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A0F2E"/>
                </a:solidFill>
                <a:latin typeface="Georgia"/>
              </a:rPr>
              <a:t>they can't execute — they lose because</a:t>
            </a:r>
          </a:p>
          <a:p>
            <a:pPr algn="l">
              <a:spcAft>
                <a:spcPts val="200"/>
              </a:spcAft>
            </a:pPr>
            <a:r>
              <a:rPr sz="1900" b="1" i="0">
                <a:solidFill>
                  <a:srgbClr val="0A0F2E"/>
                </a:solidFill>
                <a:latin typeface="Georgia"/>
              </a:rPr>
              <a:t>they detect too late.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2523744"/>
            <a:ext cx="4059936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2523744"/>
            <a:ext cx="45720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61518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LATE DETECTION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889504"/>
            <a:ext cx="3803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By the time the trigger is visible, the competitor has already moved.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3401568"/>
            <a:ext cx="4059936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3401568"/>
            <a:ext cx="45720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493008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NO PRE-STAGED DECISION PATH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767328"/>
            <a:ext cx="3803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Ownership is contested in real time. No protocol is ready to deploy.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4279392"/>
            <a:ext cx="4059936" cy="74980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" y="4279392"/>
            <a:ext cx="45720" cy="7498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4370832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30-DAY COORDINATION DELAY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4645152"/>
            <a:ext cx="380390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Alignment meetings begin after the trigger fires — not before.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2336" y="6053328"/>
            <a:ext cx="40599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27A"/>
                </a:solidFill>
                <a:latin typeface="Georgia"/>
              </a:rPr>
              <a:t>"The window does not wait for the org chart."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877824"/>
            <a:ext cx="71414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9096B2"/>
                </a:solidFill>
                <a:latin typeface="Calibri"/>
              </a:rPr>
              <a:t>TYPICAL RESPONSE TIMELINE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37760" y="2432304"/>
            <a:ext cx="7141464" cy="54864"/>
          </a:xfrm>
          <a:prstGeom prst="rect">
            <a:avLst/>
          </a:prstGeom>
          <a:solidFill>
            <a:srgbClr val="202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791456" y="2304288"/>
            <a:ext cx="292608" cy="292608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297680" y="16824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2B8A6E"/>
                </a:solidFill>
                <a:latin typeface="Calibri"/>
              </a:rPr>
              <a:t>T+0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0" y="1975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8A6E"/>
                </a:solidFill>
                <a:latin typeface="Calibri"/>
              </a:rPr>
              <a:t>SIGNAL</a:t>
            </a:r>
          </a:p>
        </p:txBody>
      </p:sp>
      <p:sp>
        <p:nvSpPr>
          <p:cNvPr id="28" name="Oval 27"/>
          <p:cNvSpPr/>
          <p:nvPr/>
        </p:nvSpPr>
        <p:spPr>
          <a:xfrm>
            <a:off x="8076529" y="2304288"/>
            <a:ext cx="292608" cy="292608"/>
          </a:xfrm>
          <a:prstGeom prst="ellipse">
            <a:avLst/>
          </a:prstGeom>
          <a:solidFill>
            <a:srgbClr val="C86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82753" y="16824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86028"/>
                </a:solidFill>
                <a:latin typeface="Calibri"/>
              </a:rPr>
              <a:t>DAY 14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82753" y="1975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86028"/>
                </a:solidFill>
                <a:latin typeface="Calibri"/>
              </a:rPr>
              <a:t>ALIGNMENT</a:t>
            </a:r>
          </a:p>
        </p:txBody>
      </p:sp>
      <p:sp>
        <p:nvSpPr>
          <p:cNvPr id="31" name="Oval 30"/>
          <p:cNvSpPr/>
          <p:nvPr/>
        </p:nvSpPr>
        <p:spPr>
          <a:xfrm>
            <a:off x="11361602" y="2304288"/>
            <a:ext cx="292608" cy="292608"/>
          </a:xfrm>
          <a:prstGeom prst="ellipse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867826" y="168249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CC4444"/>
                </a:solidFill>
                <a:latin typeface="Calibri"/>
              </a:rPr>
              <a:t>DAY 30+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867826" y="19751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4444"/>
                </a:solidFill>
                <a:latin typeface="Calibri"/>
              </a:rPr>
              <a:t>RESPONSE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937760" y="2706623"/>
            <a:ext cx="7141464" cy="1097280"/>
          </a:xfrm>
          <a:prstGeom prst="rect">
            <a:avLst/>
          </a:prstGeom>
          <a:solidFill>
            <a:srgbClr val="FFF0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937760" y="2706623"/>
            <a:ext cx="7141464" cy="4572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20640" y="2816352"/>
            <a:ext cx="686714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CC2222"/>
                </a:solidFill>
                <a:latin typeface="Calibri"/>
              </a:rPr>
              <a:t>LOST WINDOW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20640" y="3127248"/>
            <a:ext cx="6867144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882222"/>
                </a:solidFill>
                <a:latin typeface="Calibri"/>
              </a:rPr>
              <a:t>The trigger fired. The competitor acted.
Your organization was still scheduling alignment meetings.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937760" y="3986784"/>
            <a:ext cx="7141464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937760" y="4096512"/>
            <a:ext cx="7141464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2B8A6E"/>
                </a:solidFill>
                <a:latin typeface="Georgia"/>
              </a:rPr>
              <a:t>Readiness OS compresses this to 12 minutes.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2  / 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B8A6E"/>
                </a:solidFill>
                <a:latin typeface="Calibri"/>
              </a:rPr>
              <a:t>THE TWO-STAGE ADVANTAGE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02336" y="877824"/>
            <a:ext cx="4572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6" y="987552"/>
            <a:ext cx="11384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F2E"/>
                </a:solidFill>
                <a:latin typeface="Georgia"/>
              </a:rPr>
              <a:t>Not just faster response — a compounding edge: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2336" y="1408176"/>
            <a:ext cx="11384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B8A6E"/>
                </a:solidFill>
                <a:latin typeface="Georgia"/>
              </a:rPr>
              <a:t>earlier signal window + 12-minute coordinated execution.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1993392"/>
            <a:ext cx="11384280" cy="51206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" y="2103120"/>
            <a:ext cx="1083564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9A84C"/>
                </a:solidFill>
                <a:latin typeface="Calibri"/>
              </a:rPr>
              <a:t>Signal Lead Time  +  Mobilization Compression  =  Compounding Advantage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2336" y="2688335"/>
            <a:ext cx="5554980" cy="2048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02336" y="2688335"/>
            <a:ext cx="5554980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5216" y="2816352"/>
            <a:ext cx="52806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8A6E"/>
                </a:solidFill>
                <a:latin typeface="Calibri"/>
              </a:rPr>
              <a:t>SIGNAL LEAD TIME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216" y="3145536"/>
            <a:ext cx="52806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C66"/>
                </a:solidFill>
                <a:latin typeface="Calibri"/>
              </a:rPr>
              <a:t>System monitoring across 248+ data points and 221 trigger patterns — defined by your organization on your terms, not generic alerts.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31636" y="2688335"/>
            <a:ext cx="5554980" cy="20482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1636" y="2688335"/>
            <a:ext cx="555498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14516" y="2816352"/>
            <a:ext cx="52806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MOBILIZATION COMPRESSION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4516" y="3145536"/>
            <a:ext cx="52806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C66"/>
                </a:solidFill>
                <a:latin typeface="Calibri"/>
              </a:rPr>
              <a:t>170 Readiness Protocols pre-staged across 9 strategic domains. Response architecture ready before the trigger fires.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0" y="5870448"/>
            <a:ext cx="304723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8A6E"/>
                </a:solidFill>
                <a:latin typeface="Calibri"/>
              </a:rPr>
              <a:t>248+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0" y="6272784"/>
            <a:ext cx="304723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data points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47238" y="5870448"/>
            <a:ext cx="304723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Calibri"/>
              </a:rPr>
              <a:t>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47238" y="6272784"/>
            <a:ext cx="304723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trigger patterns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4476" y="5870448"/>
            <a:ext cx="304723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2B8A6E"/>
                </a:solidFill>
                <a:latin typeface="Calibri"/>
              </a:rPr>
              <a:t>170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94476" y="6272784"/>
            <a:ext cx="304723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Readiness Protocols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1714" y="5870448"/>
            <a:ext cx="3047238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C9A84C"/>
                </a:solidFill>
                <a:latin typeface="Calibri"/>
              </a:rPr>
              <a:t>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1714" y="6272784"/>
            <a:ext cx="304723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strategic domains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3  / 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THE PRODUCT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877824"/>
            <a:ext cx="11384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A0F2E"/>
                </a:solidFill>
                <a:latin typeface="Calibri"/>
              </a:rPr>
              <a:t>Map  →  Monitor  →  Decide  →  Execute  →  Learn</a:t>
            </a:r>
          </a:p>
        </p:txBody>
      </p:sp>
      <p:sp>
        <p:nvSpPr>
          <p:cNvPr id="8" name="Rectangle 7"/>
          <p:cNvSpPr/>
          <p:nvPr/>
        </p:nvSpPr>
        <p:spPr>
          <a:xfrm>
            <a:off x="4905756" y="1371600"/>
            <a:ext cx="23774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336" y="1554480"/>
            <a:ext cx="2203704" cy="4882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554480"/>
            <a:ext cx="2203704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303020" y="1682496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2748" y="1755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9A84C"/>
                </a:solidFill>
                <a:latin typeface="Calibri"/>
              </a:rPr>
              <a:t>MAP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" y="245059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Scenarios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85216" y="2688336"/>
            <a:ext cx="1837944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" y="2798064"/>
            <a:ext cx="200253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6"/>
                </a:solidFill>
                <a:latin typeface="Calibri"/>
              </a:rPr>
              <a:t>Define every strategic situation your organization has faced or is likely to face.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97480" y="1554480"/>
            <a:ext cx="2203704" cy="4882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1554480"/>
            <a:ext cx="2203704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598164" y="1682496"/>
            <a:ext cx="402336" cy="402336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07892" y="1755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88920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B8A6E"/>
                </a:solidFill>
                <a:latin typeface="Calibri"/>
              </a:rPr>
              <a:t>MONITOR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88920" y="245059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Triggers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880360" y="2688336"/>
            <a:ext cx="1837944" cy="27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807208" y="2798064"/>
            <a:ext cx="200253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6"/>
                </a:solidFill>
                <a:latin typeface="Calibri"/>
              </a:rPr>
              <a:t>System monitoring of customer-defined thresholds — 248+ data points, every 15 minutes.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992624" y="1554480"/>
            <a:ext cx="2203704" cy="4882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992624" y="1554480"/>
            <a:ext cx="2203704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893308" y="1682496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003036" y="1755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4064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9A84C"/>
                </a:solidFill>
                <a:latin typeface="Calibri"/>
              </a:rPr>
              <a:t>DECIDE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84064" y="245059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Authority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175504" y="2688336"/>
            <a:ext cx="1837944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02352" y="2798064"/>
            <a:ext cx="200253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6"/>
                </a:solidFill>
                <a:latin typeface="Calibri"/>
              </a:rPr>
              <a:t>Explicit executive authorization at every point. AI monitors. Executives decide.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87768" y="1554480"/>
            <a:ext cx="2203704" cy="4882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287768" y="1554480"/>
            <a:ext cx="2203704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8188452" y="1682496"/>
            <a:ext cx="402336" cy="402336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98180" y="1755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79208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2B8A6E"/>
                </a:solidFill>
                <a:latin typeface="Calibri"/>
              </a:rPr>
              <a:t>EXECUTE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79208" y="245059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Action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70648" y="2688336"/>
            <a:ext cx="1837944" cy="27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97496" y="2798064"/>
            <a:ext cx="200253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6"/>
                </a:solidFill>
                <a:latin typeface="Calibri"/>
              </a:rPr>
              <a:t>Roles, budgets, and communications deploy in coordinated sequence in 12 minutes.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582912" y="1554480"/>
            <a:ext cx="2203704" cy="488289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9582912" y="1554480"/>
            <a:ext cx="2203704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483596" y="1682496"/>
            <a:ext cx="402336" cy="402336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0593324" y="1755648"/>
            <a:ext cx="1828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74352" y="2194560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C9A84C"/>
                </a:solidFill>
                <a:latin typeface="Calibri"/>
              </a:rPr>
              <a:t>LEARN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74352" y="2450592"/>
            <a:ext cx="20574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5A627A"/>
                </a:solidFill>
                <a:latin typeface="Calibri"/>
              </a:rPr>
              <a:t>Readiness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765792" y="2688336"/>
            <a:ext cx="1837944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692640" y="2798064"/>
            <a:ext cx="2002536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444C66"/>
                </a:solidFill>
                <a:latin typeface="Calibri"/>
              </a:rPr>
              <a:t>Every activation feeds forward — patterns improve the next response cycle.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4  / 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7525512" cy="6858000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B8A6E"/>
                </a:solidFill>
                <a:latin typeface="Calibri"/>
              </a:rPr>
              <a:t>MISSION CONTROL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877824"/>
            <a:ext cx="4572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987552"/>
            <a:ext cx="4059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F2E"/>
                </a:solidFill>
                <a:latin typeface="Georgia"/>
              </a:rPr>
              <a:t>Where leadership sees what is forming — and what to do now.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2340864"/>
            <a:ext cx="4059936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2340864"/>
            <a:ext cx="45720" cy="12984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EMERGING SITUATION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06624"/>
            <a:ext cx="38039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Live signal detections scored against 221 trigger patterns across 9 strategic domains.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3712464"/>
            <a:ext cx="4059936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3712464"/>
            <a:ext cx="45720" cy="12984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039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DECISION WINDOW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078224"/>
            <a:ext cx="38039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System-recommended Readiness Protocol surfaced with signal confidence score.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5084064"/>
            <a:ext cx="4059936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" y="5084064"/>
            <a:ext cx="45720" cy="12984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755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ONE-CLICK AUTHORIZATION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49824"/>
            <a:ext cx="38039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Executive sign-off deploys the pre-staged execution plan immediately.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804672"/>
            <a:ext cx="7269480" cy="256032"/>
          </a:xfrm>
          <a:prstGeom prst="rect">
            <a:avLst/>
          </a:prstGeom>
          <a:solidFill>
            <a:srgbClr val="1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46904" y="877824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93208" y="87782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39512" y="877824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13248" y="850392"/>
            <a:ext cx="6611112" cy="155448"/>
          </a:xfrm>
          <a:prstGeom prst="rect">
            <a:avLst/>
          </a:prstGeom>
          <a:solidFill>
            <a:srgbClr val="25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850392"/>
            <a:ext cx="6537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096B2"/>
                </a:solidFill>
                <a:latin typeface="Calibri"/>
              </a:rPr>
              <a:t>vaughnmartin.com/command-tower</a:t>
            </a:r>
          </a:p>
        </p:txBody>
      </p:sp>
      <p:pic>
        <p:nvPicPr>
          <p:cNvPr id="28" name="Picture 27" descr="slide_mission_contro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060704"/>
            <a:ext cx="7269480" cy="543153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5  / 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7525512" cy="6858000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TRIGGER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877824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987552"/>
            <a:ext cx="4059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F2E"/>
                </a:solidFill>
                <a:latin typeface="Georgia"/>
              </a:rPr>
              <a:t>Detection on your terms, not after the fact.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2340864"/>
            <a:ext cx="4059936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2340864"/>
            <a:ext cx="45720" cy="12984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CUSTOMER-DEFINED THRESHOLDS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06624"/>
            <a:ext cx="38039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You define what constitutes a trigger — sources, thresholds, escalation paths. Not generic alerts.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3712464"/>
            <a:ext cx="4059936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3712464"/>
            <a:ext cx="45720" cy="12984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8039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248+ DATA POINTS  ·  EVERY 15 MINUTES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078224"/>
            <a:ext cx="38039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Continuous monitoring scored and surfaced before the situation becomes a crisis.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5084064"/>
            <a:ext cx="4059936" cy="12984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02336" y="5084064"/>
            <a:ext cx="45720" cy="12984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66928" y="51755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221 TRIGGER PATTERNS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5449824"/>
            <a:ext cx="3803904" cy="841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Scored against your defined escalation logic. Signal confidence surfaced at detection.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64608" y="804672"/>
            <a:ext cx="7269480" cy="256032"/>
          </a:xfrm>
          <a:prstGeom prst="rect">
            <a:avLst/>
          </a:prstGeom>
          <a:solidFill>
            <a:srgbClr val="1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946904" y="877824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5093208" y="87782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239512" y="877824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413248" y="850392"/>
            <a:ext cx="6611112" cy="155448"/>
          </a:xfrm>
          <a:prstGeom prst="rect">
            <a:avLst/>
          </a:prstGeom>
          <a:solidFill>
            <a:srgbClr val="25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58968" y="850392"/>
            <a:ext cx="6537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096B2"/>
                </a:solidFill>
                <a:latin typeface="Calibri"/>
              </a:rPr>
              <a:t>vaughnmartin.com — Signal Monitoring</a:t>
            </a:r>
          </a:p>
        </p:txBody>
      </p:sp>
      <p:pic>
        <p:nvPicPr>
          <p:cNvPr id="28" name="Picture 27" descr="deck_signal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4608" y="1060704"/>
            <a:ext cx="7269480" cy="5431536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6  / 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7525512" cy="6858000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DECISION + GOVERNANCE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877824"/>
            <a:ext cx="4572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987552"/>
            <a:ext cx="4059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F2E"/>
                </a:solidFill>
                <a:latin typeface="Georgia"/>
              </a:rPr>
              <a:t>AI monitors. Executives authorize.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2340864"/>
            <a:ext cx="4059936" cy="1984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2340864"/>
            <a:ext cx="45720" cy="1984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HUMAN DECISION AUTHORITY PRESERVED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06624"/>
            <a:ext cx="38039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No Readiness Protocol activates without explicit executive sign-off. The decision stays human.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4398264"/>
            <a:ext cx="4059936" cy="1984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4398264"/>
            <a:ext cx="45720" cy="19842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4897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TRACEABLE ACTIVATION PATHWAY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64024"/>
            <a:ext cx="38039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Every authorization logged with timestamp, decision-maker, and full context — board-ready audit trail.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4608" y="804672"/>
            <a:ext cx="7269480" cy="256032"/>
          </a:xfrm>
          <a:prstGeom prst="rect">
            <a:avLst/>
          </a:prstGeom>
          <a:solidFill>
            <a:srgbClr val="1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6904" y="877824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93208" y="87782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9512" y="877824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850392"/>
            <a:ext cx="6611112" cy="155448"/>
          </a:xfrm>
          <a:prstGeom prst="rect">
            <a:avLst/>
          </a:prstGeom>
          <a:solidFill>
            <a:srgbClr val="25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850392"/>
            <a:ext cx="6537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096B2"/>
                </a:solidFill>
                <a:latin typeface="Calibri"/>
              </a:rPr>
              <a:t>vaughnmartin.com — Activation Console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7  /  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8" y="1060704"/>
            <a:ext cx="7269480" cy="5431536"/>
          </a:xfrm>
          <a:prstGeom prst="rect">
            <a:avLst/>
          </a:prstGeom>
          <a:solidFill>
            <a:srgbClr val="0C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64608" y="1060704"/>
            <a:ext cx="7269480" cy="274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64608" y="1060704"/>
            <a:ext cx="7269480" cy="292608"/>
          </a:xfrm>
          <a:prstGeom prst="rect">
            <a:avLst/>
          </a:prstGeom>
          <a:solidFill>
            <a:srgbClr val="07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92624" y="1161288"/>
            <a:ext cx="91440" cy="91440"/>
          </a:xfrm>
          <a:prstGeom prst="ellipse">
            <a:avLst/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38928" y="1161288"/>
            <a:ext cx="91440" cy="91440"/>
          </a:xfrm>
          <a:prstGeom prst="ellipse">
            <a:avLst/>
          </a:prstGeom>
          <a:solidFill>
            <a:srgbClr val="E0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85232" y="1161288"/>
            <a:ext cx="91440" cy="91440"/>
          </a:xfrm>
          <a:prstGeom prst="ellipse">
            <a:avLst/>
          </a:prstGeom>
          <a:solidFill>
            <a:srgbClr val="27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68112" y="1124712"/>
            <a:ext cx="6501384" cy="164592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41264" y="1129284"/>
            <a:ext cx="6355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readinessOS.vaughnmartin.com  —  Activation Console · LIVE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4608" y="1389888"/>
            <a:ext cx="7269480" cy="347472"/>
          </a:xfrm>
          <a:prstGeom prst="rect">
            <a:avLst/>
          </a:prstGeom>
          <a:solidFill>
            <a:srgbClr val="1A070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4608" y="1389888"/>
            <a:ext cx="7269480" cy="22860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29200" y="1517904"/>
            <a:ext cx="100584" cy="100584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12080" y="1472184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6B5B"/>
                </a:solidFill>
                <a:latin typeface="Calibri"/>
              </a:rPr>
              <a:t>⚠  SIGNAL DETECTED  ·  HIGH PRIORITY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96528" y="1472184"/>
            <a:ext cx="31546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09:02:17  ·  13F SEC FILING  ·  EDGAR ALERT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212080" y="1604772"/>
            <a:ext cx="672084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Activist Investor  —  Elliott Management Partners, L.P.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029200" y="1773936"/>
            <a:ext cx="6940296" cy="749808"/>
          </a:xfrm>
          <a:prstGeom prst="rect">
            <a:avLst/>
          </a:prstGeom>
          <a:solidFill>
            <a:srgbClr val="0E16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029200" y="1773936"/>
            <a:ext cx="32004" cy="749808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138928" y="1856231"/>
            <a:ext cx="2154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096B2"/>
                </a:solidFill>
                <a:latin typeface="Calibri"/>
              </a:rPr>
              <a:t>POSITION FILED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38928" y="2020824"/>
            <a:ext cx="2154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9.2% stake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138928" y="2194560"/>
            <a:ext cx="2154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EDC"/>
                </a:solidFill>
                <a:latin typeface="Calibri"/>
              </a:rPr>
              <a:t>$2.1B market value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339584" y="1865376"/>
            <a:ext cx="9144" cy="566928"/>
          </a:xfrm>
          <a:prstGeom prst="rect">
            <a:avLst/>
          </a:prstGeom>
          <a:solidFill>
            <a:srgbClr val="555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421880" y="1856231"/>
            <a:ext cx="2154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096B2"/>
                </a:solidFill>
                <a:latin typeface="Calibri"/>
              </a:rPr>
              <a:t>CAMPAIGN TYPE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21880" y="2020824"/>
            <a:ext cx="2154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Board Representation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421880" y="2194560"/>
            <a:ext cx="2154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EDC"/>
                </a:solidFill>
                <a:latin typeface="Calibri"/>
              </a:rPr>
              <a:t>+ Strategic Review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22536" y="1865376"/>
            <a:ext cx="9144" cy="566928"/>
          </a:xfrm>
          <a:prstGeom prst="rect">
            <a:avLst/>
          </a:prstGeom>
          <a:solidFill>
            <a:srgbClr val="555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04832" y="1856231"/>
            <a:ext cx="2154936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096B2"/>
                </a:solidFill>
                <a:latin typeface="Calibri"/>
              </a:rPr>
              <a:t>WINDOW TO RESPOND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704832" y="2020824"/>
            <a:ext cx="2154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FFFFF"/>
                </a:solidFill>
                <a:latin typeface="Calibri"/>
              </a:rPr>
              <a:t>72 hours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704832" y="2194560"/>
            <a:ext cx="215493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CCCEDC"/>
                </a:solidFill>
                <a:latin typeface="Calibri"/>
              </a:rPr>
              <a:t>before media breaks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29200" y="2578608"/>
            <a:ext cx="18288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096B2"/>
                </a:solidFill>
                <a:latin typeface="Calibri"/>
              </a:rPr>
              <a:t>SYSTEM RISK SCORE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876288" y="257860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6B5B"/>
                </a:solidFill>
                <a:latin typeface="Calibri"/>
              </a:rPr>
              <a:t>89 / 100   ·   CRITICAL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029200" y="2770632"/>
            <a:ext cx="6940296" cy="118872"/>
          </a:xfrm>
          <a:prstGeom prst="rect">
            <a:avLst/>
          </a:prstGeom>
          <a:solidFill>
            <a:srgbClr val="1418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029200" y="2770632"/>
            <a:ext cx="6176863" cy="118872"/>
          </a:xfrm>
          <a:prstGeom prst="rect">
            <a:avLst/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187775" y="2770632"/>
            <a:ext cx="164592" cy="118872"/>
          </a:xfrm>
          <a:prstGeom prst="rect">
            <a:avLst/>
          </a:prstGeom>
          <a:solidFill>
            <a:srgbClr val="FF6B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029200" y="2971800"/>
            <a:ext cx="6940296" cy="877824"/>
          </a:xfrm>
          <a:prstGeom prst="rect">
            <a:avLst/>
          </a:prstGeom>
          <a:solidFill>
            <a:srgbClr val="07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0" y="2971800"/>
            <a:ext cx="6940296" cy="228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120640" y="3035808"/>
            <a:ext cx="228600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C9A84C"/>
                </a:solidFill>
                <a:latin typeface="Calibri"/>
              </a:rPr>
              <a:t>SYSTEM RECOMMENDATION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20640" y="3218688"/>
            <a:ext cx="67208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Georgia"/>
              </a:rPr>
              <a:t>Protocol #42 — Activist Investor Response</a:t>
            </a:r>
          </a:p>
        </p:txBody>
      </p:sp>
      <p:sp>
        <p:nvSpPr>
          <p:cNvPr id="64" name="Rectangle 63"/>
          <p:cNvSpPr/>
          <p:nvPr/>
        </p:nvSpPr>
        <p:spPr>
          <a:xfrm>
            <a:off x="5157216" y="3506724"/>
            <a:ext cx="64008" cy="64008"/>
          </a:xfrm>
          <a:prstGeom prst="rect">
            <a:avLst/>
          </a:prstGeom>
          <a:solidFill>
            <a:srgbClr val="3DB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266944" y="3474720"/>
            <a:ext cx="3232404" cy="12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EDC"/>
                </a:solidFill>
                <a:latin typeface="Calibri"/>
              </a:rPr>
              <a:t>28 tasks pre-staged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157216" y="3630168"/>
            <a:ext cx="64008" cy="64008"/>
          </a:xfrm>
          <a:prstGeom prst="rect">
            <a:avLst/>
          </a:prstGeom>
          <a:solidFill>
            <a:srgbClr val="3DB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5266944" y="3598163"/>
            <a:ext cx="3232404" cy="12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EDC"/>
                </a:solidFill>
                <a:latin typeface="Calibri"/>
              </a:rPr>
              <a:t>8 stakeholders mapped with decision rights</a:t>
            </a:r>
          </a:p>
        </p:txBody>
      </p:sp>
      <p:sp>
        <p:nvSpPr>
          <p:cNvPr id="68" name="Rectangle 67"/>
          <p:cNvSpPr/>
          <p:nvPr/>
        </p:nvSpPr>
        <p:spPr>
          <a:xfrm>
            <a:off x="5157216" y="3753612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266944" y="3721608"/>
            <a:ext cx="3232404" cy="12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EDC"/>
                </a:solidFill>
                <a:latin typeface="Calibri"/>
              </a:rPr>
              <a:t>Board communication drafted and ready</a:t>
            </a:r>
          </a:p>
        </p:txBody>
      </p:sp>
      <p:sp>
        <p:nvSpPr>
          <p:cNvPr id="70" name="Rectangle 69"/>
          <p:cNvSpPr/>
          <p:nvPr/>
        </p:nvSpPr>
        <p:spPr>
          <a:xfrm>
            <a:off x="8627364" y="3506724"/>
            <a:ext cx="64008" cy="640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8737092" y="3474720"/>
            <a:ext cx="3232404" cy="12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EDC"/>
                </a:solidFill>
                <a:latin typeface="Calibri"/>
              </a:rPr>
              <a:t>Legal team and PR firm notified automatically</a:t>
            </a:r>
          </a:p>
        </p:txBody>
      </p:sp>
      <p:sp>
        <p:nvSpPr>
          <p:cNvPr id="72" name="Rectangle 71"/>
          <p:cNvSpPr/>
          <p:nvPr/>
        </p:nvSpPr>
        <p:spPr>
          <a:xfrm>
            <a:off x="8627364" y="3630168"/>
            <a:ext cx="64008" cy="64008"/>
          </a:xfrm>
          <a:prstGeom prst="rect">
            <a:avLst/>
          </a:prstGeom>
          <a:solidFill>
            <a:srgbClr val="3DB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8737092" y="3598163"/>
            <a:ext cx="3232404" cy="123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EDC"/>
                </a:solidFill>
                <a:latin typeface="Calibri"/>
              </a:rPr>
              <a:t>Shareholder messaging pre-approved</a:t>
            </a:r>
          </a:p>
        </p:txBody>
      </p:sp>
      <p:sp>
        <p:nvSpPr>
          <p:cNvPr id="74" name="Rectangle 73"/>
          <p:cNvSpPr/>
          <p:nvPr/>
        </p:nvSpPr>
        <p:spPr>
          <a:xfrm>
            <a:off x="5029200" y="3941064"/>
            <a:ext cx="6940296" cy="1078992"/>
          </a:xfrm>
          <a:prstGeom prst="rect">
            <a:avLst/>
          </a:prstGeom>
          <a:solidFill>
            <a:srgbClr val="08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029200" y="3941064"/>
            <a:ext cx="6940296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5029200" y="3941064"/>
            <a:ext cx="54864" cy="10789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5212080" y="402336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9A84C"/>
                </a:solidFill>
                <a:latin typeface="Calibri"/>
              </a:rPr>
              <a:t>EXECUTIVE AUTHORIZATION REQUIRED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4224528"/>
            <a:ext cx="3474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1" i="0">
                <a:solidFill>
                  <a:srgbClr val="FFFFFF"/>
                </a:solidFill>
                <a:latin typeface="Georgia"/>
              </a:rPr>
              <a:t>Sarah Chen  ·  Chief Strategy Officer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12080" y="4443984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CCCEDC"/>
                </a:solidFill>
                <a:latin typeface="Calibri"/>
              </a:rPr>
              <a:t>Protocol #42 is staged and ready. Authorization releases 28 tasks across 8 stakeholders.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235440" y="4123944"/>
            <a:ext cx="1408176" cy="36576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235440" y="4206240"/>
            <a:ext cx="14081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0A0F2E"/>
                </a:solidFill>
                <a:latin typeface="Calibri"/>
              </a:rPr>
              <a:t>AUTHORIZE  →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53344" y="4123944"/>
            <a:ext cx="1097280" cy="365760"/>
          </a:xfrm>
          <a:prstGeom prst="rect">
            <a:avLst/>
          </a:prstGeom>
          <a:solidFill>
            <a:srgbClr val="121A44"/>
          </a:solidFill>
          <a:ln w="9144">
            <a:solidFill>
              <a:srgbClr val="5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10753344" y="4123944"/>
            <a:ext cx="1097280" cy="36576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10753344" y="4123944"/>
            <a:ext cx="1097280" cy="365760"/>
          </a:xfrm>
          <a:prstGeom prst="rect">
            <a:avLst/>
          </a:prstGeom>
          <a:solidFill>
            <a:srgbClr val="121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10753344" y="4123944"/>
            <a:ext cx="1097280" cy="365760"/>
          </a:xfrm>
          <a:prstGeom prst="rect">
            <a:avLst/>
          </a:prstGeom>
          <a:solidFill>
            <a:srgbClr val="121A44"/>
          </a:solidFill>
          <a:ln w="9144">
            <a:solidFill>
              <a:srgbClr val="555C7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10753344" y="4206240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9096B2"/>
                </a:solidFill>
                <a:latin typeface="Calibri"/>
              </a:rPr>
              <a:t>VIEW BRIEF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029200" y="5074920"/>
            <a:ext cx="6940296" cy="256032"/>
          </a:xfrm>
          <a:prstGeom prst="rect">
            <a:avLst/>
          </a:prstGeom>
          <a:solidFill>
            <a:srgbClr val="070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38928" y="5120640"/>
            <a:ext cx="6757416" cy="173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DBB97"/>
                </a:solidFill>
                <a:latin typeface="Calibri"/>
              </a:rPr>
              <a:t>✓  AUTHORIZED  09:14:33  ·  Sarah Chen, CSO  ·  Activation ID: ACT-2026-042-04  ·  Audit logged  ·  Board brief auto-generated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663440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663440" y="0"/>
            <a:ext cx="7525512" cy="6858000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2B8A6E"/>
                </a:solidFill>
                <a:latin typeface="Calibri"/>
              </a:rPr>
              <a:t>EXECUTION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02336" y="877824"/>
            <a:ext cx="457200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02336" y="987552"/>
            <a:ext cx="4059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0A0F2E"/>
                </a:solidFill>
                <a:latin typeface="Georgia"/>
              </a:rPr>
              <a:t>From decision to coordinated action in 12 minutes.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2336" y="2340864"/>
            <a:ext cx="4059936" cy="1984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02336" y="2340864"/>
            <a:ext cx="45720" cy="19842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4323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ROLES  ·  BUDGET  ·  COMMS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706624"/>
            <a:ext cx="38039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Every stakeholder notified. Spending authority unlocked. Messaging pre-staged across all channels.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" y="4398264"/>
            <a:ext cx="4059936" cy="198424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02336" y="4398264"/>
            <a:ext cx="45720" cy="1984248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4489704"/>
            <a:ext cx="380390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A0F2E"/>
                </a:solidFill>
                <a:latin typeface="Calibri"/>
              </a:rPr>
              <a:t>FULL CROSS-FUNCTIONAL DEPLOYMENT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4764024"/>
            <a:ext cx="3803904" cy="1527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The entire plan — people, funds, and communications — deploys in a single authorized action.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864608" y="804672"/>
            <a:ext cx="7269480" cy="256032"/>
          </a:xfrm>
          <a:prstGeom prst="rect">
            <a:avLst/>
          </a:prstGeom>
          <a:solidFill>
            <a:srgbClr val="1A1E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46904" y="877824"/>
            <a:ext cx="91440" cy="91440"/>
          </a:xfrm>
          <a:prstGeom prst="ellipse">
            <a:avLst/>
          </a:prstGeom>
          <a:solidFill>
            <a:srgbClr val="FF5F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093208" y="877824"/>
            <a:ext cx="91440" cy="91440"/>
          </a:xfrm>
          <a:prstGeom prst="ellipse">
            <a:avLst/>
          </a:prstGeom>
          <a:solidFill>
            <a:srgbClr val="FFBD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239512" y="877824"/>
            <a:ext cx="91440" cy="91440"/>
          </a:xfrm>
          <a:prstGeom prst="ellipse">
            <a:avLst/>
          </a:prstGeom>
          <a:solidFill>
            <a:srgbClr val="28C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413248" y="850392"/>
            <a:ext cx="6611112" cy="155448"/>
          </a:xfrm>
          <a:prstGeom prst="rect">
            <a:avLst/>
          </a:prstGeom>
          <a:solidFill>
            <a:srgbClr val="2529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58968" y="850392"/>
            <a:ext cx="6537960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650" b="0" i="0">
                <a:solidFill>
                  <a:srgbClr val="9096B2"/>
                </a:solidFill>
                <a:latin typeface="Calibri"/>
              </a:rPr>
              <a:t>vaughnmartin.com/12-minute-experience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8  /  12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864608" y="1060704"/>
            <a:ext cx="7269480" cy="5431536"/>
          </a:xfrm>
          <a:prstGeom prst="rect">
            <a:avLst/>
          </a:prstGeom>
          <a:solidFill>
            <a:srgbClr val="0C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864608" y="1060704"/>
            <a:ext cx="726948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864608" y="1060704"/>
            <a:ext cx="7269480" cy="292608"/>
          </a:xfrm>
          <a:prstGeom prst="rect">
            <a:avLst/>
          </a:prstGeom>
          <a:solidFill>
            <a:srgbClr val="070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992624" y="1161288"/>
            <a:ext cx="91440" cy="91440"/>
          </a:xfrm>
          <a:prstGeom prst="ellipse">
            <a:avLst/>
          </a:prstGeom>
          <a:solidFill>
            <a:srgbClr val="C03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5138928" y="1161288"/>
            <a:ext cx="91440" cy="91440"/>
          </a:xfrm>
          <a:prstGeom prst="ellipse">
            <a:avLst/>
          </a:prstGeom>
          <a:solidFill>
            <a:srgbClr val="E0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5285232" y="1161288"/>
            <a:ext cx="91440" cy="91440"/>
          </a:xfrm>
          <a:prstGeom prst="ellipse">
            <a:avLst/>
          </a:prstGeom>
          <a:solidFill>
            <a:srgbClr val="278A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468112" y="1124712"/>
            <a:ext cx="6501384" cy="164592"/>
          </a:xfrm>
          <a:prstGeom prst="rect">
            <a:avLst/>
          </a:prstGeom>
          <a:solidFill>
            <a:srgbClr val="1218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541264" y="1129284"/>
            <a:ext cx="6355080" cy="1508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readinessOS.vaughnmartin.com  —  Execution Dashboard · Protocol #42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864608" y="1389888"/>
            <a:ext cx="7269480" cy="420624"/>
          </a:xfrm>
          <a:prstGeom prst="rect">
            <a:avLst/>
          </a:prstGeom>
          <a:solidFill>
            <a:srgbClr val="050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864608" y="1389888"/>
            <a:ext cx="7269480" cy="22860"/>
          </a:xfrm>
          <a:prstGeom prst="rect">
            <a:avLst/>
          </a:prstGeom>
          <a:solidFill>
            <a:srgbClr val="3DB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010912" y="1472184"/>
            <a:ext cx="256032" cy="256032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020056" y="1453896"/>
            <a:ext cx="23774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⏱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58384" y="1444752"/>
            <a:ext cx="16459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BB97"/>
                </a:solidFill>
                <a:latin typeface="Courier New"/>
              </a:rPr>
              <a:t>11:47  ELAPSED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358384" y="1627632"/>
            <a:ext cx="1645920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3DBB97"/>
                </a:solidFill>
                <a:latin typeface="Calibri"/>
              </a:rPr>
              <a:t>0:13 REMAINING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150608" y="1499616"/>
            <a:ext cx="478231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PROTOCOL #42  ·  ACTIVIST INVESTOR RESPONSE  ·  EXECUTION ACTIVE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864608" y="1773936"/>
            <a:ext cx="7269480" cy="128016"/>
          </a:xfrm>
          <a:prstGeom prst="rect">
            <a:avLst/>
          </a:prstGeom>
          <a:solidFill>
            <a:srgbClr val="0C14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864608" y="1773936"/>
            <a:ext cx="7145898" cy="12801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1937354" y="1773936"/>
            <a:ext cx="146304" cy="128016"/>
          </a:xfrm>
          <a:prstGeom prst="rect">
            <a:avLst/>
          </a:prstGeom>
          <a:solidFill>
            <a:srgbClr val="3DB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1603736" y="1773936"/>
            <a:ext cx="512064" cy="1280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750" b="1" i="0">
                <a:solidFill>
                  <a:srgbClr val="0A0F2E"/>
                </a:solidFill>
                <a:latin typeface="Calibri"/>
              </a:rPr>
              <a:t>98.3%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992624" y="1938528"/>
            <a:ext cx="2240279" cy="4151376"/>
          </a:xfrm>
          <a:prstGeom prst="rect">
            <a:avLst/>
          </a:prstGeom>
          <a:solidFill>
            <a:srgbClr val="0A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4992624" y="1938528"/>
            <a:ext cx="2240279" cy="36576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102352" y="2011680"/>
            <a:ext cx="2020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B8A6E"/>
                </a:solidFill>
                <a:latin typeface="Calibri"/>
              </a:rPr>
              <a:t>ROLES DEPLOYED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403591" y="1938528"/>
            <a:ext cx="2240279" cy="4151376"/>
          </a:xfrm>
          <a:prstGeom prst="rect">
            <a:avLst/>
          </a:prstGeom>
          <a:solidFill>
            <a:srgbClr val="0A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403591" y="1938528"/>
            <a:ext cx="2240279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513319" y="2011680"/>
            <a:ext cx="2020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9A84C"/>
                </a:solidFill>
                <a:latin typeface="Calibri"/>
              </a:rPr>
              <a:t>BUDGET RELEASED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9814560" y="1938528"/>
            <a:ext cx="2240279" cy="4151376"/>
          </a:xfrm>
          <a:prstGeom prst="rect">
            <a:avLst/>
          </a:prstGeom>
          <a:solidFill>
            <a:srgbClr val="0A1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9814560" y="1938528"/>
            <a:ext cx="2240279" cy="36576"/>
          </a:xfrm>
          <a:prstGeom prst="rect">
            <a:avLst/>
          </a:prstGeom>
          <a:solidFill>
            <a:srgbClr val="558B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924288" y="2011680"/>
            <a:ext cx="202082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558BD4"/>
                </a:solidFill>
                <a:latin typeface="Calibri"/>
              </a:rPr>
              <a:t>COMMS STAGED</a:t>
            </a:r>
          </a:p>
        </p:txBody>
      </p:sp>
      <p:sp>
        <p:nvSpPr>
          <p:cNvPr id="56" name="Rectangle 55"/>
          <p:cNvSpPr/>
          <p:nvPr/>
        </p:nvSpPr>
        <p:spPr>
          <a:xfrm>
            <a:off x="5084064" y="2249424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5084064" y="2249424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138928" y="228600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285232" y="2286000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General Counsel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285232" y="2468880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Notified  ·  0:42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84064" y="2715768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084064" y="2715768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138928" y="275234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85232" y="2752344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Chief Strategy Officer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285232" y="2935224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Authorized  ·  1:15</a:t>
            </a:r>
          </a:p>
        </p:txBody>
      </p:sp>
      <p:sp>
        <p:nvSpPr>
          <p:cNvPr id="66" name="Rectangle 65"/>
          <p:cNvSpPr/>
          <p:nvPr/>
        </p:nvSpPr>
        <p:spPr>
          <a:xfrm>
            <a:off x="5084064" y="3182112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5084064" y="3182112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5138928" y="321868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285232" y="3218688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Chief Financial Officer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5285232" y="3401568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Briefed  ·  2:08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084064" y="3648456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84064" y="3648456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5138928" y="3685032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5285232" y="3685032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Head of Investor Relations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5285232" y="3867912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Active  ·  3:22</a:t>
            </a:r>
          </a:p>
        </p:txBody>
      </p:sp>
      <p:sp>
        <p:nvSpPr>
          <p:cNvPr id="76" name="Rectangle 75"/>
          <p:cNvSpPr/>
          <p:nvPr/>
        </p:nvSpPr>
        <p:spPr>
          <a:xfrm>
            <a:off x="5084064" y="4114800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5084064" y="4114800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5138928" y="4151376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5285232" y="4151376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Board Chair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285232" y="4334256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Alerted  ·  4:01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084064" y="4581144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084064" y="4581144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5138928" y="46177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5285232" y="4617720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Communications Director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85232" y="4800600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Engaged  ·  5:14</a:t>
            </a:r>
          </a:p>
        </p:txBody>
      </p:sp>
      <p:sp>
        <p:nvSpPr>
          <p:cNvPr id="86" name="Rectangle 85"/>
          <p:cNvSpPr/>
          <p:nvPr/>
        </p:nvSpPr>
        <p:spPr>
          <a:xfrm>
            <a:off x="5084064" y="5047488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5084064" y="5047488"/>
            <a:ext cx="27432" cy="402336"/>
          </a:xfrm>
          <a:prstGeom prst="rect">
            <a:avLst/>
          </a:prstGeom>
          <a:solidFill>
            <a:srgbClr val="E0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5138928" y="508406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A20"/>
                </a:solidFill>
                <a:latin typeface="Calibri"/>
              </a:rPr>
              <a:t>◎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5285232" y="5084064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External PR Firm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285232" y="5266944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Activating...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84064" y="5513832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084064" y="5513832"/>
            <a:ext cx="27432" cy="402336"/>
          </a:xfrm>
          <a:prstGeom prst="rect">
            <a:avLst/>
          </a:prstGeom>
          <a:solidFill>
            <a:srgbClr val="555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5138928" y="555040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C78"/>
                </a:solidFill>
                <a:latin typeface="Calibri"/>
              </a:rPr>
              <a:t>○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285232" y="5550408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M&amp;A Counsel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285232" y="5733288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Queued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513319" y="2249424"/>
            <a:ext cx="2020824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0">
                <a:solidFill>
                  <a:srgbClr val="9096B2"/>
                </a:solidFill>
                <a:latin typeface="Calibri"/>
              </a:rPr>
              <a:t>TOTAL PRE-AUTHORIZED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7513319" y="2414016"/>
            <a:ext cx="2020824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C9A84C"/>
                </a:solidFill>
                <a:latin typeface="Georgia"/>
              </a:rPr>
              <a:t>$2,400,000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513319" y="2670048"/>
            <a:ext cx="2020824" cy="1463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3 cost centers unlocked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495031" y="2834640"/>
            <a:ext cx="2057399" cy="22860"/>
          </a:xfrm>
          <a:prstGeom prst="rect">
            <a:avLst/>
          </a:prstGeom>
          <a:solidFill>
            <a:srgbClr val="555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7495031" y="2907792"/>
            <a:ext cx="2057399" cy="457200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495031" y="2907792"/>
            <a:ext cx="27432" cy="457200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586471" y="2953512"/>
            <a:ext cx="1911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✓ Legal Retainer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586471" y="3154680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$800,000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495031" y="3419856"/>
            <a:ext cx="2057399" cy="457200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495031" y="3419856"/>
            <a:ext cx="27432" cy="457200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7586471" y="3465576"/>
            <a:ext cx="1911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✓ PR / Crisis Comms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7586471" y="3666744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$400,000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7495031" y="3931920"/>
            <a:ext cx="2057399" cy="457200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7495031" y="3931920"/>
            <a:ext cx="27432" cy="457200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7586471" y="3977640"/>
            <a:ext cx="1911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✓ Investment Banking Advisory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586471" y="4178808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$750,000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95031" y="4443984"/>
            <a:ext cx="2057399" cy="457200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7495031" y="4443984"/>
            <a:ext cx="27432" cy="457200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7586471" y="4489704"/>
            <a:ext cx="1911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  <a:latin typeface="Calibri"/>
              </a:rPr>
              <a:t>✓ Board Counsel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7586471" y="4690872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$250,000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495031" y="4956048"/>
            <a:ext cx="2057399" cy="457200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7495031" y="4956048"/>
            <a:ext cx="27432" cy="457200"/>
          </a:xfrm>
          <a:prstGeom prst="rect">
            <a:avLst/>
          </a:prstGeom>
          <a:solidFill>
            <a:srgbClr val="E0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586471" y="5001768"/>
            <a:ext cx="1911095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9096B2"/>
                </a:solidFill>
                <a:latin typeface="Calibri"/>
              </a:rPr>
              <a:t>◎ Shareholder Defense Fund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7586471" y="5202936"/>
            <a:ext cx="1911095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9096B2"/>
                </a:solidFill>
                <a:latin typeface="Calibri"/>
              </a:rPr>
              <a:t>$200,000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9906000" y="2249424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906000" y="2249424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9960864" y="228600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0107168" y="2286000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Board Alert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0107168" y="2468880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3DBB97"/>
                </a:solidFill>
                <a:latin typeface="Calibri"/>
              </a:rPr>
              <a:t>Delivered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9906000" y="2715768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9906000" y="2715768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9960864" y="275234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107168" y="2752344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Press Hold Statement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10107168" y="2935224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Drafted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9906000" y="3182112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06000" y="3182112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9960864" y="321868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10107168" y="3218688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Shareholder Letter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10107168" y="3401568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Drafted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9906000" y="3648456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9906000" y="3648456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9960864" y="3685032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10107168" y="3685032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Employee Communication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10107168" y="3867912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Queued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9906000" y="4114800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9906000" y="4114800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9960864" y="4151376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143" name="TextBox 142"/>
          <p:cNvSpPr txBox="1"/>
          <p:nvPr/>
        </p:nvSpPr>
        <p:spPr>
          <a:xfrm>
            <a:off x="10107168" y="4151376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Analyst Brief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10107168" y="4334256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Prepared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9906000" y="4581144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906000" y="4581144"/>
            <a:ext cx="27432" cy="402336"/>
          </a:xfrm>
          <a:prstGeom prst="rect">
            <a:avLst/>
          </a:prstGeom>
          <a:solidFill>
            <a:srgbClr val="3DBB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TextBox 146"/>
          <p:cNvSpPr txBox="1"/>
          <p:nvPr/>
        </p:nvSpPr>
        <p:spPr>
          <a:xfrm>
            <a:off x="9960864" y="4617720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DBB7A"/>
                </a:solidFill>
                <a:latin typeface="Calibri"/>
              </a:rPr>
              <a:t>✓</a:t>
            </a:r>
          </a:p>
        </p:txBody>
      </p:sp>
      <p:sp>
        <p:nvSpPr>
          <p:cNvPr id="148" name="TextBox 147"/>
          <p:cNvSpPr txBox="1"/>
          <p:nvPr/>
        </p:nvSpPr>
        <p:spPr>
          <a:xfrm>
            <a:off x="10107168" y="4617720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SEC Response Template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10107168" y="4800600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Ready</a:t>
            </a:r>
          </a:p>
        </p:txBody>
      </p:sp>
      <p:sp>
        <p:nvSpPr>
          <p:cNvPr id="150" name="Rectangle 149"/>
          <p:cNvSpPr/>
          <p:nvPr/>
        </p:nvSpPr>
        <p:spPr>
          <a:xfrm>
            <a:off x="9906000" y="5047488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906000" y="5047488"/>
            <a:ext cx="27432" cy="402336"/>
          </a:xfrm>
          <a:prstGeom prst="rect">
            <a:avLst/>
          </a:prstGeom>
          <a:solidFill>
            <a:srgbClr val="E08A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9960864" y="5084064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E08A20"/>
                </a:solidFill>
                <a:latin typeface="Calibri"/>
              </a:rPr>
              <a:t>◎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10107168" y="5084064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Media Q&amp;A Brief</a:t>
            </a:r>
          </a:p>
        </p:txBody>
      </p:sp>
      <p:sp>
        <p:nvSpPr>
          <p:cNvPr id="154" name="TextBox 153"/>
          <p:cNvSpPr txBox="1"/>
          <p:nvPr/>
        </p:nvSpPr>
        <p:spPr>
          <a:xfrm>
            <a:off x="10107168" y="5266944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In Progress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9906000" y="5513832"/>
            <a:ext cx="2057399" cy="402336"/>
          </a:xfrm>
          <a:prstGeom prst="rect">
            <a:avLst/>
          </a:prstGeom>
          <a:solidFill>
            <a:srgbClr val="0C14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906000" y="5513832"/>
            <a:ext cx="27432" cy="402336"/>
          </a:xfrm>
          <a:prstGeom prst="rect">
            <a:avLst/>
          </a:prstGeom>
          <a:solidFill>
            <a:srgbClr val="555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TextBox 156"/>
          <p:cNvSpPr txBox="1"/>
          <p:nvPr/>
        </p:nvSpPr>
        <p:spPr>
          <a:xfrm>
            <a:off x="9960864" y="5550408"/>
            <a:ext cx="16459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555C78"/>
                </a:solidFill>
                <a:latin typeface="Calibri"/>
              </a:rPr>
              <a:t>○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10107168" y="5550408"/>
            <a:ext cx="1801367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  <a:latin typeface="Calibri"/>
              </a:rPr>
              <a:t>Town Hall Script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107168" y="5733288"/>
            <a:ext cx="1801367" cy="155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Pending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4864608" y="6108192"/>
            <a:ext cx="7269480" cy="384048"/>
          </a:xfrm>
          <a:prstGeom prst="rect">
            <a:avLst/>
          </a:prstGeom>
          <a:solidFill>
            <a:srgbClr val="0414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4864608" y="6108192"/>
            <a:ext cx="7269480" cy="27432"/>
          </a:xfrm>
          <a:prstGeom prst="rect">
            <a:avLst/>
          </a:prstGeom>
          <a:solidFill>
            <a:srgbClr val="3DBB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5065776" y="6199632"/>
            <a:ext cx="6867144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3DBB97"/>
                </a:solidFill>
                <a:latin typeface="Calibri"/>
              </a:rPr>
              <a:t>✓  FULL CROSS-FUNCTIONAL DEPLOYMENT  ·  12 minutes  ·  28 tasks  ·  6 roles active  ·  $2.4M released  ·  14 comms staged  ·  Zero meetings required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THE 12-MINUTE 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877824"/>
            <a:ext cx="113842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A0F2E"/>
                </a:solidFill>
                <a:latin typeface="Georgia"/>
              </a:rPr>
              <a:t>Activist investor discloses 8.3% stake. 9:47 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298448"/>
            <a:ext cx="113842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5A627A"/>
                </a:solidFill>
                <a:latin typeface="Georgia"/>
              </a:rPr>
              <a:t>One trigger. Two completely different organizations.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" y="1773936"/>
            <a:ext cx="5554980" cy="347472"/>
          </a:xfrm>
          <a:prstGeom prst="rect">
            <a:avLst/>
          </a:prstGeom>
          <a:solidFill>
            <a:srgbClr val="FFEE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773936"/>
            <a:ext cx="5554980" cy="45720"/>
          </a:xfrm>
          <a:prstGeom prst="rect">
            <a:avLst/>
          </a:prstGeom>
          <a:solidFill>
            <a:srgbClr val="CC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2336" y="1837944"/>
            <a:ext cx="55549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CC2222"/>
                </a:solidFill>
                <a:latin typeface="Calibri"/>
              </a:rPr>
              <a:t>WITHOUT READINESS OS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73936"/>
            <a:ext cx="5554980" cy="347472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73936"/>
            <a:ext cx="5554980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1636" y="1837944"/>
            <a:ext cx="55549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2B8A6E"/>
                </a:solidFill>
                <a:latin typeface="Calibri"/>
              </a:rPr>
              <a:t>WITH READINESS OS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02336" y="2231136"/>
            <a:ext cx="55549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31636" y="2231136"/>
            <a:ext cx="55549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02336" y="2286000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9:47 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63040" y="2359152"/>
            <a:ext cx="44028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27A"/>
                </a:solidFill>
                <a:latin typeface="Calibri"/>
              </a:rPr>
              <a:t>Disclosure detected by IR team — begins manual distribution list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77940" y="2359152"/>
            <a:ext cx="53721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27A"/>
                </a:solidFill>
                <a:latin typeface="Calibri"/>
              </a:rPr>
              <a:t>Signal detected. Protocol #47 identified. Stakeholder map loaded.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2980944"/>
            <a:ext cx="55549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31636" y="2980944"/>
            <a:ext cx="55549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02336" y="3035808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9:59 AM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63040" y="3108960"/>
            <a:ext cx="44028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27A"/>
                </a:solidFill>
                <a:latin typeface="Calibri"/>
              </a:rPr>
              <a:t>Legal, IR, CEO calendars checked. No common slot until 2 PM.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77940" y="3108960"/>
            <a:ext cx="53721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27A"/>
                </a:solidFill>
                <a:latin typeface="Calibri"/>
              </a:rPr>
              <a:t>Board materials pre-staged. Draft communications queued for review.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02336" y="3730752"/>
            <a:ext cx="55549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31636" y="3730752"/>
            <a:ext cx="5554980" cy="69494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02336" y="3785616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10:12 AM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0" y="3858768"/>
            <a:ext cx="44028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27A"/>
                </a:solidFill>
                <a:latin typeface="Calibri"/>
              </a:rPr>
              <a:t>Someone suggests pulling the defense advisor deck from last year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77940" y="3858768"/>
            <a:ext cx="53721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27A"/>
                </a:solidFill>
                <a:latin typeface="Calibri"/>
              </a:rPr>
              <a:t>Executive authorization requested — one click to activate.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02336" y="4480560"/>
            <a:ext cx="5554980" cy="694944"/>
          </a:xfrm>
          <a:prstGeom prst="rect">
            <a:avLst/>
          </a:prstGeom>
          <a:solidFill>
            <a:srgbClr val="FFF4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31636" y="4480560"/>
            <a:ext cx="5554980" cy="694944"/>
          </a:xfrm>
          <a:prstGeom prst="rect">
            <a:avLst/>
          </a:prstGeom>
          <a:solidFill>
            <a:srgbClr val="E8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6" y="4535424"/>
            <a:ext cx="1005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A7332"/>
                </a:solidFill>
                <a:latin typeface="Calibri"/>
              </a:rPr>
              <a:t>9:59 AM →
12 minutes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63040" y="4608576"/>
            <a:ext cx="4402836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CC2222"/>
                </a:solidFill>
                <a:latin typeface="Calibri"/>
              </a:rPr>
              <a:t>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77940" y="4608576"/>
            <a:ext cx="53721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2B8A6E"/>
                </a:solidFill>
                <a:latin typeface="Calibri"/>
              </a:rPr>
              <a:t>Coordinated response live. Legal, IR, external counsel, board notified.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02336" y="5907024"/>
            <a:ext cx="11384280" cy="51206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6656" y="5980176"/>
            <a:ext cx="108356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C9A84C"/>
                </a:solidFill>
                <a:latin typeface="Georgia"/>
              </a:rPr>
              <a:t>"The response is ready before the trigger fires."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9  / 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LIVE PRODUCTION PROOF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877824"/>
            <a:ext cx="11384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0A0F2E"/>
                </a:solidFill>
                <a:latin typeface="Calibri"/>
              </a:rPr>
              <a:t>Live production software: onboarding, protocol flow,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" y="1280160"/>
            <a:ext cx="113842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B8A6E"/>
                </a:solidFill>
                <a:latin typeface="Calibri"/>
              </a:rPr>
              <a:t>decision gates, and execution pathways are active now.</a:t>
            </a:r>
          </a:p>
        </p:txBody>
      </p:sp>
      <p:sp>
        <p:nvSpPr>
          <p:cNvPr id="9" name="Oval 8"/>
          <p:cNvSpPr/>
          <p:nvPr/>
        </p:nvSpPr>
        <p:spPr>
          <a:xfrm>
            <a:off x="402336" y="1627632"/>
            <a:ext cx="201168" cy="201168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" y="160934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" y="1572768"/>
            <a:ext cx="60944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0F2E"/>
                </a:solidFill>
                <a:latin typeface="Calibri"/>
              </a:rPr>
              <a:t>Live onboarding flow and getting-started hub</a:t>
            </a:r>
          </a:p>
        </p:txBody>
      </p:sp>
      <p:sp>
        <p:nvSpPr>
          <p:cNvPr id="12" name="Oval 11"/>
          <p:cNvSpPr/>
          <p:nvPr/>
        </p:nvSpPr>
        <p:spPr>
          <a:xfrm>
            <a:off x="402336" y="1993392"/>
            <a:ext cx="201168" cy="201168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" y="197510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4944" y="1938528"/>
            <a:ext cx="60944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0F2E"/>
                </a:solidFill>
                <a:latin typeface="Calibri"/>
              </a:rPr>
              <a:t>Live protocol activation: authorization → execution</a:t>
            </a:r>
          </a:p>
        </p:txBody>
      </p:sp>
      <p:sp>
        <p:nvSpPr>
          <p:cNvPr id="15" name="Oval 14"/>
          <p:cNvSpPr/>
          <p:nvPr/>
        </p:nvSpPr>
        <p:spPr>
          <a:xfrm>
            <a:off x="402336" y="2359152"/>
            <a:ext cx="201168" cy="201168"/>
          </a:xfrm>
          <a:prstGeom prst="ellipse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2336" y="2340864"/>
            <a:ext cx="20116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FFFF"/>
                </a:solidFill>
                <a:latin typeface="Calibri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" y="2304288"/>
            <a:ext cx="609447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0A0F2E"/>
                </a:solidFill>
                <a:latin typeface="Calibri"/>
              </a:rPr>
              <a:t>Live executive decision materials and buyer packet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02336" y="2688336"/>
            <a:ext cx="277749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2336" y="2688336"/>
            <a:ext cx="277749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Onboarding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02336" y="2926080"/>
            <a:ext cx="277749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slide_onboarding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2962656"/>
            <a:ext cx="2777490" cy="3493008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71266" y="2688336"/>
            <a:ext cx="277749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271266" y="2688336"/>
            <a:ext cx="277749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Protocol Library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71266" y="2926080"/>
            <a:ext cx="277749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slide_protocol_library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71266" y="2962656"/>
            <a:ext cx="2777490" cy="3493008"/>
          </a:xfrm>
          <a:prstGeom prst="rect">
            <a:avLst/>
          </a:prstGeom>
        </p:spPr>
      </p:pic>
      <p:sp>
        <p:nvSpPr>
          <p:cNvPr id="26" name="Rectangle 25"/>
          <p:cNvSpPr/>
          <p:nvPr/>
        </p:nvSpPr>
        <p:spPr>
          <a:xfrm>
            <a:off x="6140196" y="2688336"/>
            <a:ext cx="277749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40196" y="2688336"/>
            <a:ext cx="277749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Mission Control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40196" y="2926080"/>
            <a:ext cx="277749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9" name="Picture 28" descr="slide_mission_control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0196" y="2962656"/>
            <a:ext cx="2777490" cy="3493008"/>
          </a:xfrm>
          <a:prstGeom prst="rect">
            <a:avLst/>
          </a:prstGeom>
        </p:spPr>
      </p:pic>
      <p:sp>
        <p:nvSpPr>
          <p:cNvPr id="30" name="Rectangle 29"/>
          <p:cNvSpPr/>
          <p:nvPr/>
        </p:nvSpPr>
        <p:spPr>
          <a:xfrm>
            <a:off x="9009126" y="2688336"/>
            <a:ext cx="2777490" cy="20116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9126" y="2688336"/>
            <a:ext cx="277749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1" i="0">
                <a:solidFill>
                  <a:srgbClr val="8A7332"/>
                </a:solidFill>
                <a:latin typeface="Calibri"/>
              </a:rPr>
              <a:t>Buyer Decision Packet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009126" y="2926080"/>
            <a:ext cx="277749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slide_buyer_packet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09126" y="2962656"/>
            <a:ext cx="2777490" cy="3493008"/>
          </a:xfrm>
          <a:prstGeom prst="rect">
            <a:avLst/>
          </a:prstGeom>
        </p:spPr>
      </p:pic>
      <p:sp>
        <p:nvSpPr>
          <p:cNvPr id="34" name="Rectangle 3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10  / 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85216"/>
            <a:ext cx="1218895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168" y="73152"/>
            <a:ext cx="1701746" cy="47548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97112" y="192024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50" b="1" i="0">
                <a:solidFill>
                  <a:srgbClr val="C9A84C"/>
                </a:solidFill>
                <a:latin typeface="Calibri"/>
              </a:rPr>
              <a:t>COMMERCIAL MOTION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2336" y="877824"/>
            <a:ext cx="113842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A0F2E"/>
                </a:solidFill>
                <a:latin typeface="Calibri"/>
              </a:rPr>
              <a:t>Focused entry.  Measurable proof.  Scalable expansion.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4997196" y="1335024"/>
            <a:ext cx="219456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02336" y="1517904"/>
            <a:ext cx="3721608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02336" y="1517904"/>
            <a:ext cx="3721608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5216" y="16093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9A84C"/>
                </a:solidFill>
                <a:latin typeface="Calibr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" y="19385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FOUNDING PARTNER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223113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ENGAGEMENT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" y="2560319"/>
            <a:ext cx="3355848" cy="27432"/>
          </a:xfrm>
          <a:prstGeom prst="rect">
            <a:avLst/>
          </a:prstGeom>
          <a:solidFill>
            <a:srgbClr val="E6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5216" y="265176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Select Fortune 1000 organizations — 90-day structured validation partnership with direct founder engagement.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742432"/>
            <a:ext cx="3429000" cy="585216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5797296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27A"/>
                </a:solidFill>
                <a:latin typeface="Calibri"/>
              </a:rPr>
              <a:t>Success: one live trigger handled inside Readiness OS with documented mobilization compression vs. baseline.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33672" y="1517904"/>
            <a:ext cx="3721608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33672" y="1517904"/>
            <a:ext cx="3721608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6552" y="16093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2B8A6E"/>
                </a:solidFill>
                <a:latin typeface="Calibri"/>
              </a:rP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6552" y="19385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OPERATIONAL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6552" y="223113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OUTCOME PROOF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6552" y="2560319"/>
            <a:ext cx="3355848" cy="27432"/>
          </a:xfrm>
          <a:prstGeom prst="rect">
            <a:avLst/>
          </a:prstGeom>
          <a:solidFill>
            <a:srgbClr val="E6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6552" y="265176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Live activation generates documented time-to-execution data. ROI is built from real organizational performance — not projections.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65008" y="1517904"/>
            <a:ext cx="3721608" cy="49194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65008" y="1517904"/>
            <a:ext cx="3721608" cy="4572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8" y="1609344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8" y="1938528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ENTERPRISE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8" y="2231136"/>
            <a:ext cx="3429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A0F2E"/>
                </a:solidFill>
                <a:latin typeface="Calibri"/>
              </a:rPr>
              <a:t>EXPANSION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47888" y="2560319"/>
            <a:ext cx="3355848" cy="27432"/>
          </a:xfrm>
          <a:prstGeom prst="rect">
            <a:avLst/>
          </a:prstGeom>
          <a:solidFill>
            <a:srgbClr val="E6E2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47888" y="2651760"/>
            <a:ext cx="34290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444C66"/>
                </a:solidFill>
                <a:latin typeface="Calibri"/>
              </a:rPr>
              <a:t>Proven ROI drives expansion across additional domains, protocol packs, and organization-wide deployment.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11312" y="5742432"/>
            <a:ext cx="3429000" cy="585216"/>
          </a:xfrm>
          <a:prstGeom prst="rect">
            <a:avLst/>
          </a:prstGeom>
          <a:solidFill>
            <a:srgbClr val="F5F2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5797296"/>
            <a:ext cx="3282696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1">
                <a:solidFill>
                  <a:srgbClr val="5A627A"/>
                </a:solidFill>
                <a:latin typeface="Calibri"/>
              </a:rPr>
              <a:t>Predictable contract growth from validated, quantified outcomes.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11  / 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803136"/>
            <a:ext cx="12188952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vm_logo_hir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9973" y="658368"/>
            <a:ext cx="2029005" cy="5669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1499616"/>
            <a:ext cx="10725912" cy="7863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We're building with leaders who want operating advantage,
not another dashboard.</a:t>
            </a:r>
          </a:p>
        </p:txBody>
      </p:sp>
      <p:sp>
        <p:nvSpPr>
          <p:cNvPr id="7" name="Rectangle 6"/>
          <p:cNvSpPr/>
          <p:nvPr/>
        </p:nvSpPr>
        <p:spPr>
          <a:xfrm>
            <a:off x="5088636" y="2359152"/>
            <a:ext cx="20116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542032"/>
            <a:ext cx="5029200" cy="1664208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2542032"/>
            <a:ext cx="50292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" y="2651760"/>
            <a:ext cx="4681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9A84C"/>
                </a:solidFill>
                <a:latin typeface="Calibri"/>
              </a:rPr>
              <a:t>WHO WE'RE PARTNERING WITH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3017520"/>
            <a:ext cx="468172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6B2"/>
                </a:solidFill>
                <a:latin typeface="Calibri"/>
              </a:rPr>
              <a:t>Fortune 1000 organizations and aligned investors. 90-day validation partnership. Direct founder access. First-mover positioning.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92240" y="2542032"/>
            <a:ext cx="5029200" cy="1664208"/>
          </a:xfrm>
          <a:prstGeom prst="rect">
            <a:avLst/>
          </a:prstGeom>
          <a:solidFill>
            <a:srgbClr val="0D14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92240" y="2542032"/>
            <a:ext cx="5029200" cy="45720"/>
          </a:xfrm>
          <a:prstGeom prst="rect">
            <a:avLst/>
          </a:prstGeom>
          <a:solidFill>
            <a:srgbClr val="2B8A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3408" y="2651760"/>
            <a:ext cx="4681728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B8A6E"/>
                </a:solidFill>
                <a:latin typeface="Calibri"/>
              </a:rPr>
              <a:t>NEXT STEP: EXECUTIVE SCENARIO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93408" y="3017520"/>
            <a:ext cx="4681728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096B2"/>
                </a:solidFill>
                <a:latin typeface="Calibri"/>
              </a:rPr>
              <a:t>We walk your specific trigger context through Readiness OS live — signal detection through 12-minute execution.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4407408"/>
            <a:ext cx="9994392" cy="530352"/>
          </a:xfrm>
          <a:prstGeom prst="rect">
            <a:avLst/>
          </a:prstGeom>
          <a:solidFill>
            <a:srgbClr val="0C10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80160" y="4498848"/>
            <a:ext cx="9628632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1">
                <a:solidFill>
                  <a:srgbClr val="C9A84C"/>
                </a:solidFill>
                <a:latin typeface="Georgia"/>
              </a:rPr>
              <a:t>"The response is ready before the trigger fires."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5175504"/>
            <a:ext cx="1127455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A7332"/>
                </a:solidFill>
                <a:latin typeface="Calibri"/>
              </a:rPr>
              <a:t>vaughnmartin.com  ·  founding@vaughnmartin.com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28816"/>
            <a:ext cx="12188952" cy="329184"/>
          </a:xfrm>
          <a:prstGeom prst="rect">
            <a:avLst/>
          </a:prstGeom>
          <a:solidFill>
            <a:srgbClr val="0A0F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0" y="6528816"/>
            <a:ext cx="12188952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74320" y="6592824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9096B2"/>
                </a:solidFill>
                <a:latin typeface="Calibri"/>
              </a:rPr>
              <a:t>Confidential — For Authorized Recipients Only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91672" y="6592824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 i="0">
                <a:solidFill>
                  <a:srgbClr val="9096B2"/>
                </a:solidFill>
                <a:latin typeface="Calibri"/>
              </a:rPr>
              <a:t>12  / 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