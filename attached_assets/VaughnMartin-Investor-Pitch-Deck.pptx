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49808"/>
            <a:ext cx="10332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Cormorant Garamond"/>
              </a:rPr>
              <a:t>When a strategic trigger fires in your organization—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64208"/>
            <a:ext cx="103327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C9A84C"/>
                </a:solidFill>
                <a:latin typeface="Cormorant Garamond"/>
              </a:rPr>
              <a:t>are you executing in 12 minutes or organizing from scratch?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33272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99A5BB"/>
                </a:solidFill>
                <a:latin typeface="Barlow Condensed"/>
              </a:rPr>
              <a:t>Signal advantage before execution advantage.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337560"/>
            <a:ext cx="3200400" cy="438912"/>
          </a:xfrm>
          <a:prstGeom prst="rect">
            <a:avLst/>
          </a:prstGeom>
          <a:solidFill>
            <a:srgbClr val="281C0A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98448" y="3439160"/>
            <a:ext cx="29809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Activist Investor · 91%</a:t>
            </a:r>
          </a:p>
        </p:txBody>
      </p:sp>
      <p:sp>
        <p:nvSpPr>
          <p:cNvPr id="8" name="Rectangle 7"/>
          <p:cNvSpPr/>
          <p:nvPr/>
        </p:nvSpPr>
        <p:spPr>
          <a:xfrm>
            <a:off x="4617720" y="3337560"/>
            <a:ext cx="3200400" cy="438912"/>
          </a:xfrm>
          <a:prstGeom prst="rect">
            <a:avLst/>
          </a:prstGeom>
          <a:solidFill>
            <a:srgbClr val="281C0A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27448" y="3439160"/>
            <a:ext cx="29809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Ransomware · 95%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3337560"/>
            <a:ext cx="3200400" cy="438912"/>
          </a:xfrm>
          <a:prstGeom prst="rect">
            <a:avLst/>
          </a:prstGeom>
          <a:solidFill>
            <a:srgbClr val="182250"/>
          </a:solidFill>
          <a:ln w="12700">
            <a:solidFill>
              <a:srgbClr val="333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56448" y="3439160"/>
            <a:ext cx="29809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9A5BB"/>
                </a:solidFill>
                <a:latin typeface="Barlow Condensed"/>
              </a:rPr>
              <a:t>Regulatory Inquiry · 87%</a:t>
            </a:r>
          </a:p>
        </p:txBody>
      </p:sp>
      <p:pic>
        <p:nvPicPr>
          <p:cNvPr id="12" name="Picture 11" descr="pptx_command_tow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4114800"/>
            <a:ext cx="8531352" cy="19202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828800" y="4114800"/>
            <a:ext cx="8531352" cy="1920240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28800" y="5742432"/>
            <a:ext cx="8531352" cy="292608"/>
          </a:xfrm>
          <a:prstGeom prst="rect">
            <a:avLst/>
          </a:prstGeom>
          <a:solidFill>
            <a:srgbClr val="08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20240" y="5805932"/>
            <a:ext cx="8348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Command Tower · Live production · 221 triggers armed · 20 active detections · 170 protocols ready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565392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  <a:latin typeface="Barlow Condensed"/>
              </a:rPr>
              <a:t>AI monitors continuously.  Executives authorize decisively.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 i="0">
                <a:solidFill>
                  <a:srgbClr val="C9A84C"/>
                </a:solidFill>
                <a:latin typeface="Cormorant Garamond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Barlow Condensed"/>
              </a:rPr>
              <a:t>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46120"/>
            <a:ext cx="347472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410712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9A5BB"/>
                </a:solidFill>
                <a:latin typeface="Barlow Condensed"/>
              </a:rPr>
              <a:t>Mobilization time before any execution begins.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6052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2E0"/>
                </a:solidFill>
                <a:latin typeface="Barlow Condensed"/>
              </a:rPr>
              <a:t>Coordination starts from zero at every trigger.
The window closes before execution begins.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5720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THIS IS WHAT A TRIGGER LOOKS LIKE — RIGHT NOW</a:t>
            </a:r>
          </a:p>
        </p:txBody>
      </p:sp>
      <p:pic>
        <p:nvPicPr>
          <p:cNvPr id="10" name="Picture 9" descr="pptx_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777240"/>
            <a:ext cx="7223760" cy="54864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572000" y="777240"/>
            <a:ext cx="7223760" cy="5486400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5971032"/>
            <a:ext cx="7223760" cy="292608"/>
          </a:xfrm>
          <a:prstGeom prst="rect">
            <a:avLst/>
          </a:prstGeom>
          <a:solidFill>
            <a:srgbClr val="08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6034532"/>
            <a:ext cx="7040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Live simulation · M&amp;A trigger · Risk 88/100 — HIGH · No response pre-staged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PROBLEM IS ALREADY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ormorant Garamond"/>
              </a:rPr>
              <a:t>One of these is forming in your portfolio right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645920"/>
            <a:ext cx="3703320" cy="2651760"/>
          </a:xfrm>
          <a:prstGeom prst="rect">
            <a:avLst/>
          </a:prstGeom>
          <a:solidFill>
            <a:srgbClr val="101842"/>
          </a:solidFill>
          <a:ln w="1270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0360" y="178308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2B8A6E"/>
                </a:solidFill>
                <a:latin typeface="Barlow Condensed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" y="1810512"/>
            <a:ext cx="2286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RISK &amp;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02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ormorant Garamond"/>
              </a:rPr>
              <a:t>Ransomware
Attack Confirmed</a:t>
            </a:r>
          </a:p>
        </p:txBody>
      </p:sp>
      <p:sp>
        <p:nvSpPr>
          <p:cNvPr id="9" name="Rectangle 8"/>
          <p:cNvSpPr/>
          <p:nvPr/>
        </p:nvSpPr>
        <p:spPr>
          <a:xfrm>
            <a:off x="576072" y="3218688"/>
            <a:ext cx="3383280" cy="635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72" y="3218688"/>
            <a:ext cx="3214116" cy="635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3474720"/>
            <a:ext cx="338328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8A6E"/>
                </a:solidFill>
                <a:latin typeface="Barlow Condensed"/>
              </a:rPr>
              <a:t>● Signal Detected · 248 data points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645920"/>
            <a:ext cx="3703320" cy="2651760"/>
          </a:xfrm>
          <a:prstGeom prst="rect">
            <a:avLst/>
          </a:prstGeom>
          <a:solidFill>
            <a:srgbClr val="101842"/>
          </a:solidFill>
          <a:ln w="1270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178308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C9A84C"/>
                </a:solidFill>
                <a:latin typeface="Barlow Condensed"/>
              </a:rPr>
              <a:t>91%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1810512"/>
            <a:ext cx="2286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GROWTH &amp; POSITIONING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2402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ormorant Garamond"/>
              </a:rPr>
              <a:t>Activist Investor
Pressure Rising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07992" y="3218688"/>
            <a:ext cx="3383280" cy="635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07992" y="3218688"/>
            <a:ext cx="3078784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7992" y="3474720"/>
            <a:ext cx="338328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8A6E"/>
                </a:solidFill>
                <a:latin typeface="Barlow Condensed"/>
              </a:rPr>
              <a:t>● Signal Detected · Live Monitoring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19" y="1645920"/>
            <a:ext cx="3703320" cy="2651760"/>
          </a:xfrm>
          <a:prstGeom prst="rect">
            <a:avLst/>
          </a:prstGeom>
          <a:solidFill>
            <a:srgbClr val="101842"/>
          </a:solidFill>
          <a:ln w="1270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44199" y="178308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2B8A6E"/>
                </a:solidFill>
                <a:latin typeface="Barlow Condensed"/>
              </a:rPr>
              <a:t>87%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1" y="1810512"/>
            <a:ext cx="2286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RISK &amp; RESILIENCE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1" y="22402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ormorant Garamond"/>
              </a:rPr>
              <a:t>Regulatory Inquiry
Opened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39911" y="3218688"/>
            <a:ext cx="3383280" cy="635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39911" y="3218688"/>
            <a:ext cx="2943453" cy="635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1" y="3474720"/>
            <a:ext cx="338328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8A6E"/>
                </a:solidFill>
                <a:latin typeface="Barlow Condensed"/>
              </a:rPr>
              <a:t>● Signal Detected · Threshold Forming</a:t>
            </a:r>
          </a:p>
        </p:txBody>
      </p:sp>
      <p:pic>
        <p:nvPicPr>
          <p:cNvPr id="26" name="Picture 25" descr="deck_sign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434840"/>
            <a:ext cx="11457432" cy="210312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365760" y="4434840"/>
            <a:ext cx="11457432" cy="2103120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6245352"/>
            <a:ext cx="11457432" cy="292608"/>
          </a:xfrm>
          <a:prstGeom prst="rect">
            <a:avLst/>
          </a:prstGeom>
          <a:solidFill>
            <a:srgbClr val="08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308852"/>
            <a:ext cx="112745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Signal Intelligence feed · vaughnmartin.com · Live detections · production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0"/>
            <a:ext cx="5486400" cy="3474720"/>
          </a:xfrm>
          <a:prstGeom prst="rect">
            <a:avLst/>
          </a:prstGeom>
          <a:solidFill>
            <a:srgbClr val="101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49808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ormorant Garamond"/>
              </a:rPr>
              <a:t>The response is 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55648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C9A84C"/>
                </a:solidFill>
                <a:latin typeface="Cormorant Garamond"/>
              </a:rPr>
              <a:t>before the trigger fires.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16352"/>
            <a:ext cx="1033272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99A5BB"/>
                </a:solidFill>
                <a:latin typeface="Barlow Condensed"/>
              </a:rPr>
              <a:t>Preparation  →  Readiness  →  Fearless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429000"/>
            <a:ext cx="356616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C9A84C"/>
                </a:solidFill>
                <a:latin typeface="Cormorant Garamond"/>
              </a:rPr>
              <a:t>170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617720"/>
            <a:ext cx="356616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Readiness Protocols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3429000"/>
            <a:ext cx="356616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356616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C9A84C"/>
                </a:solidFill>
                <a:latin typeface="Cormorant Garamond"/>
              </a:rPr>
              <a:t>221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4617720"/>
            <a:ext cx="356616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Strategic Triggers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3429000"/>
            <a:ext cx="356616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356616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C9A84C"/>
                </a:solidFill>
                <a:latin typeface="Cormorant Garamond"/>
              </a:rPr>
              <a:t>12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617720"/>
            <a:ext cx="356616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Full Execution Cycle</a:t>
            </a:r>
          </a:p>
        </p:txBody>
      </p:sp>
      <p:pic>
        <p:nvPicPr>
          <p:cNvPr id="16" name="Picture 15" descr="pptx_how_execu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5102352"/>
            <a:ext cx="6702552" cy="14173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2743200" y="5102352"/>
            <a:ext cx="6702552" cy="1417320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0" y="6227064"/>
            <a:ext cx="6702552" cy="292608"/>
          </a:xfrm>
          <a:prstGeom prst="rect">
            <a:avLst/>
          </a:prstGeom>
          <a:solidFill>
            <a:srgbClr val="08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4640" y="6290564"/>
            <a:ext cx="6519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vaughnmartin.com/how-it-executes · Live animated 12-minute execution chain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760720" cy="6858000"/>
          </a:xfrm>
          <a:prstGeom prst="rect">
            <a:avLst/>
          </a:prstGeom>
          <a:solidFill>
            <a:srgbClr val="0E1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5029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5050"/>
                </a:solidFill>
                <a:latin typeface="Barlow Condensed"/>
              </a:rPr>
              <a:t>Old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99A5BB"/>
                </a:solidFill>
                <a:latin typeface="Cormorant Garamond"/>
              </a:rPr>
              <a:t>"Bolted AI onto the old model"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74519"/>
            <a:ext cx="41148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5050"/>
                </a:solidFill>
                <a:latin typeface="Barlow Condensed"/>
              </a:rPr>
              <a:t>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466344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9A5BB"/>
                </a:solidFill>
                <a:latin typeface="Barlow Condensed"/>
              </a:rPr>
              <a:t>Faster notes from the same slow meetings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880359"/>
            <a:ext cx="41148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5050"/>
                </a:solidFill>
                <a:latin typeface="Barlow Condensed"/>
              </a:rPr>
              <a:t>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80359"/>
            <a:ext cx="466344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9A5BB"/>
                </a:solidFill>
                <a:latin typeface="Barlow Condensed"/>
              </a:rPr>
              <a:t>No readiness architecture before triggers fire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886199"/>
            <a:ext cx="41148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5050"/>
                </a:solidFill>
                <a:latin typeface="Barlow Condensed"/>
              </a:rPr>
              <a:t>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886199"/>
            <a:ext cx="466344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9A5BB"/>
                </a:solidFill>
                <a:latin typeface="Barlow Condensed"/>
              </a:rPr>
              <a:t>Authority unclear when pressure arrives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50292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VAUGHNMARTIN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868680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Cormorant Garamond"/>
              </a:rPr>
              <a:t>"Rebuilt the operating model from first principles"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1874519"/>
            <a:ext cx="41148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B8A6E"/>
                </a:solidFill>
                <a:latin typeface="Barlow Condensed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74519"/>
            <a:ext cx="539496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Barlow Condensed"/>
              </a:rPr>
              <a:t>Response pre-staged before trigger fires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880359"/>
            <a:ext cx="41148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B8A6E"/>
                </a:solidFill>
                <a:latin typeface="Barlow Condensed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880359"/>
            <a:ext cx="539496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Barlow Condensed"/>
              </a:rPr>
              <a:t>AI monitors. Executives authorize. Teams execute.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3886199"/>
            <a:ext cx="41148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B8A6E"/>
                </a:solidFill>
                <a:latin typeface="Barlow Condense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886199"/>
            <a:ext cx="539496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Barlow Condensed"/>
              </a:rPr>
              <a:t>Governance and auditability built into execution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97880" y="320040"/>
            <a:ext cx="19050" cy="640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FROM DETECTION TO AUTHORIZED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Cormorant Garamond"/>
              </a:rPr>
              <a:t>Signal detected → Protocol activates → Executive authorizes → 12 minutes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481328"/>
            <a:ext cx="1463040" cy="1463040"/>
          </a:xfrm>
          <a:prstGeom prst="ellipse">
            <a:avLst/>
          </a:prstGeom>
          <a:solidFill>
            <a:srgbClr val="151F52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938528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SIG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990088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Barlow Condensed"/>
              </a:rPr>
              <a:t>Signal
Detected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1984248" y="2185416"/>
            <a:ext cx="4846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487168" y="1481328"/>
            <a:ext cx="1463040" cy="1463040"/>
          </a:xfrm>
          <a:prstGeom prst="ellipse">
            <a:avLst/>
          </a:prstGeom>
          <a:solidFill>
            <a:srgbClr val="151F52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87168" y="1938528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SCR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7168" y="2990088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Barlow Condensed"/>
              </a:rPr>
              <a:t>Scored &amp;
Classified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8496" y="2185416"/>
            <a:ext cx="4846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71416" y="1481328"/>
            <a:ext cx="1463040" cy="1463040"/>
          </a:xfrm>
          <a:prstGeom prst="ellipse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1416" y="1938528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A0F2E"/>
                </a:solidFill>
                <a:latin typeface="Barlow Condensed"/>
              </a:rPr>
              <a:t>PRO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1416" y="2990088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Barlow Condensed"/>
              </a:rPr>
              <a:t>Protocol
Activates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52744" y="2185416"/>
            <a:ext cx="4846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55664" y="1481328"/>
            <a:ext cx="1463040" cy="1463040"/>
          </a:xfrm>
          <a:prstGeom prst="ellipse">
            <a:avLst/>
          </a:prstGeom>
          <a:solidFill>
            <a:srgbClr val="151F52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1938528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STK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990088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Barlow Condensed"/>
              </a:rPr>
              <a:t>Stakeholders
Notified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36992" y="2185416"/>
            <a:ext cx="4846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39912" y="1481328"/>
            <a:ext cx="1463040" cy="1463040"/>
          </a:xfrm>
          <a:prstGeom prst="ellipse">
            <a:avLst/>
          </a:prstGeom>
          <a:solidFill>
            <a:srgbClr val="151F52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39912" y="1938528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AUTH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9912" y="2990088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Barlow Condensed"/>
              </a:rPr>
              <a:t>Executive
Authorizes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21240" y="2185416"/>
            <a:ext cx="4846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24160" y="1481328"/>
            <a:ext cx="1463040" cy="1463040"/>
          </a:xfrm>
          <a:prstGeom prst="ellipse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24160" y="1938528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A0F2E"/>
                </a:solidFill>
                <a:latin typeface="Barlow Condensed"/>
              </a:rPr>
              <a:t>EXE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2990088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Barlow Condensed"/>
              </a:rPr>
              <a:t>Execution
Begins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182112"/>
            <a:ext cx="5943600" cy="457200"/>
          </a:xfrm>
          <a:prstGeom prst="rect">
            <a:avLst/>
          </a:prstGeom>
          <a:solidFill>
            <a:srgbClr val="15281C"/>
          </a:solidFill>
          <a:ln w="1270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227832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B8A6E"/>
                </a:solidFill>
                <a:latin typeface="Barlow Condensed"/>
              </a:rPr>
              <a:t>✓  Complete in 12 minutes — 30 days compressed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3246120"/>
            <a:ext cx="5212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9A5BB"/>
                </a:solidFill>
                <a:latin typeface="Barlow Condensed"/>
              </a:rPr>
              <a:t>The alternative: 30 days of mobilization before any execution begins</a:t>
            </a:r>
          </a:p>
        </p:txBody>
      </p:sp>
      <p:pic>
        <p:nvPicPr>
          <p:cNvPr id="31" name="Picture 30" descr="pitch_buil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767328"/>
            <a:ext cx="11457432" cy="2724912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365760" y="3767328"/>
            <a:ext cx="11457432" cy="2724912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6199632"/>
            <a:ext cx="11457432" cy="292608"/>
          </a:xfrm>
          <a:prstGeom prst="rect">
            <a:avLst/>
          </a:prstGeom>
          <a:solidFill>
            <a:srgbClr val="08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263132"/>
            <a:ext cx="112745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Protocol Builder · Pre-staged execution architecture · Live in production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ormorant Garamond"/>
              </a:rPr>
              <a:t>Readiness is not overhead. It is value protection.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74519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159000"/>
            <a:ext cx="164592" cy="1645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0574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9A84C"/>
                </a:solidFill>
                <a:latin typeface="Barlow Condensed"/>
              </a:rPr>
              <a:t>Founding Partner: $75K / 90-day validation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74568"/>
            <a:ext cx="164592" cy="16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172968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Barlow Condensed"/>
              </a:rPr>
              <a:t>Growth tiers: $75K–$250K annually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390136"/>
            <a:ext cx="164592" cy="16459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288536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B8A6E"/>
                </a:solidFill>
                <a:latin typeface="Barlow Condensed"/>
              </a:rPr>
              <a:t>If one strategic window is preserved, readiness can pay for itself quickly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468112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5596128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1">
                <a:solidFill>
                  <a:srgbClr val="C9A84C"/>
                </a:solidFill>
                <a:latin typeface="Barlow Condensed"/>
              </a:rPr>
              <a:t>The cost of delay is usually higher than the cost of readiness.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BUILT. LIVE. IN PRODUCTION.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ormorant Garamond"/>
              </a:rPr>
              <a:t>Not a roadmap — operating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81328"/>
            <a:ext cx="2834640" cy="1051560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27048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Cormorant Garamond"/>
              </a:rPr>
              <a:t>170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03120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Protocols</a:t>
            </a:r>
          </a:p>
        </p:txBody>
      </p:sp>
      <p:sp>
        <p:nvSpPr>
          <p:cNvPr id="8" name="Rectangle 7"/>
          <p:cNvSpPr/>
          <p:nvPr/>
        </p:nvSpPr>
        <p:spPr>
          <a:xfrm>
            <a:off x="3328416" y="1481328"/>
            <a:ext cx="2834640" cy="1051560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28416" y="1527048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Cormorant Garamond"/>
              </a:rPr>
              <a:t>221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28416" y="2103120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Triggers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1072" y="1481328"/>
            <a:ext cx="2834640" cy="1051560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1072" y="1527048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B8A6E"/>
                </a:solidFill>
                <a:latin typeface="Cormorant Garamond"/>
              </a:rPr>
              <a:t>248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91072" y="2103120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Data Points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53728" y="1481328"/>
            <a:ext cx="2834640" cy="1051560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53728" y="1527048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Cormorant Garamond"/>
              </a:rPr>
              <a:t>15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3728" y="2103120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Refresh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2715768"/>
            <a:ext cx="6035040" cy="365760"/>
          </a:xfrm>
          <a:prstGeom prst="rect">
            <a:avLst/>
          </a:prstGeom>
          <a:solidFill>
            <a:srgbClr val="12221C"/>
          </a:solidFill>
          <a:ln w="1270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0" y="2761488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B8A6E"/>
                </a:solidFill>
                <a:latin typeface="Barlow Condensed"/>
              </a:rPr>
              <a:t>●  Signal Detection Active · Updated Every 15 Minutes · vaughnmartin.com</a:t>
            </a:r>
          </a:p>
        </p:txBody>
      </p:sp>
      <p:pic>
        <p:nvPicPr>
          <p:cNvPr id="19" name="Picture 18" descr="deck_sign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3246120"/>
            <a:ext cx="11548872" cy="327355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320040" y="3246120"/>
            <a:ext cx="11548872" cy="3273552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6227064"/>
            <a:ext cx="11548872" cy="292608"/>
          </a:xfrm>
          <a:prstGeom prst="rect">
            <a:avLst/>
          </a:prstGeom>
          <a:solidFill>
            <a:srgbClr val="08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290564"/>
            <a:ext cx="11365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Signal Intelligence feed · Live detections · vaughnmartin.com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PROOF OF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ormorant Garamond"/>
              </a:rPr>
              <a:t>From Signal to Authorized Execution in 12 Minutes</a:t>
            </a:r>
          </a:p>
        </p:txBody>
      </p:sp>
      <p:pic>
        <p:nvPicPr>
          <p:cNvPr id="5" name="Picture 4" descr="deck_sign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89888"/>
            <a:ext cx="5733288" cy="37307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20040" y="1389888"/>
            <a:ext cx="5733288" cy="3730752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4828032"/>
            <a:ext cx="5733288" cy="292608"/>
          </a:xfrm>
          <a:prstGeom prst="rect">
            <a:avLst/>
          </a:prstGeom>
          <a:solidFill>
            <a:srgbClr val="08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4891532"/>
            <a:ext cx="55504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Live trigger detected with confidence scoring.</a:t>
            </a:r>
          </a:p>
        </p:txBody>
      </p:sp>
      <p:pic>
        <p:nvPicPr>
          <p:cNvPr id="9" name="Picture 8" descr="pptx_how_execut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1389888"/>
            <a:ext cx="5733288" cy="373075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35624" y="1389888"/>
            <a:ext cx="5733288" cy="3730752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35624" y="4828032"/>
            <a:ext cx="5733288" cy="292608"/>
          </a:xfrm>
          <a:prstGeom prst="rect">
            <a:avLst/>
          </a:prstGeom>
          <a:solidFill>
            <a:srgbClr val="08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27064" y="4891532"/>
            <a:ext cx="55504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Pre-staged protocol, stakeholders, authority, and tasks ready before pressure.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5276088"/>
            <a:ext cx="12188952" cy="804672"/>
          </a:xfrm>
          <a:prstGeom prst="rect">
            <a:avLst/>
          </a:prstGeom>
          <a:solidFill>
            <a:srgbClr val="08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5349240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  <a:latin typeface="Barlow Condensed"/>
              </a:rPr>
              <a:t>AI monitors.   Executives authorize.   Teams execute.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53912"/>
            <a:ext cx="112745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170 protocols  ·  221 triggers  ·  248 data points  ·  refreshed every 15 minutes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C66"/>
                </a:solidFill>
                <a:latin typeface="Barlow Condensed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F2E"/>
                </a:solidFill>
                <a:latin typeface="Cormorant Garamond"/>
              </a:rPr>
              <a:t>AI capability is accelerating faster than enterprise readiness.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74519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131568"/>
            <a:ext cx="146304" cy="1463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029968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2348"/>
                </a:solidFill>
                <a:latin typeface="Barlow Condensed"/>
              </a:rPr>
              <a:t>Organizations can detect more than ever, but still mobilize too slowly.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83128"/>
            <a:ext cx="146304" cy="1463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081528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2348"/>
                </a:solidFill>
                <a:latin typeface="Barlow Condensed"/>
              </a:rPr>
              <a:t>Governance and execution readiness are now the competitive bottleneck.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234688"/>
            <a:ext cx="146304" cy="1463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133088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2348"/>
                </a:solidFill>
                <a:latin typeface="Barlow Condensed"/>
              </a:rPr>
              <a:t>The winners will be companies that pair AI sensing with governed execution speed.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285232"/>
            <a:ext cx="11274552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9A5BB"/>
                </a:solidFill>
                <a:latin typeface="Barlow Condensed"/>
              </a:rPr>
              <a:t>Sources: Stanford HAI AI Index 2026  ·  Gartner Autonomous Business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6858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ormorant Garamond"/>
              </a:rPr>
              <a:t>Twelve founding partners. One defining cohort.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99A5BB"/>
                </a:solidFill>
                <a:latin typeface="Barlow Condensed"/>
              </a:rPr>
              <a:t>Partners who want readiness as competitive advantage.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578608"/>
            <a:ext cx="11457432" cy="822960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731008"/>
            <a:ext cx="219456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718308"/>
            <a:ext cx="886968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Barlow Condensed"/>
              </a:rPr>
              <a:t>Founding Partner  ·  90-Day Validation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465576"/>
            <a:ext cx="11457432" cy="822960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617976"/>
            <a:ext cx="219456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COMMERCIAL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605276"/>
            <a:ext cx="886968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Barlow Condensed"/>
              </a:rPr>
              <a:t>$75K / 90 days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352544"/>
            <a:ext cx="11457432" cy="822960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504944"/>
            <a:ext cx="219456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COHORT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4492244"/>
            <a:ext cx="886968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Barlow Condensed"/>
              </a:rPr>
              <a:t>12 startup to Fortune 500 organizations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5239512"/>
            <a:ext cx="11457432" cy="822960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391912"/>
            <a:ext cx="219456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RAISE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5379212"/>
            <a:ext cx="886968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9A5BB"/>
                </a:solidFill>
                <a:latin typeface="Barlow Condensed"/>
              </a:rPr>
              <a:t>Open strategic raise  ·  active conversations underway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A84C"/>
                </a:solidFill>
                <a:latin typeface="Barlow Condensed"/>
              </a:rPr>
              <a:t>THREE LINES. THAT'S THE PITCH.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24128"/>
            <a:ext cx="10908792" cy="1444752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50800" cy="14447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01928"/>
            <a:ext cx="164592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4241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9A84C"/>
                </a:solidFill>
                <a:latin typeface="Barlow Condensed"/>
              </a:rPr>
              <a:t>Enterprises detect more signals, but still mobilize too slowly.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24328"/>
            <a:ext cx="10908792" cy="1444752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624328"/>
            <a:ext cx="50800" cy="14447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802128"/>
            <a:ext cx="164592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63240"/>
            <a:ext cx="104241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9A84C"/>
                </a:solidFill>
                <a:latin typeface="Barlow Condensed"/>
              </a:rPr>
              <a:t>VaughnMartin pre-stages response so executives authorize in minutes.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224528"/>
            <a:ext cx="10908792" cy="1444752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224528"/>
            <a:ext cx="50800" cy="144475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402328"/>
            <a:ext cx="164592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OUTCOME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663440"/>
            <a:ext cx="104241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FFFFFF"/>
                </a:solidFill>
                <a:latin typeface="Barlow Condensed"/>
              </a:rPr>
              <a:t>Earlier detection + faster execution protects value before the window closes.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45920" y="5806440"/>
            <a:ext cx="8897112" cy="621792"/>
          </a:xfrm>
          <a:prstGeom prst="rect">
            <a:avLst/>
          </a:prstGeom>
          <a:solidFill>
            <a:srgbClr val="0A0F2E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37360" y="5888736"/>
            <a:ext cx="87142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  <a:latin typeface="Barlow Condensed"/>
              </a:rPr>
              <a:t>Apply for Founding Partner Access  ·  vaughnmartin.com/founding-partner-program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