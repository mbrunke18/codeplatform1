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ormorant Garamond"/>
              </a:rPr>
              <a:t>When a strategic trigger fires—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9A84C"/>
                </a:solidFill>
                <a:latin typeface="Cormorant Garamond"/>
              </a:rPr>
              <a:t>how long does it take to mobilize a coordinated response?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200400"/>
            <a:ext cx="3200400" cy="457200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314700"/>
            <a:ext cx="29809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Activist Investor · 91%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3200400"/>
            <a:ext cx="3200400" cy="457200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3314700"/>
            <a:ext cx="29809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Ransomware · 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3200400"/>
            <a:ext cx="3200400" cy="457200"/>
          </a:xfrm>
          <a:prstGeom prst="rect">
            <a:avLst/>
          </a:prstGeom>
          <a:solidFill>
            <a:srgbClr val="182250"/>
          </a:solidFill>
          <a:ln w="12700">
            <a:solidFill>
              <a:srgbClr val="333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3314700"/>
            <a:ext cx="29809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9A5BB"/>
                </a:solidFill>
                <a:latin typeface="Barlow Condensed"/>
              </a:rPr>
              <a:t>Regulatory Inquiry · 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1033272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9A5BB"/>
                </a:solidFill>
                <a:latin typeface="Barlow"/>
              </a:rPr>
              <a:t>These are live signal detections. Production. Right now.</a:t>
            </a:r>
          </a:p>
        </p:txBody>
      </p:sp>
      <p:pic>
        <p:nvPicPr>
          <p:cNvPr id="12" name="Picture 11" descr="pptx_command_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572000"/>
            <a:ext cx="8531352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828800" y="4572000"/>
            <a:ext cx="8531352" cy="192024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6172200"/>
            <a:ext cx="853135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8528" y="6248400"/>
            <a:ext cx="8311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COMMAND TOWER · LIVE PRODUCTION · 221 TRIGGERS ARMED · 20 ACTIVE DETECTIONS · 170 PROTOCOLS 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C9A84C"/>
                </a:solidFill>
                <a:latin typeface="Cormorant Garamond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34747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410712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Barlow"/>
              </a:rPr>
              <a:t>Average mobilization time before
any execution begins.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2E0"/>
                </a:solidFill>
                <a:latin typeface="Barlow"/>
              </a:rPr>
              <a:t>That's not execution time.
That's just figuring out who's in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THIS IS WHAT A TRIGGER LOOKS LIKE — RIGHT NOW</a:t>
            </a:r>
          </a:p>
        </p:txBody>
      </p:sp>
      <p:pic>
        <p:nvPicPr>
          <p:cNvPr id="10" name="Picture 9" descr="pptx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777240"/>
            <a:ext cx="7223760" cy="5486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0" y="777240"/>
            <a:ext cx="7223760" cy="548640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5943600"/>
            <a:ext cx="7223760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6019800"/>
            <a:ext cx="7004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SIMULATION · M&amp;A TRIGGER · RISK 88/100 — HIGH · NO RESPONSE PRE-STAGED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ormorant Garamond"/>
              </a:rPr>
              <a:t>One of these is forming in your portfolio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ormorant Garamond"/>
              </a:rPr>
              <a:t>Ransomware
Attack Confirmed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" y="3218688"/>
            <a:ext cx="3214116" cy="635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ormorant Garamond"/>
              </a:rPr>
              <a:t>Activist Investor
Pressure Rising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7992" y="3218688"/>
            <a:ext cx="3078784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Live Monitoring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19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44199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87%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ormorant Garamond"/>
              </a:rPr>
              <a:t>Regulatory Inquiry
Opened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9911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39911" y="3218688"/>
            <a:ext cx="2943453" cy="635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1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"/>
              </a:rPr>
              <a:t>● Signal Detected · Threshold Forming</a:t>
            </a:r>
          </a:p>
        </p:txBody>
      </p:sp>
      <p:pic>
        <p:nvPicPr>
          <p:cNvPr id="26" name="Picture 25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434840"/>
            <a:ext cx="11457432" cy="210312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65760" y="4434840"/>
            <a:ext cx="11457432" cy="21031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6217920"/>
            <a:ext cx="1145743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6294120"/>
            <a:ext cx="11237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FEED · VAUGHNMARTIN.COM · LIVE DETECTIONS ·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486400" cy="3474720"/>
          </a:xfrm>
          <a:prstGeom prst="rect">
            <a:avLst/>
          </a:prstGeom>
          <a:solidFill>
            <a:srgbClr val="101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ormorant Garamond"/>
              </a:rPr>
              <a:t>The response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9A84C"/>
                </a:solidFill>
                <a:latin typeface="Cormorant Garamond"/>
              </a:rPr>
              <a:t>before the trigger fires.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327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9A5BB"/>
                </a:solidFill>
                <a:latin typeface="Barlow"/>
              </a:rPr>
              <a:t>Preparation  →  Readiness  →  Fearless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"/>
              </a:rPr>
              <a:t>Readiness Protocols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"/>
              </a:rPr>
              <a:t>Strategic Triggers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ormorant Garamond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"/>
              </a:rPr>
              <a:t>Full Execution Cycle</a:t>
            </a:r>
          </a:p>
        </p:txBody>
      </p:sp>
      <p:pic>
        <p:nvPicPr>
          <p:cNvPr id="16" name="Picture 15" descr="pptx_how_exec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120640"/>
            <a:ext cx="6702552" cy="14173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743200" y="5120640"/>
            <a:ext cx="6702552" cy="14173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6217920"/>
            <a:ext cx="670255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2928" y="6294120"/>
            <a:ext cx="64830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VAUGHNMARTIN.COM/HOW-IT-EXECUTES · LIVE ANIMATED EXECUTION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E1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5029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5050"/>
                </a:solidFill>
                <a:latin typeface="Barlow Condensed"/>
              </a:rPr>
              <a:t>Every Other Vendor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A5BB"/>
                </a:solidFill>
                <a:latin typeface="Cormorant Garamond"/>
              </a:rPr>
              <a:t>"Bolted AI onto the old model"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Faster summaries from the same slow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8892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Smarter notes. Same 30-day mobilization 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5760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AI tools. No operating model change.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52628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26280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"/>
              </a:rPr>
              <a:t>Competes with Copilot. We don't.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029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868680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ormorant Garamond"/>
              </a:rPr>
              <a:t>"Rebuilt the operating model from first principles"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92024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Pre-staged before any trigger fires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8892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Proprietary IDEA Framework — 3 years to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65760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Orchestrates the Microsoft stack — doesn't replace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526280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Competes with the 40-year-old meeting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365760"/>
            <a:ext cx="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7880" y="320040"/>
            <a:ext cx="19050" cy="640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HOW IT EXECUTES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ormorant Garamond"/>
              </a:rPr>
              <a:t>Signal detected → Protocol activates → Executive authorizes → 12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08760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Signal
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4248" y="2212848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87168" y="1508760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Scored &amp;
Classified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8496" y="2212848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71416" y="1508760"/>
            <a:ext cx="1463040" cy="146304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Protocol
Activates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52744" y="2212848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1508760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STK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Stakeholders
Notified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2212848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39912" y="1508760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2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Executive
Authorizes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2212848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24160" y="1508760"/>
            <a:ext cx="1463040" cy="146304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60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EXE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"/>
              </a:rPr>
              <a:t>Execution
Begins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200400"/>
            <a:ext cx="5943600" cy="475488"/>
          </a:xfrm>
          <a:prstGeom prst="rect">
            <a:avLst/>
          </a:prstGeom>
          <a:solidFill>
            <a:srgbClr val="15281C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24612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6E"/>
                </a:solidFill>
                <a:latin typeface="Barlow"/>
              </a:rPr>
              <a:t>✓  Complete in 12 minutes — 30 days compressed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264408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"/>
              </a:rPr>
              <a:t>The alternative: 30 days of mobilization before any execution begins</a:t>
            </a:r>
          </a:p>
        </p:txBody>
      </p:sp>
      <p:pic>
        <p:nvPicPr>
          <p:cNvPr id="31" name="Picture 30" descr="pptx_how_exec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94760"/>
            <a:ext cx="11457432" cy="26974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365760" y="3794760"/>
            <a:ext cx="11457432" cy="269748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172200"/>
            <a:ext cx="1145743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6248400"/>
            <a:ext cx="11237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VAUGHNMARTIN.COM/HOW-IT-EXECUTES · LIVE ANIMATED EXECUTION CHAIN · SHOWING 12-MINUTE SEQUENCE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RETURN 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Cormorant Garamond"/>
              </a:rPr>
              <a:t>3,600×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1680"/>
            <a:ext cx="42062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Execution Head Start vs. Old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146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ormorant Garamond"/>
              </a:rPr>
              <a:t>$120K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46120"/>
            <a:ext cx="4206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Platform Cost · Annual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30168"/>
            <a:ext cx="42062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749039"/>
            <a:ext cx="42062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Replaces $400K–$800K consulting retainer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14800"/>
            <a:ext cx="42062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"/>
              </a:rPr>
              <a:t>Break-even before the 2nd activation.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480560"/>
            <a:ext cx="42062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"/>
              </a:rPr>
              <a:t>The budget line already exists.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956048"/>
            <a:ext cx="42062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07492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9A5BB"/>
                </a:solidFill>
                <a:latin typeface="Barlow"/>
              </a:rPr>
              <a:t>"We're replacing a line item every Fortune 1000 already pays."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AT VAUGHNMARTIN.COM/ROI-CALCULATOR</a:t>
            </a:r>
          </a:p>
        </p:txBody>
      </p:sp>
      <p:pic>
        <p:nvPicPr>
          <p:cNvPr id="15" name="Picture 14" descr="pptx_ro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749808"/>
            <a:ext cx="7068312" cy="574243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4880" y="749808"/>
            <a:ext cx="7068312" cy="574243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0" y="6172200"/>
            <a:ext cx="706831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6248400"/>
            <a:ext cx="6848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ROI CALCULATOR · ESTIMATES $61.3M+ ANNUAL VALUE · 3,600× EXECUTION HEAD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IN PRODUCTION. RIGHT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ormorant Garamond"/>
              </a:rPr>
              <a:t>The system is live — not a demo, not a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28346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"/>
              </a:rPr>
              <a:t>Readiness Protocols Pre-Staged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508760"/>
            <a:ext cx="28346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554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9856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"/>
              </a:rPr>
              <a:t>Strategic Triggers Mapped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508760"/>
            <a:ext cx="28346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554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Cormorant Garamond"/>
              </a:rPr>
              <a:t>248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"/>
              </a:rPr>
              <a:t>Data Points Every 15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53728" y="1508760"/>
            <a:ext cx="28346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45168" y="1554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"/>
              </a:rPr>
              <a:t>Compound Protocols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743200"/>
            <a:ext cx="6035040" cy="384048"/>
          </a:xfrm>
          <a:prstGeom prst="rect">
            <a:avLst/>
          </a:prstGeom>
          <a:solidFill>
            <a:srgbClr val="12221C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7889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B8A6E"/>
                </a:solidFill>
                <a:latin typeface="Barlow"/>
              </a:rPr>
              <a:t>●  Signal Detection Active · Updated Every 15 Minutes · vaughnmartin.com</a:t>
            </a:r>
          </a:p>
        </p:txBody>
      </p:sp>
      <p:pic>
        <p:nvPicPr>
          <p:cNvPr id="19" name="Picture 18" descr="pptx_command_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73552"/>
            <a:ext cx="5669280" cy="324612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20040" y="3273552"/>
            <a:ext cx="5669280" cy="32461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6199632"/>
            <a:ext cx="5669280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6275832"/>
            <a:ext cx="5449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COMMAND TOWER · 221 TRIGGERS ARMED · 20 ACTIVE DETECTIONS · 170 PROTOCOLS READY</a:t>
            </a:r>
          </a:p>
        </p:txBody>
      </p:sp>
      <p:pic>
        <p:nvPicPr>
          <p:cNvPr id="23" name="Picture 22" descr="pptx_protoco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3273552"/>
            <a:ext cx="5669280" cy="32461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99632" y="3273552"/>
            <a:ext cx="5669280" cy="32461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6199632"/>
            <a:ext cx="5669280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6275832"/>
            <a:ext cx="5449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READINESS PROTOCOL LIBRARY · 170 PROTOCOLS · EVERY STRATEGIC SCENARIO COVERED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731520"/>
            <a:ext cx="50800" cy="32918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MARKET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ormorant Garamond"/>
              </a:rPr>
              <a:t>Preparation
infrastructure
does not exist yet.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03320"/>
            <a:ext cx="43891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58768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0EDE4"/>
                </a:solidFill>
                <a:latin typeface="Barlow"/>
              </a:rPr>
              <a:t>That's not a problem.
That's the entire opportunity.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"/>
              </a:rPr>
              <a:t>Every Fortune 1000 has Microsoft's AI stack.
None have the operating model to use it at trigger speed.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2C44"/>
                </a:solidFill>
                <a:latin typeface="Barlow Condensed"/>
              </a:rPr>
              <a:t>WHY NOW · WHY VAUGHNMARTIN</a:t>
            </a:r>
          </a:p>
        </p:txBody>
      </p:sp>
      <p:pic>
        <p:nvPicPr>
          <p:cNvPr id="11" name="Picture 10" descr="pptx_protoco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749808"/>
            <a:ext cx="6245352" cy="574243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577840" y="749808"/>
            <a:ext cx="6245352" cy="574243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77840" y="6172200"/>
            <a:ext cx="6245352" cy="32004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87568" y="6248400"/>
            <a:ext cx="6025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170 READINESS PROTOCOLS · A PRE-STAGED RESPONSE FOR EVERY STRATEGIC SCENARIO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FOUNDING PARTNER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ormorant Garamond"/>
              </a:rPr>
              <a:t>Twelve
organizations.
One first cohort.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822191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99A5BB"/>
                </a:solidFill>
                <a:latin typeface="Barlow"/>
              </a:rPr>
              <a:t>We're not looking for customers.
We're selecting partners who will
define the category with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749808"/>
            <a:ext cx="60350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851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080008"/>
            <a:ext cx="566928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Barlow"/>
              </a:rPr>
              <a:t>Founding Partner Program · 90-Day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29968"/>
            <a:ext cx="6035040" cy="114300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13156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360168"/>
            <a:ext cx="566928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"/>
              </a:rPr>
              <a:t>12 Organizations · Fortune 1000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310128"/>
            <a:ext cx="6035040" cy="114300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41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USE OF FUNDS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640328"/>
            <a:ext cx="566928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Barlow"/>
              </a:rPr>
              <a:t>Protocol Expansion · Sales Infrastructure · Category Establishment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4590288"/>
            <a:ext cx="6035040" cy="1143000"/>
          </a:xfrm>
          <a:prstGeom prst="rect">
            <a:avLst/>
          </a:prstGeom>
          <a:solidFill>
            <a:srgbClr val="0E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46918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WHY THIS 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920488"/>
            <a:ext cx="566928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"/>
              </a:rPr>
              <a:t>Investors who see the category before the category exists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029200" cy="3200400"/>
          </a:xfrm>
          <a:prstGeom prst="rect">
            <a:avLst/>
          </a:prstGeom>
          <a:solidFill>
            <a:srgbClr val="0E1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Three sentences. That's the whole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10881360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50800" cy="14447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1252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087120"/>
            <a:ext cx="93268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No preparation infrastructure exists. Strategic triggers arrive in real time — the mobilization cycle still averages 30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881360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50800" cy="14447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1272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687320"/>
            <a:ext cx="93268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We rebuilt the operating model. Pre-staged execution replaces real-time coordination — 12 minutes, not 30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0520"/>
            <a:ext cx="10881360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50800" cy="144475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12920"/>
            <a:ext cx="109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08AA0"/>
                </a:solidFill>
                <a:latin typeface="Barlow Condensed"/>
              </a:rPr>
              <a:t>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87520"/>
            <a:ext cx="93268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Barlow"/>
              </a:rPr>
              <a:t>At $120K, we replace a $400K–$800K retainer. Break-even before the second activation. The budget line already exists.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715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199632"/>
            <a:ext cx="941832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070"/>
                </a:solidFill>
                <a:latin typeface="Barlow Condensed"/>
              </a:rPr>
              <a:t>VaughnMartin · Readiness OS · The response is ready before the trigger fires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