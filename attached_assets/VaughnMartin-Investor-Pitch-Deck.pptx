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ormorant Garamond"/>
              </a:rPr>
              <a:t>When a strategic trigger fires in your organization—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9A84C"/>
                </a:solidFill>
                <a:latin typeface="Cormorant Garamond"/>
              </a:rPr>
              <a:t>are you executing in 12 minutes or organizing from scratch?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200400"/>
            <a:ext cx="3200400" cy="457200"/>
          </a:xfrm>
          <a:prstGeom prst="rect">
            <a:avLst/>
          </a:prstGeom>
          <a:solidFill>
            <a:srgbClr val="281C0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3314700"/>
            <a:ext cx="2980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Activist Investor · 91%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3200400"/>
            <a:ext cx="3200400" cy="457200"/>
          </a:xfrm>
          <a:prstGeom prst="rect">
            <a:avLst/>
          </a:prstGeom>
          <a:solidFill>
            <a:srgbClr val="281C0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3314700"/>
            <a:ext cx="2980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Ransomware · 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3200400"/>
            <a:ext cx="3200400" cy="457200"/>
          </a:xfrm>
          <a:prstGeom prst="rect">
            <a:avLst/>
          </a:prstGeom>
          <a:solidFill>
            <a:srgbClr val="182250"/>
          </a:solidFill>
          <a:ln w="12700">
            <a:solidFill>
              <a:srgbClr val="33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3314700"/>
            <a:ext cx="2980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A5BB"/>
                </a:solidFill>
                <a:latin typeface="Barlow Condensed"/>
              </a:rPr>
              <a:t>Regulatory Inquiry · 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332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A5BB"/>
                </a:solidFill>
                <a:latin typeface="Barlow"/>
              </a:rPr>
              <a:t>These are live signal detections. Production. Right now.</a:t>
            </a:r>
          </a:p>
        </p:txBody>
      </p:sp>
      <p:pic>
        <p:nvPicPr>
          <p:cNvPr id="12" name="Picture 11" descr="pptx_command_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0"/>
            <a:ext cx="8531352" cy="19202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828800" y="4572000"/>
            <a:ext cx="8531352" cy="192024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6172200"/>
            <a:ext cx="8531352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6248400"/>
            <a:ext cx="8311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COMMAND TOWER · LIVE PRODUCTION · 221 TRIGGERS ARMED · 20 ACTIVE DETECTIONS · 170 PROTOCOLS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Barlow Condensed"/>
              </a:rPr>
              <a:t>VaughnMartin  ·  Readiness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C9A84C"/>
                </a:solidFill>
                <a:latin typeface="Cormorant Garamond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34747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1071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A5BB"/>
                </a:solidFill>
                <a:latin typeface="Barlow"/>
              </a:rPr>
              <a:t>Average mobilization time before
any execution begins.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2E0"/>
                </a:solidFill>
                <a:latin typeface="Barlow"/>
              </a:rPr>
              <a:t>That's not execution time.
That's just figuring out who's in the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THIS IS WHAT A TRIGGER LOOKS LIKE — RIGHT NOW</a:t>
            </a:r>
          </a:p>
        </p:txBody>
      </p:sp>
      <p:pic>
        <p:nvPicPr>
          <p:cNvPr id="10" name="Picture 9" descr="pptx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77240"/>
            <a:ext cx="7223760" cy="5486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0" y="777240"/>
            <a:ext cx="7223760" cy="548640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5943600"/>
            <a:ext cx="7223760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6019800"/>
            <a:ext cx="7004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SIMULATION · M&amp;A TRIGGER · RISK 88/100 — HIGH · NO RESPONSE PRE-STAGED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PROBLEM IS ALREADY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ormorant Garamond"/>
              </a:rPr>
              <a:t>One of these is forming in your portfolio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3703320" cy="2651760"/>
          </a:xfrm>
          <a:prstGeom prst="rect">
            <a:avLst/>
          </a:prstGeom>
          <a:solidFill>
            <a:srgbClr val="101842"/>
          </a:solidFill>
          <a:ln w="1270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17830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2B8A6E"/>
                </a:solidFill>
                <a:latin typeface="Barlow Condensed"/>
              </a:rP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02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ormorant Garamond"/>
              </a:rPr>
              <a:t>Ransomware
Attack Confirmed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3218688"/>
            <a:ext cx="3383280" cy="635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3218688"/>
            <a:ext cx="3214116" cy="635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47472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8A6E"/>
                </a:solidFill>
                <a:latin typeface="Barlow"/>
              </a:rPr>
              <a:t>● Signal Detected · 248 data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3703320" cy="2651760"/>
          </a:xfrm>
          <a:prstGeom prst="rect">
            <a:avLst/>
          </a:prstGeom>
          <a:solidFill>
            <a:srgbClr val="101842"/>
          </a:solidFill>
          <a:ln w="1270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7830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C9A84C"/>
                </a:solidFill>
                <a:latin typeface="Barlow Condensed"/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10512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GROWTH &amp;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402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ormorant Garamond"/>
              </a:rPr>
              <a:t>Activist Investor
Pressure Rising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3218688"/>
            <a:ext cx="3383280" cy="635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07992" y="3218688"/>
            <a:ext cx="3078784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47472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8A6E"/>
                </a:solidFill>
                <a:latin typeface="Barlow"/>
              </a:rPr>
              <a:t>● Signal Detected · Live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645920"/>
            <a:ext cx="3703320" cy="2651760"/>
          </a:xfrm>
          <a:prstGeom prst="rect">
            <a:avLst/>
          </a:prstGeom>
          <a:solidFill>
            <a:srgbClr val="101842"/>
          </a:solidFill>
          <a:ln w="1270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4199" y="17830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2B8A6E"/>
                </a:solidFill>
                <a:latin typeface="Barlow Condensed"/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1810512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2402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ormorant Garamond"/>
              </a:rPr>
              <a:t>Regulatory Inquiry
Opened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9911" y="3218688"/>
            <a:ext cx="3383280" cy="635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39911" y="3218688"/>
            <a:ext cx="2943453" cy="635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1" y="347472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8A6E"/>
                </a:solidFill>
                <a:latin typeface="Barlow"/>
              </a:rPr>
              <a:t>● Signal Detected · Threshold Forming</a:t>
            </a:r>
          </a:p>
        </p:txBody>
      </p:sp>
      <p:pic>
        <p:nvPicPr>
          <p:cNvPr id="26" name="Picture 25" descr="deck_sign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434840"/>
            <a:ext cx="11457432" cy="21031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65760" y="4434840"/>
            <a:ext cx="11457432" cy="210312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6217920"/>
            <a:ext cx="11457432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6294120"/>
            <a:ext cx="11237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INTELLIGENCE FEED · VAUGHNMARTIN.COM · LIVE DETECTIONS ·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486400" cy="3474720"/>
          </a:xfrm>
          <a:prstGeom prst="rect">
            <a:avLst/>
          </a:prstGeom>
          <a:solidFill>
            <a:srgbClr val="10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ormorant Garamond"/>
              </a:rPr>
              <a:t>The response is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84C"/>
                </a:solidFill>
                <a:latin typeface="Cormorant Garamond"/>
              </a:rPr>
              <a:t>before the trigger fires.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9A5BB"/>
                </a:solidFill>
                <a:latin typeface="Barlow"/>
              </a:rPr>
              <a:t>Preparation  →  Readiness  →  Fearless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356616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9A84C"/>
                </a:solidFill>
                <a:latin typeface="Cormorant Garamond"/>
              </a:rPr>
              <a:t>170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35661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"/>
              </a:rPr>
              <a:t>Readiness Protocols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429000"/>
            <a:ext cx="356616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9A84C"/>
                </a:solidFill>
                <a:latin typeface="Cormorant Garamond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17720"/>
            <a:ext cx="35661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"/>
              </a:rPr>
              <a:t>Strategic Triggers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429000"/>
            <a:ext cx="356616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ormorant Garamond"/>
              </a:rPr>
              <a:t>12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17720"/>
            <a:ext cx="35661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"/>
              </a:rPr>
              <a:t>Full Execution Cycle</a:t>
            </a:r>
          </a:p>
        </p:txBody>
      </p:sp>
      <p:pic>
        <p:nvPicPr>
          <p:cNvPr id="16" name="Picture 15" descr="pptx_how_execu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120640"/>
            <a:ext cx="6702552" cy="14173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743200" y="5120640"/>
            <a:ext cx="6702552" cy="141732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6217920"/>
            <a:ext cx="6702552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6294120"/>
            <a:ext cx="6483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VAUGHNMARTIN.COM/HOW-IT-EXECUTES · LIVE ANIMATED EXECUTION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E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5029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050"/>
                </a:solidFill>
                <a:latin typeface="Barlow Condensed"/>
              </a:rPr>
              <a:t>Every Other Vendor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A5BB"/>
                </a:solidFill>
                <a:latin typeface="Cormorant Garamond"/>
              </a:rPr>
              <a:t>"Bolted AI onto the old model"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050"/>
                </a:solidFill>
                <a:latin typeface="Barlow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66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A5BB"/>
                </a:solidFill>
                <a:latin typeface="Barlow"/>
              </a:rPr>
              <a:t>Faster summaries from the same slow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050"/>
                </a:solidFill>
                <a:latin typeface="Barlow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66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A5BB"/>
                </a:solidFill>
                <a:latin typeface="Barlow"/>
              </a:rPr>
              <a:t>Smarter notes. Same 30-day mobilization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050"/>
                </a:solidFill>
                <a:latin typeface="Barlow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66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A5BB"/>
                </a:solidFill>
                <a:latin typeface="Barlow"/>
              </a:rPr>
              <a:t>AI tools. No operating model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2628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050"/>
                </a:solidFill>
                <a:latin typeface="Barlow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466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A5BB"/>
                </a:solidFill>
                <a:latin typeface="Barlow"/>
              </a:rPr>
              <a:t>Competes with Copilot. We don't.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02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VAUGHNMARTIN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86868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rmorant Garamond"/>
              </a:rPr>
              <a:t>"Rebuilt the operating model from first principles"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92024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8A6E"/>
                </a:solidFill>
                <a:latin typeface="Barlow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394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"/>
              </a:rPr>
              <a:t>Pre-staged before any trigger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8892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8A6E"/>
                </a:solidFill>
                <a:latin typeface="Barlow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5394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"/>
              </a:rPr>
              <a:t>Proprietary IDEA Framework — 3 years to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5760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8A6E"/>
                </a:solidFill>
                <a:latin typeface="Barlo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5394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"/>
              </a:rPr>
              <a:t>Orchestrates the Microsoft stack — doesn't replace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26280"/>
            <a:ext cx="4114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8A6E"/>
                </a:solidFill>
                <a:latin typeface="Barlow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5394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"/>
              </a:rPr>
              <a:t>Competes with the 40-year-old meeting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365760"/>
            <a:ext cx="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320040"/>
            <a:ext cx="19050" cy="640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HOW IT EXECUTES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ormorant Garamond"/>
              </a:rPr>
              <a:t>Signal detected → Protocol activates → Executive authorizes → 12 minutes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08760"/>
            <a:ext cx="1463040" cy="1463040"/>
          </a:xfrm>
          <a:prstGeom prst="ellipse">
            <a:avLst/>
          </a:prstGeom>
          <a:solidFill>
            <a:srgbClr val="151F5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SIG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Barlow"/>
              </a:rPr>
              <a:t>Signal
Detected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4248" y="2212848"/>
            <a:ext cx="4846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87168" y="1508760"/>
            <a:ext cx="1463040" cy="1463040"/>
          </a:xfrm>
          <a:prstGeom prst="ellipse">
            <a:avLst/>
          </a:prstGeom>
          <a:solidFill>
            <a:srgbClr val="151F5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965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SCR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Barlow"/>
              </a:rPr>
              <a:t>Scored &amp;
Classified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8496" y="2212848"/>
            <a:ext cx="4846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71416" y="1508760"/>
            <a:ext cx="1463040" cy="1463040"/>
          </a:xfrm>
          <a:prstGeom prst="ellipse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965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  <a:latin typeface="Barlow Condensed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Barlow"/>
              </a:rPr>
              <a:t>Protocol
Activates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2212848"/>
            <a:ext cx="4846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5664" y="1508760"/>
            <a:ext cx="1463040" cy="1463040"/>
          </a:xfrm>
          <a:prstGeom prst="ellipse">
            <a:avLst/>
          </a:prstGeom>
          <a:solidFill>
            <a:srgbClr val="151F5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65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STK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Barlow"/>
              </a:rPr>
              <a:t>Stakeholders
Notified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2212848"/>
            <a:ext cx="4846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39912" y="1508760"/>
            <a:ext cx="1463040" cy="1463040"/>
          </a:xfrm>
          <a:prstGeom prst="ellipse">
            <a:avLst/>
          </a:prstGeom>
          <a:solidFill>
            <a:srgbClr val="151F5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965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Barlow"/>
              </a:rPr>
              <a:t>Executive
Authorizes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212848"/>
            <a:ext cx="4846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508760"/>
            <a:ext cx="1463040" cy="1463040"/>
          </a:xfrm>
          <a:prstGeom prst="ellipse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19659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  <a:latin typeface="Barlow Condensed"/>
              </a:rPr>
              <a:t>EXE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Barlow"/>
              </a:rPr>
              <a:t>Execution
Begins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0400"/>
            <a:ext cx="5943600" cy="475488"/>
          </a:xfrm>
          <a:prstGeom prst="rect">
            <a:avLst/>
          </a:prstGeom>
          <a:solidFill>
            <a:srgbClr val="15281C"/>
          </a:solidFill>
          <a:ln w="1270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24612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8A6E"/>
                </a:solidFill>
                <a:latin typeface="Barlow"/>
              </a:rPr>
              <a:t>✓  Complete in 12 minutes — 30 days compressed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6440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5BB"/>
                </a:solidFill>
                <a:latin typeface="Barlow"/>
              </a:rPr>
              <a:t>The alternative: 30 days of mobilization before any execution begins</a:t>
            </a:r>
          </a:p>
        </p:txBody>
      </p:sp>
      <p:pic>
        <p:nvPicPr>
          <p:cNvPr id="31" name="Picture 30" descr="pptx_how_execu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94760"/>
            <a:ext cx="11457432" cy="2697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65760" y="3794760"/>
            <a:ext cx="11457432" cy="269748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6172200"/>
            <a:ext cx="11457432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6248400"/>
            <a:ext cx="11237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VAUGHNMARTIN.COM/HOW-IT-EXECUTES · LIVE ANIMATED EXECUTION CHAIN · SHOWING 12-MINUTE SEQUENCE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RETURN 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Cormorant Garamond"/>
              </a:rPr>
              <a:t>3,600×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0"/>
            <a:ext cx="42062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"/>
              </a:rPr>
              <a:t>Execution Head Start vs. Old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14600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rmorant Garamond"/>
              </a:rPr>
              <a:t>$120K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42062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"/>
              </a:rPr>
              <a:t>Platform Cost · Annual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630168"/>
            <a:ext cx="42062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749039"/>
            <a:ext cx="42062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"/>
              </a:rPr>
              <a:t>Replaces $400K–$800K consulting retainer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42062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8A6E"/>
                </a:solidFill>
                <a:latin typeface="Barlow"/>
              </a:rPr>
              <a:t>Break-even before the 2nd activation.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80560"/>
            <a:ext cx="42062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"/>
              </a:rPr>
              <a:t>The budget line already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956048"/>
            <a:ext cx="42062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0749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A5BB"/>
                </a:solidFill>
                <a:latin typeface="Barlow"/>
              </a:rPr>
              <a:t>"We're replacing a line item every Fortune 1000 already pays."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AT VAUGHNMARTIN.COM/ROI-CALCULATOR</a:t>
            </a:r>
          </a:p>
        </p:txBody>
      </p:sp>
      <p:pic>
        <p:nvPicPr>
          <p:cNvPr id="15" name="Picture 14" descr="pptx_r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49808"/>
            <a:ext cx="7068312" cy="57424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754880" y="749808"/>
            <a:ext cx="7068312" cy="574243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6172200"/>
            <a:ext cx="7068312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6248400"/>
            <a:ext cx="6848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ROI CALCULATOR · ESTIMATES $61.3M+ ANNUAL VALUE · 3,600× EXECUTION HEAD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BUILT. IN PRODUCTION. RIGHT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ormorant Garamond"/>
              </a:rPr>
              <a:t>The system is live — not a demo, not 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834640" cy="1143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Cormorant Garamond"/>
              </a:rPr>
              <a:t>170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"/>
              </a:rPr>
              <a:t>Readiness Protocols Pre-Staged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8416" y="1508760"/>
            <a:ext cx="2834640" cy="1143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Cormorant Garamond"/>
              </a:rPr>
              <a:t>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"/>
              </a:rPr>
              <a:t>Strategic Triggers Mapped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2834640" cy="1143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8A6E"/>
                </a:solidFill>
                <a:latin typeface="Cormorant Garamond"/>
              </a:rPr>
              <a:t>248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"/>
              </a:rPr>
              <a:t>Data Points Every 15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508760"/>
            <a:ext cx="2834640" cy="1143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Cormorant Garamond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"/>
              </a:rPr>
              <a:t>Compound Protocols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743200"/>
            <a:ext cx="6035040" cy="384048"/>
          </a:xfrm>
          <a:prstGeom prst="rect">
            <a:avLst/>
          </a:prstGeom>
          <a:solidFill>
            <a:srgbClr val="12221C"/>
          </a:solidFill>
          <a:ln w="1270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788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8A6E"/>
                </a:solidFill>
                <a:latin typeface="Barlow"/>
              </a:rPr>
              <a:t>●  Signal Detection Active · Updated Every 15 Minutes · vaughnmartin.com</a:t>
            </a:r>
          </a:p>
        </p:txBody>
      </p:sp>
      <p:pic>
        <p:nvPicPr>
          <p:cNvPr id="19" name="Picture 18" descr="pitch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83280"/>
            <a:ext cx="3758184" cy="26060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20040" y="3383280"/>
            <a:ext cx="3758184" cy="260604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669280"/>
            <a:ext cx="3758184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5745480"/>
            <a:ext cx="3538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READINESS EXPERIENCE</a:t>
            </a:r>
          </a:p>
        </p:txBody>
      </p:sp>
      <p:pic>
        <p:nvPicPr>
          <p:cNvPr id="23" name="Picture 22" descr="deck_sign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383280"/>
            <a:ext cx="3758184" cy="26060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325112" y="3383280"/>
            <a:ext cx="3758184" cy="260604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5112" y="5669280"/>
            <a:ext cx="3758184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745480"/>
            <a:ext cx="3538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DETECTION FEED</a:t>
            </a:r>
          </a:p>
        </p:txBody>
      </p:sp>
      <p:pic>
        <p:nvPicPr>
          <p:cNvPr id="27" name="Picture 26" descr="pitch_buil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3383280"/>
            <a:ext cx="3758184" cy="260604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330184" y="3383280"/>
            <a:ext cx="3758184" cy="260604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30184" y="5669280"/>
            <a:ext cx="3758184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5745480"/>
            <a:ext cx="3538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PROTOCOL BUILDER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731520"/>
            <a:ext cx="50800" cy="3291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ormorant Garamond"/>
              </a:rPr>
              <a:t>Preparation
infrastructure
does not exist yet.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43891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5876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0EDE4"/>
                </a:solidFill>
                <a:latin typeface="Barlow"/>
              </a:rPr>
              <a:t>That's not a problem.
That's the entire opportunity.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"/>
              </a:rPr>
              <a:t>Every Fortune 1000 has Microsoft's AI stack.
None have the operating model to use it at trigger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C44"/>
                </a:solidFill>
                <a:latin typeface="Barlow Condensed"/>
              </a:rPr>
              <a:t>WHY NOW · WHY VAUGHNMARTIN</a:t>
            </a:r>
          </a:p>
        </p:txBody>
      </p:sp>
      <p:pic>
        <p:nvPicPr>
          <p:cNvPr id="11" name="Picture 10" descr="pptx_protoco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749808"/>
            <a:ext cx="6245352" cy="57424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577840" y="749808"/>
            <a:ext cx="6245352" cy="574243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6172200"/>
            <a:ext cx="6245352" cy="320040"/>
          </a:xfrm>
          <a:prstGeom prst="rect">
            <a:avLst/>
          </a:prstGeom>
          <a:solidFill>
            <a:srgbClr val="08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6248400"/>
            <a:ext cx="6025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170 READINESS PROTOCOLS · A PRE-STAGED RESPONSE FOR EVERY STRATEGIC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FOUNDING 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ormorant Garamond"/>
              </a:rPr>
              <a:t>Twelve
organizations.
One first cohort.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4572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22191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9A5BB"/>
                </a:solidFill>
                <a:latin typeface="Barlow"/>
              </a:rPr>
              <a:t>We're not looking for customers.
We're selecting partners who will
define the category with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411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749808"/>
            <a:ext cx="6035040" cy="1143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851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080008"/>
            <a:ext cx="56692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Barlow"/>
              </a:rPr>
              <a:t>Founding Partner Program · 90-Day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029968"/>
            <a:ext cx="6035040" cy="1143000"/>
          </a:xfrm>
          <a:prstGeom prst="rect">
            <a:avLst/>
          </a:prstGeom>
          <a:solidFill>
            <a:srgbClr val="0E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1315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60168"/>
            <a:ext cx="56692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Barlow"/>
              </a:rPr>
              <a:t>12 Organizations · Fortune 1000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310128"/>
            <a:ext cx="6035040" cy="114300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411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USE OF FUNDS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40328"/>
            <a:ext cx="56692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Barlow"/>
              </a:rPr>
              <a:t>Protocol Expansion · Sales Infrastructure · Category Establishment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590288"/>
            <a:ext cx="6035040" cy="1143000"/>
          </a:xfrm>
          <a:prstGeom prst="rect">
            <a:avLst/>
          </a:prstGeom>
          <a:solidFill>
            <a:srgbClr val="0E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46918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WHY THIS 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920488"/>
            <a:ext cx="566928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Barlow"/>
              </a:rPr>
              <a:t>Investors who see the category before the category exists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029200" cy="3200400"/>
          </a:xfrm>
          <a:prstGeom prst="rect">
            <a:avLst/>
          </a:prstGeom>
          <a:solidFill>
            <a:srgbClr val="0E1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Three sentences. That's the whole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0881360" cy="1444752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0800" cy="14447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12520"/>
            <a:ext cx="109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8AA0"/>
                </a:solidFill>
                <a:latin typeface="Barlow Condensed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087120"/>
            <a:ext cx="932688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Barlow"/>
              </a:rPr>
              <a:t>Enterprises detect more signals, but still mobilize too slowly.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10881360" cy="1444752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50800" cy="14447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12720"/>
            <a:ext cx="109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8AA0"/>
                </a:solidFill>
                <a:latin typeface="Barlow Condensed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687320"/>
            <a:ext cx="932688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Barlow"/>
              </a:rPr>
              <a:t>Readiness OS pre-stages response so executives authorize in minutes.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10881360" cy="1444752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50800" cy="144475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12920"/>
            <a:ext cx="109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8AA0"/>
                </a:solidFill>
                <a:latin typeface="Barlow Condensed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87520"/>
            <a:ext cx="932688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Barlow"/>
              </a:rPr>
              <a:t>Earlier detection + faster execution protects value before the window closes.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15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vaughnmartin.com/founding-partner-program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199632"/>
            <a:ext cx="941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070"/>
                </a:solidFill>
                <a:latin typeface="Barlow Condensed"/>
              </a:rPr>
              <a:t>VaughnMartin · Readiness OS · The response is ready before the trigger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45070"/>
                </a:solidFill>
                <a:latin typeface="Barlow Condensed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