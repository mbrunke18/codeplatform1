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ormorant Garamond"/>
              </a:rPr>
              <a:t>When a strategic trigger fires—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9A84C"/>
                </a:solidFill>
                <a:latin typeface="Cormorant Garamond"/>
              </a:rPr>
              <a:t>how long does it take to mobilize a coordinated response?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00400"/>
            <a:ext cx="3017520" cy="457200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302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Activist Investor · 91%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200400"/>
            <a:ext cx="3017520" cy="457200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3302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Ransomware · 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3200400"/>
            <a:ext cx="3017520" cy="457200"/>
          </a:xfrm>
          <a:prstGeom prst="rect">
            <a:avLst/>
          </a:prstGeom>
          <a:solidFill>
            <a:srgbClr val="202850"/>
          </a:solidFill>
          <a:ln w="12700">
            <a:solidFill>
              <a:srgbClr val="44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3302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9A5BB"/>
                </a:solidFill>
                <a:latin typeface="Barlow Condensed"/>
              </a:rPr>
              <a:t>Regulatory Inquiry · 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96012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9A5BB"/>
                </a:solidFill>
                <a:latin typeface="Barlow"/>
              </a:rPr>
              <a:t>These are live signal detections. Production. Right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4572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C9A84C"/>
                </a:solidFill>
                <a:latin typeface="Cormorant Garamond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32004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Barlow"/>
              </a:rPr>
              <a:t>That's not execution time.
That's mobilization time before any execution begins.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57200"/>
            <a:ext cx="12700" cy="12700"/>
          </a:xfrm>
          <a:prstGeom prst="rect">
            <a:avLst/>
          </a:prstGeom>
          <a:solidFill>
            <a:srgbClr val="22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5720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OLD MODEL — EVERY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914400"/>
            <a:ext cx="101600" cy="101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822960"/>
            <a:ext cx="6400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Barlow"/>
              </a:rPr>
              <a:t>Trigger fires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076960"/>
            <a:ext cx="6583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"/>
              </a:rPr>
              <a:t>Signal detected — no protocol exists. Emails go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407160"/>
            <a:ext cx="6400800" cy="12700"/>
          </a:xfrm>
          <a:prstGeom prst="rect">
            <a:avLst/>
          </a:prstGeom>
          <a:solidFill>
            <a:srgbClr val="1E2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965960"/>
            <a:ext cx="101600" cy="101600"/>
          </a:xfrm>
          <a:prstGeom prst="rect">
            <a:avLst/>
          </a:prstGeom>
          <a:solidFill>
            <a:srgbClr val="333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874520"/>
            <a:ext cx="6400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D2E0"/>
                </a:solidFill>
                <a:latin typeface="Barlow"/>
              </a:rPr>
              <a:t>Days 1–5: Who's in the room?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128520"/>
            <a:ext cx="6583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"/>
              </a:rPr>
              <a:t>Executives align on who should lead. Calendars negotiated.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458720"/>
            <a:ext cx="6400800" cy="12700"/>
          </a:xfrm>
          <a:prstGeom prst="rect">
            <a:avLst/>
          </a:prstGeom>
          <a:solidFill>
            <a:srgbClr val="1E2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46320" y="3017520"/>
            <a:ext cx="101600" cy="101600"/>
          </a:xfrm>
          <a:prstGeom prst="rect">
            <a:avLst/>
          </a:prstGeom>
          <a:solidFill>
            <a:srgbClr val="333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926080"/>
            <a:ext cx="6400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D2E0"/>
                </a:solidFill>
                <a:latin typeface="Barlow"/>
              </a:rPr>
              <a:t>Days 6–14: What's the plan?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180080"/>
            <a:ext cx="6583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"/>
              </a:rPr>
              <a:t>Strategy formed. Consultants engaged.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510280"/>
            <a:ext cx="6400800" cy="12700"/>
          </a:xfrm>
          <a:prstGeom prst="rect">
            <a:avLst/>
          </a:prstGeom>
          <a:solidFill>
            <a:srgbClr val="1E2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101600" cy="101600"/>
          </a:xfrm>
          <a:prstGeom prst="rect">
            <a:avLst/>
          </a:prstGeom>
          <a:solidFill>
            <a:srgbClr val="333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3977640"/>
            <a:ext cx="6400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D2E0"/>
                </a:solidFill>
                <a:latin typeface="Barlow"/>
              </a:rPr>
              <a:t>Days 15–25: Alignment cycle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231640"/>
            <a:ext cx="6583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"/>
              </a:rPr>
              <a:t>Stakeholders aligned. Approvals queued.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4561840"/>
            <a:ext cx="6400800" cy="12700"/>
          </a:xfrm>
          <a:prstGeom prst="rect">
            <a:avLst/>
          </a:prstGeom>
          <a:solidFill>
            <a:srgbClr val="1E2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5120640"/>
            <a:ext cx="101600" cy="101600"/>
          </a:xfrm>
          <a:prstGeom prst="rect">
            <a:avLst/>
          </a:prstGeom>
          <a:solidFill>
            <a:srgbClr val="333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5029200"/>
            <a:ext cx="6400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D2E0"/>
                </a:solidFill>
                <a:latin typeface="Barlow"/>
              </a:rPr>
              <a:t>Day 30+: Execution begins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5283200"/>
            <a:ext cx="65836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"/>
              </a:rPr>
              <a:t>After 30 days of coordination. If you're lucky.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45720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ormorant Garamond"/>
              </a:rPr>
              <a:t>One of these is forming in your portfolio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657600" cy="3474720"/>
          </a:xfrm>
          <a:prstGeom prst="rect">
            <a:avLst/>
          </a:prstGeom>
          <a:solidFill>
            <a:srgbClr val="121A44"/>
          </a:solidFill>
          <a:ln w="12700">
            <a:solidFill>
              <a:srgbClr val="2A3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8745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rmorant Garamond"/>
              </a:rPr>
              <a:t>Ransomware
Attack Confirmed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20440"/>
            <a:ext cx="3291840" cy="50800"/>
          </a:xfrm>
          <a:prstGeom prst="rect">
            <a:avLst/>
          </a:prstGeom>
          <a:solidFill>
            <a:srgbClr val="1E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520440"/>
            <a:ext cx="3127248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32918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3657600" cy="3474720"/>
          </a:xfrm>
          <a:prstGeom prst="rect">
            <a:avLst/>
          </a:prstGeom>
          <a:solidFill>
            <a:srgbClr val="121A44"/>
          </a:solidFill>
          <a:ln w="12700">
            <a:solidFill>
              <a:srgbClr val="2A3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8745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rmorant Garamond"/>
              </a:rPr>
              <a:t>Activist Investor
Pressure Rising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520440"/>
            <a:ext cx="3291840" cy="50800"/>
          </a:xfrm>
          <a:prstGeom prst="rect">
            <a:avLst/>
          </a:prstGeom>
          <a:solidFill>
            <a:srgbClr val="1E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3520440"/>
            <a:ext cx="2995574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749040"/>
            <a:ext cx="32918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Live Monitoring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737360"/>
            <a:ext cx="3657600" cy="3474720"/>
          </a:xfrm>
          <a:prstGeom prst="rect">
            <a:avLst/>
          </a:prstGeom>
          <a:solidFill>
            <a:srgbClr val="121A44"/>
          </a:solidFill>
          <a:ln w="12700">
            <a:solidFill>
              <a:srgbClr val="2A3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18745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87%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231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rmorant Garamond"/>
              </a:rPr>
              <a:t>Regulatory Inquiry
Opened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520440"/>
            <a:ext cx="3291840" cy="50800"/>
          </a:xfrm>
          <a:prstGeom prst="rect">
            <a:avLst/>
          </a:prstGeom>
          <a:solidFill>
            <a:srgbClr val="1E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3520440"/>
            <a:ext cx="286390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3749040"/>
            <a:ext cx="32918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Threshold Forming</a:t>
            </a:r>
          </a:p>
        </p:txBody>
      </p:sp>
      <p:pic>
        <p:nvPicPr>
          <p:cNvPr id="26" name="Picture 25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12080"/>
            <a:ext cx="12188952" cy="1463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7280" y="5303520"/>
            <a:ext cx="960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● Live signal detections from vaughnmartin.com production — not hypothetical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486400" cy="3657600"/>
          </a:xfrm>
          <a:prstGeom prst="rect">
            <a:avLst/>
          </a:prstGeom>
          <a:solidFill>
            <a:srgbClr val="12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ormorant Garamond"/>
              </a:rPr>
              <a:t>The response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Cormorant Garamond"/>
              </a:rPr>
              <a:t>before the trigger fires.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9A5BB"/>
                </a:solidFill>
                <a:latin typeface="Barlow"/>
              </a:rPr>
              <a:t>Preparation  →  Readiness  →  Fearless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06800"/>
            <a:ext cx="3200400" cy="12700"/>
          </a:xfrm>
          <a:prstGeom prst="rect">
            <a:avLst/>
          </a:prstGeom>
          <a:solidFill>
            <a:srgbClr val="22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Barlow"/>
              </a:rPr>
              <a:t>Readiness
Protocols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3606800"/>
            <a:ext cx="3200400" cy="12700"/>
          </a:xfrm>
          <a:prstGeom prst="rect">
            <a:avLst/>
          </a:prstGeom>
          <a:solidFill>
            <a:srgbClr val="22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Barlow"/>
              </a:rPr>
              <a:t>Strategic
Triggers Mapped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3606800"/>
            <a:ext cx="3200400" cy="12700"/>
          </a:xfrm>
          <a:prstGeom prst="rect">
            <a:avLst/>
          </a:prstGeom>
          <a:solidFill>
            <a:srgbClr val="22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9A84C"/>
                </a:solidFill>
                <a:latin typeface="Cormorant Garamond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72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Barlow"/>
              </a:rPr>
              <a:t>Full Execution
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10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457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5050"/>
                </a:solidFill>
                <a:latin typeface="Barlow Condensed"/>
              </a:rPr>
              <a:t>Every Other Vendor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A5BB"/>
                </a:solidFill>
                <a:latin typeface="Cormorant Garamond"/>
              </a:rPr>
              <a:t>"Bolted AI onto the old model"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3891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Faster summaries from the same slow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3891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Smarter notes. Same 30-day mobilization 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40"/>
            <a:ext cx="43891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AI tools. No operating model change.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3891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Competes with Copilot. We don't.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4864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91440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ormorant Garamond"/>
              </a:rPr>
              <a:t>"Rebuilt the operating model from first principles"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01168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53035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Pre-staged before any trigger fires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88036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80360"/>
            <a:ext cx="53035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Proprietary IDEA Framework — 3 years to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4904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40"/>
            <a:ext cx="53035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Orchestrates the Microsoft stack — doesn't replace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617720"/>
            <a:ext cx="3657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17720"/>
            <a:ext cx="53035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Competes with the 40-year-old meeting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457200"/>
            <a:ext cx="19050" cy="12700"/>
          </a:xfrm>
          <a:prstGeom prst="rect">
            <a:avLst/>
          </a:prstGeom>
          <a:solidFill>
            <a:srgbClr val="22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HOW IT EXECUTES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morant Garamond"/>
              </a:rPr>
              <a:t>The preparation architecture that exists before the trigger fires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37360"/>
            <a:ext cx="1371600" cy="1371600"/>
          </a:xfrm>
          <a:prstGeom prst="ellipse">
            <a:avLst/>
          </a:prstGeom>
          <a:solidFill>
            <a:srgbClr val="1822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Signal
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2368296"/>
            <a:ext cx="512064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1737360"/>
            <a:ext cx="1371600" cy="1371600"/>
          </a:xfrm>
          <a:prstGeom prst="ellipse">
            <a:avLst/>
          </a:prstGeom>
          <a:solidFill>
            <a:srgbClr val="1822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Scored &amp;
Classified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58768" y="2368296"/>
            <a:ext cx="512064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1737360"/>
            <a:ext cx="1371600" cy="137160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Protocol
Activates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9008" y="2368296"/>
            <a:ext cx="512064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9360" y="1737360"/>
            <a:ext cx="1371600" cy="1371600"/>
          </a:xfrm>
          <a:prstGeom prst="ellipse">
            <a:avLst/>
          </a:prstGeom>
          <a:solidFill>
            <a:srgbClr val="1822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STK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Stakeholders
Notified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2368296"/>
            <a:ext cx="512064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1737360"/>
            <a:ext cx="1371600" cy="1371600"/>
          </a:xfrm>
          <a:prstGeom prst="ellipse">
            <a:avLst/>
          </a:prstGeom>
          <a:solidFill>
            <a:srgbClr val="1822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Executive
Authorizes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2368296"/>
            <a:ext cx="512064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49840" y="1737360"/>
            <a:ext cx="1371600" cy="137160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EXE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2004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Execution
Begins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29000"/>
            <a:ext cx="5029200" cy="502920"/>
          </a:xfrm>
          <a:prstGeom prst="rect">
            <a:avLst/>
          </a:prstGeom>
          <a:solidFill>
            <a:srgbClr val="20301A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74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6E"/>
                </a:solidFill>
                <a:latin typeface="Barlow"/>
              </a:rPr>
              <a:t>✓  Complete in 12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520440"/>
            <a:ext cx="59436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"/>
              </a:rPr>
              <a:t>The alternative: 30 days of mobilization before execution begins</a:t>
            </a:r>
          </a:p>
        </p:txBody>
      </p:sp>
      <p:pic>
        <p:nvPicPr>
          <p:cNvPr id="31" name="Picture 30" descr="slide_mission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69080"/>
            <a:ext cx="7772400" cy="2194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572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A84C"/>
                </a:solidFill>
                <a:latin typeface="Barlow Condensed"/>
              </a:rPr>
              <a:t>Mission Control · Executive-authorized execution · Live in production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RETURN 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9A84C"/>
                </a:solidFill>
                <a:latin typeface="Cormorant Garamond"/>
              </a:rPr>
              <a:t>3,600×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Execution Head Start
vs. Old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ormorant Garamond"/>
              </a:rPr>
              <a:t>$120K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Platform Cost · Annual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41148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A5BB"/>
                </a:solidFill>
                <a:latin typeface="Barlow"/>
              </a:rPr>
              <a:t>Breaks even before
the second activation.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5720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BUSINESS CASE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914400"/>
            <a:ext cx="6583680" cy="8229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041400"/>
            <a:ext cx="365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Consulting Retainer Replaced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041400"/>
            <a:ext cx="23774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84C"/>
                </a:solidFill>
                <a:latin typeface="Barlow"/>
              </a:rPr>
              <a:t>$400K – $800K /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874520"/>
            <a:ext cx="6583680" cy="82296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001520"/>
            <a:ext cx="365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Platform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001520"/>
            <a:ext cx="23774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Barlow"/>
              </a:rPr>
              <a:t>$60K – $240K / yr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834640"/>
            <a:ext cx="6583680" cy="8229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961640"/>
            <a:ext cx="365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Break-Even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961640"/>
            <a:ext cx="23774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B8A6E"/>
                </a:solidFill>
                <a:latin typeface="Barlow"/>
              </a:rPr>
              <a:t>2nd Activation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3794760"/>
            <a:ext cx="6583680" cy="82296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3921760"/>
            <a:ext cx="365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3-Year Net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3921760"/>
            <a:ext cx="23774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84C"/>
                </a:solidFill>
                <a:latin typeface="Barlow"/>
              </a:rPr>
              <a:t>Live at /roi-calculator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4754880"/>
            <a:ext cx="6583680" cy="8229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4881880"/>
            <a:ext cx="365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Budget Line Already Exists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881880"/>
            <a:ext cx="23774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B8A6E"/>
                </a:solidFill>
                <a:latin typeface="Barlow"/>
              </a:rPr>
              <a:t>Replaces existing retainer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0" y="5669280"/>
            <a:ext cx="6583680" cy="822960"/>
          </a:xfrm>
          <a:prstGeom prst="rect">
            <a:avLst/>
          </a:prstGeom>
          <a:solidFill>
            <a:srgbClr val="0C1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5669280"/>
            <a:ext cx="3810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571500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"/>
              </a:rPr>
              <a:t>“We’re not adding to the budget. We’re replacing a line item that every Fortune 1000 already pays.”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IN PRODUCTION. RIGHT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ormorant Garamond"/>
              </a:rPr>
              <a:t>The system is live — not a demo, not a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2743200" cy="13716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"/>
              </a:rPr>
              <a:t>Readiness Protocols
Pre-Staged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91640"/>
            <a:ext cx="2743200" cy="13716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73736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"/>
              </a:rPr>
              <a:t>Strategic Triggers
Mapped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2743200" cy="13716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B8A6E"/>
                </a:solidFill>
                <a:latin typeface="Cormorant Garamond"/>
              </a:rPr>
              <a:t>248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"/>
              </a:rPr>
              <a:t>Data Points Monitored
Every 15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691640"/>
            <a:ext cx="2743200" cy="13716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73736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ormorant Garamond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"/>
              </a:rPr>
              <a:t>Compound Protocols
Multi-Domain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246120"/>
            <a:ext cx="5669280" cy="411480"/>
          </a:xfrm>
          <a:prstGeom prst="rect">
            <a:avLst/>
          </a:prstGeom>
          <a:solidFill>
            <a:srgbClr val="182620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291840"/>
            <a:ext cx="53949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B8A6E"/>
                </a:solidFill>
                <a:latin typeface="Barlow"/>
              </a:rPr>
              <a:t>●  vaughnmartin.com · Signal Detection Active · Updated Every 15 Minutes</a:t>
            </a:r>
          </a:p>
        </p:txBody>
      </p:sp>
      <p:pic>
        <p:nvPicPr>
          <p:cNvPr id="19" name="Picture 18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840480"/>
            <a:ext cx="3749039" cy="2331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5760" y="6236208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detections</a:t>
            </a:r>
          </a:p>
        </p:txBody>
      </p:sp>
      <p:pic>
        <p:nvPicPr>
          <p:cNvPr id="21" name="Picture 20" descr="deck_protocol_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3840480"/>
            <a:ext cx="3749039" cy="23317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97680" y="6236208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170 Readiness Protocols · Pre-staged</a:t>
            </a:r>
          </a:p>
        </p:txBody>
      </p:sp>
      <p:pic>
        <p:nvPicPr>
          <p:cNvPr id="23" name="Picture 22" descr="deck_roi_cal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840480"/>
            <a:ext cx="3749039" cy="23317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0" y="6236208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ROI Calculator · Value quantified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4445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MARKET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ormorant Garamond"/>
              </a:rPr>
              <a:t>Preparation
infrastructure
does not exist yet.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39"/>
            <a:ext cx="41148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0EDE4"/>
                </a:solidFill>
                <a:latin typeface="Barlow"/>
              </a:rPr>
              <a:t>That's not a problem.
That's the entire opportunity.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50292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A0F2E"/>
                </a:solidFill>
                <a:latin typeface="Barlow Condensed"/>
              </a:rPr>
              <a:t>WHY NOW · WHY VAUGHNMARTIN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82296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Cormorant Garamon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8229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B44"/>
                </a:solidFill>
                <a:latin typeface="Barlow"/>
              </a:rPr>
              <a:t>Every Fortune 1000 has Microsoft's AI stack. None have the operating model to use it at trigger speed. Readiness OS is the layer above.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011680"/>
            <a:ext cx="6126480" cy="12700"/>
          </a:xfrm>
          <a:prstGeom prst="rect">
            <a:avLst/>
          </a:prstGeom>
          <a:solidFill>
            <a:srgbClr val="CCC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210312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Cormorant 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B44"/>
                </a:solidFill>
                <a:latin typeface="Barlow"/>
              </a:rPr>
              <a:t>The category doesn't exist yet. First-mover advantage in preparation infrastructure is the same position ERP held in the 1990s.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3291840"/>
            <a:ext cx="6126480" cy="12700"/>
          </a:xfrm>
          <a:prstGeom prst="rect">
            <a:avLst/>
          </a:prstGeom>
          <a:solidFill>
            <a:srgbClr val="CCC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338328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Cormorant Garamon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3832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B44"/>
                </a:solidFill>
                <a:latin typeface="Barlow"/>
              </a:rPr>
              <a:t>Enterprise AI budgets are growing. The operating model gap is growing faster. That gap is our product.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4572000"/>
            <a:ext cx="6126480" cy="12700"/>
          </a:xfrm>
          <a:prstGeom prst="rect">
            <a:avLst/>
          </a:prstGeom>
          <a:solidFill>
            <a:srgbClr val="CCC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66344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Cormorant Garamon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634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B44"/>
                </a:solidFill>
                <a:latin typeface="Barlow"/>
              </a:rPr>
              <a:t>We built the IDEA Framework — 170 protocols across 3 years. This is not recreatable in a product cycle. It is a structural moat.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A90"/>
                </a:solidFill>
                <a:latin typeface="Barlow Condensed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FOUNDING PARTNER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ormorant Garamond"/>
              </a:rPr>
              <a:t>Twelve
organizations.
One first cohort.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749039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8862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99A5BB"/>
                </a:solidFill>
                <a:latin typeface="Barlow"/>
              </a:rPr>
              <a:t>We're not looking for customers.
We're selecting partners who will
define the category with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502920"/>
            <a:ext cx="914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822960"/>
            <a:ext cx="5943600" cy="109728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924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178560"/>
            <a:ext cx="557784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Barlow"/>
              </a:rPr>
              <a:t>Founding Partner Program · 90-Day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943600" cy="109728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1590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13000"/>
            <a:ext cx="557784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"/>
              </a:rPr>
              <a:t>12 Organizations · Fortune 1000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291840"/>
            <a:ext cx="5943600" cy="109728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393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USE OF FUNDS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647440"/>
            <a:ext cx="557784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Barlow"/>
              </a:rPr>
              <a:t>Protocol Expansion · Sales Infrastructure · Category Establishment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4526280"/>
            <a:ext cx="5943600" cy="109728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4627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WHY THIS 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881880"/>
            <a:ext cx="557784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"/>
              </a:rPr>
              <a:t>Investors who see the category before the category exists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0" y="457200"/>
            <a:ext cx="25400" cy="12700"/>
          </a:xfrm>
          <a:prstGeom prst="rect">
            <a:avLst/>
          </a:prstGeom>
          <a:solidFill>
            <a:srgbClr val="22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572000" cy="3200400"/>
          </a:xfrm>
          <a:prstGeom prst="rect">
            <a:avLst/>
          </a:prstGeom>
          <a:solidFill>
            <a:srgbClr val="101C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Three sentences. That's the whole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5080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6680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041400"/>
            <a:ext cx="9144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No preparation infrastructure exists. Strategic triggers arrive in real time — the mobilization cycle still averages 30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5080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7556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550160"/>
            <a:ext cx="9144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We rebuilt the operating model. Pre-staged execution replaces real-time coordination — 12 minutes, not 30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137160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931920"/>
            <a:ext cx="50800" cy="127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8432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058920"/>
            <a:ext cx="9144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At $120K, we replace a $400K–$800K retainer. Break-even before the second activation. The budget line already exists.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989320"/>
            <a:ext cx="9144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070"/>
                </a:solidFill>
                <a:latin typeface="Barlow Condensed"/>
              </a:rPr>
              <a:t>VaughnMartin · Readiness OS · The response is ready before the trigger fires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5070"/>
                </a:solidFill>
                <a:latin typeface="Barlow Condensed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