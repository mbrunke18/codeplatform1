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7" r:id="rId6"/>
    <p:sldId id="260" r:id="rId7"/>
    <p:sldId id="262" r:id="rId8"/>
    <p:sldId id="268" r:id="rId9"/>
    <p:sldId id="263" r:id="rId10"/>
    <p:sldId id="269" r:id="rId11"/>
    <p:sldId id="264" r:id="rId12"/>
    <p:sldId id="270" r:id="rId13"/>
    <p:sldId id="266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9" d="100"/>
          <a:sy n="89" d="100"/>
        </p:scale>
        <p:origin x="394" y="8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715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tower-raw.png"/>
          <p:cNvPicPr>
            <a:picLocks noChangeAspect="1"/>
          </p:cNvPicPr>
          <p:nvPr/>
        </p:nvPicPr>
        <p:blipFill>
          <a:blip r:embed="rId2"/>
          <a:srcRect t="-6" b="-6"/>
          <a:stretch>
            <a:fillRect/>
          </a:stretch>
        </p:blipFill>
        <p:spPr>
          <a:xfrm>
            <a:off x="6492240" y="1017917"/>
            <a:ext cx="5577840" cy="4539095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6492240" y="1008772"/>
            <a:ext cx="5458968" cy="4548239"/>
          </a:xfrm>
          <a:prstGeom prst="rect">
            <a:avLst/>
          </a:prstGeom>
          <a:noFill/>
          <a:ln w="1524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492240" y="4680678"/>
            <a:ext cx="5458968" cy="237744"/>
          </a:xfrm>
          <a:prstGeom prst="rect">
            <a:avLst/>
          </a:prstGeom>
          <a:solidFill>
            <a:srgbClr val="060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0" y="4744178"/>
            <a:ext cx="527608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C9A84C"/>
                </a:solidFill>
                <a:latin typeface="Barlow Condensed"/>
              </a:rPr>
              <a:t>COMMAND TOWER · LIVE SIGNAL MONITORING · PRODUCTION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6364224" y="512064"/>
            <a:ext cx="12700" cy="570585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vm-logo-h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" y="457200"/>
            <a:ext cx="2377440" cy="63841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84048" y="1115568"/>
            <a:ext cx="576072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87850"/>
                </a:solidFill>
                <a:latin typeface="Barlow Condensed"/>
              </a:rPr>
              <a:t>STRATEGIC READINESS PLATFORM · STARTUP TO FORTUNE 500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" y="1408176"/>
            <a:ext cx="5760720" cy="2084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Barlow Condensed"/>
              </a:rPr>
              <a:t>The response is ready
before the trigger fires.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" y="3822191"/>
            <a:ext cx="5760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99A5BB"/>
                </a:solidFill>
                <a:latin typeface="Barlow Condensed"/>
              </a:rPr>
              <a:t>Most enterprises plan to respond.
VaughnMartin is already executing.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84048" y="4553712"/>
            <a:ext cx="5760720" cy="420624"/>
          </a:xfrm>
          <a:prstGeom prst="rect">
            <a:avLst/>
          </a:prstGeom>
          <a:solidFill>
            <a:srgbClr val="182250"/>
          </a:solidFill>
          <a:ln w="10160">
            <a:solidFill>
              <a:srgbClr val="445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93776" y="4642612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9A84C"/>
                </a:solidFill>
                <a:latin typeface="Barlow Condensed"/>
              </a:rPr>
              <a:t>Activist Investor  ·  91% confidence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84048" y="5102352"/>
            <a:ext cx="5760720" cy="420624"/>
          </a:xfrm>
          <a:prstGeom prst="rect">
            <a:avLst/>
          </a:prstGeom>
          <a:solidFill>
            <a:srgbClr val="182250"/>
          </a:solidFill>
          <a:ln w="10160">
            <a:solidFill>
              <a:srgbClr val="445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93776" y="5191252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9A84C"/>
                </a:solidFill>
                <a:latin typeface="Barlow Condensed"/>
              </a:rPr>
              <a:t>Ransomware  ·  95% confidence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84048" y="5650992"/>
            <a:ext cx="5760720" cy="420624"/>
          </a:xfrm>
          <a:prstGeom prst="rect">
            <a:avLst/>
          </a:prstGeom>
          <a:solidFill>
            <a:srgbClr val="182250"/>
          </a:solidFill>
          <a:ln w="10160">
            <a:solidFill>
              <a:srgbClr val="445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93776" y="5739892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9A84C"/>
                </a:solidFill>
                <a:latin typeface="Barlow Condensed"/>
              </a:rPr>
              <a:t>Regulatory Inquiry  ·  87% confidence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254496"/>
            <a:ext cx="12191695" cy="475488"/>
          </a:xfrm>
          <a:prstGeom prst="rect">
            <a:avLst/>
          </a:prstGeom>
          <a:solidFill>
            <a:srgbClr val="060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57200" y="6318504"/>
            <a:ext cx="1127455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C9A84C"/>
                </a:solidFill>
                <a:latin typeface="Barlow Condensed"/>
              </a:rPr>
              <a:t>AI monitors continuously.   Executives authorize decisively.   Teams execute.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0" y="6455664"/>
            <a:ext cx="109728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445070"/>
                </a:solidFill>
                <a:latin typeface="Calibri"/>
              </a:rPr>
              <a:t>01 / 13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715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vm-logo-h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" y="6369635"/>
            <a:ext cx="1389888" cy="373224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329184" y="475488"/>
            <a:ext cx="5394960" cy="5687568"/>
          </a:xfrm>
          <a:prstGeom prst="rect">
            <a:avLst/>
          </a:prstGeom>
          <a:solidFill>
            <a:srgbClr val="0D1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03504" y="658368"/>
            <a:ext cx="1097280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9A84C"/>
                </a:solidFill>
                <a:latin typeface="Barlow Condensed"/>
              </a:rPr>
              <a:t>THE REALITY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3504" y="1005840"/>
            <a:ext cx="32004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0" b="1">
                <a:solidFill>
                  <a:srgbClr val="C9A84C"/>
                </a:solidFill>
                <a:latin typeface="Barlow Condensed"/>
              </a:rPr>
              <a:t>30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4" y="2798064"/>
            <a:ext cx="320040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Barlow Condensed"/>
              </a:rPr>
              <a:t>DAYS</a:t>
            </a:r>
          </a:p>
        </p:txBody>
      </p:sp>
      <p:sp>
        <p:nvSpPr>
          <p:cNvPr id="8" name="Rectangle 7"/>
          <p:cNvSpPr/>
          <p:nvPr/>
        </p:nvSpPr>
        <p:spPr>
          <a:xfrm>
            <a:off x="603504" y="3493008"/>
            <a:ext cx="4407408" cy="1905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03504" y="3657600"/>
            <a:ext cx="448056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99A5BB"/>
                </a:solidFill>
                <a:latin typeface="Barlow Condensed"/>
              </a:rPr>
              <a:t>Average mobilization time before execution begins.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63056" y="475488"/>
            <a:ext cx="5696712" cy="5687568"/>
          </a:xfrm>
          <a:prstGeom prst="rect">
            <a:avLst/>
          </a:prstGeom>
          <a:solidFill>
            <a:srgbClr val="0D1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37376" y="658368"/>
            <a:ext cx="1097280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9A84C"/>
                </a:solidFill>
                <a:latin typeface="Barlow Condensed"/>
              </a:rPr>
              <a:t>THE READINESS QUESTION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37376" y="1005840"/>
            <a:ext cx="53035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C9A84C"/>
                </a:solidFill>
                <a:latin typeface="Barlow Condensed"/>
              </a:rPr>
              <a:t>Who calls who?
Where's the brief?
Who owns it? Who authorizes?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37376" y="3236976"/>
            <a:ext cx="5120640" cy="1905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437376" y="3419856"/>
            <a:ext cx="5303520" cy="438912"/>
          </a:xfrm>
          <a:prstGeom prst="rect">
            <a:avLst/>
          </a:prstGeom>
          <a:solidFill>
            <a:srgbClr val="151F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565392" y="3493008"/>
            <a:ext cx="504748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Barlow Condensed"/>
              </a:rPr>
              <a:t>This is a readiness problem, not a talent problem.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37376" y="4005072"/>
            <a:ext cx="530352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9A5BB"/>
                </a:solidFill>
                <a:latin typeface="Barlow Condensed"/>
              </a:rPr>
              <a:t>— Coordination restarts from zero at every trigger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37376" y="4572000"/>
            <a:ext cx="530352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9A5BB"/>
                </a:solidFill>
                <a:latin typeface="Barlow Condensed"/>
              </a:rPr>
              <a:t>— The strategic window closes before execution begins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80176" y="365760"/>
            <a:ext cx="6350" cy="5961888"/>
          </a:xfrm>
          <a:prstGeom prst="rect">
            <a:avLst/>
          </a:prstGeom>
          <a:solidFill>
            <a:srgbClr val="1E2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972800" y="6455664"/>
            <a:ext cx="109728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445070"/>
                </a:solidFill>
                <a:latin typeface="Calibri"/>
              </a:rPr>
              <a:t>02 / 13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715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vm-logo-h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" y="6369635"/>
            <a:ext cx="1389888" cy="3732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20624"/>
            <a:ext cx="1097280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9A84C"/>
                </a:solidFill>
                <a:latin typeface="Barlow Condensed"/>
              </a:rPr>
              <a:t>THE PROBLEM IS ALREADY HERE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94944"/>
            <a:ext cx="11274552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  <a:latin typeface="Barlow Condensed"/>
              </a:rPr>
              <a:t>One of these is forming in your organization right now</a:t>
            </a:r>
          </a:p>
        </p:txBody>
      </p:sp>
      <p:sp>
        <p:nvSpPr>
          <p:cNvPr id="6" name="Rectangle 5"/>
          <p:cNvSpPr/>
          <p:nvPr/>
        </p:nvSpPr>
        <p:spPr>
          <a:xfrm>
            <a:off x="347472" y="1499616"/>
            <a:ext cx="3758184" cy="4224528"/>
          </a:xfrm>
          <a:prstGeom prst="rect">
            <a:avLst/>
          </a:prstGeom>
          <a:solidFill>
            <a:srgbClr val="101842"/>
          </a:solidFill>
          <a:ln w="10160">
            <a:solidFill>
              <a:srgbClr val="2834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118104" y="1609344"/>
            <a:ext cx="877824" cy="402336"/>
          </a:xfrm>
          <a:prstGeom prst="rect">
            <a:avLst/>
          </a:prstGeom>
          <a:solidFill>
            <a:srgbClr val="060C28"/>
          </a:solidFill>
          <a:ln w="17780">
            <a:solidFill>
              <a:srgbClr val="2B8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118104" y="1609344"/>
            <a:ext cx="877824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2B8A6E"/>
                </a:solidFill>
                <a:latin typeface="Barlow Condensed"/>
              </a:rPr>
              <a:t>95%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2064" y="1682496"/>
            <a:ext cx="24963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B8A6E"/>
                </a:solidFill>
                <a:latin typeface="Barlow Condensed"/>
              </a:rPr>
              <a:t>RISK &amp; RESILIENCE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2064" y="2231136"/>
            <a:ext cx="3429000" cy="969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Barlow Condensed"/>
              </a:rPr>
              <a:t>Ransomware
Attack Confirmed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2064" y="3328416"/>
            <a:ext cx="3429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9A5BB"/>
                </a:solidFill>
                <a:latin typeface="Barlow Condensed"/>
              </a:rPr>
              <a:t>Signal · 248 data points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12064" y="3749040"/>
            <a:ext cx="3429000" cy="50800"/>
          </a:xfrm>
          <a:prstGeom prst="rect">
            <a:avLst/>
          </a:prstGeom>
          <a:solidFill>
            <a:srgbClr val="1E2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12064" y="3749040"/>
            <a:ext cx="3257550" cy="50800"/>
          </a:xfrm>
          <a:prstGeom prst="rect">
            <a:avLst/>
          </a:prstGeom>
          <a:solidFill>
            <a:srgbClr val="2B8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297680" y="1499616"/>
            <a:ext cx="3758184" cy="4224528"/>
          </a:xfrm>
          <a:prstGeom prst="rect">
            <a:avLst/>
          </a:prstGeom>
          <a:solidFill>
            <a:srgbClr val="101842"/>
          </a:solidFill>
          <a:ln w="10160">
            <a:solidFill>
              <a:srgbClr val="2834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068312" y="1609344"/>
            <a:ext cx="877824" cy="402336"/>
          </a:xfrm>
          <a:prstGeom prst="rect">
            <a:avLst/>
          </a:prstGeom>
          <a:solidFill>
            <a:srgbClr val="060C28"/>
          </a:solidFill>
          <a:ln w="1778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068312" y="1609344"/>
            <a:ext cx="877824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C9A84C"/>
                </a:solidFill>
                <a:latin typeface="Barlow Condensed"/>
              </a:rPr>
              <a:t>87%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62272" y="1682496"/>
            <a:ext cx="24963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B8A6E"/>
                </a:solidFill>
                <a:latin typeface="Barlow Condensed"/>
              </a:rPr>
              <a:t>REGULATORY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62272" y="2231136"/>
            <a:ext cx="3429000" cy="969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Barlow Condensed"/>
              </a:rPr>
              <a:t>Regulatory
Inquiry Opened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62272" y="3328416"/>
            <a:ext cx="3429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9A5BB"/>
                </a:solidFill>
                <a:latin typeface="Barlow Condensed"/>
              </a:rPr>
              <a:t>Signal · threshold crossed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462272" y="3749040"/>
            <a:ext cx="3429000" cy="50800"/>
          </a:xfrm>
          <a:prstGeom prst="rect">
            <a:avLst/>
          </a:prstGeom>
          <a:solidFill>
            <a:srgbClr val="1E2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462272" y="3749040"/>
            <a:ext cx="2983230" cy="508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8247888" y="1499616"/>
            <a:ext cx="3758184" cy="4224528"/>
          </a:xfrm>
          <a:prstGeom prst="rect">
            <a:avLst/>
          </a:prstGeom>
          <a:solidFill>
            <a:srgbClr val="101842"/>
          </a:solidFill>
          <a:ln w="10160">
            <a:solidFill>
              <a:srgbClr val="2834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11018520" y="1609344"/>
            <a:ext cx="877824" cy="402336"/>
          </a:xfrm>
          <a:prstGeom prst="rect">
            <a:avLst/>
          </a:prstGeom>
          <a:solidFill>
            <a:srgbClr val="060C28"/>
          </a:solidFill>
          <a:ln w="1778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1018520" y="1609344"/>
            <a:ext cx="877824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C9A84C"/>
                </a:solidFill>
                <a:latin typeface="Barlow Condensed"/>
              </a:rPr>
              <a:t>91%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80" y="1682496"/>
            <a:ext cx="24963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B8A6E"/>
                </a:solidFill>
                <a:latin typeface="Barlow Condensed"/>
              </a:rPr>
              <a:t>RISK &amp; RESILIENCE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12480" y="2231136"/>
            <a:ext cx="3429000" cy="969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Barlow Condensed"/>
              </a:rPr>
              <a:t>Activist Investor</a:t>
            </a:r>
          </a:p>
          <a:p>
            <a:r>
              <a:rPr sz="2200" b="1">
                <a:solidFill>
                  <a:srgbClr val="FFFFFF"/>
                </a:solidFill>
                <a:latin typeface="Barlow Condensed"/>
              </a:rPr>
              <a:t>Pressure Filed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12480" y="3328416"/>
            <a:ext cx="3429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9A5BB"/>
                </a:solidFill>
                <a:latin typeface="Barlow Condensed"/>
              </a:rPr>
              <a:t>Signal · 13D filing detected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412480" y="3749040"/>
            <a:ext cx="3429000" cy="50800"/>
          </a:xfrm>
          <a:prstGeom prst="rect">
            <a:avLst/>
          </a:prstGeom>
          <a:solidFill>
            <a:srgbClr val="1E2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8412480" y="3749040"/>
            <a:ext cx="2811780" cy="50800"/>
          </a:xfrm>
          <a:prstGeom prst="rect">
            <a:avLst/>
          </a:prstGeom>
          <a:solidFill>
            <a:srgbClr val="2B8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329184" y="5870448"/>
            <a:ext cx="11530584" cy="384048"/>
          </a:xfrm>
          <a:prstGeom prst="rect">
            <a:avLst/>
          </a:prstGeom>
          <a:solidFill>
            <a:srgbClr val="101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57200" y="5925312"/>
            <a:ext cx="1127455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445880"/>
                </a:solidFill>
                <a:latin typeface="Barlow Condensed"/>
              </a:rPr>
              <a:t>221 triggers monitored  ·  248 data points  ·  refreshed every 15 minutes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972800" y="6455664"/>
            <a:ext cx="109728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445070"/>
                </a:solidFill>
                <a:latin typeface="Calibri"/>
              </a:rPr>
              <a:t>03 / 13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715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vm-logo-h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" y="6369635"/>
            <a:ext cx="1389888" cy="3732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20624"/>
            <a:ext cx="1097280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C9A84C"/>
                </a:solidFill>
                <a:latin typeface="Barlow Condensed"/>
              </a:rPr>
              <a:t>THE ANSWER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731520"/>
            <a:ext cx="10360152" cy="104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>
                <a:solidFill>
                  <a:srgbClr val="FFFFFF"/>
                </a:solidFill>
                <a:latin typeface="Barlow Condensed"/>
              </a:rPr>
              <a:t>The response is ready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719072"/>
            <a:ext cx="10360152" cy="104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>
                <a:solidFill>
                  <a:srgbClr val="C9A84C"/>
                </a:solidFill>
                <a:latin typeface="Barlow Condensed"/>
              </a:rPr>
              <a:t>before the trigger fires.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798064"/>
            <a:ext cx="10360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1">
                <a:solidFill>
                  <a:srgbClr val="99A5BB"/>
                </a:solidFill>
                <a:latin typeface="Barlow Condensed"/>
              </a:rPr>
              <a:t>Preparation  →  Readiness  →  Fearless</a:t>
            </a:r>
          </a:p>
        </p:txBody>
      </p:sp>
      <p:sp>
        <p:nvSpPr>
          <p:cNvPr id="8" name="Rectangle 7"/>
          <p:cNvSpPr/>
          <p:nvPr/>
        </p:nvSpPr>
        <p:spPr>
          <a:xfrm>
            <a:off x="3813048" y="3328416"/>
            <a:ext cx="4572000" cy="1905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3511296"/>
            <a:ext cx="3657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C9A84C"/>
                </a:solidFill>
                <a:latin typeface="Barlow Condensed"/>
              </a:rPr>
              <a:t>170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4590288"/>
            <a:ext cx="36576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  <a:latin typeface="Barlow Condensed"/>
              </a:rPr>
              <a:t>Readiness Protocols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61688" y="3511296"/>
            <a:ext cx="3657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C9A84C"/>
                </a:solidFill>
                <a:latin typeface="Barlow Condensed"/>
              </a:rPr>
              <a:t>221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61688" y="4590288"/>
            <a:ext cx="36576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  <a:latin typeface="Barlow Condensed"/>
              </a:rPr>
              <a:t>Strategic Triggers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0456" y="3511296"/>
            <a:ext cx="3657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C9A84C"/>
                </a:solidFill>
                <a:latin typeface="Barlow Condensed"/>
              </a:rPr>
              <a:t>12 MIN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0456" y="4590288"/>
            <a:ext cx="36576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  <a:latin typeface="Barlow Condensed"/>
              </a:rPr>
              <a:t>Execution Window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828800" y="5577840"/>
            <a:ext cx="8531352" cy="475488"/>
          </a:xfrm>
          <a:prstGeom prst="rect">
            <a:avLst/>
          </a:prstGeom>
          <a:solidFill>
            <a:srgbClr val="0A0F2E"/>
          </a:solidFill>
          <a:ln w="10160">
            <a:solidFill>
              <a:srgbClr val="445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920240" y="5669280"/>
            <a:ext cx="834847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C9A84C"/>
                </a:solidFill>
                <a:latin typeface="Barlow Condensed"/>
              </a:rPr>
              <a:t>AI monitors.   Executives authorize.   Teams execute.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0" y="6455664"/>
            <a:ext cx="109728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445070"/>
                </a:solidFill>
                <a:latin typeface="Calibri"/>
              </a:rPr>
              <a:t>04 / 13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41148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 i="0">
                <a:solidFill>
                  <a:srgbClr val="0A0F2E"/>
                </a:solidFill>
                <a:latin typeface="Georgia"/>
              </a:rPr>
              <a:t>VaughnMartin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85800"/>
            <a:ext cx="411480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1" i="0" spc="800">
                <a:solidFill>
                  <a:srgbClr val="6B7280"/>
                </a:solidFill>
                <a:latin typeface="Calibri"/>
              </a:rPr>
              <a:t>READINESS 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88720"/>
            <a:ext cx="914400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 i="0" spc="600">
                <a:solidFill>
                  <a:srgbClr val="0A0F2E"/>
                </a:solidFill>
                <a:latin typeface="Calibri"/>
              </a:rPr>
              <a:t>THE OPPORTUNITY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481328"/>
            <a:ext cx="457200" cy="2286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1691640"/>
            <a:ext cx="777240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0A0F2E"/>
                </a:solidFill>
                <a:latin typeface="Georgia"/>
              </a:rPr>
              <a:t>A $42 billion</a:t>
            </a:r>
          </a:p>
          <a:p>
            <a:pPr algn="l">
              <a:lnSpc>
                <a:spcPct val="105000"/>
              </a:lnSpc>
            </a:pPr>
            <a:r>
              <a:rPr sz="4400" b="1" i="1">
                <a:solidFill>
                  <a:srgbClr val="C9A84C"/>
                </a:solidFill>
                <a:latin typeface="Georgia"/>
              </a:rPr>
              <a:t>coordination failure.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246120"/>
            <a:ext cx="7772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1F2937"/>
                </a:solidFill>
                <a:latin typeface="Calibri"/>
              </a:rPr>
              <a:t>Fortune 5000 enterprises lose 30+ days to mobilization before every strategic event.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5195" y="3840480"/>
            <a:ext cx="3657600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E8E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99515" y="4023360"/>
            <a:ext cx="3108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 spc="800">
                <a:solidFill>
                  <a:srgbClr val="0A0F2E"/>
                </a:solidFill>
                <a:latin typeface="Calibri"/>
              </a:rPr>
              <a:t>TAM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9515" y="4297680"/>
            <a:ext cx="310896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800" b="1" i="0">
                <a:solidFill>
                  <a:srgbClr val="C9A84C"/>
                </a:solidFill>
                <a:latin typeface="Georgia"/>
              </a:rPr>
              <a:t>$42B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5" y="5166360"/>
            <a:ext cx="31089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Enterprise coordination, governance,
and execution infrastructure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5" y="5687568"/>
            <a:ext cx="3108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1">
                <a:solidFill>
                  <a:srgbClr val="6B7280"/>
                </a:solidFill>
                <a:latin typeface="Calibri"/>
              </a:rPr>
              <a:t>Gartner SPM + GRC + EPMO categories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65676" y="3840480"/>
            <a:ext cx="3657600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E8E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539996" y="4023360"/>
            <a:ext cx="3108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 spc="800">
                <a:solidFill>
                  <a:srgbClr val="0A0F2E"/>
                </a:solidFill>
                <a:latin typeface="Calibri"/>
              </a:rPr>
              <a:t>SAM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39996" y="4297680"/>
            <a:ext cx="310896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800" b="1" i="0">
                <a:solidFill>
                  <a:srgbClr val="C9A84C"/>
                </a:solidFill>
                <a:latin typeface="Georgia"/>
              </a:rPr>
              <a:t>$4.8B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39996" y="5166360"/>
            <a:ext cx="31089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Operating model layer for Fortune 5000
and PE-backed enterprises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39996" y="5687568"/>
            <a:ext cx="3108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1">
                <a:solidFill>
                  <a:srgbClr val="6B7280"/>
                </a:solidFill>
                <a:latin typeface="Calibri"/>
              </a:rPr>
              <a:t>~25K target accounts × $200K avg ACV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106156" y="3840480"/>
            <a:ext cx="3657600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E8E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380476" y="4023360"/>
            <a:ext cx="3108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 spc="800">
                <a:solidFill>
                  <a:srgbClr val="0A0F2E"/>
                </a:solidFill>
                <a:latin typeface="Calibri"/>
              </a:rPr>
              <a:t>SOM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80476" y="4297680"/>
            <a:ext cx="310896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800" b="1" i="0">
                <a:solidFill>
                  <a:srgbClr val="C9A84C"/>
                </a:solidFill>
                <a:latin typeface="Georgia"/>
              </a:rPr>
              <a:t>$180M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80476" y="5166360"/>
            <a:ext cx="31089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5-year capture target across
Founding Partner and Growth tiers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80476" y="5687568"/>
            <a:ext cx="3108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1">
                <a:solidFill>
                  <a:srgbClr val="6B7280"/>
                </a:solidFill>
                <a:latin typeface="Calibri"/>
              </a:rPr>
              <a:t>600 customers × $300K avg ACV by Y5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263640"/>
            <a:ext cx="109728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i="1">
                <a:solidFill>
                  <a:srgbClr val="6B7280"/>
                </a:solidFill>
                <a:latin typeface="Calibri"/>
              </a:rPr>
              <a:t>Sources: Gartner Strategic Portfolio Management 2025  ·  McKinsey 2025 coordination cost  ·  WEF × Accenture March 2026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6492240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1" i="0" spc="600">
                <a:solidFill>
                  <a:srgbClr val="6B7280"/>
                </a:solidFill>
                <a:latin typeface="Calibri"/>
              </a:rPr>
              <a:t>VaughnMartin  ·  Readiness OS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58400" y="6492240"/>
            <a:ext cx="1673352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00" b="1" i="0" spc="600">
                <a:solidFill>
                  <a:srgbClr val="6B7280"/>
                </a:solidFill>
                <a:latin typeface="Calibri"/>
              </a:rPr>
              <a:t>05 / 13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715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vm-logo-h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" y="6369635"/>
            <a:ext cx="1389888" cy="3732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20624"/>
            <a:ext cx="1097280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9A84C"/>
                </a:solidFill>
                <a:latin typeface="Barlow Condensed"/>
              </a:rPr>
              <a:t>WHY THIS IS DEFENSIBLE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94944"/>
            <a:ext cx="1127455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Barlow Condensed"/>
              </a:rPr>
              <a:t>The architecture that separates execution from mobilization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463040"/>
            <a:ext cx="11274552" cy="1905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29184" y="1591056"/>
            <a:ext cx="5687568" cy="3840480"/>
          </a:xfrm>
          <a:prstGeom prst="rect">
            <a:avLst/>
          </a:prstGeom>
          <a:solidFill>
            <a:srgbClr val="180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03504" y="1755648"/>
            <a:ext cx="5358384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8888"/>
                </a:solidFill>
                <a:latin typeface="Barlow Condensed"/>
              </a:rPr>
              <a:t>Old Model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2084832"/>
            <a:ext cx="5358384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8888"/>
                </a:solidFill>
                <a:latin typeface="Barlow Condensed"/>
              </a:rPr>
              <a:t>✕  Faster notes from the same slow meetings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3504" y="2779776"/>
            <a:ext cx="5358384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8888"/>
                </a:solidFill>
                <a:latin typeface="Barlow Condensed"/>
              </a:rPr>
              <a:t>✕  No readiness architecture — triggers catch you cold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504" y="3474720"/>
            <a:ext cx="5358384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8888"/>
                </a:solidFill>
                <a:latin typeface="Barlow Condensed"/>
              </a:rPr>
              <a:t>✕  Authority unclear when pressure arrives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3504" y="4169664"/>
            <a:ext cx="5358384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8888"/>
                </a:solidFill>
                <a:latin typeface="Barlow Condensed"/>
              </a:rPr>
              <a:t>✕  30 days to mobilize before execution starts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72200" y="1591056"/>
            <a:ext cx="5687568" cy="3840480"/>
          </a:xfrm>
          <a:prstGeom prst="rect">
            <a:avLst/>
          </a:prstGeom>
          <a:solidFill>
            <a:srgbClr val="0818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46520" y="1755648"/>
            <a:ext cx="5358384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9A84C"/>
                </a:solidFill>
                <a:latin typeface="Barlow Condensed"/>
              </a:rPr>
              <a:t>VaughnMartin Readiness 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2084832"/>
            <a:ext cx="5358384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6CC99"/>
                </a:solidFill>
                <a:latin typeface="Barlow Condensed"/>
              </a:rPr>
              <a:t>✓  Response pre-staged before the trigger fires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2779776"/>
            <a:ext cx="5358384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6CC99"/>
                </a:solidFill>
                <a:latin typeface="Barlow Condensed"/>
              </a:rPr>
              <a:t>✓  170 protocols · 221 triggers · ready before the moment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3474720"/>
            <a:ext cx="5358384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6CC99"/>
                </a:solidFill>
                <a:latin typeface="Barlow Condensed"/>
              </a:rPr>
              <a:t>✓  Executive authorization gate at every activation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4169664"/>
            <a:ext cx="5358384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6CC99"/>
                </a:solidFill>
                <a:latin typeface="Barlow Condensed"/>
              </a:rPr>
              <a:t>✓  12-minute execution window from signal to action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89320" y="1591056"/>
            <a:ext cx="6350" cy="3840480"/>
          </a:xfrm>
          <a:prstGeom prst="rect">
            <a:avLst/>
          </a:prstGeom>
          <a:solidFill>
            <a:srgbClr val="1E2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0" name="Picture 19" descr="protocols-raw.png"/>
          <p:cNvPicPr>
            <a:picLocks noChangeAspect="1"/>
          </p:cNvPicPr>
          <p:nvPr/>
        </p:nvPicPr>
        <p:blipFill>
          <a:blip r:embed="rId3"/>
          <a:srcRect t="-471553" b="-471553"/>
          <a:stretch>
            <a:fillRect/>
          </a:stretch>
        </p:blipFill>
        <p:spPr>
          <a:xfrm>
            <a:off x="329184" y="5559552"/>
            <a:ext cx="11530584" cy="621792"/>
          </a:xfrm>
          <a:prstGeom prst="rect">
            <a:avLst/>
          </a:prstGeom>
        </p:spPr>
      </p:pic>
      <p:sp>
        <p:nvSpPr>
          <p:cNvPr id="21" name="Rectangle 20"/>
          <p:cNvSpPr/>
          <p:nvPr/>
        </p:nvSpPr>
        <p:spPr>
          <a:xfrm>
            <a:off x="329184" y="5559552"/>
            <a:ext cx="11530584" cy="621792"/>
          </a:xfrm>
          <a:prstGeom prst="rect">
            <a:avLst/>
          </a:prstGeom>
          <a:noFill/>
          <a:ln w="1524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329184" y="5559552"/>
            <a:ext cx="11530584" cy="621792"/>
          </a:xfrm>
          <a:prstGeom prst="rect">
            <a:avLst/>
          </a:prstGeom>
          <a:solidFill>
            <a:srgbClr val="06081A"/>
          </a:solidFill>
          <a:ln w="1016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57200" y="5737352"/>
            <a:ext cx="11274552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C9A84C"/>
                </a:solidFill>
                <a:latin typeface="Barlow Condensed"/>
              </a:rPr>
              <a:t>LIVE PLATFORM  ·  170 Readiness Protocols  ·  startup to Fortune 500  ·  vaughnmartin.com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0" y="6455664"/>
            <a:ext cx="109728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445070"/>
                </a:solidFill>
                <a:latin typeface="Calibri"/>
              </a:rPr>
              <a:t>06 / 13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715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vm-logo-h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" y="6369635"/>
            <a:ext cx="1389888" cy="3732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20624"/>
            <a:ext cx="1097280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9A84C"/>
                </a:solidFill>
                <a:latin typeface="Barlow Condensed"/>
              </a:rPr>
              <a:t>BUSINESS VALUE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94944"/>
            <a:ext cx="7132320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Barlow Condensed"/>
              </a:rPr>
              <a:t>Readiness is not overhead.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89888"/>
            <a:ext cx="7132320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C9A84C"/>
                </a:solidFill>
                <a:latin typeface="Barlow Condensed"/>
              </a:rPr>
              <a:t>It is value protection.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231136"/>
            <a:ext cx="11274552" cy="1905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2414016"/>
            <a:ext cx="5120640" cy="12435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0" b="1" i="0">
                <a:solidFill>
                  <a:srgbClr val="C9A84C"/>
                </a:solidFill>
                <a:latin typeface="Barlow Condensed"/>
              </a:rPr>
              <a:t>3,600×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547872"/>
            <a:ext cx="5120640" cy="33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9A5BB"/>
                </a:solidFill>
                <a:latin typeface="Barlow Condensed"/>
              </a:rPr>
              <a:t>Execution head start — 30 days compressed to 12 minutes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3895344"/>
            <a:ext cx="5120640" cy="1905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7200" y="4096512"/>
            <a:ext cx="51206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9A84C"/>
                </a:solidFill>
                <a:latin typeface="Barlow Condensed"/>
              </a:rPr>
              <a:t>▶  Founding Partner: $75K / 90-day validation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663440"/>
            <a:ext cx="51206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Barlow Condensed"/>
              </a:rPr>
              <a:t>▶  Growth: $75K–$250K annually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5230368"/>
            <a:ext cx="51206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B8A6E"/>
                </a:solidFill>
                <a:latin typeface="Barlow Condensed"/>
              </a:rPr>
              <a:t>▶  Cost of delay is often higher than cost of readiness.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36208" y="2359152"/>
            <a:ext cx="5623560" cy="3803904"/>
          </a:xfrm>
          <a:prstGeom prst="rect">
            <a:avLst/>
          </a:prstGeom>
          <a:solidFill>
            <a:srgbClr val="0D1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510528" y="2542032"/>
            <a:ext cx="1097280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9A84C"/>
                </a:solidFill>
                <a:latin typeface="Barlow Condensed"/>
              </a:rPr>
              <a:t>COMMERCIAL LOGIC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93408" y="2743200"/>
            <a:ext cx="5084064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99A5BB"/>
                </a:solidFill>
                <a:latin typeface="Barlow Condensed"/>
              </a:rPr>
              <a:t>Replaces the $400K–$800K consulting retainer.
Break-even before the 2nd activation.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10528" y="3540760"/>
            <a:ext cx="5084064" cy="6350"/>
          </a:xfrm>
          <a:prstGeom prst="rect">
            <a:avLst/>
          </a:prstGeom>
          <a:solidFill>
            <a:srgbClr val="2834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510528" y="3566160"/>
            <a:ext cx="210312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99A5BB"/>
                </a:solidFill>
                <a:latin typeface="Barlow Condensed"/>
              </a:rPr>
              <a:t>FOUNDING PARTNER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05088" y="3566160"/>
            <a:ext cx="283464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C9A84C"/>
                </a:solidFill>
                <a:latin typeface="Barlow Condensed"/>
              </a:rPr>
              <a:t>$75K / 90 days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10528" y="4144264"/>
            <a:ext cx="5084064" cy="6350"/>
          </a:xfrm>
          <a:prstGeom prst="rect">
            <a:avLst/>
          </a:prstGeom>
          <a:solidFill>
            <a:srgbClr val="2834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510528" y="4169664"/>
            <a:ext cx="210312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99A5BB"/>
                </a:solidFill>
                <a:latin typeface="Barlow Condensed"/>
              </a:rPr>
              <a:t>GROWTH TIER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05088" y="4169664"/>
            <a:ext cx="283464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Barlow Condensed"/>
              </a:rPr>
              <a:t>$75K–$250K annually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10528" y="4747768"/>
            <a:ext cx="5084064" cy="6350"/>
          </a:xfrm>
          <a:prstGeom prst="rect">
            <a:avLst/>
          </a:prstGeom>
          <a:solidFill>
            <a:srgbClr val="2834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510528" y="4773168"/>
            <a:ext cx="210312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99A5BB"/>
                </a:solidFill>
                <a:latin typeface="Barlow Condensed"/>
              </a:rPr>
              <a:t>COHORT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05088" y="4773168"/>
            <a:ext cx="283464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Barlow Condensed"/>
              </a:rPr>
              <a:t>startup to Fortune 500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10528" y="5351272"/>
            <a:ext cx="5084064" cy="6350"/>
          </a:xfrm>
          <a:prstGeom prst="rect">
            <a:avLst/>
          </a:prstGeom>
          <a:solidFill>
            <a:srgbClr val="2834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510528" y="5376672"/>
            <a:ext cx="210312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99A5BB"/>
                </a:solidFill>
                <a:latin typeface="Barlow Condensed"/>
              </a:rPr>
              <a:t>BOARD LINE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05088" y="5376672"/>
            <a:ext cx="283464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B8A6E"/>
                </a:solidFill>
                <a:latin typeface="Barlow Condensed"/>
              </a:rPr>
              <a:t>Cost of delay &gt; cost of readiness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053328" y="2176272"/>
            <a:ext cx="6350" cy="4078224"/>
          </a:xfrm>
          <a:prstGeom prst="rect">
            <a:avLst/>
          </a:prstGeom>
          <a:solidFill>
            <a:srgbClr val="1E2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0972800" y="6455664"/>
            <a:ext cx="109728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445070"/>
                </a:solidFill>
                <a:latin typeface="Calibri"/>
              </a:rPr>
              <a:t>07 / 13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41148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 i="0">
                <a:solidFill>
                  <a:srgbClr val="0A0F2E"/>
                </a:solidFill>
                <a:latin typeface="Georgia"/>
              </a:rPr>
              <a:t>VaughnMartin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85800"/>
            <a:ext cx="411480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1" i="0" spc="800">
                <a:solidFill>
                  <a:srgbClr val="6B7280"/>
                </a:solidFill>
                <a:latin typeface="Calibri"/>
              </a:rPr>
              <a:t>READINESS 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88720"/>
            <a:ext cx="914400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 i="0" spc="600">
                <a:solidFill>
                  <a:srgbClr val="0A0F2E"/>
                </a:solidFill>
                <a:latin typeface="Calibri"/>
              </a:rPr>
              <a:t>BUSINESS MODEL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481328"/>
            <a:ext cx="457200" cy="2286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1691640"/>
            <a:ext cx="1097280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0A0F2E"/>
                </a:solidFill>
                <a:latin typeface="Georgia"/>
              </a:rPr>
              <a:t>Pricing tiered.</a:t>
            </a:r>
          </a:p>
          <a:p>
            <a:pPr algn="l">
              <a:lnSpc>
                <a:spcPct val="105000"/>
              </a:lnSpc>
            </a:pPr>
            <a:r>
              <a:rPr sz="4000" b="1" i="1">
                <a:solidFill>
                  <a:srgbClr val="C9A84C"/>
                </a:solidFill>
                <a:latin typeface="Georgia"/>
              </a:rPr>
              <a:t>Expansion built in.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33756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0A0F2E"/>
                </a:solidFill>
                <a:latin typeface="Calibri"/>
              </a:rPr>
              <a:t>PRICING LADDER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3630168"/>
            <a:ext cx="457200" cy="2286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57200" y="4069080"/>
            <a:ext cx="54864" cy="32004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080" y="4059936"/>
            <a:ext cx="17373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0A0F2E"/>
                </a:solidFill>
                <a:latin typeface="Calibri"/>
              </a:rPr>
              <a:t>Founding Partner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297680"/>
            <a:ext cx="2286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Calibri"/>
              </a:rPr>
              <a:t>Validation cohort · 12 seats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91840" y="4059936"/>
            <a:ext cx="1371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rgbClr val="C9A84C"/>
                </a:solidFill>
                <a:latin typeface="Georgia"/>
              </a:rPr>
              <a:t>$75K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3440" y="4169664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/ 90 days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4572000"/>
            <a:ext cx="54864" cy="320040"/>
          </a:xfrm>
          <a:prstGeom prst="rect">
            <a:avLst/>
          </a:prstGeom>
          <a:solidFill>
            <a:srgbClr val="0A0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0080" y="4562856"/>
            <a:ext cx="17373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0A0F2E"/>
                </a:solidFill>
                <a:latin typeface="Calibri"/>
              </a:rPr>
              <a:t>Ready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4800600"/>
            <a:ext cx="2286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Calibri"/>
              </a:rPr>
              <a:t>SMB and PE-backed startups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91840" y="4562856"/>
            <a:ext cx="1371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rgbClr val="C9A84C"/>
                </a:solidFill>
                <a:latin typeface="Georgia"/>
              </a:rPr>
              <a:t>$75K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63440" y="4672584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/ year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5074920"/>
            <a:ext cx="54864" cy="320040"/>
          </a:xfrm>
          <a:prstGeom prst="rect">
            <a:avLst/>
          </a:prstGeom>
          <a:solidFill>
            <a:srgbClr val="0A0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0080" y="5065776"/>
            <a:ext cx="17373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0A0F2E"/>
                </a:solidFill>
                <a:latin typeface="Calibri"/>
              </a:rPr>
              <a:t>Responsive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5303520"/>
            <a:ext cx="2286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Calibri"/>
              </a:rPr>
              <a:t>Mid-market and Fortune 5000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91840" y="5065776"/>
            <a:ext cx="1371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rgbClr val="C9A84C"/>
                </a:solidFill>
                <a:latin typeface="Georgia"/>
              </a:rPr>
              <a:t>$150K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63440" y="5175504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/ year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5577840"/>
            <a:ext cx="54864" cy="320040"/>
          </a:xfrm>
          <a:prstGeom prst="rect">
            <a:avLst/>
          </a:prstGeom>
          <a:solidFill>
            <a:srgbClr val="0A0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40080" y="5568696"/>
            <a:ext cx="17373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0A0F2E"/>
                </a:solidFill>
                <a:latin typeface="Calibri"/>
              </a:rPr>
              <a:t>Orchestrated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5806440"/>
            <a:ext cx="2286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Calibri"/>
              </a:rPr>
              <a:t>Fortune 1000 enterprise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91840" y="5568696"/>
            <a:ext cx="1371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rgbClr val="C9A84C"/>
                </a:solidFill>
                <a:latin typeface="Georgia"/>
              </a:rPr>
              <a:t>$250K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63440" y="5678424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/ year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333756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0A0F2E"/>
                </a:solidFill>
                <a:latin typeface="Calibri"/>
              </a:rPr>
              <a:t>UNIT ECONOMICS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0" y="3630168"/>
            <a:ext cx="457200" cy="2286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400800" y="4059936"/>
            <a:ext cx="16459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>
                <a:solidFill>
                  <a:srgbClr val="2B8A6E"/>
                </a:solidFill>
                <a:latin typeface="Georgia"/>
              </a:rPr>
              <a:t>80%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092440" y="406908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0A0F2E"/>
                </a:solidFill>
                <a:latin typeface="Calibri"/>
              </a:rPr>
              <a:t>Target gross margin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92440" y="4315968"/>
            <a:ext cx="3657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Calibri"/>
              </a:rPr>
              <a:t>Software at scale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0" y="4562856"/>
            <a:ext cx="16459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>
                <a:solidFill>
                  <a:srgbClr val="2B8A6E"/>
                </a:solidFill>
                <a:latin typeface="Georgia"/>
              </a:rPr>
              <a:t>120%+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092440" y="457200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0A0F2E"/>
                </a:solidFill>
                <a:latin typeface="Calibri"/>
              </a:rPr>
              <a:t>Net revenue retention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092440" y="4818888"/>
            <a:ext cx="3657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Calibri"/>
              </a:rPr>
              <a:t>Industry pack expansion drives upsell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0" y="5065776"/>
            <a:ext cx="16459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>
                <a:solidFill>
                  <a:srgbClr val="2B8A6E"/>
                </a:solidFill>
                <a:latin typeface="Georgia"/>
              </a:rPr>
              <a:t>5:1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092440" y="507492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0A0F2E"/>
                </a:solidFill>
                <a:latin typeface="Calibri"/>
              </a:rPr>
              <a:t>Target LTV:CAC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092440" y="5321808"/>
            <a:ext cx="3657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Calibri"/>
              </a:rPr>
              <a:t>Multi-year ACV, low churn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00800" y="5568696"/>
            <a:ext cx="16459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>
                <a:solidFill>
                  <a:srgbClr val="2B8A6E"/>
                </a:solidFill>
                <a:latin typeface="Georgia"/>
              </a:rPr>
              <a:t>$300K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092440" y="557784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0A0F2E"/>
                </a:solidFill>
                <a:latin typeface="Calibri"/>
              </a:rPr>
              <a:t>Target avg ACV by Year 3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092440" y="5824728"/>
            <a:ext cx="3657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Calibri"/>
              </a:rPr>
              <a:t>Up from $150K via tier and pack expansion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57200" y="6080760"/>
            <a:ext cx="11274552" cy="4572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457200" y="6199632"/>
            <a:ext cx="112745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 i="1">
                <a:solidFill>
                  <a:srgbClr val="0A0F2E"/>
                </a:solidFill>
                <a:latin typeface="Calibri"/>
              </a:rPr>
              <a:t>Founding Partner → Growth tier → industry pack add-ons.  Same platform.  Compounding ACV.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57200" y="6492240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1" i="0" spc="600">
                <a:solidFill>
                  <a:srgbClr val="6B7280"/>
                </a:solidFill>
                <a:latin typeface="Calibri"/>
              </a:rPr>
              <a:t>VaughnMartin  ·  Readiness OS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058400" y="6492240"/>
            <a:ext cx="1673352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00" b="1" i="0" spc="600">
                <a:solidFill>
                  <a:srgbClr val="6B7280"/>
                </a:solidFill>
                <a:latin typeface="Calibri"/>
              </a:rPr>
              <a:t>08 / 13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715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vm-logo-h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" y="6369635"/>
            <a:ext cx="1389888" cy="3732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20624"/>
            <a:ext cx="1097280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9A84C"/>
                </a:solidFill>
                <a:latin typeface="Barlow Condensed"/>
              </a:rPr>
              <a:t>BUILT. LIVE. IN PRODUCTION.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94944"/>
            <a:ext cx="1127455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  <a:latin typeface="Barlow Condensed"/>
              </a:rPr>
              <a:t>Not a roadmap — operating now</a:t>
            </a:r>
          </a:p>
        </p:txBody>
      </p:sp>
      <p:sp>
        <p:nvSpPr>
          <p:cNvPr id="6" name="Rectangle 5"/>
          <p:cNvSpPr/>
          <p:nvPr/>
        </p:nvSpPr>
        <p:spPr>
          <a:xfrm>
            <a:off x="329184" y="1426464"/>
            <a:ext cx="2834640" cy="877824"/>
          </a:xfrm>
          <a:prstGeom prst="rect">
            <a:avLst/>
          </a:prstGeom>
          <a:solidFill>
            <a:srgbClr val="0E1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29184" y="1444752"/>
            <a:ext cx="28346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C9A84C"/>
                </a:solidFill>
                <a:latin typeface="Barlow Condensed"/>
              </a:rPr>
              <a:t>170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9184" y="1956816"/>
            <a:ext cx="283464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9A5BB"/>
                </a:solidFill>
                <a:latin typeface="Barlow Condensed"/>
              </a:rPr>
              <a:t>Protocols</a:t>
            </a:r>
          </a:p>
        </p:txBody>
      </p:sp>
      <p:sp>
        <p:nvSpPr>
          <p:cNvPr id="9" name="Rectangle 8"/>
          <p:cNvSpPr/>
          <p:nvPr/>
        </p:nvSpPr>
        <p:spPr>
          <a:xfrm>
            <a:off x="3291840" y="1426464"/>
            <a:ext cx="2834640" cy="877824"/>
          </a:xfrm>
          <a:prstGeom prst="rect">
            <a:avLst/>
          </a:prstGeom>
          <a:solidFill>
            <a:srgbClr val="0E1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291840" y="1444752"/>
            <a:ext cx="28346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C9A84C"/>
                </a:solidFill>
                <a:latin typeface="Barlow Condensed"/>
              </a:rPr>
              <a:t>221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91840" y="1956816"/>
            <a:ext cx="283464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9A5BB"/>
                </a:solidFill>
                <a:latin typeface="Barlow Condensed"/>
              </a:rPr>
              <a:t>Triggers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54496" y="1426464"/>
            <a:ext cx="2834640" cy="877824"/>
          </a:xfrm>
          <a:prstGeom prst="rect">
            <a:avLst/>
          </a:prstGeom>
          <a:solidFill>
            <a:srgbClr val="0E1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254496" y="1444752"/>
            <a:ext cx="28346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2B8A6E"/>
                </a:solidFill>
                <a:latin typeface="Barlow Condensed"/>
              </a:rPr>
              <a:t>248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54496" y="1956816"/>
            <a:ext cx="283464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9A5BB"/>
                </a:solidFill>
                <a:latin typeface="Barlow Condensed"/>
              </a:rPr>
              <a:t>Data Points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217152" y="1426464"/>
            <a:ext cx="2834640" cy="877824"/>
          </a:xfrm>
          <a:prstGeom prst="rect">
            <a:avLst/>
          </a:prstGeom>
          <a:solidFill>
            <a:srgbClr val="0E1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217152" y="1444752"/>
            <a:ext cx="28346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C9A84C"/>
                </a:solidFill>
                <a:latin typeface="Barlow Condensed"/>
              </a:rPr>
              <a:t>15m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17152" y="1956816"/>
            <a:ext cx="283464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9A5BB"/>
                </a:solidFill>
                <a:latin typeface="Barlow Condensed"/>
              </a:rPr>
              <a:t>Refresh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9184" y="2377440"/>
            <a:ext cx="5629503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9A84C"/>
                </a:solidFill>
                <a:latin typeface="Barlow Condensed"/>
              </a:rPr>
              <a:t>Signal Intelligence · Live Detection Feed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33007" y="2377440"/>
            <a:ext cx="5629503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9A84C"/>
                </a:solidFill>
                <a:latin typeface="Barlow Condensed"/>
              </a:rPr>
              <a:t>Live Activation Console · Execution in Progress</a:t>
            </a:r>
          </a:p>
        </p:txBody>
      </p:sp>
      <p:pic>
        <p:nvPicPr>
          <p:cNvPr id="20" name="Picture 19" descr="signals-raw.png"/>
          <p:cNvPicPr>
            <a:picLocks noChangeAspect="1"/>
          </p:cNvPicPr>
          <p:nvPr/>
        </p:nvPicPr>
        <p:blipFill>
          <a:blip r:embed="rId3"/>
          <a:srcRect t="-6" b="-6"/>
          <a:stretch>
            <a:fillRect/>
          </a:stretch>
        </p:blipFill>
        <p:spPr>
          <a:xfrm>
            <a:off x="128878" y="2633472"/>
            <a:ext cx="5829809" cy="3529584"/>
          </a:xfrm>
          <a:prstGeom prst="rect">
            <a:avLst/>
          </a:prstGeom>
        </p:spPr>
      </p:pic>
      <p:sp>
        <p:nvSpPr>
          <p:cNvPr id="21" name="Rectangle 20"/>
          <p:cNvSpPr/>
          <p:nvPr/>
        </p:nvSpPr>
        <p:spPr>
          <a:xfrm>
            <a:off x="128878" y="2633472"/>
            <a:ext cx="5829809" cy="3166199"/>
          </a:xfrm>
          <a:prstGeom prst="rect">
            <a:avLst/>
          </a:prstGeom>
          <a:noFill/>
          <a:ln w="1524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329184" y="5561927"/>
            <a:ext cx="5629503" cy="237744"/>
          </a:xfrm>
          <a:prstGeom prst="rect">
            <a:avLst/>
          </a:prstGeom>
          <a:solidFill>
            <a:srgbClr val="060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20624" y="5625427"/>
            <a:ext cx="5446623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C9A84C"/>
                </a:solidFill>
                <a:latin typeface="Barlow Condensed"/>
              </a:rPr>
              <a:t>SIGNAL INTELLIGENCE FEED · LIVE DETECTIONS · VAUGHNMARTIN.COM</a:t>
            </a:r>
          </a:p>
        </p:txBody>
      </p:sp>
      <p:pic>
        <p:nvPicPr>
          <p:cNvPr id="24" name="Picture 23" descr="activation-raw.png"/>
          <p:cNvPicPr>
            <a:picLocks noChangeAspect="1"/>
          </p:cNvPicPr>
          <p:nvPr/>
        </p:nvPicPr>
        <p:blipFill>
          <a:blip r:embed="rId4"/>
          <a:srcRect t="-6" b="-6"/>
          <a:stretch>
            <a:fillRect/>
          </a:stretch>
        </p:blipFill>
        <p:spPr>
          <a:xfrm>
            <a:off x="6233007" y="2633472"/>
            <a:ext cx="5837073" cy="3511296"/>
          </a:xfrm>
          <a:prstGeom prst="rect">
            <a:avLst/>
          </a:prstGeom>
        </p:spPr>
      </p:pic>
      <p:sp>
        <p:nvSpPr>
          <p:cNvPr id="25" name="Rectangle 24"/>
          <p:cNvSpPr/>
          <p:nvPr/>
        </p:nvSpPr>
        <p:spPr>
          <a:xfrm>
            <a:off x="6233007" y="2633472"/>
            <a:ext cx="5629503" cy="3166199"/>
          </a:xfrm>
          <a:prstGeom prst="rect">
            <a:avLst/>
          </a:prstGeom>
          <a:noFill/>
          <a:ln w="1524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6233007" y="5561927"/>
            <a:ext cx="5629503" cy="237744"/>
          </a:xfrm>
          <a:prstGeom prst="rect">
            <a:avLst/>
          </a:prstGeom>
          <a:solidFill>
            <a:srgbClr val="060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324447" y="5625427"/>
            <a:ext cx="5446623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C9A84C"/>
                </a:solidFill>
                <a:latin typeface="Barlow Condensed"/>
              </a:rPr>
              <a:t>LIVE ACTIVATION CONSOLE · AUTHORIZED EXECUTION · VAUGHNMARTIN.COM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0" y="6455664"/>
            <a:ext cx="109728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445070"/>
                </a:solidFill>
                <a:latin typeface="Calibri"/>
              </a:rPr>
              <a:t>09 / 13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41148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 i="0">
                <a:solidFill>
                  <a:srgbClr val="0A0F2E"/>
                </a:solidFill>
                <a:latin typeface="Georgia"/>
              </a:rPr>
              <a:t>VaughnMartin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85800"/>
            <a:ext cx="411480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1" i="0" spc="800">
                <a:solidFill>
                  <a:srgbClr val="6B7280"/>
                </a:solidFill>
                <a:latin typeface="Calibri"/>
              </a:rPr>
              <a:t>READINESS 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88720"/>
            <a:ext cx="914400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 i="0" spc="600">
                <a:solidFill>
                  <a:srgbClr val="0A0F2E"/>
                </a:solidFill>
                <a:latin typeface="Calibri"/>
              </a:rPr>
              <a:t>TRACTION &amp; TEAM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481328"/>
            <a:ext cx="457200" cy="2286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1691640"/>
            <a:ext cx="1097280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0A0F2E"/>
                </a:solidFill>
                <a:latin typeface="Georgia"/>
              </a:rPr>
              <a:t>Built. Live.</a:t>
            </a:r>
          </a:p>
          <a:p>
            <a:pPr algn="l">
              <a:lnSpc>
                <a:spcPct val="105000"/>
              </a:lnSpc>
            </a:pPr>
            <a:r>
              <a:rPr sz="4400" b="1" i="1">
                <a:solidFill>
                  <a:srgbClr val="C9A84C"/>
                </a:solidFill>
                <a:latin typeface="Georgia"/>
              </a:rPr>
              <a:t>Validated.</a:t>
            </a:r>
          </a:p>
        </p:txBody>
      </p:sp>
      <p:sp>
        <p:nvSpPr>
          <p:cNvPr id="9" name="Rectangle 8"/>
          <p:cNvSpPr/>
          <p:nvPr/>
        </p:nvSpPr>
        <p:spPr>
          <a:xfrm>
            <a:off x="425195" y="3246120"/>
            <a:ext cx="3657600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E8E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25195" y="3246120"/>
            <a:ext cx="3657600" cy="3657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3795" y="3383279"/>
            <a:ext cx="32004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 spc="800">
                <a:solidFill>
                  <a:srgbClr val="0A0F2E"/>
                </a:solidFill>
                <a:latin typeface="Calibri"/>
              </a:rPr>
              <a:t>BUILT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795" y="3630168"/>
            <a:ext cx="32004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1">
                <a:solidFill>
                  <a:srgbClr val="0A0F2E"/>
                </a:solidFill>
                <a:latin typeface="Georgia"/>
              </a:rPr>
              <a:t>Production platform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99515" y="4096511"/>
            <a:ext cx="45720" cy="4572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36675" y="4023359"/>
            <a:ext cx="30175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  <a:latin typeface="Calibri"/>
              </a:rPr>
              <a:t>208 page components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99515" y="4343400"/>
            <a:ext cx="45720" cy="4572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36675" y="4270248"/>
            <a:ext cx="30175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  <a:latin typeface="Calibri"/>
              </a:rPr>
              <a:t>215+ registered routes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99515" y="4590288"/>
            <a:ext cx="45720" cy="4572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36675" y="4517136"/>
            <a:ext cx="30175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  <a:latin typeface="Calibri"/>
              </a:rPr>
              <a:t>170 Readiness Protocols seeded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99515" y="4837175"/>
            <a:ext cx="45720" cy="4572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36675" y="4764023"/>
            <a:ext cx="30175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  <a:latin typeface="Calibri"/>
              </a:rPr>
              <a:t>189 unit tests passing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99515" y="5084063"/>
            <a:ext cx="45720" cy="4572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36675" y="5010911"/>
            <a:ext cx="30175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  <a:latin typeface="Calibri"/>
              </a:rPr>
              <a:t>121 E2E tests passing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65676" y="3246120"/>
            <a:ext cx="3657600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E8E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4265676" y="3246120"/>
            <a:ext cx="3657600" cy="36576"/>
          </a:xfrm>
          <a:prstGeom prst="rect">
            <a:avLst/>
          </a:prstGeom>
          <a:solidFill>
            <a:srgbClr val="2B8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494276" y="3383279"/>
            <a:ext cx="32004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 spc="800">
                <a:solidFill>
                  <a:srgbClr val="0A0F2E"/>
                </a:solidFill>
                <a:latin typeface="Calibri"/>
              </a:rPr>
              <a:t>LIVE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94276" y="3630168"/>
            <a:ext cx="32004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1">
                <a:solidFill>
                  <a:srgbClr val="0A0F2E"/>
                </a:solidFill>
                <a:latin typeface="Georgia"/>
              </a:rPr>
              <a:t>Operating now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39996" y="4096511"/>
            <a:ext cx="45720" cy="4572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677156" y="4023359"/>
            <a:ext cx="30175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  <a:latin typeface="Calibri"/>
              </a:rPr>
              <a:t>vaughnmartin.com in production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39996" y="4343400"/>
            <a:ext cx="45720" cy="4572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677156" y="4270248"/>
            <a:ext cx="30175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  <a:latin typeface="Calibri"/>
              </a:rPr>
              <a:t>8-feed signal pipeline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39996" y="4590288"/>
            <a:ext cx="45720" cy="4572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677156" y="4517136"/>
            <a:ext cx="30175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  <a:latin typeface="Calibri"/>
              </a:rPr>
              <a:t>15-minute monitoring cycles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39996" y="4837175"/>
            <a:ext cx="45720" cy="4572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677156" y="4764023"/>
            <a:ext cx="30175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  <a:latin typeface="Calibri"/>
              </a:rPr>
              <a:t>12 Founding Partner seats forming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39996" y="5084063"/>
            <a:ext cx="45720" cy="4572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4677156" y="5010911"/>
            <a:ext cx="30175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  <a:latin typeface="Calibri"/>
              </a:rPr>
              <a:t>$75K / 90-day validation offer open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106156" y="3246120"/>
            <a:ext cx="3657600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E8E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8106156" y="3246120"/>
            <a:ext cx="3657600" cy="36576"/>
          </a:xfrm>
          <a:prstGeom prst="rect">
            <a:avLst/>
          </a:prstGeom>
          <a:solidFill>
            <a:srgbClr val="0A0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334756" y="3383279"/>
            <a:ext cx="32004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 spc="800">
                <a:solidFill>
                  <a:srgbClr val="0A0F2E"/>
                </a:solidFill>
                <a:latin typeface="Calibri"/>
              </a:rPr>
              <a:t>VALIDATED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34756" y="3630168"/>
            <a:ext cx="32004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1">
                <a:solidFill>
                  <a:srgbClr val="0A0F2E"/>
                </a:solidFill>
                <a:latin typeface="Georgia"/>
              </a:rPr>
              <a:t>Independent endorsement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380476" y="4096511"/>
            <a:ext cx="45720" cy="4572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8517636" y="4023359"/>
            <a:ext cx="30175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  <a:latin typeface="Calibri"/>
              </a:rPr>
              <a:t>Dr. Kerry Huang public endorsement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380476" y="4343400"/>
            <a:ext cx="45720" cy="4572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8517636" y="4270248"/>
            <a:ext cx="30175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  <a:latin typeface="Calibri"/>
              </a:rPr>
              <a:t>ESI Top 1% Researcher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380476" y="4590288"/>
            <a:ext cx="45720" cy="4572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8517636" y="4517136"/>
            <a:ext cx="30175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  <a:latin typeface="Calibri"/>
              </a:rPr>
              <a:t>408-firm governance study aligned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380476" y="4837175"/>
            <a:ext cx="45720" cy="4572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8517636" y="4764023"/>
            <a:ext cx="30175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  <a:latin typeface="Calibri"/>
              </a:rPr>
              <a:t>Named publicly on LinkedIn, April 2026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380476" y="5084063"/>
            <a:ext cx="45720" cy="4572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8517636" y="5010911"/>
            <a:ext cx="30175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  <a:latin typeface="Calibri"/>
              </a:rPr>
              <a:t>Category language adopted by peers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25195" y="5394960"/>
            <a:ext cx="11338560" cy="960120"/>
          </a:xfrm>
          <a:prstGeom prst="rect">
            <a:avLst/>
          </a:prstGeom>
          <a:solidFill>
            <a:srgbClr val="0A0F2E"/>
          </a:solidFill>
          <a:ln w="9525">
            <a:solidFill>
              <a:srgbClr val="0A0F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699515" y="5486400"/>
            <a:ext cx="32004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spc="800">
                <a:solidFill>
                  <a:srgbClr val="C9A84C"/>
                </a:solidFill>
                <a:latin typeface="Calibri"/>
              </a:rPr>
              <a:t>FOUNDER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99515" y="5687568"/>
            <a:ext cx="73152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Georgia"/>
              </a:rPr>
              <a:t>Marty Brunke  ·  Founder &amp; CEO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99515" y="5961888"/>
            <a:ext cx="107899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CADCFC"/>
                </a:solidFill>
                <a:latin typeface="Calibri"/>
              </a:rPr>
              <a:t>20+ years Fortune 500 operations: Ford, Toyota, Lockheed Martin, Charles Schwab, Vantiv/Worldpay, Boyd Gaming.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99515" y="6144768"/>
            <a:ext cx="107899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1">
                <a:solidFill>
                  <a:srgbClr val="CADCFC"/>
                </a:solidFill>
                <a:latin typeface="Calibri"/>
              </a:rPr>
              <a:t>Five years coaching major college football at Stanford.  Origin of the IDEA Framework: Prepare. Practice. Perform fearless. Never give up.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57200" y="6492240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1" i="0" spc="600">
                <a:solidFill>
                  <a:srgbClr val="6B7280"/>
                </a:solidFill>
                <a:latin typeface="Calibri"/>
              </a:rPr>
              <a:t>VaughnMartin  ·  Readiness OS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058400" y="6492240"/>
            <a:ext cx="1673352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00" b="1" i="0" spc="600">
                <a:solidFill>
                  <a:srgbClr val="6B7280"/>
                </a:solidFill>
                <a:latin typeface="Calibri"/>
              </a:rPr>
              <a:t>10 / 13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0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715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vm-logo-h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" y="6369635"/>
            <a:ext cx="1389888" cy="373224"/>
          </a:xfrm>
          <a:prstGeom prst="rect">
            <a:avLst/>
          </a:prstGeom>
        </p:spPr>
      </p:pic>
      <p:pic>
        <p:nvPicPr>
          <p:cNvPr id="4" name="Picture 3" descr="activation-raw.png"/>
          <p:cNvPicPr>
            <a:picLocks noChangeAspect="1"/>
          </p:cNvPicPr>
          <p:nvPr/>
        </p:nvPicPr>
        <p:blipFill>
          <a:blip r:embed="rId3"/>
          <a:srcRect t="-6" b="-6"/>
          <a:stretch>
            <a:fillRect/>
          </a:stretch>
        </p:blipFill>
        <p:spPr>
          <a:xfrm>
            <a:off x="6400799" y="1394244"/>
            <a:ext cx="5656581" cy="3854411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6400800" y="1394245"/>
            <a:ext cx="5458968" cy="3854410"/>
          </a:xfrm>
          <a:prstGeom prst="rect">
            <a:avLst/>
          </a:prstGeom>
          <a:noFill/>
          <a:ln w="1524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446520" y="5226011"/>
            <a:ext cx="5458968" cy="237744"/>
          </a:xfrm>
          <a:prstGeom prst="rect">
            <a:avLst/>
          </a:prstGeom>
          <a:solidFill>
            <a:srgbClr val="060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92240" y="5226011"/>
            <a:ext cx="527608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 dirty="0">
                <a:solidFill>
                  <a:srgbClr val="C9A84C"/>
                </a:solidFill>
                <a:latin typeface="Barlow Condensed"/>
              </a:rPr>
              <a:t>LIVE ACTIVATION CONSOLE · EXECUTION IN PROGRESS · PRODUCTION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6272784" y="512064"/>
            <a:ext cx="12700" cy="5742432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475488"/>
            <a:ext cx="1097280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444A68"/>
                </a:solidFill>
                <a:latin typeface="Barlow Condensed"/>
              </a:rPr>
              <a:t>WHY NOW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749808"/>
            <a:ext cx="5632704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A0F2E"/>
                </a:solidFill>
                <a:latin typeface="Barlow Condensed"/>
              </a:rPr>
              <a:t>AI capability is accelerating faster than enterprise readiness.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066543"/>
            <a:ext cx="658368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C9A84C"/>
                </a:solidFill>
                <a:latin typeface="Barlow Condensed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2066543"/>
            <a:ext cx="4901184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0A0F2E"/>
                </a:solidFill>
                <a:latin typeface="Barlow Condensed"/>
              </a:rPr>
              <a:t>AI capability accelerating. Enterprise mobilization readiness is not.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236975"/>
            <a:ext cx="658368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C9A84C"/>
                </a:solidFill>
                <a:latin typeface="Barlow Condensed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3236975"/>
            <a:ext cx="4901184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0A0F2E"/>
                </a:solidFill>
                <a:latin typeface="Barlow Condensed"/>
              </a:rPr>
              <a:t>Execution readiness is now the competitive bottleneck.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407407"/>
            <a:ext cx="658368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C9A84C"/>
                </a:solidFill>
                <a:latin typeface="Barlow Condensed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" y="4407407"/>
            <a:ext cx="4901184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0A0F2E"/>
                </a:solidFill>
                <a:latin typeface="Barlow Condensed"/>
              </a:rPr>
              <a:t>Winners pair signal detection with governed 12-minute execution.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5577840"/>
            <a:ext cx="5632704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99A5BB"/>
                </a:solidFill>
                <a:latin typeface="Barlow Condensed"/>
              </a:rPr>
              <a:t>Sources: Stanford HAI AI Index 2026  ·  Gartner Autonomous Business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0" y="6455664"/>
            <a:ext cx="109728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445070"/>
                </a:solidFill>
                <a:latin typeface="Calibri"/>
              </a:rPr>
              <a:t>11 / 13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41148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Georgia"/>
              </a:rPr>
              <a:t>VaughnMartin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85800"/>
            <a:ext cx="411480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1" i="0" spc="800">
                <a:solidFill>
                  <a:srgbClr val="C9A84C"/>
                </a:solidFill>
                <a:latin typeface="Calibri"/>
              </a:rPr>
              <a:t>READINESS 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88720"/>
            <a:ext cx="914400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 i="0" spc="600">
                <a:solidFill>
                  <a:srgbClr val="C9A84C"/>
                </a:solidFill>
                <a:latin typeface="Calibri"/>
              </a:rPr>
              <a:t>THE ASK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481328"/>
            <a:ext cx="457200" cy="2286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1691640"/>
            <a:ext cx="1097280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4400" b="1" i="0">
                <a:solidFill>
                  <a:srgbClr val="FFFFFF"/>
                </a:solidFill>
                <a:latin typeface="Georgia"/>
              </a:rPr>
              <a:t>$750K pre-seed.</a:t>
            </a:r>
          </a:p>
          <a:p>
            <a:pPr algn="l">
              <a:lnSpc>
                <a:spcPct val="110000"/>
              </a:lnSpc>
            </a:pPr>
            <a:r>
              <a:rPr sz="2800" b="0" i="1">
                <a:solidFill>
                  <a:srgbClr val="C9A84C"/>
                </a:solidFill>
                <a:latin typeface="Georgia"/>
              </a:rPr>
              <a:t>Twelve months. Three milestones.</a:t>
            </a:r>
          </a:p>
        </p:txBody>
      </p:sp>
      <p:sp>
        <p:nvSpPr>
          <p:cNvPr id="9" name="Rectangle 8"/>
          <p:cNvSpPr/>
          <p:nvPr/>
        </p:nvSpPr>
        <p:spPr>
          <a:xfrm>
            <a:off x="425195" y="3214206"/>
            <a:ext cx="3657600" cy="1280160"/>
          </a:xfrm>
          <a:prstGeom prst="rect">
            <a:avLst/>
          </a:prstGeom>
          <a:solidFill>
            <a:srgbClr val="132558"/>
          </a:solidFill>
          <a:ln w="1270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99515" y="3378798"/>
            <a:ext cx="7315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1">
                <a:solidFill>
                  <a:srgbClr val="C9A84C"/>
                </a:solidFill>
                <a:latin typeface="Georgia"/>
              </a:rPr>
              <a:t>M1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9515" y="3808566"/>
            <a:ext cx="310896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Six Founding Partners signed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9515" y="4128606"/>
            <a:ext cx="31089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CADCFC"/>
                </a:solidFill>
                <a:latin typeface="Calibri"/>
              </a:rPr>
              <a:t>$450K validation revenue · 90-day cycles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65676" y="3214206"/>
            <a:ext cx="3657600" cy="1280160"/>
          </a:xfrm>
          <a:prstGeom prst="rect">
            <a:avLst/>
          </a:prstGeom>
          <a:solidFill>
            <a:srgbClr val="132558"/>
          </a:solidFill>
          <a:ln w="1270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39996" y="3378798"/>
            <a:ext cx="7315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1">
                <a:solidFill>
                  <a:srgbClr val="C9A84C"/>
                </a:solidFill>
                <a:latin typeface="Georgia"/>
              </a:rPr>
              <a:t>M2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39996" y="3808566"/>
            <a:ext cx="310896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Three Growth tier conversions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39996" y="4128606"/>
            <a:ext cx="31089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CADCFC"/>
                </a:solidFill>
                <a:latin typeface="Calibri"/>
              </a:rPr>
              <a:t>$450K ARR run rate at month 9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06156" y="3214206"/>
            <a:ext cx="3657600" cy="1280160"/>
          </a:xfrm>
          <a:prstGeom prst="rect">
            <a:avLst/>
          </a:prstGeom>
          <a:solidFill>
            <a:srgbClr val="132558"/>
          </a:solidFill>
          <a:ln w="1270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380476" y="3378798"/>
            <a:ext cx="7315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1">
                <a:solidFill>
                  <a:srgbClr val="C9A84C"/>
                </a:solidFill>
                <a:latin typeface="Georgia"/>
              </a:rPr>
              <a:t>M3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80476" y="3808566"/>
            <a:ext cx="310896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$1M ARR run rate by month 12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80476" y="4128606"/>
            <a:ext cx="31089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CADCFC"/>
                </a:solidFill>
                <a:latin typeface="Calibri"/>
              </a:rPr>
              <a:t>Series A trigger · positioned to raise from strength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4572000"/>
            <a:ext cx="10972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 spc="800">
                <a:solidFill>
                  <a:srgbClr val="C9A84C"/>
                </a:solidFill>
                <a:latin typeface="Calibri"/>
              </a:rPr>
              <a:t>USE OF FUNDS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94360" y="4937760"/>
            <a:ext cx="5486400" cy="41148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94360" y="498348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>
                <a:solidFill>
                  <a:srgbClr val="0A0F2E"/>
                </a:solidFill>
                <a:latin typeface="Calibri"/>
              </a:rPr>
              <a:t>50%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080760" y="4937760"/>
            <a:ext cx="2743200" cy="411480"/>
          </a:xfrm>
          <a:prstGeom prst="rect">
            <a:avLst/>
          </a:prstGeom>
          <a:solidFill>
            <a:srgbClr val="2B8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080760" y="4983480"/>
            <a:ext cx="274320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25%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823960" y="4937760"/>
            <a:ext cx="1645920" cy="411480"/>
          </a:xfrm>
          <a:prstGeom prst="rect">
            <a:avLst/>
          </a:prstGeom>
          <a:solidFill>
            <a:srgbClr val="DFC1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823960" y="4983480"/>
            <a:ext cx="164592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>
                <a:solidFill>
                  <a:srgbClr val="0A0F2E"/>
                </a:solidFill>
                <a:latin typeface="Calibri"/>
              </a:rPr>
              <a:t>15%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469880" y="4937760"/>
            <a:ext cx="109728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0469880" y="4983480"/>
            <a:ext cx="109728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>
                <a:solidFill>
                  <a:srgbClr val="0A0F2E"/>
                </a:solidFill>
                <a:latin typeface="Calibri"/>
              </a:rPr>
              <a:t>10%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94360" y="5486400"/>
            <a:ext cx="109728" cy="109728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58952" y="5440680"/>
            <a:ext cx="5303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GTM &amp; Founding Partner success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080760" y="5486400"/>
            <a:ext cx="109728" cy="109728"/>
          </a:xfrm>
          <a:prstGeom prst="rect">
            <a:avLst/>
          </a:prstGeom>
          <a:solidFill>
            <a:srgbClr val="2B8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245352" y="5440680"/>
            <a:ext cx="2560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Engineering &amp; industry packs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823960" y="5486400"/>
            <a:ext cx="109728" cy="109728"/>
          </a:xfrm>
          <a:prstGeom prst="rect">
            <a:avLst/>
          </a:prstGeom>
          <a:solidFill>
            <a:srgbClr val="DFC1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988552" y="5440680"/>
            <a:ext cx="1463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Infra, security, compliance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0469880" y="5486400"/>
            <a:ext cx="109728" cy="1097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10634472" y="544068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Founder + reserves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7200" y="6080760"/>
            <a:ext cx="11274552" cy="4572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457200" y="6199632"/>
            <a:ext cx="112745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 i="1">
                <a:solidFill>
                  <a:srgbClr val="DFC178"/>
                </a:solidFill>
                <a:latin typeface="Calibri"/>
              </a:rPr>
              <a:t>investor@vaughnmartin.com   ·   vaughnmartin.com   ·   currently in active conversations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" y="6492240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1" i="0" spc="600">
                <a:solidFill>
                  <a:srgbClr val="CADCFC"/>
                </a:solidFill>
                <a:latin typeface="Calibri"/>
              </a:rPr>
              <a:t>VaughnMartin  ·  Readiness OS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058400" y="6492240"/>
            <a:ext cx="1673352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00" b="1" i="0" spc="600">
                <a:solidFill>
                  <a:srgbClr val="CADCFC"/>
                </a:solidFill>
                <a:latin typeface="Calibri"/>
              </a:rPr>
              <a:t>12 / 13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715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vm-logo-h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76088" y="6254496"/>
            <a:ext cx="1645920" cy="44197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38912"/>
            <a:ext cx="1127455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C9A84C"/>
                </a:solidFill>
                <a:latin typeface="Barlow Condensed"/>
              </a:rPr>
              <a:t>Three lines. That's the pitch.</a:t>
            </a:r>
          </a:p>
        </p:txBody>
      </p:sp>
      <p:sp>
        <p:nvSpPr>
          <p:cNvPr id="5" name="Rectangle 4"/>
          <p:cNvSpPr/>
          <p:nvPr/>
        </p:nvSpPr>
        <p:spPr>
          <a:xfrm>
            <a:off x="603504" y="914400"/>
            <a:ext cx="10945368" cy="1426464"/>
          </a:xfrm>
          <a:prstGeom prst="rect">
            <a:avLst/>
          </a:prstGeom>
          <a:solidFill>
            <a:srgbClr val="0E1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03504" y="914400"/>
            <a:ext cx="63500" cy="1426464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41248" y="1042416"/>
            <a:ext cx="18288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99A5BB"/>
                </a:solidFill>
                <a:latin typeface="Barlow Condensed"/>
              </a:rPr>
              <a:t>PROBLEM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1353312"/>
            <a:ext cx="10460736" cy="877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9A84C"/>
                </a:solidFill>
                <a:latin typeface="Barlow Condensed"/>
              </a:rPr>
              <a:t>Enterprise work was built for a world without AI — coordination delays exist because humans couldn't act fast enough. AI changed the constraint. The operating model hasn't.</a:t>
            </a:r>
          </a:p>
        </p:txBody>
      </p:sp>
      <p:sp>
        <p:nvSpPr>
          <p:cNvPr id="9" name="Rectangle 8"/>
          <p:cNvSpPr/>
          <p:nvPr/>
        </p:nvSpPr>
        <p:spPr>
          <a:xfrm>
            <a:off x="603504" y="2468880"/>
            <a:ext cx="10945368" cy="1426464"/>
          </a:xfrm>
          <a:prstGeom prst="rect">
            <a:avLst/>
          </a:prstGeom>
          <a:solidFill>
            <a:srgbClr val="0E1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03504" y="2468880"/>
            <a:ext cx="63500" cy="1426464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41248" y="2596896"/>
            <a:ext cx="18288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99A5BB"/>
                </a:solidFill>
                <a:latin typeface="Barlow Condensed"/>
              </a:rPr>
              <a:t>SOLUTION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" y="2907792"/>
            <a:ext cx="10460736" cy="877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9A84C"/>
                </a:solidFill>
                <a:latin typeface="Barlow Condensed"/>
              </a:rPr>
              <a:t>170 Readiness Protocols. 221 strategic triggers. The response pre-staged before the trigger fires. Executives authorize in minutes, not meetings.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3504" y="4023360"/>
            <a:ext cx="10945368" cy="1426464"/>
          </a:xfrm>
          <a:prstGeom prst="rect">
            <a:avLst/>
          </a:prstGeom>
          <a:solidFill>
            <a:srgbClr val="0E1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03504" y="4023360"/>
            <a:ext cx="63500" cy="1426464"/>
          </a:xfrm>
          <a:prstGeom prst="rect">
            <a:avLst/>
          </a:prstGeom>
          <a:solidFill>
            <a:srgbClr val="2B8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41248" y="4151376"/>
            <a:ext cx="18288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99A5BB"/>
                </a:solidFill>
                <a:latin typeface="Barlow Condensed"/>
              </a:rPr>
              <a:t>OUTCOME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" y="4462272"/>
            <a:ext cx="10460736" cy="877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Barlow Condensed"/>
              </a:rPr>
              <a:t>Any organization prepared for every situation it will face is no longer afraid of what comes next. It is fearless.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645920" y="5614416"/>
            <a:ext cx="8933688" cy="566928"/>
          </a:xfrm>
          <a:prstGeom prst="rect">
            <a:avLst/>
          </a:prstGeom>
          <a:solidFill>
            <a:srgbClr val="0A0F2E"/>
          </a:solidFill>
          <a:ln w="1016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737360" y="5705856"/>
            <a:ext cx="875080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C9A84C"/>
                </a:solidFill>
                <a:latin typeface="Barlow Condensed"/>
              </a:rPr>
              <a:t>Let's build this  ·  investor@vaughnmartin.com  ·  vaughnmartin.com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0" y="6455664"/>
            <a:ext cx="109728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445070"/>
                </a:solidFill>
                <a:latin typeface="Calibri"/>
              </a:rPr>
              <a:t>13 / 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1158</Words>
  <Application>Microsoft Office PowerPoint</Application>
  <PresentationFormat>Widescreen</PresentationFormat>
  <Paragraphs>233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Barlow Condensed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Marty Brunke (CDI)</dc:creator>
  <cp:keywords/>
  <dc:description>generated using python-pptx</dc:description>
  <cp:lastModifiedBy>Marty Brunke (CDI)</cp:lastModifiedBy>
  <cp:revision>2</cp:revision>
  <dcterms:created xsi:type="dcterms:W3CDTF">2013-01-27T09:14:16Z</dcterms:created>
  <dcterms:modified xsi:type="dcterms:W3CDTF">2026-05-19T01:05:20Z</dcterms:modified>
  <cp:category/>
</cp:coreProperties>
</file>