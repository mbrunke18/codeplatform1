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REFERENCE:
Source: 30-day mobilization baseline — VaughnMartin operational research across 20 years Fortune 1000 experience. McKinsey Organizational Agility Research 2025.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REFERENCE:
Source: Platform metrics — VaughnMartin Readiness OS production system, vaughnmartin.com. 248+ data points across 20 signal categories. Rev 31, May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REFERENCE:
Source: 12-minute activation — VaughnMartin Readiness OS platform specification. 3,600× = 43,200 min (30 days) ÷ 12 min. vaughnmartin.com/how-it-executes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REFERENCE:
Source: $61.3M estimated annual value — VaughnMartin ROI Calculator, Enterprise profile 5K–25K employees, 30-day→12-min baseline. vaughnmartin.com/roi-calculator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REFERENCE:
Source: Capital requirements — VaughnMartin internal analysis. Platform live at vaughnmartin.com. Founding Partner Program open. 12 seats. 2026 cohort.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01 · 08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320040" y="438912"/>
            <a:ext cx="36576" cy="20116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420624" y="42062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TRIGGER FIRES IN SECONDS.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MOBILIZATION TAKES 30 DAYS.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2304288"/>
            <a:ext cx="502920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2423160"/>
            <a:ext cx="374904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1000 organizations detect strategic triggers quickly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still spend weeks aligning ownership, authority, and sequence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delay is not execution — it is mobilization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35661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 OPPORTUNITY  ·  </a:t>
            </a:r>
            <a:pPr indent="0" marL="0">
              <a:buNone/>
            </a:pPr>
            <a:r>
              <a:rPr lang="en-US" sz="800" dirty="0">
                <a:solidFill>
                  <a:srgbClr val="A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coordination failures put an estimated $4.4T in annual value at risk. Preparation Infrastructure is the unclaimed software layer above every existing stack.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4096512"/>
            <a:ext cx="36576" cy="548640"/>
          </a:xfrm>
          <a:prstGeom prst="rect">
            <a:avLst/>
          </a:prstGeom>
          <a:solidFill>
            <a:srgbClr val="111A3E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407822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7F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"Most organizations do not have a strategy problem. They have a mobilization problem. When a trigger fires, the first weeks are spent figuring out who decides and who owns the response."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0040" y="4754880"/>
            <a:ext cx="347472" cy="347472"/>
          </a:xfrm>
          <a:prstGeom prst="rect">
            <a:avLst/>
          </a:prstGeom>
          <a:solidFill>
            <a:srgbClr val="111A3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" y="476402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13232" y="476402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VaughnMartin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13232" y="4928616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OS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4160520" y="91440"/>
            <a:ext cx="4846320" cy="4956048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160520" y="91440"/>
            <a:ext cx="4846320" cy="310896"/>
          </a:xfrm>
          <a:prstGeom prst="rect">
            <a:avLst/>
          </a:prstGeom>
          <a:solidFill>
            <a:srgbClr val="2A2A40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279392" y="182880"/>
            <a:ext cx="118872" cy="118872"/>
          </a:xfrm>
          <a:prstGeom prst="rect">
            <a:avLst/>
          </a:prstGeom>
          <a:solidFill>
            <a:srgbClr val="FF5F57"/>
          </a:solidFill>
          <a:ln w="6350">
            <a:solidFill>
              <a:srgbClr val="E0403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453128" y="182880"/>
            <a:ext cx="118872" cy="118872"/>
          </a:xfrm>
          <a:prstGeom prst="rect">
            <a:avLst/>
          </a:prstGeom>
          <a:solidFill>
            <a:srgbClr val="FEBC2E"/>
          </a:solidFill>
          <a:ln w="6350">
            <a:solidFill>
              <a:srgbClr val="DFA02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26864" y="182880"/>
            <a:ext cx="118872" cy="118872"/>
          </a:xfrm>
          <a:prstGeom prst="rect">
            <a:avLst/>
          </a:prstGeom>
          <a:solidFill>
            <a:srgbClr val="28C840"/>
          </a:solidFill>
          <a:ln w="6350">
            <a:solidFill>
              <a:srgbClr val="1EA83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873752" y="155448"/>
            <a:ext cx="3108960" cy="182880"/>
          </a:xfrm>
          <a:prstGeom prst="rect">
            <a:avLst/>
          </a:prstGeom>
          <a:solidFill>
            <a:srgbClr val="1A1A30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10328" y="15544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vaughnmartin.com</a:t>
            </a:r>
            <a:endParaRPr lang="en-US" sz="7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9664" y="402336"/>
            <a:ext cx="4828032" cy="4636008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4069080" y="91440"/>
            <a:ext cx="4572" cy="4956048"/>
          </a:xfrm>
          <a:prstGeom prst="rect">
            <a:avLst/>
          </a:prstGeom>
          <a:solidFill>
            <a:srgbClr val="1E2A4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02 · 08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320040" y="438912"/>
            <a:ext cx="36576" cy="20116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420624" y="42062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FOUNDER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FROM BOTH WORLDS.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719072"/>
            <a:ext cx="502920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847088"/>
            <a:ext cx="374904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years coaching major college football at Stanford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years inside Ford, Toyota, Lockheed Martin, Charles Schwab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preparation discipline that wins games was missing from enterprise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2023 to close that gap permanently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4096512"/>
            <a:ext cx="36576" cy="548640"/>
          </a:xfrm>
          <a:prstGeom prst="rect">
            <a:avLst/>
          </a:prstGeom>
          <a:solidFill>
            <a:srgbClr val="111A3E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407822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7F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"Very few people get exposure to both worlds at the depth where those lessons translate directly into each other. I did. And I built the infrastructure that closes it."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4754880"/>
            <a:ext cx="347472" cy="347472"/>
          </a:xfrm>
          <a:prstGeom prst="rect">
            <a:avLst/>
          </a:prstGeom>
          <a:solidFill>
            <a:srgbClr val="111A3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476402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3232" y="476402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VaughnMartin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3232" y="4928616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OS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069080" y="91440"/>
            <a:ext cx="4572" cy="4956048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15" name="Shape 13"/>
          <p:cNvSpPr/>
          <p:nvPr/>
        </p:nvSpPr>
        <p:spPr>
          <a:xfrm>
            <a:off x="4206240" y="109728"/>
            <a:ext cx="4773168" cy="4937760"/>
          </a:xfrm>
          <a:prstGeom prst="rect">
            <a:avLst/>
          </a:prstGeom>
          <a:solidFill>
            <a:srgbClr val="080C25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70832" y="274320"/>
            <a:ext cx="4443984" cy="2103120"/>
          </a:xfrm>
          <a:prstGeom prst="rect">
            <a:avLst/>
          </a:prstGeom>
          <a:solidFill>
            <a:srgbClr val="0D1535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290320000" dist="483870000" dir="486000000000">
              <a:srgbClr val="000000">
                <a:alpha val="300000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70832" y="274320"/>
            <a:ext cx="4443984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8" name="Text 16"/>
          <p:cNvSpPr/>
          <p:nvPr/>
        </p:nvSpPr>
        <p:spPr>
          <a:xfrm>
            <a:off x="4535424" y="3840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STANFORD UNIVERSITY · 5 YEARS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35424" y="5669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FOOTBALL COACHING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35424" y="877824"/>
            <a:ext cx="411480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college football is a billion-dollar operation</a:t>
            </a:r>
            <a:endParaRPr lang="en-US" sz="100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40-second play clock — full organizational coordination</a:t>
            </a:r>
            <a:endParaRPr lang="en-US" sz="100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 architecture built before game day</a:t>
            </a:r>
            <a:endParaRPr lang="en-US" sz="100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trigger response pre-staged before pressure arrives</a:t>
            </a:r>
            <a:endParaRPr lang="en-US" sz="100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preparation IS the execution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89904" y="2414016"/>
            <a:ext cx="1005840" cy="402336"/>
          </a:xfrm>
          <a:prstGeom prst="rect">
            <a:avLst/>
          </a:prstGeom>
          <a:solidFill>
            <a:srgbClr val="2B8A6E"/>
          </a:solidFill>
          <a:ln w="19050">
            <a:solidFill>
              <a:srgbClr val="3BAF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9904" y="241401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INTERSECTION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370832" y="2852928"/>
            <a:ext cx="4443984" cy="2029968"/>
          </a:xfrm>
          <a:prstGeom prst="rect">
            <a:avLst/>
          </a:prstGeom>
          <a:solidFill>
            <a:srgbClr val="0D1535"/>
          </a:solidFill>
          <a:ln w="19050">
            <a:solidFill>
              <a:srgbClr val="2B8A6E"/>
            </a:solidFill>
            <a:prstDash val="solid"/>
          </a:ln>
          <a:effectLst>
            <a:outerShdw sx="100000" sy="100000" kx="0" ky="0" algn="bl" rotWithShape="0" blurRad="1290320000" dist="483870000" dir="486000000000">
              <a:srgbClr val="000000">
                <a:alpha val="300000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370832" y="2852928"/>
            <a:ext cx="4443984" cy="36576"/>
          </a:xfrm>
          <a:prstGeom prst="rect">
            <a:avLst/>
          </a:prstGeom>
          <a:solidFill>
            <a:srgbClr val="2B8A6E"/>
          </a:solidFill>
          <a:ln/>
        </p:spPr>
      </p:sp>
      <p:sp>
        <p:nvSpPr>
          <p:cNvPr id="25" name="Text 23"/>
          <p:cNvSpPr/>
          <p:nvPr/>
        </p:nvSpPr>
        <p:spPr>
          <a:xfrm>
            <a:off x="4535424" y="296265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FORTUNE 1000 OPERATIONS · 20 YEARS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35424" y="31455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ENTERPRISE LEADERSHIP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35424" y="3456432"/>
            <a:ext cx="41148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 · Toyota · Lockheed Martin</a:t>
            </a:r>
            <a:endParaRPr lang="en-US" sz="100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Charles Schwab · Boyd Gaming</a:t>
            </a:r>
            <a:endParaRPr lang="en-US" sz="100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Watched the 30-day mobilization failure repeat</a:t>
            </a:r>
            <a:endParaRPr lang="en-US" sz="100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preparation gap — different trigger, same delay</a:t>
            </a:r>
            <a:endParaRPr lang="en-US" sz="100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Readiness OS in 2023 to end that pattern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03 · 08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320040" y="438912"/>
            <a:ext cx="36576" cy="20116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420624" y="42062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PRODUCT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READINESS OS: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RESPONSE IS READY BEFORE THE TRIGGER FIRES.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2514600"/>
            <a:ext cx="502920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2633472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 Readiness Protocols pre-staged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221 trigger patterns mapped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248+ data points monitored every 15 minutes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monitors. Executives authorize.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API-integrated onboarding. 90-day structured configuration.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4096512"/>
            <a:ext cx="36576" cy="548640"/>
          </a:xfrm>
          <a:prstGeom prst="rect">
            <a:avLst/>
          </a:prstGeom>
          <a:solidFill>
            <a:srgbClr val="111A3E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407822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7F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"We built Readiness OS to pre-stage the response architecture before pressure arrives. Authority remains human; mobilization becomes immediate."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0040" y="4754880"/>
            <a:ext cx="347472" cy="347472"/>
          </a:xfrm>
          <a:prstGeom prst="rect">
            <a:avLst/>
          </a:prstGeom>
          <a:solidFill>
            <a:srgbClr val="111A3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476402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13232" y="476402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VaughnMartin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13232" y="4928616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OS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4160520" y="91440"/>
            <a:ext cx="4846320" cy="4956048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160520" y="91440"/>
            <a:ext cx="4846320" cy="310896"/>
          </a:xfrm>
          <a:prstGeom prst="rect">
            <a:avLst/>
          </a:prstGeom>
          <a:solidFill>
            <a:srgbClr val="2A2A40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279392" y="182880"/>
            <a:ext cx="118872" cy="118872"/>
          </a:xfrm>
          <a:prstGeom prst="rect">
            <a:avLst/>
          </a:prstGeom>
          <a:solidFill>
            <a:srgbClr val="FF5F57"/>
          </a:solidFill>
          <a:ln w="6350">
            <a:solidFill>
              <a:srgbClr val="E0403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453128" y="182880"/>
            <a:ext cx="118872" cy="118872"/>
          </a:xfrm>
          <a:prstGeom prst="rect">
            <a:avLst/>
          </a:prstGeom>
          <a:solidFill>
            <a:srgbClr val="FEBC2E"/>
          </a:solidFill>
          <a:ln w="6350">
            <a:solidFill>
              <a:srgbClr val="DFA02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26864" y="182880"/>
            <a:ext cx="118872" cy="118872"/>
          </a:xfrm>
          <a:prstGeom prst="rect">
            <a:avLst/>
          </a:prstGeom>
          <a:solidFill>
            <a:srgbClr val="28C840"/>
          </a:solidFill>
          <a:ln w="6350">
            <a:solidFill>
              <a:srgbClr val="1EA83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873752" y="155448"/>
            <a:ext cx="3108960" cy="182880"/>
          </a:xfrm>
          <a:prstGeom prst="rect">
            <a:avLst/>
          </a:prstGeom>
          <a:solidFill>
            <a:srgbClr val="1A1A30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10328" y="15544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vaughnmartin.com/how-it-executes</a:t>
            </a:r>
            <a:endParaRPr lang="en-US" sz="75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9664" y="402336"/>
            <a:ext cx="4828032" cy="4636008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4069080" y="91440"/>
            <a:ext cx="4572" cy="4956048"/>
          </a:xfrm>
          <a:prstGeom prst="rect">
            <a:avLst/>
          </a:prstGeom>
          <a:solidFill>
            <a:srgbClr val="1E2A4A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04 · 08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320040" y="438912"/>
            <a:ext cx="36576" cy="20116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420624" y="42062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WE WIN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MOAT COMPOUNDS.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COMPETITORS START AT ZERO.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2176272"/>
            <a:ext cx="502920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2304288"/>
            <a:ext cx="374904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activation encodes what held — preparation compounds over time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intelligence calibrated to each organization's specific readiness state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months of activations creates an intelligence layer no competitor can offer on day one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4096512"/>
            <a:ext cx="36576" cy="548640"/>
          </a:xfrm>
          <a:prstGeom prst="rect">
            <a:avLst/>
          </a:prstGeom>
          <a:solidFill>
            <a:srgbClr val="111A3E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407822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7F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"Signal Labs routes the signal. ServiceNow runs the workflow. McKinsey arrives after the trigger. We had the response pre-staged before any of them were called."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4754880"/>
            <a:ext cx="347472" cy="347472"/>
          </a:xfrm>
          <a:prstGeom prst="rect">
            <a:avLst/>
          </a:prstGeom>
          <a:solidFill>
            <a:srgbClr val="111A3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476402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3232" y="476402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VaughnMartin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3232" y="4928616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OS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069080" y="91440"/>
            <a:ext cx="4572" cy="4956048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15" name="Shape 13"/>
          <p:cNvSpPr/>
          <p:nvPr/>
        </p:nvSpPr>
        <p:spPr>
          <a:xfrm>
            <a:off x="4206240" y="109728"/>
            <a:ext cx="4773168" cy="4937760"/>
          </a:xfrm>
          <a:prstGeom prst="rect">
            <a:avLst/>
          </a:prstGeom>
          <a:solidFill>
            <a:srgbClr val="080C25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0" y="237744"/>
            <a:ext cx="4407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COMPETITORS STOP SHORT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343400" y="493776"/>
            <a:ext cx="4498848" cy="393192"/>
          </a:xfrm>
          <a:prstGeom prst="rect">
            <a:avLst/>
          </a:prstGeom>
          <a:solidFill>
            <a:srgbClr val="0D1535"/>
          </a:solidFill>
          <a:ln w="6350">
            <a:solidFill>
              <a:srgbClr val="1E2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43400" y="493776"/>
            <a:ext cx="36576" cy="393192"/>
          </a:xfrm>
          <a:prstGeom prst="rect">
            <a:avLst/>
          </a:prstGeom>
          <a:solidFill>
            <a:srgbClr val="C03030"/>
          </a:solidFill>
          <a:ln/>
        </p:spPr>
      </p:sp>
      <p:sp>
        <p:nvSpPr>
          <p:cNvPr id="19" name="Text 17"/>
          <p:cNvSpPr/>
          <p:nvPr/>
        </p:nvSpPr>
        <p:spPr>
          <a:xfrm>
            <a:off x="4443984" y="530352"/>
            <a:ext cx="1463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Signal Labs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43984" y="694944"/>
            <a:ext cx="4270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the signal. Stops before the response is staged.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343400" y="950976"/>
            <a:ext cx="4498848" cy="393192"/>
          </a:xfrm>
          <a:prstGeom prst="rect">
            <a:avLst/>
          </a:prstGeom>
          <a:solidFill>
            <a:srgbClr val="0D1535"/>
          </a:solidFill>
          <a:ln w="6350">
            <a:solidFill>
              <a:srgbClr val="1E2A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43400" y="950976"/>
            <a:ext cx="36576" cy="393192"/>
          </a:xfrm>
          <a:prstGeom prst="rect">
            <a:avLst/>
          </a:prstGeom>
          <a:solidFill>
            <a:srgbClr val="C03030"/>
          </a:solidFill>
          <a:ln/>
        </p:spPr>
      </p:sp>
      <p:sp>
        <p:nvSpPr>
          <p:cNvPr id="23" name="Text 21"/>
          <p:cNvSpPr/>
          <p:nvPr/>
        </p:nvSpPr>
        <p:spPr>
          <a:xfrm>
            <a:off x="4443984" y="987552"/>
            <a:ext cx="1463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ServiceNow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43984" y="1152144"/>
            <a:ext cx="4270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workflows after alignment. We pre-stage the alignment.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343400" y="1408176"/>
            <a:ext cx="4498848" cy="393192"/>
          </a:xfrm>
          <a:prstGeom prst="rect">
            <a:avLst/>
          </a:prstGeom>
          <a:solidFill>
            <a:srgbClr val="0D1535"/>
          </a:solidFill>
          <a:ln w="6350">
            <a:solidFill>
              <a:srgbClr val="1E2A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43400" y="1408176"/>
            <a:ext cx="36576" cy="393192"/>
          </a:xfrm>
          <a:prstGeom prst="rect">
            <a:avLst/>
          </a:prstGeom>
          <a:solidFill>
            <a:srgbClr val="C03030"/>
          </a:solidFill>
          <a:ln/>
        </p:spPr>
      </p:sp>
      <p:sp>
        <p:nvSpPr>
          <p:cNvPr id="27" name="Text 25"/>
          <p:cNvSpPr/>
          <p:nvPr/>
        </p:nvSpPr>
        <p:spPr>
          <a:xfrm>
            <a:off x="4443984" y="1444752"/>
            <a:ext cx="1463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Microsoft Copilot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443984" y="1609344"/>
            <a:ext cx="4270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intelligence. We pre-stage the organizational response to it.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343400" y="1865376"/>
            <a:ext cx="4498848" cy="393192"/>
          </a:xfrm>
          <a:prstGeom prst="rect">
            <a:avLst/>
          </a:prstGeom>
          <a:solidFill>
            <a:srgbClr val="0D1535"/>
          </a:solidFill>
          <a:ln w="6350">
            <a:solidFill>
              <a:srgbClr val="1E2A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43400" y="1865376"/>
            <a:ext cx="36576" cy="393192"/>
          </a:xfrm>
          <a:prstGeom prst="rect">
            <a:avLst/>
          </a:prstGeom>
          <a:solidFill>
            <a:srgbClr val="C03030"/>
          </a:solidFill>
          <a:ln/>
        </p:spPr>
      </p:sp>
      <p:sp>
        <p:nvSpPr>
          <p:cNvPr id="31" name="Text 29"/>
          <p:cNvSpPr/>
          <p:nvPr/>
        </p:nvSpPr>
        <p:spPr>
          <a:xfrm>
            <a:off x="4443984" y="1901952"/>
            <a:ext cx="1463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McKinsey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443984" y="2066544"/>
            <a:ext cx="4270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Arrives after the trigger fires. We were ready before it.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343400" y="2359152"/>
            <a:ext cx="4498848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4" name="Text 32"/>
          <p:cNvSpPr/>
          <p:nvPr/>
        </p:nvSpPr>
        <p:spPr>
          <a:xfrm>
            <a:off x="4389120" y="2432304"/>
            <a:ext cx="4407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BA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MOAT — WHAT MAKES US HARD TO CATCH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343400" y="2688336"/>
            <a:ext cx="1408176" cy="2304288"/>
          </a:xfrm>
          <a:prstGeom prst="rect">
            <a:avLst/>
          </a:prstGeom>
          <a:solidFill>
            <a:srgbClr val="0D1535"/>
          </a:solidFill>
          <a:ln w="19050">
            <a:solidFill>
              <a:srgbClr val="2B8A6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43400" y="2688336"/>
            <a:ext cx="1408176" cy="36576"/>
          </a:xfrm>
          <a:prstGeom prst="rect">
            <a:avLst/>
          </a:prstGeom>
          <a:solidFill>
            <a:srgbClr val="2B8A6E"/>
          </a:solidFill>
          <a:ln/>
        </p:spPr>
      </p:sp>
      <p:sp>
        <p:nvSpPr>
          <p:cNvPr id="37" name="Text 35"/>
          <p:cNvSpPr/>
          <p:nvPr/>
        </p:nvSpPr>
        <p:spPr>
          <a:xfrm>
            <a:off x="4434840" y="2779776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Compounding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Loop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434840" y="3282696"/>
            <a:ext cx="122529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Close-Out Gate encodes learning after every activation. Preparation compounds continuously.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820156" y="2688336"/>
            <a:ext cx="1408176" cy="2304288"/>
          </a:xfrm>
          <a:prstGeom prst="rect">
            <a:avLst/>
          </a:prstGeom>
          <a:solidFill>
            <a:srgbClr val="0D1535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20156" y="2688336"/>
            <a:ext cx="1408176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1" name="Text 39"/>
          <p:cNvSpPr/>
          <p:nvPr/>
        </p:nvSpPr>
        <p:spPr>
          <a:xfrm>
            <a:off x="5911596" y="2779776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Org Context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Intelligence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911596" y="3282696"/>
            <a:ext cx="122529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confidence + preparedness score. No generic platform replicates this without our architecture.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296912" y="2688336"/>
            <a:ext cx="1408176" cy="2304288"/>
          </a:xfrm>
          <a:prstGeom prst="rect">
            <a:avLst/>
          </a:prstGeom>
          <a:solidFill>
            <a:srgbClr val="0D1535"/>
          </a:solidFill>
          <a:ln w="19050">
            <a:solidFill>
              <a:srgbClr val="3BAF8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296912" y="2688336"/>
            <a:ext cx="1408176" cy="36576"/>
          </a:xfrm>
          <a:prstGeom prst="rect">
            <a:avLst/>
          </a:prstGeom>
          <a:solidFill>
            <a:srgbClr val="3BAF8A"/>
          </a:solidFill>
          <a:ln/>
        </p:spPr>
      </p:sp>
      <p:sp>
        <p:nvSpPr>
          <p:cNvPr id="45" name="Text 43"/>
          <p:cNvSpPr/>
          <p:nvPr/>
        </p:nvSpPr>
        <p:spPr>
          <a:xfrm>
            <a:off x="7388352" y="2779776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Encoding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Permanence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388352" y="3282696"/>
            <a:ext cx="122529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months of activations creates an intelligence layer competitors cannot offer on day one.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05 · 08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320040" y="438912"/>
            <a:ext cx="36576" cy="201168"/>
          </a:xfrm>
          <a:prstGeom prst="rect">
            <a:avLst/>
          </a:prstGeom>
          <a:solidFill>
            <a:srgbClr val="2B8A6E"/>
          </a:solidFill>
          <a:ln/>
        </p:spPr>
      </p:sp>
      <p:sp>
        <p:nvSpPr>
          <p:cNvPr id="4" name="Text 2"/>
          <p:cNvSpPr/>
          <p:nvPr/>
        </p:nvSpPr>
        <p:spPr>
          <a:xfrm>
            <a:off x="420624" y="42062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TRIGGER TO COORDINATED EXECUTION IN MINUTES.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2304288"/>
            <a:ext cx="502920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242316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</a:t>
            </a:r>
            <a:pPr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detected — confidence scored against 221 trigger patterns</a:t>
            </a:r>
            <a:endParaRPr lang="en-US" sz="1000" dirty="0"/>
          </a:p>
          <a:p>
            <a:pPr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</a:t>
            </a:r>
            <a:pPr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protocol staged across relevant domains</a:t>
            </a:r>
            <a:endParaRPr lang="en-US" sz="1000" dirty="0"/>
          </a:p>
          <a:p>
            <a:pPr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</a:t>
            </a:r>
            <a:pPr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notified with context and decision brief</a:t>
            </a:r>
            <a:endParaRPr lang="en-US" sz="1000" dirty="0"/>
          </a:p>
          <a:p>
            <a:pPr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</a:t>
            </a:r>
            <a:pPr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authorizes — four real choices including Stand Down. No action deploys without explicit authorization.</a:t>
            </a:r>
            <a:endParaRPr lang="en-US" sz="1000" dirty="0"/>
          </a:p>
          <a:p>
            <a:pPr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 </a:t>
            </a:r>
            <a:pPr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launches — 12 minutes from signal to live response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4096512"/>
            <a:ext cx="36576" cy="548640"/>
          </a:xfrm>
          <a:prstGeom prst="rect">
            <a:avLst/>
          </a:prstGeom>
          <a:solidFill>
            <a:srgbClr val="111A3E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407822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7F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key change is that coordination is pre-built, so when the trigger fires, execution starts."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0040" y="4754880"/>
            <a:ext cx="347472" cy="347472"/>
          </a:xfrm>
          <a:prstGeom prst="rect">
            <a:avLst/>
          </a:prstGeom>
          <a:solidFill>
            <a:srgbClr val="111A3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476402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13232" y="476402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VaughnMartin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13232" y="4928616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OS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4160520" y="91440"/>
            <a:ext cx="4846320" cy="4956048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160520" y="91440"/>
            <a:ext cx="4846320" cy="310896"/>
          </a:xfrm>
          <a:prstGeom prst="rect">
            <a:avLst/>
          </a:prstGeom>
          <a:solidFill>
            <a:srgbClr val="2A2A40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279392" y="182880"/>
            <a:ext cx="118872" cy="118872"/>
          </a:xfrm>
          <a:prstGeom prst="rect">
            <a:avLst/>
          </a:prstGeom>
          <a:solidFill>
            <a:srgbClr val="FF5F57"/>
          </a:solidFill>
          <a:ln w="6350">
            <a:solidFill>
              <a:srgbClr val="E0403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453128" y="182880"/>
            <a:ext cx="118872" cy="118872"/>
          </a:xfrm>
          <a:prstGeom prst="rect">
            <a:avLst/>
          </a:prstGeom>
          <a:solidFill>
            <a:srgbClr val="FEBC2E"/>
          </a:solidFill>
          <a:ln w="6350">
            <a:solidFill>
              <a:srgbClr val="DFA02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26864" y="182880"/>
            <a:ext cx="118872" cy="118872"/>
          </a:xfrm>
          <a:prstGeom prst="rect">
            <a:avLst/>
          </a:prstGeom>
          <a:solidFill>
            <a:srgbClr val="28C840"/>
          </a:solidFill>
          <a:ln w="6350">
            <a:solidFill>
              <a:srgbClr val="1EA83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873752" y="155448"/>
            <a:ext cx="3108960" cy="182880"/>
          </a:xfrm>
          <a:prstGeom prst="rect">
            <a:avLst/>
          </a:prstGeom>
          <a:solidFill>
            <a:srgbClr val="1A1A30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10328" y="15544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vaughnmartin.com/how-it-executes</a:t>
            </a:r>
            <a:endParaRPr lang="en-US" sz="75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9664" y="402336"/>
            <a:ext cx="4828032" cy="4636008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4069080" y="91440"/>
            <a:ext cx="4572" cy="4956048"/>
          </a:xfrm>
          <a:prstGeom prst="rect">
            <a:avLst/>
          </a:prstGeom>
          <a:solidFill>
            <a:srgbClr val="1E2A4A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06 · 08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320040" y="438912"/>
            <a:ext cx="36576" cy="20116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420624" y="42062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 — NOW, NOT ROADMAP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 PRODUCTION NOW.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2514600"/>
            <a:ext cx="502920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2633472"/>
            <a:ext cx="374904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platform live at vaughnmartin.com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public execution walkthrough available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Partner cohort open for 90-day validation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4096512"/>
            <a:ext cx="36576" cy="548640"/>
          </a:xfrm>
          <a:prstGeom prst="rect">
            <a:avLst/>
          </a:prstGeom>
          <a:solidFill>
            <a:srgbClr val="111A3E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407822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7F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"This is not a roadmap concept. The platform is live and testable now."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4754880"/>
            <a:ext cx="347472" cy="347472"/>
          </a:xfrm>
          <a:prstGeom prst="rect">
            <a:avLst/>
          </a:prstGeom>
          <a:solidFill>
            <a:srgbClr val="111A3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476402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3232" y="476402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VaughnMartin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3232" y="4928616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OS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160520" y="91440"/>
            <a:ext cx="4846320" cy="4956048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60520" y="91440"/>
            <a:ext cx="4846320" cy="310896"/>
          </a:xfrm>
          <a:prstGeom prst="rect">
            <a:avLst/>
          </a:prstGeom>
          <a:solidFill>
            <a:srgbClr val="2A2A40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79392" y="182880"/>
            <a:ext cx="118872" cy="118872"/>
          </a:xfrm>
          <a:prstGeom prst="rect">
            <a:avLst/>
          </a:prstGeom>
          <a:solidFill>
            <a:srgbClr val="FF5F57"/>
          </a:solidFill>
          <a:ln w="6350">
            <a:solidFill>
              <a:srgbClr val="E040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53128" y="182880"/>
            <a:ext cx="118872" cy="118872"/>
          </a:xfrm>
          <a:prstGeom prst="rect">
            <a:avLst/>
          </a:prstGeom>
          <a:solidFill>
            <a:srgbClr val="FEBC2E"/>
          </a:solidFill>
          <a:ln w="6350">
            <a:solidFill>
              <a:srgbClr val="DFA02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26864" y="182880"/>
            <a:ext cx="118872" cy="118872"/>
          </a:xfrm>
          <a:prstGeom prst="rect">
            <a:avLst/>
          </a:prstGeom>
          <a:solidFill>
            <a:srgbClr val="28C840"/>
          </a:solidFill>
          <a:ln w="6350">
            <a:solidFill>
              <a:srgbClr val="1EA8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73752" y="155448"/>
            <a:ext cx="3108960" cy="182880"/>
          </a:xfrm>
          <a:prstGeom prst="rect">
            <a:avLst/>
          </a:prstGeom>
          <a:solidFill>
            <a:srgbClr val="1A1A30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0328" y="15544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vaughnmartin.com/executive-brief</a:t>
            </a:r>
            <a:endParaRPr lang="en-US" sz="75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9664" y="402336"/>
            <a:ext cx="4828032" cy="4636008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4069080" y="91440"/>
            <a:ext cx="4572" cy="4956048"/>
          </a:xfrm>
          <a:prstGeom prst="rect">
            <a:avLst/>
          </a:prstGeom>
          <a:solidFill>
            <a:srgbClr val="1E2A4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07 · 08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320040" y="438912"/>
            <a:ext cx="36576" cy="20116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420624" y="42062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CASE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REPLACE EXISTING RESPONSE SPEND WITH EXECUTION INFRASTRUCTURE.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2514600"/>
            <a:ext cx="502920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2633472"/>
            <a:ext cx="374904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budgets already fund reactive response motions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OS shifts spend to pre-staged execution readiness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$61.3M annual value — enterprises facing 3+ strategic triggers annually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4096512"/>
            <a:ext cx="36576" cy="548640"/>
          </a:xfrm>
          <a:prstGeom prst="rect">
            <a:avLst/>
          </a:prstGeom>
          <a:solidFill>
            <a:srgbClr val="111A3E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407822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7F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"We are not asking enterprises to invent new budget. We are replacing existing response spend with a repeatable operating model."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0040" y="4754880"/>
            <a:ext cx="347472" cy="347472"/>
          </a:xfrm>
          <a:prstGeom prst="rect">
            <a:avLst/>
          </a:prstGeom>
          <a:solidFill>
            <a:srgbClr val="111A3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476402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13232" y="476402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VaughnMartin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13232" y="4928616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OS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4160520" y="91440"/>
            <a:ext cx="4846320" cy="4956048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160520" y="91440"/>
            <a:ext cx="4846320" cy="310896"/>
          </a:xfrm>
          <a:prstGeom prst="rect">
            <a:avLst/>
          </a:prstGeom>
          <a:solidFill>
            <a:srgbClr val="2A2A40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279392" y="182880"/>
            <a:ext cx="118872" cy="118872"/>
          </a:xfrm>
          <a:prstGeom prst="rect">
            <a:avLst/>
          </a:prstGeom>
          <a:solidFill>
            <a:srgbClr val="FF5F57"/>
          </a:solidFill>
          <a:ln w="6350">
            <a:solidFill>
              <a:srgbClr val="E0403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453128" y="182880"/>
            <a:ext cx="118872" cy="118872"/>
          </a:xfrm>
          <a:prstGeom prst="rect">
            <a:avLst/>
          </a:prstGeom>
          <a:solidFill>
            <a:srgbClr val="FEBC2E"/>
          </a:solidFill>
          <a:ln w="6350">
            <a:solidFill>
              <a:srgbClr val="DFA02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26864" y="182880"/>
            <a:ext cx="118872" cy="118872"/>
          </a:xfrm>
          <a:prstGeom prst="rect">
            <a:avLst/>
          </a:prstGeom>
          <a:solidFill>
            <a:srgbClr val="28C840"/>
          </a:solidFill>
          <a:ln w="6350">
            <a:solidFill>
              <a:srgbClr val="1EA83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873752" y="155448"/>
            <a:ext cx="3108960" cy="182880"/>
          </a:xfrm>
          <a:prstGeom prst="rect">
            <a:avLst/>
          </a:prstGeom>
          <a:solidFill>
            <a:srgbClr val="1A1A30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10328" y="15544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vaughnmartin.com/roi-calculator</a:t>
            </a:r>
            <a:endParaRPr lang="en-US" sz="75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9664" y="402336"/>
            <a:ext cx="4828032" cy="4636008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4069080" y="91440"/>
            <a:ext cx="4572" cy="4956048"/>
          </a:xfrm>
          <a:prstGeom prst="rect">
            <a:avLst/>
          </a:prstGeom>
          <a:solidFill>
            <a:srgbClr val="1E2A4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08 · 08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320040" y="438912"/>
            <a:ext cx="36576" cy="20116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420624" y="42062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 + CLOSE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CATEGORY CREATION: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PREPARATION INFRASTRUCTURE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993392"/>
            <a:ext cx="502920" cy="3200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2103120"/>
            <a:ext cx="374904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Raising: Up to $1,000,000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hardening + enterprise controls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Partner conversions + Repeatable GTM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31089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3BA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18-MO RUNWAY  ·  </a:t>
            </a:r>
            <a:pPr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Mo.6 </a:t>
            </a:r>
            <a:pPr indent="0" marL="0">
              <a:buNone/>
            </a:pPr>
            <a:r>
              <a:rPr lang="en-US" sz="7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partners on recurring contracts  ·  </a:t>
            </a:r>
            <a:pPr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Mo.9 </a:t>
            </a:r>
            <a:pPr indent="0" marL="0">
              <a:buNone/>
            </a:pPr>
            <a:r>
              <a:rPr lang="en-US" sz="7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controls complete  ·  </a:t>
            </a:r>
            <a:pPr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Mo.12 </a:t>
            </a:r>
            <a:pPr indent="0" marL="0">
              <a:buNone/>
            </a:pPr>
            <a:r>
              <a:rPr lang="en-US" sz="7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GTM with proof stories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20040" y="341985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PRICING  ·  </a:t>
            </a:r>
            <a:pPr indent="0" marL="0">
              <a:buNone/>
            </a:pPr>
            <a:r>
              <a:rPr lang="en-US" sz="7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Partners $75K–$250K/yr  ·  Growth from $75K  ·  Annual recurring  ·  No per-seat pricing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20040" y="363931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FC17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RESPONSE IS READY BEFORE THE TRIGGER FIRES.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" y="416966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7F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"Every enterprise has AI capability. Very few have mobilization readiness. We built that layer."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20040" y="4754880"/>
            <a:ext cx="347472" cy="347472"/>
          </a:xfrm>
          <a:prstGeom prst="rect">
            <a:avLst/>
          </a:prstGeom>
          <a:solidFill>
            <a:srgbClr val="111A3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" y="476402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13232" y="476402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VaughnMartin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13232" y="4928616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OS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4160520" y="91440"/>
            <a:ext cx="4846320" cy="4956048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60520" y="91440"/>
            <a:ext cx="4846320" cy="310896"/>
          </a:xfrm>
          <a:prstGeom prst="rect">
            <a:avLst/>
          </a:prstGeom>
          <a:solidFill>
            <a:srgbClr val="2A2A40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279392" y="182880"/>
            <a:ext cx="118872" cy="118872"/>
          </a:xfrm>
          <a:prstGeom prst="rect">
            <a:avLst/>
          </a:prstGeom>
          <a:solidFill>
            <a:srgbClr val="FF5F57"/>
          </a:solidFill>
          <a:ln w="6350">
            <a:solidFill>
              <a:srgbClr val="E0403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453128" y="182880"/>
            <a:ext cx="118872" cy="118872"/>
          </a:xfrm>
          <a:prstGeom prst="rect">
            <a:avLst/>
          </a:prstGeom>
          <a:solidFill>
            <a:srgbClr val="FEBC2E"/>
          </a:solidFill>
          <a:ln w="6350">
            <a:solidFill>
              <a:srgbClr val="DFA02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626864" y="182880"/>
            <a:ext cx="118872" cy="118872"/>
          </a:xfrm>
          <a:prstGeom prst="rect">
            <a:avLst/>
          </a:prstGeom>
          <a:solidFill>
            <a:srgbClr val="28C840"/>
          </a:solidFill>
          <a:ln w="6350">
            <a:solidFill>
              <a:srgbClr val="1EA83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73752" y="155448"/>
            <a:ext cx="3108960" cy="182880"/>
          </a:xfrm>
          <a:prstGeom prst="rect">
            <a:avLst/>
          </a:prstGeom>
          <a:solidFill>
            <a:srgbClr val="1A1A30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10328" y="15544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vaughnmartin.com/founding-partner-program</a:t>
            </a:r>
            <a:endParaRPr lang="en-US" sz="75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9664" y="402336"/>
            <a:ext cx="4828032" cy="4636008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4069080" y="91440"/>
            <a:ext cx="4572" cy="4956048"/>
          </a:xfrm>
          <a:prstGeom prst="rect">
            <a:avLst/>
          </a:prstGeom>
          <a:solidFill>
            <a:srgbClr val="1E2A4A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153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23774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SOURCES &amp; REFERENCES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03520" y="27432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VaughnMartin Readiness OS  ·  Investor Pitch  ·  May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694944"/>
            <a:ext cx="4160520" cy="1371600"/>
          </a:xfrm>
          <a:prstGeom prst="rect">
            <a:avLst/>
          </a:prstGeom>
          <a:solidFill>
            <a:srgbClr val="0A0E28"/>
          </a:solidFill>
          <a:ln w="6350">
            <a:solidFill>
              <a:srgbClr val="1E2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694944"/>
            <a:ext cx="36576" cy="13716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" y="740664"/>
            <a:ext cx="3977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Slides 1 &amp; 5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29768" y="868680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30-Day Mobilization Baseline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" y="1024128"/>
            <a:ext cx="3977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VaughnMartin operational research — 20 years direct experience across Ford, Toyota, Lockheed Martin, Charles Schwab, and Boyd Gaming. Supported by McKinsey Organizational Agility Research (2025) and MIT Sloan Execution Gap Study (2024).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20040" y="2112264"/>
            <a:ext cx="4160520" cy="1371600"/>
          </a:xfrm>
          <a:prstGeom prst="rect">
            <a:avLst/>
          </a:prstGeom>
          <a:solidFill>
            <a:srgbClr val="0A0E28"/>
          </a:solidFill>
          <a:ln w="6350">
            <a:solidFill>
              <a:srgbClr val="1E2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112264"/>
            <a:ext cx="36576" cy="13716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" y="2157984"/>
            <a:ext cx="3977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3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29768" y="2286000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Platform Metrics — 170 / 221 / 248+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9768" y="2441448"/>
            <a:ext cx="3977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VaughnMartin Readiness OS production system, Rev 31, May 2026. 170 Protocols across 9 strategic domains. 221 trigger patterns. 248+ data points across 20 signal categories. Live and verifiable: vaughnmartin.com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20040" y="3529584"/>
            <a:ext cx="4160520" cy="1371600"/>
          </a:xfrm>
          <a:prstGeom prst="rect">
            <a:avLst/>
          </a:prstGeom>
          <a:solidFill>
            <a:srgbClr val="0A0E28"/>
          </a:solidFill>
          <a:ln w="6350">
            <a:solidFill>
              <a:srgbClr val="1E2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529584"/>
            <a:ext cx="36576" cy="13716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9" name="Text 17"/>
          <p:cNvSpPr/>
          <p:nvPr/>
        </p:nvSpPr>
        <p:spPr>
          <a:xfrm>
            <a:off x="429768" y="3575304"/>
            <a:ext cx="3977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5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29768" y="3703320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12-Minute Activation &amp; 3,600× Head Start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9768" y="3858768"/>
            <a:ext cx="3977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VaughnMartin platform performance specification. Calculation: 30 days × 24 hrs × 60 min = 43,200 min ÷ 12 min = 3,600×. Baseline is average Fortune 1000 cross-functional mobilization cycle. vaughnmartin.com/how-it-executes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663440" y="694944"/>
            <a:ext cx="4160520" cy="1371600"/>
          </a:xfrm>
          <a:prstGeom prst="rect">
            <a:avLst/>
          </a:prstGeom>
          <a:solidFill>
            <a:srgbClr val="0A0E28"/>
          </a:solidFill>
          <a:ln w="6350">
            <a:solidFill>
              <a:srgbClr val="1E2A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694944"/>
            <a:ext cx="36576" cy="13716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4" name="Text 22"/>
          <p:cNvSpPr/>
          <p:nvPr/>
        </p:nvSpPr>
        <p:spPr>
          <a:xfrm>
            <a:off x="4773168" y="740664"/>
            <a:ext cx="3977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7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773168" y="868680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$61.3M Estimated Annual Value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73168" y="1024128"/>
            <a:ext cx="3977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VaughnMartin ROI Calculator — Enterprise profile (5K–25K employees), 3+ strategic triggers annually. Value modeled on time saved × enterprise coordination cost rate. Publicly interactive: vaughnmartin.com/roi-calculator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663440" y="2112264"/>
            <a:ext cx="4160520" cy="1371600"/>
          </a:xfrm>
          <a:prstGeom prst="rect">
            <a:avLst/>
          </a:prstGeom>
          <a:solidFill>
            <a:srgbClr val="0A0E28"/>
          </a:solidFill>
          <a:ln w="6350">
            <a:solidFill>
              <a:srgbClr val="1E2A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2112264"/>
            <a:ext cx="36576" cy="13716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9" name="Text 27"/>
          <p:cNvSpPr/>
          <p:nvPr/>
        </p:nvSpPr>
        <p:spPr>
          <a:xfrm>
            <a:off x="4773168" y="2157984"/>
            <a:ext cx="3977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4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773168" y="2286000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Competitor Positioning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73168" y="2441448"/>
            <a:ext cx="3977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Labs: company materials, April 2026 (Systems of Attention). ServiceNow: platform documentation (workflow automation). Microsoft Copilot: Work Trend Index 2026 (AI productivity). McKinsey: public advisory positioning.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663440" y="3529584"/>
            <a:ext cx="4160520" cy="1371600"/>
          </a:xfrm>
          <a:prstGeom prst="rect">
            <a:avLst/>
          </a:prstGeom>
          <a:solidFill>
            <a:srgbClr val="0A0E28"/>
          </a:solidFill>
          <a:ln w="6350">
            <a:solidFill>
              <a:srgbClr val="1E2A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3529584"/>
            <a:ext cx="36576" cy="13716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4" name="Text 32"/>
          <p:cNvSpPr/>
          <p:nvPr/>
        </p:nvSpPr>
        <p:spPr>
          <a:xfrm>
            <a:off x="4773168" y="3575304"/>
            <a:ext cx="3977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8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773168" y="3703320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Capital Requirements — Up to $1,000,000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73168" y="3858768"/>
            <a:ext cx="39776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VaughnMartin internal capital requirements analysis, May 2026. Founding Partner Program: 12 seats, 2026 cohort. Public at vaughnmartin.com/founding-partner-program. Platform built 2023, in production now.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D1535"/>
          </a:solidFill>
          <a:ln/>
        </p:spPr>
      </p:sp>
      <p:sp>
        <p:nvSpPr>
          <p:cNvPr id="38" name="Text 36"/>
          <p:cNvSpPr/>
          <p:nvPr/>
        </p:nvSpPr>
        <p:spPr>
          <a:xfrm>
            <a:off x="320040" y="5047488"/>
            <a:ext cx="850392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platform metrics are live production figures verifiable at vaughnmartin.com  ·  Financial projections are estimates based on VaughnMartin ROI methodology  ·  Confidential — For Investor Use Only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VaughnMartin Readiness OS — Investor Pitch</dc:title>
  <dc:subject>PptxGenJS Presentation</dc:subject>
  <dc:creator>VaughnMartin</dc:creator>
  <cp:lastModifiedBy>VaughnMartin</cp:lastModifiedBy>
  <cp:revision>1</cp:revision>
  <dcterms:created xsi:type="dcterms:W3CDTF">2026-05-17T04:34:19Z</dcterms:created>
  <dcterms:modified xsi:type="dcterms:W3CDTF">2026-05-17T04:34:19Z</dcterms:modified>
</cp:coreProperties>
</file>