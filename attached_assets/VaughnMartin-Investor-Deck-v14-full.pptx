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74" r:id="rId25"/>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67512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274320"/>
          </a:xfrm>
          <a:prstGeom prst="rect">
            <a:avLst/>
          </a:prstGeom>
          <a:solidFill>
            <a:srgbClr val="0408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45720"/>
            <a:ext cx="7315200" cy="201168"/>
          </a:xfrm>
          <a:prstGeom prst="rect">
            <a:avLst/>
          </a:prstGeom>
          <a:noFill/>
        </p:spPr>
        <p:txBody>
          <a:bodyPr wrap="square">
            <a:spAutoFit/>
          </a:bodyPr>
          <a:lstStyle/>
          <a:p>
            <a:pPr algn="l"/>
            <a:r>
              <a:rPr sz="650" b="1" i="0">
                <a:solidFill>
                  <a:srgbClr val="2B8A6E"/>
                </a:solidFill>
                <a:latin typeface="Calibri"/>
              </a:rPr>
              <a:t>●  MONITORING ACTIVE  ·  1 SIGNAL DETECTED  ·  SYSTEM ARMED</a:t>
            </a:r>
          </a:p>
        </p:txBody>
      </p:sp>
      <p:sp>
        <p:nvSpPr>
          <p:cNvPr id="6" name="TextBox 5"/>
          <p:cNvSpPr txBox="1"/>
          <p:nvPr/>
        </p:nvSpPr>
        <p:spPr>
          <a:xfrm>
            <a:off x="10058400" y="45720"/>
            <a:ext cx="1828800" cy="201168"/>
          </a:xfrm>
          <a:prstGeom prst="rect">
            <a:avLst/>
          </a:prstGeom>
          <a:noFill/>
        </p:spPr>
        <p:txBody>
          <a:bodyPr wrap="square">
            <a:spAutoFit/>
          </a:bodyPr>
          <a:lstStyle/>
          <a:p>
            <a:pPr algn="r"/>
            <a:r>
              <a:rPr sz="650" b="1" i="0">
                <a:solidFill>
                  <a:srgbClr val="AAB4CC"/>
                </a:solidFill>
                <a:latin typeface="Calibri"/>
              </a:rPr>
              <a:t>READINESS OS  ·  LIVE</a:t>
            </a:r>
          </a:p>
        </p:txBody>
      </p:sp>
      <p:pic>
        <p:nvPicPr>
          <p:cNvPr id="7" name="Picture 6" descr="vm_logo_white.png"/>
          <p:cNvPicPr>
            <a:picLocks noChangeAspect="1"/>
          </p:cNvPicPr>
          <p:nvPr/>
        </p:nvPicPr>
        <p:blipFill>
          <a:blip r:embed="rId3"/>
          <a:stretch>
            <a:fillRect/>
          </a:stretch>
        </p:blipFill>
        <p:spPr>
          <a:xfrm>
            <a:off x="347472" y="402336"/>
            <a:ext cx="2194560" cy="548640"/>
          </a:xfrm>
          <a:prstGeom prst="rect">
            <a:avLst/>
          </a:prstGeom>
        </p:spPr>
      </p:pic>
      <p:sp>
        <p:nvSpPr>
          <p:cNvPr id="8" name="Rectangle 7"/>
          <p:cNvSpPr/>
          <p:nvPr/>
        </p:nvSpPr>
        <p:spPr>
          <a:xfrm>
            <a:off x="347472" y="1042415"/>
            <a:ext cx="5852160"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 y="1188720"/>
            <a:ext cx="5943600" cy="822960"/>
          </a:xfrm>
          <a:prstGeom prst="rect">
            <a:avLst/>
          </a:prstGeom>
          <a:noFill/>
        </p:spPr>
        <p:txBody>
          <a:bodyPr wrap="square">
            <a:spAutoFit/>
          </a:bodyPr>
          <a:lstStyle/>
          <a:p>
            <a:pPr algn="l"/>
            <a:r>
              <a:rPr sz="4200" b="1" i="0">
                <a:solidFill>
                  <a:srgbClr val="FFFFFF"/>
                </a:solidFill>
                <a:latin typeface="Georgia"/>
              </a:rPr>
              <a:t>The Response Is Ready</a:t>
            </a:r>
          </a:p>
        </p:txBody>
      </p:sp>
      <p:sp>
        <p:nvSpPr>
          <p:cNvPr id="10" name="TextBox 9"/>
          <p:cNvSpPr txBox="1"/>
          <p:nvPr/>
        </p:nvSpPr>
        <p:spPr>
          <a:xfrm>
            <a:off x="402336" y="1993392"/>
            <a:ext cx="5943600" cy="694944"/>
          </a:xfrm>
          <a:prstGeom prst="rect">
            <a:avLst/>
          </a:prstGeom>
          <a:noFill/>
        </p:spPr>
        <p:txBody>
          <a:bodyPr wrap="square">
            <a:spAutoFit/>
          </a:bodyPr>
          <a:lstStyle/>
          <a:p>
            <a:pPr algn="l"/>
            <a:r>
              <a:rPr sz="3300" b="0" i="1">
                <a:solidFill>
                  <a:srgbClr val="C9A84C"/>
                </a:solidFill>
                <a:latin typeface="Georgia"/>
              </a:rPr>
              <a:t>Before the Trigger Fires.</a:t>
            </a:r>
          </a:p>
        </p:txBody>
      </p:sp>
      <p:sp>
        <p:nvSpPr>
          <p:cNvPr id="11" name="TextBox 10"/>
          <p:cNvSpPr txBox="1"/>
          <p:nvPr/>
        </p:nvSpPr>
        <p:spPr>
          <a:xfrm>
            <a:off x="402336" y="2798064"/>
            <a:ext cx="5669280" cy="731520"/>
          </a:xfrm>
          <a:prstGeom prst="rect">
            <a:avLst/>
          </a:prstGeom>
          <a:noFill/>
        </p:spPr>
        <p:txBody>
          <a:bodyPr wrap="square">
            <a:spAutoFit/>
          </a:bodyPr>
          <a:lstStyle/>
          <a:p>
            <a:pPr algn="l"/>
            <a:r>
              <a:rPr sz="1200" b="0" i="0">
                <a:solidFill>
                  <a:srgbClr val="AAB4CC"/>
                </a:solidFill>
                <a:latin typeface="Calibri"/>
              </a:rPr>
              <a:t>Readiness OS compresses the 30-day enterprise mobilization cycle to 12 minutes —
pre-staged, system-detected, executive-authorized.</a:t>
            </a:r>
          </a:p>
        </p:txBody>
      </p:sp>
      <p:sp>
        <p:nvSpPr>
          <p:cNvPr id="12" name="TextBox 11"/>
          <p:cNvSpPr txBox="1"/>
          <p:nvPr/>
        </p:nvSpPr>
        <p:spPr>
          <a:xfrm>
            <a:off x="402336" y="3785615"/>
            <a:ext cx="1828800" cy="530352"/>
          </a:xfrm>
          <a:prstGeom prst="rect">
            <a:avLst/>
          </a:prstGeom>
          <a:noFill/>
        </p:spPr>
        <p:txBody>
          <a:bodyPr wrap="square">
            <a:spAutoFit/>
          </a:bodyPr>
          <a:lstStyle/>
          <a:p>
            <a:pPr algn="ctr"/>
            <a:r>
              <a:rPr sz="3400" b="1" i="0">
                <a:solidFill>
                  <a:srgbClr val="C9A84C"/>
                </a:solidFill>
                <a:latin typeface="Georgia"/>
              </a:rPr>
              <a:t>3,600×</a:t>
            </a:r>
          </a:p>
        </p:txBody>
      </p:sp>
      <p:sp>
        <p:nvSpPr>
          <p:cNvPr id="13" name="TextBox 12"/>
          <p:cNvSpPr txBox="1"/>
          <p:nvPr/>
        </p:nvSpPr>
        <p:spPr>
          <a:xfrm>
            <a:off x="402336" y="4279392"/>
            <a:ext cx="1828800" cy="237744"/>
          </a:xfrm>
          <a:prstGeom prst="rect">
            <a:avLst/>
          </a:prstGeom>
          <a:noFill/>
        </p:spPr>
        <p:txBody>
          <a:bodyPr wrap="square">
            <a:spAutoFit/>
          </a:bodyPr>
          <a:lstStyle/>
          <a:p>
            <a:pPr algn="ctr"/>
            <a:r>
              <a:rPr sz="750" b="1" i="0">
                <a:solidFill>
                  <a:srgbClr val="AAB4CC"/>
                </a:solidFill>
                <a:latin typeface="Calibri"/>
              </a:rPr>
              <a:t>EXECUTION HEAD START</a:t>
            </a:r>
          </a:p>
        </p:txBody>
      </p:sp>
      <p:sp>
        <p:nvSpPr>
          <p:cNvPr id="14" name="TextBox 13"/>
          <p:cNvSpPr txBox="1"/>
          <p:nvPr/>
        </p:nvSpPr>
        <p:spPr>
          <a:xfrm>
            <a:off x="2377440" y="3785615"/>
            <a:ext cx="1828800" cy="530352"/>
          </a:xfrm>
          <a:prstGeom prst="rect">
            <a:avLst/>
          </a:prstGeom>
          <a:noFill/>
        </p:spPr>
        <p:txBody>
          <a:bodyPr wrap="square">
            <a:spAutoFit/>
          </a:bodyPr>
          <a:lstStyle/>
          <a:p>
            <a:pPr algn="ctr"/>
            <a:r>
              <a:rPr sz="3400" b="1" i="0">
                <a:solidFill>
                  <a:srgbClr val="C9A84C"/>
                </a:solidFill>
                <a:latin typeface="Georgia"/>
              </a:rPr>
              <a:t>12 MIN</a:t>
            </a:r>
          </a:p>
        </p:txBody>
      </p:sp>
      <p:sp>
        <p:nvSpPr>
          <p:cNvPr id="15" name="TextBox 14"/>
          <p:cNvSpPr txBox="1"/>
          <p:nvPr/>
        </p:nvSpPr>
        <p:spPr>
          <a:xfrm>
            <a:off x="2377440" y="4279392"/>
            <a:ext cx="1828800" cy="237744"/>
          </a:xfrm>
          <a:prstGeom prst="rect">
            <a:avLst/>
          </a:prstGeom>
          <a:noFill/>
        </p:spPr>
        <p:txBody>
          <a:bodyPr wrap="square">
            <a:spAutoFit/>
          </a:bodyPr>
          <a:lstStyle/>
          <a:p>
            <a:pPr algn="ctr"/>
            <a:r>
              <a:rPr sz="750" b="1" i="0">
                <a:solidFill>
                  <a:srgbClr val="AAB4CC"/>
                </a:solidFill>
                <a:latin typeface="Calibri"/>
              </a:rPr>
              <a:t>TRIGGER TO WAR ROOM</a:t>
            </a:r>
          </a:p>
        </p:txBody>
      </p:sp>
      <p:sp>
        <p:nvSpPr>
          <p:cNvPr id="16" name="TextBox 15"/>
          <p:cNvSpPr txBox="1"/>
          <p:nvPr/>
        </p:nvSpPr>
        <p:spPr>
          <a:xfrm>
            <a:off x="4352544" y="3785615"/>
            <a:ext cx="1645920" cy="530352"/>
          </a:xfrm>
          <a:prstGeom prst="rect">
            <a:avLst/>
          </a:prstGeom>
          <a:noFill/>
        </p:spPr>
        <p:txBody>
          <a:bodyPr wrap="square">
            <a:spAutoFit/>
          </a:bodyPr>
          <a:lstStyle/>
          <a:p>
            <a:pPr algn="ctr"/>
            <a:r>
              <a:rPr sz="3400" b="1" i="0">
                <a:solidFill>
                  <a:srgbClr val="C9A84C"/>
                </a:solidFill>
                <a:latin typeface="Georgia"/>
              </a:rPr>
              <a:t>170</a:t>
            </a:r>
          </a:p>
        </p:txBody>
      </p:sp>
      <p:sp>
        <p:nvSpPr>
          <p:cNvPr id="17" name="TextBox 16"/>
          <p:cNvSpPr txBox="1"/>
          <p:nvPr/>
        </p:nvSpPr>
        <p:spPr>
          <a:xfrm>
            <a:off x="4352544" y="4279392"/>
            <a:ext cx="1645920" cy="237744"/>
          </a:xfrm>
          <a:prstGeom prst="rect">
            <a:avLst/>
          </a:prstGeom>
          <a:noFill/>
        </p:spPr>
        <p:txBody>
          <a:bodyPr wrap="square">
            <a:spAutoFit/>
          </a:bodyPr>
          <a:lstStyle/>
          <a:p>
            <a:pPr algn="ctr"/>
            <a:r>
              <a:rPr sz="750" b="1" i="0">
                <a:solidFill>
                  <a:srgbClr val="AAB4CC"/>
                </a:solidFill>
                <a:latin typeface="Calibri"/>
              </a:rPr>
              <a:t>READINESS PROTOCOLS</a:t>
            </a:r>
          </a:p>
        </p:txBody>
      </p:sp>
      <p:sp>
        <p:nvSpPr>
          <p:cNvPr id="18" name="TextBox 17"/>
          <p:cNvSpPr txBox="1"/>
          <p:nvPr/>
        </p:nvSpPr>
        <p:spPr>
          <a:xfrm>
            <a:off x="5980176" y="3785615"/>
            <a:ext cx="1645920" cy="530352"/>
          </a:xfrm>
          <a:prstGeom prst="rect">
            <a:avLst/>
          </a:prstGeom>
          <a:noFill/>
        </p:spPr>
        <p:txBody>
          <a:bodyPr wrap="square">
            <a:spAutoFit/>
          </a:bodyPr>
          <a:lstStyle/>
          <a:p>
            <a:pPr algn="ctr"/>
            <a:r>
              <a:rPr sz="3400" b="1" i="0">
                <a:solidFill>
                  <a:srgbClr val="C9A84C"/>
                </a:solidFill>
                <a:latin typeface="Georgia"/>
              </a:rPr>
              <a:t>221</a:t>
            </a:r>
          </a:p>
        </p:txBody>
      </p:sp>
      <p:sp>
        <p:nvSpPr>
          <p:cNvPr id="19" name="TextBox 18"/>
          <p:cNvSpPr txBox="1"/>
          <p:nvPr/>
        </p:nvSpPr>
        <p:spPr>
          <a:xfrm>
            <a:off x="5980176" y="4279392"/>
            <a:ext cx="1645920" cy="237744"/>
          </a:xfrm>
          <a:prstGeom prst="rect">
            <a:avLst/>
          </a:prstGeom>
          <a:noFill/>
        </p:spPr>
        <p:txBody>
          <a:bodyPr wrap="square">
            <a:spAutoFit/>
          </a:bodyPr>
          <a:lstStyle/>
          <a:p>
            <a:pPr algn="ctr"/>
            <a:r>
              <a:rPr sz="750" b="1" i="0">
                <a:solidFill>
                  <a:srgbClr val="AAB4CC"/>
                </a:solidFill>
                <a:latin typeface="Calibri"/>
              </a:rPr>
              <a:t>STRATEGIC TRIGGERS</a:t>
            </a:r>
          </a:p>
        </p:txBody>
      </p:sp>
      <p:sp>
        <p:nvSpPr>
          <p:cNvPr id="20" name="Rectangle 19"/>
          <p:cNvSpPr/>
          <p:nvPr/>
        </p:nvSpPr>
        <p:spPr>
          <a:xfrm>
            <a:off x="402336" y="4736592"/>
            <a:ext cx="274320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791456"/>
            <a:ext cx="2633472" cy="310896"/>
          </a:xfrm>
          <a:prstGeom prst="rect">
            <a:avLst/>
          </a:prstGeom>
          <a:noFill/>
        </p:spPr>
        <p:txBody>
          <a:bodyPr wrap="square">
            <a:spAutoFit/>
          </a:bodyPr>
          <a:lstStyle/>
          <a:p>
            <a:pPr algn="ctr"/>
            <a:r>
              <a:rPr sz="750" b="1" i="0">
                <a:solidFill>
                  <a:srgbClr val="0A0F2E"/>
                </a:solidFill>
                <a:latin typeface="Calibri"/>
              </a:rPr>
              <a:t>FOUNDING PARTNER PROGRAM</a:t>
            </a:r>
          </a:p>
        </p:txBody>
      </p:sp>
      <p:pic>
        <p:nvPicPr>
          <p:cNvPr id="22" name="Picture 21" descr="vm_seal_nobg.png"/>
          <p:cNvPicPr>
            <a:picLocks noChangeAspect="1"/>
          </p:cNvPicPr>
          <p:nvPr/>
        </p:nvPicPr>
        <p:blipFill>
          <a:blip r:embed="rId4"/>
          <a:stretch>
            <a:fillRect/>
          </a:stretch>
        </p:blipFill>
        <p:spPr>
          <a:xfrm>
            <a:off x="7059168" y="548640"/>
            <a:ext cx="4828032" cy="4828032"/>
          </a:xfrm>
          <a:prstGeom prst="rect">
            <a:avLst/>
          </a:prstGeom>
        </p:spPr>
      </p:pic>
      <p:sp>
        <p:nvSpPr>
          <p:cNvPr id="23" name="Rectangle 22"/>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25" name="TextBox 24"/>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00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01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Mobilization Delay</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IS the Crisis.</a:t>
            </a:r>
          </a:p>
        </p:txBody>
      </p:sp>
      <p:sp>
        <p:nvSpPr>
          <p:cNvPr id="12" name="TextBox 11"/>
          <p:cNvSpPr txBox="1"/>
          <p:nvPr/>
        </p:nvSpPr>
        <p:spPr>
          <a:xfrm>
            <a:off x="438912" y="1609344"/>
            <a:ext cx="11320272" cy="530352"/>
          </a:xfrm>
          <a:prstGeom prst="rect">
            <a:avLst/>
          </a:prstGeom>
          <a:noFill/>
        </p:spPr>
        <p:txBody>
          <a:bodyPr wrap="square">
            <a:spAutoFit/>
          </a:bodyPr>
          <a:lstStyle/>
          <a:p>
            <a:pPr algn="l"/>
            <a:r>
              <a:rPr sz="1150" b="0" i="0">
                <a:solidFill>
                  <a:srgbClr val="AAB4CC"/>
                </a:solidFill>
                <a:latin typeface="Calibri"/>
              </a:rPr>
              <a:t>When a strategic trigger fires, organizations spend weeks just getting organized — before a single decision is made. The delay is not a symptom. It IS the crisis.</a:t>
            </a:r>
          </a:p>
        </p:txBody>
      </p:sp>
      <p:sp>
        <p:nvSpPr>
          <p:cNvPr id="13" name="Rectangle 12"/>
          <p:cNvSpPr/>
          <p:nvPr/>
        </p:nvSpPr>
        <p:spPr>
          <a:xfrm>
            <a:off x="438912" y="2340864"/>
            <a:ext cx="3657600" cy="27249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432304"/>
            <a:ext cx="3401568" cy="256032"/>
          </a:xfrm>
          <a:prstGeom prst="rect">
            <a:avLst/>
          </a:prstGeom>
          <a:noFill/>
        </p:spPr>
        <p:txBody>
          <a:bodyPr wrap="square">
            <a:spAutoFit/>
          </a:bodyPr>
          <a:lstStyle/>
          <a:p>
            <a:pPr algn="l"/>
            <a:r>
              <a:rPr sz="800" b="1" i="0">
                <a:solidFill>
                  <a:srgbClr val="C9A84C"/>
                </a:solidFill>
                <a:latin typeface="Calibri"/>
              </a:rPr>
              <a:t>DETECT</a:t>
            </a:r>
          </a:p>
        </p:txBody>
      </p:sp>
      <p:sp>
        <p:nvSpPr>
          <p:cNvPr id="15" name="TextBox 14"/>
          <p:cNvSpPr txBox="1"/>
          <p:nvPr/>
        </p:nvSpPr>
        <p:spPr>
          <a:xfrm>
            <a:off x="566928" y="2706624"/>
            <a:ext cx="3401568" cy="566928"/>
          </a:xfrm>
          <a:prstGeom prst="rect">
            <a:avLst/>
          </a:prstGeom>
          <a:noFill/>
        </p:spPr>
        <p:txBody>
          <a:bodyPr wrap="square">
            <a:spAutoFit/>
          </a:bodyPr>
          <a:lstStyle/>
          <a:p>
            <a:pPr algn="l"/>
            <a:r>
              <a:rPr sz="3000" b="1" i="0">
                <a:solidFill>
                  <a:srgbClr val="FFFFFF"/>
                </a:solidFill>
                <a:latin typeface="Georgia"/>
              </a:rPr>
              <a:t>2–4 WEEKS</a:t>
            </a:r>
          </a:p>
        </p:txBody>
      </p:sp>
      <p:sp>
        <p:nvSpPr>
          <p:cNvPr id="16" name="TextBox 15"/>
          <p:cNvSpPr txBox="1"/>
          <p:nvPr/>
        </p:nvSpPr>
        <p:spPr>
          <a:xfrm>
            <a:off x="566928" y="3291840"/>
            <a:ext cx="3401568" cy="731520"/>
          </a:xfrm>
          <a:prstGeom prst="rect">
            <a:avLst/>
          </a:prstGeom>
          <a:noFill/>
        </p:spPr>
        <p:txBody>
          <a:bodyPr wrap="square">
            <a:spAutoFit/>
          </a:bodyPr>
          <a:lstStyle/>
          <a:p>
            <a:pPr algn="l"/>
            <a:r>
              <a:rPr sz="950" b="0" i="0">
                <a:solidFill>
                  <a:srgbClr val="AAB4CC"/>
                </a:solidFill>
                <a:latin typeface="Calibri"/>
              </a:rPr>
              <a:t>Who monitors signals?
Which ones matter?
Who decides the threshold?</a:t>
            </a:r>
          </a:p>
        </p:txBody>
      </p:sp>
      <p:sp>
        <p:nvSpPr>
          <p:cNvPr id="17" name="Rectangle 16"/>
          <p:cNvSpPr/>
          <p:nvPr/>
        </p:nvSpPr>
        <p:spPr>
          <a:xfrm>
            <a:off x="4297679" y="2340864"/>
            <a:ext cx="3657600" cy="27249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25695" y="2432304"/>
            <a:ext cx="3401568" cy="256032"/>
          </a:xfrm>
          <a:prstGeom prst="rect">
            <a:avLst/>
          </a:prstGeom>
          <a:noFill/>
        </p:spPr>
        <p:txBody>
          <a:bodyPr wrap="square">
            <a:spAutoFit/>
          </a:bodyPr>
          <a:lstStyle/>
          <a:p>
            <a:pPr algn="l"/>
            <a:r>
              <a:rPr sz="800" b="1" i="0">
                <a:solidFill>
                  <a:srgbClr val="C9A84C"/>
                </a:solidFill>
                <a:latin typeface="Calibri"/>
              </a:rPr>
              <a:t>ALIGN</a:t>
            </a:r>
          </a:p>
        </p:txBody>
      </p:sp>
      <p:sp>
        <p:nvSpPr>
          <p:cNvPr id="19" name="TextBox 18"/>
          <p:cNvSpPr txBox="1"/>
          <p:nvPr/>
        </p:nvSpPr>
        <p:spPr>
          <a:xfrm>
            <a:off x="4425695" y="2706624"/>
            <a:ext cx="3401568" cy="566928"/>
          </a:xfrm>
          <a:prstGeom prst="rect">
            <a:avLst/>
          </a:prstGeom>
          <a:noFill/>
        </p:spPr>
        <p:txBody>
          <a:bodyPr wrap="square">
            <a:spAutoFit/>
          </a:bodyPr>
          <a:lstStyle/>
          <a:p>
            <a:pPr algn="l"/>
            <a:r>
              <a:rPr sz="3000" b="1" i="0">
                <a:solidFill>
                  <a:srgbClr val="FFFFFF"/>
                </a:solidFill>
                <a:latin typeface="Georgia"/>
              </a:rPr>
              <a:t>3–6 WEEKS</a:t>
            </a:r>
          </a:p>
        </p:txBody>
      </p:sp>
      <p:sp>
        <p:nvSpPr>
          <p:cNvPr id="20" name="TextBox 19"/>
          <p:cNvSpPr txBox="1"/>
          <p:nvPr/>
        </p:nvSpPr>
        <p:spPr>
          <a:xfrm>
            <a:off x="4425695" y="3291840"/>
            <a:ext cx="3401568" cy="731520"/>
          </a:xfrm>
          <a:prstGeom prst="rect">
            <a:avLst/>
          </a:prstGeom>
          <a:noFill/>
        </p:spPr>
        <p:txBody>
          <a:bodyPr wrap="square">
            <a:spAutoFit/>
          </a:bodyPr>
          <a:lstStyle/>
          <a:p>
            <a:pPr algn="l"/>
            <a:r>
              <a:rPr sz="950" b="0" i="0">
                <a:solidFill>
                  <a:srgbClr val="AAB4CC"/>
                </a:solidFill>
                <a:latin typeface="Calibri"/>
              </a:rPr>
              <a:t>Who needs to be in the room?
What is the plan?
Who approves it?</a:t>
            </a:r>
          </a:p>
        </p:txBody>
      </p:sp>
      <p:sp>
        <p:nvSpPr>
          <p:cNvPr id="21" name="Rectangle 20"/>
          <p:cNvSpPr/>
          <p:nvPr/>
        </p:nvSpPr>
        <p:spPr>
          <a:xfrm>
            <a:off x="8156448" y="2340864"/>
            <a:ext cx="3657600" cy="2724912"/>
          </a:xfrm>
          <a:prstGeom prst="rect">
            <a:avLst/>
          </a:prstGeom>
          <a:solidFill>
            <a:srgbClr val="070B24"/>
          </a:solidFill>
          <a:ln w="9525">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4464" y="2432304"/>
            <a:ext cx="3401568" cy="256032"/>
          </a:xfrm>
          <a:prstGeom prst="rect">
            <a:avLst/>
          </a:prstGeom>
          <a:noFill/>
        </p:spPr>
        <p:txBody>
          <a:bodyPr wrap="square">
            <a:spAutoFit/>
          </a:bodyPr>
          <a:lstStyle/>
          <a:p>
            <a:pPr algn="l"/>
            <a:r>
              <a:rPr sz="800" b="1" i="0">
                <a:solidFill>
                  <a:srgbClr val="C03030"/>
                </a:solidFill>
                <a:latin typeface="Calibri"/>
              </a:rPr>
              <a:t>EXECUTE</a:t>
            </a:r>
          </a:p>
        </p:txBody>
      </p:sp>
      <p:sp>
        <p:nvSpPr>
          <p:cNvPr id="23" name="TextBox 22"/>
          <p:cNvSpPr txBox="1"/>
          <p:nvPr/>
        </p:nvSpPr>
        <p:spPr>
          <a:xfrm>
            <a:off x="8284464" y="2706624"/>
            <a:ext cx="3401568" cy="566928"/>
          </a:xfrm>
          <a:prstGeom prst="rect">
            <a:avLst/>
          </a:prstGeom>
          <a:noFill/>
        </p:spPr>
        <p:txBody>
          <a:bodyPr wrap="square">
            <a:spAutoFit/>
          </a:bodyPr>
          <a:lstStyle/>
          <a:p>
            <a:pPr algn="l"/>
            <a:r>
              <a:rPr sz="3000" b="1" i="0">
                <a:solidFill>
                  <a:srgbClr val="C03030"/>
                </a:solidFill>
                <a:latin typeface="Georgia"/>
              </a:rPr>
              <a:t>2–4 WEEKS</a:t>
            </a:r>
          </a:p>
        </p:txBody>
      </p:sp>
      <p:sp>
        <p:nvSpPr>
          <p:cNvPr id="24" name="TextBox 23"/>
          <p:cNvSpPr txBox="1"/>
          <p:nvPr/>
        </p:nvSpPr>
        <p:spPr>
          <a:xfrm>
            <a:off x="8284464" y="3291840"/>
            <a:ext cx="3401568" cy="731520"/>
          </a:xfrm>
          <a:prstGeom prst="rect">
            <a:avLst/>
          </a:prstGeom>
          <a:noFill/>
        </p:spPr>
        <p:txBody>
          <a:bodyPr wrap="square">
            <a:spAutoFit/>
          </a:bodyPr>
          <a:lstStyle/>
          <a:p>
            <a:pPr algn="l"/>
            <a:r>
              <a:rPr sz="950" b="0" i="0">
                <a:solidFill>
                  <a:srgbClr val="AAB4CC"/>
                </a:solidFill>
                <a:latin typeface="Calibri"/>
              </a:rPr>
              <a:t>By this point the window
has closed. The opportunity
is gone. The crisis wins.</a:t>
            </a:r>
          </a:p>
        </p:txBody>
      </p:sp>
      <p:sp>
        <p:nvSpPr>
          <p:cNvPr id="25" name="Rectangle 24"/>
          <p:cNvSpPr/>
          <p:nvPr/>
        </p:nvSpPr>
        <p:spPr>
          <a:xfrm>
            <a:off x="438912" y="5248656"/>
            <a:ext cx="11320272" cy="585216"/>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5340096"/>
            <a:ext cx="10972800" cy="438912"/>
          </a:xfrm>
          <a:prstGeom prst="rect">
            <a:avLst/>
          </a:prstGeom>
          <a:noFill/>
        </p:spPr>
        <p:txBody>
          <a:bodyPr wrap="square">
            <a:spAutoFit/>
          </a:bodyPr>
          <a:lstStyle/>
          <a:p>
            <a:pPr algn="l"/>
            <a:r>
              <a:rPr sz="1050" b="0" i="1">
                <a:solidFill>
                  <a:srgbClr val="FFFFFF"/>
                </a:solidFill>
                <a:latin typeface="Georgia"/>
              </a:rPr>
              <a:t>"In any organization — startup to Fortune 500 — when a strategic trigger fires, the enterprise spends weeks just to MOBILIZE before execution even begins. That mobilization delay is the real crisis."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02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WHY CURRENT SOLUTIONS FAIL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Everyone Bolted AI Onto</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The 40-Year-Old Operating Model.</a:t>
            </a:r>
          </a:p>
        </p:txBody>
      </p:sp>
      <p:sp>
        <p:nvSpPr>
          <p:cNvPr id="12" name="TextBox 11"/>
          <p:cNvSpPr txBox="1"/>
          <p:nvPr/>
        </p:nvSpPr>
        <p:spPr>
          <a:xfrm>
            <a:off x="438912" y="1609344"/>
            <a:ext cx="11320272" cy="420624"/>
          </a:xfrm>
          <a:prstGeom prst="rect">
            <a:avLst/>
          </a:prstGeom>
          <a:noFill/>
        </p:spPr>
        <p:txBody>
          <a:bodyPr wrap="square">
            <a:spAutoFit/>
          </a:bodyPr>
          <a:lstStyle/>
          <a:p>
            <a:pPr algn="l"/>
            <a:r>
              <a:rPr sz="1150" b="0" i="0">
                <a:solidFill>
                  <a:srgbClr val="AAB4CC"/>
                </a:solidFill>
                <a:latin typeface="Calibri"/>
              </a:rPr>
              <a:t>The constraint was never intelligence. It was the operating model underneath it. Faster spreadsheets. Smarter summaries. Better notes from the same slow meeting.</a:t>
            </a:r>
          </a:p>
        </p:txBody>
      </p:sp>
      <p:sp>
        <p:nvSpPr>
          <p:cNvPr id="13" name="Rectangle 12"/>
          <p:cNvSpPr/>
          <p:nvPr/>
        </p:nvSpPr>
        <p:spPr>
          <a:xfrm>
            <a:off x="438912" y="2139696"/>
            <a:ext cx="250545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2414015" cy="237744"/>
          </a:xfrm>
          <a:prstGeom prst="rect">
            <a:avLst/>
          </a:prstGeom>
          <a:noFill/>
        </p:spPr>
        <p:txBody>
          <a:bodyPr wrap="square">
            <a:spAutoFit/>
          </a:bodyPr>
          <a:lstStyle/>
          <a:p>
            <a:pPr algn="l"/>
            <a:r>
              <a:rPr sz="750" b="1" i="0">
                <a:solidFill>
                  <a:srgbClr val="C9A84C"/>
                </a:solidFill>
                <a:latin typeface="Calibri"/>
              </a:rPr>
              <a:t>SOLUTION</a:t>
            </a:r>
          </a:p>
        </p:txBody>
      </p:sp>
      <p:sp>
        <p:nvSpPr>
          <p:cNvPr id="15" name="Rectangle 14"/>
          <p:cNvSpPr/>
          <p:nvPr/>
        </p:nvSpPr>
        <p:spPr>
          <a:xfrm>
            <a:off x="3090672" y="2139696"/>
            <a:ext cx="415137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2194560"/>
            <a:ext cx="4059935" cy="237744"/>
          </a:xfrm>
          <a:prstGeom prst="rect">
            <a:avLst/>
          </a:prstGeom>
          <a:noFill/>
        </p:spPr>
        <p:txBody>
          <a:bodyPr wrap="square">
            <a:spAutoFit/>
          </a:bodyPr>
          <a:lstStyle/>
          <a:p>
            <a:pPr algn="l"/>
            <a:r>
              <a:rPr sz="750" b="1" i="0">
                <a:solidFill>
                  <a:srgbClr val="C9A84C"/>
                </a:solidFill>
                <a:latin typeface="Calibri"/>
              </a:rPr>
              <a:t>WHAT IT DOES</a:t>
            </a:r>
          </a:p>
        </p:txBody>
      </p:sp>
      <p:sp>
        <p:nvSpPr>
          <p:cNvPr id="17" name="Rectangle 16"/>
          <p:cNvSpPr/>
          <p:nvPr/>
        </p:nvSpPr>
        <p:spPr>
          <a:xfrm>
            <a:off x="7388352" y="2139696"/>
            <a:ext cx="415137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9792" y="2194560"/>
            <a:ext cx="4059935" cy="237744"/>
          </a:xfrm>
          <a:prstGeom prst="rect">
            <a:avLst/>
          </a:prstGeom>
          <a:noFill/>
        </p:spPr>
        <p:txBody>
          <a:bodyPr wrap="square">
            <a:spAutoFit/>
          </a:bodyPr>
          <a:lstStyle/>
          <a:p>
            <a:pPr algn="l"/>
            <a:r>
              <a:rPr sz="750" b="1" i="0">
                <a:solidFill>
                  <a:srgbClr val="C9A84C"/>
                </a:solidFill>
                <a:latin typeface="Calibri"/>
              </a:rPr>
              <a:t>WHAT IT MISSES</a:t>
            </a:r>
          </a:p>
        </p:txBody>
      </p:sp>
      <p:sp>
        <p:nvSpPr>
          <p:cNvPr id="19" name="Rectangle 18"/>
          <p:cNvSpPr/>
          <p:nvPr/>
        </p:nvSpPr>
        <p:spPr>
          <a:xfrm>
            <a:off x="438912" y="2505456"/>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2578608"/>
            <a:ext cx="2377439" cy="274320"/>
          </a:xfrm>
          <a:prstGeom prst="rect">
            <a:avLst/>
          </a:prstGeom>
          <a:noFill/>
        </p:spPr>
        <p:txBody>
          <a:bodyPr wrap="square">
            <a:spAutoFit/>
          </a:bodyPr>
          <a:lstStyle/>
          <a:p>
            <a:pPr algn="l"/>
            <a:r>
              <a:rPr sz="900" b="1" i="0">
                <a:solidFill>
                  <a:srgbClr val="AAB4CC"/>
                </a:solidFill>
                <a:latin typeface="Calibri"/>
              </a:rPr>
              <a:t>Microsoft Copilot</a:t>
            </a:r>
          </a:p>
        </p:txBody>
      </p:sp>
      <p:sp>
        <p:nvSpPr>
          <p:cNvPr id="21" name="Rectangle 20"/>
          <p:cNvSpPr/>
          <p:nvPr/>
        </p:nvSpPr>
        <p:spPr>
          <a:xfrm>
            <a:off x="3090672" y="2505456"/>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2578608"/>
            <a:ext cx="4023359" cy="274320"/>
          </a:xfrm>
          <a:prstGeom prst="rect">
            <a:avLst/>
          </a:prstGeom>
          <a:noFill/>
        </p:spPr>
        <p:txBody>
          <a:bodyPr wrap="square">
            <a:spAutoFit/>
          </a:bodyPr>
          <a:lstStyle/>
          <a:p>
            <a:pPr algn="l"/>
            <a:r>
              <a:rPr sz="900" b="0" i="0">
                <a:solidFill>
                  <a:srgbClr val="AAB4CC"/>
                </a:solidFill>
                <a:latin typeface="Calibri"/>
              </a:rPr>
              <a:t>Summarizes meetings faster</a:t>
            </a:r>
          </a:p>
        </p:txBody>
      </p:sp>
      <p:sp>
        <p:nvSpPr>
          <p:cNvPr id="23" name="Rectangle 22"/>
          <p:cNvSpPr/>
          <p:nvPr/>
        </p:nvSpPr>
        <p:spPr>
          <a:xfrm>
            <a:off x="7388352" y="2505456"/>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9792" y="2578608"/>
            <a:ext cx="4023359" cy="274320"/>
          </a:xfrm>
          <a:prstGeom prst="rect">
            <a:avLst/>
          </a:prstGeom>
          <a:noFill/>
        </p:spPr>
        <p:txBody>
          <a:bodyPr wrap="square">
            <a:spAutoFit/>
          </a:bodyPr>
          <a:lstStyle/>
          <a:p>
            <a:pPr algn="l"/>
            <a:r>
              <a:rPr sz="900" b="0" i="0">
                <a:solidFill>
                  <a:srgbClr val="CC5555"/>
                </a:solidFill>
                <a:latin typeface="Calibri"/>
              </a:rPr>
              <a:t>The operating model that acts on those summaries</a:t>
            </a:r>
          </a:p>
        </p:txBody>
      </p:sp>
      <p:sp>
        <p:nvSpPr>
          <p:cNvPr id="25" name="Rectangle 24"/>
          <p:cNvSpPr/>
          <p:nvPr/>
        </p:nvSpPr>
        <p:spPr>
          <a:xfrm>
            <a:off x="438912" y="2926080"/>
            <a:ext cx="250545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2999232"/>
            <a:ext cx="2377439" cy="274320"/>
          </a:xfrm>
          <a:prstGeom prst="rect">
            <a:avLst/>
          </a:prstGeom>
          <a:noFill/>
        </p:spPr>
        <p:txBody>
          <a:bodyPr wrap="square">
            <a:spAutoFit/>
          </a:bodyPr>
          <a:lstStyle/>
          <a:p>
            <a:pPr algn="l"/>
            <a:r>
              <a:rPr sz="900" b="1" i="0">
                <a:solidFill>
                  <a:srgbClr val="AAB4CC"/>
                </a:solidFill>
                <a:latin typeface="Calibri"/>
              </a:rPr>
              <a:t>ChatGPT / Claude</a:t>
            </a:r>
          </a:p>
        </p:txBody>
      </p:sp>
      <p:sp>
        <p:nvSpPr>
          <p:cNvPr id="27" name="Rectangle 26"/>
          <p:cNvSpPr/>
          <p:nvPr/>
        </p:nvSpPr>
        <p:spPr>
          <a:xfrm>
            <a:off x="3090672" y="2926080"/>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2999232"/>
            <a:ext cx="4023359" cy="274320"/>
          </a:xfrm>
          <a:prstGeom prst="rect">
            <a:avLst/>
          </a:prstGeom>
          <a:noFill/>
        </p:spPr>
        <p:txBody>
          <a:bodyPr wrap="square">
            <a:spAutoFit/>
          </a:bodyPr>
          <a:lstStyle/>
          <a:p>
            <a:pPr algn="l"/>
            <a:r>
              <a:rPr sz="900" b="0" i="0">
                <a:solidFill>
                  <a:srgbClr val="AAB4CC"/>
                </a:solidFill>
                <a:latin typeface="Calibri"/>
              </a:rPr>
              <a:t>Answers questions in real time</a:t>
            </a:r>
          </a:p>
        </p:txBody>
      </p:sp>
      <p:sp>
        <p:nvSpPr>
          <p:cNvPr id="29" name="Rectangle 28"/>
          <p:cNvSpPr/>
          <p:nvPr/>
        </p:nvSpPr>
        <p:spPr>
          <a:xfrm>
            <a:off x="7388352" y="2926080"/>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2999232"/>
            <a:ext cx="4023359" cy="274320"/>
          </a:xfrm>
          <a:prstGeom prst="rect">
            <a:avLst/>
          </a:prstGeom>
          <a:noFill/>
        </p:spPr>
        <p:txBody>
          <a:bodyPr wrap="square">
            <a:spAutoFit/>
          </a:bodyPr>
          <a:lstStyle/>
          <a:p>
            <a:pPr algn="l"/>
            <a:r>
              <a:rPr sz="900" b="0" i="0">
                <a:solidFill>
                  <a:srgbClr val="CC5555"/>
                </a:solidFill>
                <a:latin typeface="Calibri"/>
              </a:rPr>
              <a:t>Pre-staged execution before the question is asked</a:t>
            </a:r>
          </a:p>
        </p:txBody>
      </p:sp>
      <p:sp>
        <p:nvSpPr>
          <p:cNvPr id="31" name="Rectangle 30"/>
          <p:cNvSpPr/>
          <p:nvPr/>
        </p:nvSpPr>
        <p:spPr>
          <a:xfrm>
            <a:off x="438912" y="3346704"/>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3419856"/>
            <a:ext cx="2377439" cy="274320"/>
          </a:xfrm>
          <a:prstGeom prst="rect">
            <a:avLst/>
          </a:prstGeom>
          <a:noFill/>
        </p:spPr>
        <p:txBody>
          <a:bodyPr wrap="square">
            <a:spAutoFit/>
          </a:bodyPr>
          <a:lstStyle/>
          <a:p>
            <a:pPr algn="l"/>
            <a:r>
              <a:rPr sz="900" b="1" i="0">
                <a:solidFill>
                  <a:srgbClr val="AAB4CC"/>
                </a:solidFill>
                <a:latin typeface="Calibri"/>
              </a:rPr>
              <a:t>Strategy Consultants</a:t>
            </a:r>
          </a:p>
        </p:txBody>
      </p:sp>
      <p:sp>
        <p:nvSpPr>
          <p:cNvPr id="33" name="Rectangle 32"/>
          <p:cNvSpPr/>
          <p:nvPr/>
        </p:nvSpPr>
        <p:spPr>
          <a:xfrm>
            <a:off x="3090672" y="3346704"/>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3419856"/>
            <a:ext cx="4023359" cy="274320"/>
          </a:xfrm>
          <a:prstGeom prst="rect">
            <a:avLst/>
          </a:prstGeom>
          <a:noFill/>
        </p:spPr>
        <p:txBody>
          <a:bodyPr wrap="square">
            <a:spAutoFit/>
          </a:bodyPr>
          <a:lstStyle/>
          <a:p>
            <a:pPr algn="l"/>
            <a:r>
              <a:rPr sz="900" b="0" i="0">
                <a:solidFill>
                  <a:srgbClr val="AAB4CC"/>
                </a:solidFill>
                <a:latin typeface="Calibri"/>
              </a:rPr>
              <a:t>Builds the plan after the crisis hits</a:t>
            </a:r>
          </a:p>
        </p:txBody>
      </p:sp>
      <p:sp>
        <p:nvSpPr>
          <p:cNvPr id="35" name="Rectangle 34"/>
          <p:cNvSpPr/>
          <p:nvPr/>
        </p:nvSpPr>
        <p:spPr>
          <a:xfrm>
            <a:off x="7388352" y="3346704"/>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79792" y="3419856"/>
            <a:ext cx="4023359" cy="274320"/>
          </a:xfrm>
          <a:prstGeom prst="rect">
            <a:avLst/>
          </a:prstGeom>
          <a:noFill/>
        </p:spPr>
        <p:txBody>
          <a:bodyPr wrap="square">
            <a:spAutoFit/>
          </a:bodyPr>
          <a:lstStyle/>
          <a:p>
            <a:pPr algn="l"/>
            <a:r>
              <a:rPr sz="900" b="0" i="0">
                <a:solidFill>
                  <a:srgbClr val="CC5555"/>
                </a:solidFill>
                <a:latin typeface="Calibri"/>
              </a:rPr>
              <a:t>Speed, cost ($250K+), and institutional memory</a:t>
            </a:r>
          </a:p>
        </p:txBody>
      </p:sp>
      <p:sp>
        <p:nvSpPr>
          <p:cNvPr id="37" name="Rectangle 36"/>
          <p:cNvSpPr/>
          <p:nvPr/>
        </p:nvSpPr>
        <p:spPr>
          <a:xfrm>
            <a:off x="438912" y="3767328"/>
            <a:ext cx="250545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0352" y="3840480"/>
            <a:ext cx="2377439" cy="274320"/>
          </a:xfrm>
          <a:prstGeom prst="rect">
            <a:avLst/>
          </a:prstGeom>
          <a:noFill/>
        </p:spPr>
        <p:txBody>
          <a:bodyPr wrap="square">
            <a:spAutoFit/>
          </a:bodyPr>
          <a:lstStyle/>
          <a:p>
            <a:pPr algn="l"/>
            <a:r>
              <a:rPr sz="900" b="1" i="0">
                <a:solidFill>
                  <a:srgbClr val="AAB4CC"/>
                </a:solidFill>
                <a:latin typeface="Calibri"/>
              </a:rPr>
              <a:t>Workflow Automation</a:t>
            </a:r>
          </a:p>
        </p:txBody>
      </p:sp>
      <p:sp>
        <p:nvSpPr>
          <p:cNvPr id="39" name="Rectangle 38"/>
          <p:cNvSpPr/>
          <p:nvPr/>
        </p:nvSpPr>
        <p:spPr>
          <a:xfrm>
            <a:off x="3090672" y="3767328"/>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3840480"/>
            <a:ext cx="4023359" cy="274320"/>
          </a:xfrm>
          <a:prstGeom prst="rect">
            <a:avLst/>
          </a:prstGeom>
          <a:noFill/>
        </p:spPr>
        <p:txBody>
          <a:bodyPr wrap="square">
            <a:spAutoFit/>
          </a:bodyPr>
          <a:lstStyle/>
          <a:p>
            <a:pPr algn="l"/>
            <a:r>
              <a:rPr sz="900" b="0" i="0">
                <a:solidFill>
                  <a:srgbClr val="AAB4CC"/>
                </a:solidFill>
                <a:latin typeface="Calibri"/>
              </a:rPr>
              <a:t>Executes predefined tasks</a:t>
            </a:r>
          </a:p>
        </p:txBody>
      </p:sp>
      <p:sp>
        <p:nvSpPr>
          <p:cNvPr id="41" name="Rectangle 40"/>
          <p:cNvSpPr/>
          <p:nvPr/>
        </p:nvSpPr>
        <p:spPr>
          <a:xfrm>
            <a:off x="7388352" y="3767328"/>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79792" y="3840480"/>
            <a:ext cx="4023359" cy="274320"/>
          </a:xfrm>
          <a:prstGeom prst="rect">
            <a:avLst/>
          </a:prstGeom>
          <a:noFill/>
        </p:spPr>
        <p:txBody>
          <a:bodyPr wrap="square">
            <a:spAutoFit/>
          </a:bodyPr>
          <a:lstStyle/>
          <a:p>
            <a:pPr algn="l"/>
            <a:r>
              <a:rPr sz="900" b="0" i="0">
                <a:solidFill>
                  <a:srgbClr val="CC5555"/>
                </a:solidFill>
                <a:latin typeface="Calibri"/>
              </a:rPr>
              <a:t>Trigger detection, compound crises, executive auth</a:t>
            </a:r>
          </a:p>
        </p:txBody>
      </p:sp>
      <p:sp>
        <p:nvSpPr>
          <p:cNvPr id="43" name="Rectangle 42"/>
          <p:cNvSpPr/>
          <p:nvPr/>
        </p:nvSpPr>
        <p:spPr>
          <a:xfrm>
            <a:off x="438912" y="4187952"/>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 y="4261104"/>
            <a:ext cx="2377439" cy="274320"/>
          </a:xfrm>
          <a:prstGeom prst="rect">
            <a:avLst/>
          </a:prstGeom>
          <a:noFill/>
        </p:spPr>
        <p:txBody>
          <a:bodyPr wrap="square">
            <a:spAutoFit/>
          </a:bodyPr>
          <a:lstStyle/>
          <a:p>
            <a:pPr algn="l"/>
            <a:r>
              <a:rPr sz="900" b="1" i="0">
                <a:solidFill>
                  <a:srgbClr val="AAB4CC"/>
                </a:solidFill>
                <a:latin typeface="Calibri"/>
              </a:rPr>
              <a:t>Scenario Planning</a:t>
            </a:r>
          </a:p>
        </p:txBody>
      </p:sp>
      <p:sp>
        <p:nvSpPr>
          <p:cNvPr id="45" name="Rectangle 44"/>
          <p:cNvSpPr/>
          <p:nvPr/>
        </p:nvSpPr>
        <p:spPr>
          <a:xfrm>
            <a:off x="3090672" y="4187952"/>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82112" y="4261104"/>
            <a:ext cx="4023359" cy="274320"/>
          </a:xfrm>
          <a:prstGeom prst="rect">
            <a:avLst/>
          </a:prstGeom>
          <a:noFill/>
        </p:spPr>
        <p:txBody>
          <a:bodyPr wrap="square">
            <a:spAutoFit/>
          </a:bodyPr>
          <a:lstStyle/>
          <a:p>
            <a:pPr algn="l"/>
            <a:r>
              <a:rPr sz="900" b="0" i="0">
                <a:solidFill>
                  <a:srgbClr val="AAB4CC"/>
                </a:solidFill>
                <a:latin typeface="Calibri"/>
              </a:rPr>
              <a:t>Documents possible futures</a:t>
            </a:r>
          </a:p>
        </p:txBody>
      </p:sp>
      <p:sp>
        <p:nvSpPr>
          <p:cNvPr id="47" name="Rectangle 46"/>
          <p:cNvSpPr/>
          <p:nvPr/>
        </p:nvSpPr>
        <p:spPr>
          <a:xfrm>
            <a:off x="7388352" y="4187952"/>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79792" y="4261104"/>
            <a:ext cx="4023359" cy="274320"/>
          </a:xfrm>
          <a:prstGeom prst="rect">
            <a:avLst/>
          </a:prstGeom>
          <a:noFill/>
        </p:spPr>
        <p:txBody>
          <a:bodyPr wrap="square">
            <a:spAutoFit/>
          </a:bodyPr>
          <a:lstStyle/>
          <a:p>
            <a:pPr algn="l"/>
            <a:r>
              <a:rPr sz="900" b="0" i="0">
                <a:solidFill>
                  <a:srgbClr val="CC5555"/>
                </a:solidFill>
                <a:latin typeface="Calibri"/>
              </a:rPr>
              <a:t>Staged, authorized, executable response protocols</a:t>
            </a:r>
          </a:p>
        </p:txBody>
      </p:sp>
      <p:sp>
        <p:nvSpPr>
          <p:cNvPr id="49" name="Rectangle 48"/>
          <p:cNvSpPr/>
          <p:nvPr/>
        </p:nvSpPr>
        <p:spPr>
          <a:xfrm>
            <a:off x="438912" y="4663440"/>
            <a:ext cx="11320272" cy="512064"/>
          </a:xfrm>
          <a:prstGeom prst="rect">
            <a:avLst/>
          </a:prstGeom>
          <a:solidFill>
            <a:srgbClr val="0A160A"/>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4754880"/>
            <a:ext cx="10972800" cy="365760"/>
          </a:xfrm>
          <a:prstGeom prst="rect">
            <a:avLst/>
          </a:prstGeom>
          <a:noFill/>
        </p:spPr>
        <p:txBody>
          <a:bodyPr wrap="square">
            <a:spAutoFit/>
          </a:bodyPr>
          <a:lstStyle/>
          <a:p>
            <a:pPr algn="l"/>
            <a:r>
              <a:rPr sz="1100" b="1" i="1">
                <a:solidFill>
                  <a:srgbClr val="FFFFFF"/>
                </a:solidFill>
                <a:latin typeface="Georgia"/>
              </a:rPr>
              <a:t>VaughnMartin rebuilds from first principles. Not faster tools. A new operating model. Pre-staged protocols replace real-time coordination. Pattern detection replaces committee deliberation.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03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PLATFORM ARCHITECTURE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An Always-On Operating</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Nervous System for the Enterprise.</a:t>
            </a:r>
          </a:p>
        </p:txBody>
      </p:sp>
      <p:sp>
        <p:nvSpPr>
          <p:cNvPr id="12" name="TextBox 11"/>
          <p:cNvSpPr txBox="1"/>
          <p:nvPr/>
        </p:nvSpPr>
        <p:spPr>
          <a:xfrm>
            <a:off x="438912" y="1609344"/>
            <a:ext cx="11320272" cy="420624"/>
          </a:xfrm>
          <a:prstGeom prst="rect">
            <a:avLst/>
          </a:prstGeom>
          <a:noFill/>
        </p:spPr>
        <p:txBody>
          <a:bodyPr wrap="square">
            <a:spAutoFit/>
          </a:bodyPr>
          <a:lstStyle/>
          <a:p>
            <a:pPr algn="l"/>
            <a:r>
              <a:rPr sz="1150" b="0" i="0">
                <a:solidFill>
                  <a:srgbClr val="AAB4CC"/>
                </a:solidFill>
                <a:latin typeface="Calibri"/>
              </a:rPr>
              <a:t>Not a tool you pick up when the crisis hits. Infrastructure that never stops running — detecting, staging, executing, and learning across every strategic domain.</a:t>
            </a:r>
          </a:p>
        </p:txBody>
      </p:sp>
      <p:sp>
        <p:nvSpPr>
          <p:cNvPr id="13" name="Rectangle 12"/>
          <p:cNvSpPr/>
          <p:nvPr/>
        </p:nvSpPr>
        <p:spPr>
          <a:xfrm>
            <a:off x="438912" y="2157984"/>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04288"/>
            <a:ext cx="365760" cy="457200"/>
          </a:xfrm>
          <a:prstGeom prst="rect">
            <a:avLst/>
          </a:prstGeom>
          <a:noFill/>
        </p:spPr>
        <p:txBody>
          <a:bodyPr wrap="square">
            <a:spAutoFit/>
          </a:bodyPr>
          <a:lstStyle/>
          <a:p>
            <a:pPr algn="l"/>
            <a:r>
              <a:rPr sz="1800" b="1" i="0">
                <a:solidFill>
                  <a:srgbClr val="2B8A6E"/>
                </a:solidFill>
                <a:latin typeface="Georgia"/>
              </a:rPr>
              <a:t>01</a:t>
            </a:r>
          </a:p>
        </p:txBody>
      </p:sp>
      <p:sp>
        <p:nvSpPr>
          <p:cNvPr id="15" name="Rectangle 14"/>
          <p:cNvSpPr/>
          <p:nvPr/>
        </p:nvSpPr>
        <p:spPr>
          <a:xfrm>
            <a:off x="1005840" y="2249424"/>
            <a:ext cx="18288" cy="56692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231136"/>
            <a:ext cx="1371600" cy="237744"/>
          </a:xfrm>
          <a:prstGeom prst="rect">
            <a:avLst/>
          </a:prstGeom>
          <a:noFill/>
        </p:spPr>
        <p:txBody>
          <a:bodyPr wrap="square">
            <a:spAutoFit/>
          </a:bodyPr>
          <a:lstStyle/>
          <a:p>
            <a:pPr algn="l"/>
            <a:r>
              <a:rPr sz="700" b="1" i="0">
                <a:solidFill>
                  <a:srgbClr val="2B8A6E"/>
                </a:solidFill>
                <a:latin typeface="Calibri"/>
              </a:rPr>
              <a:t>DETECT</a:t>
            </a:r>
          </a:p>
        </p:txBody>
      </p:sp>
      <p:sp>
        <p:nvSpPr>
          <p:cNvPr id="17" name="TextBox 16"/>
          <p:cNvSpPr txBox="1"/>
          <p:nvPr/>
        </p:nvSpPr>
        <p:spPr>
          <a:xfrm>
            <a:off x="1097280" y="2468879"/>
            <a:ext cx="3657600" cy="292608"/>
          </a:xfrm>
          <a:prstGeom prst="rect">
            <a:avLst/>
          </a:prstGeom>
          <a:noFill/>
        </p:spPr>
        <p:txBody>
          <a:bodyPr wrap="square">
            <a:spAutoFit/>
          </a:bodyPr>
          <a:lstStyle/>
          <a:p>
            <a:pPr algn="l"/>
            <a:r>
              <a:rPr sz="1150" b="1" i="0">
                <a:solidFill>
                  <a:srgbClr val="FFFFFF"/>
                </a:solidFill>
                <a:latin typeface="Calibri"/>
              </a:rPr>
              <a:t>Live Signal Intelligence</a:t>
            </a:r>
          </a:p>
        </p:txBody>
      </p:sp>
      <p:sp>
        <p:nvSpPr>
          <p:cNvPr id="18" name="TextBox 17"/>
          <p:cNvSpPr txBox="1"/>
          <p:nvPr/>
        </p:nvSpPr>
        <p:spPr>
          <a:xfrm>
            <a:off x="4864608" y="2322576"/>
            <a:ext cx="6803136" cy="475488"/>
          </a:xfrm>
          <a:prstGeom prst="rect">
            <a:avLst/>
          </a:prstGeom>
          <a:noFill/>
        </p:spPr>
        <p:txBody>
          <a:bodyPr wrap="square">
            <a:spAutoFit/>
          </a:bodyPr>
          <a:lstStyle/>
          <a:p>
            <a:pPr algn="l"/>
            <a:r>
              <a:rPr sz="950" b="0" i="0">
                <a:solidFill>
                  <a:srgbClr val="AAB4CC"/>
                </a:solidFill>
                <a:latin typeface="Calibri"/>
              </a:rPr>
              <a:t>8 sources · 15-min cycles · 221 triggers · risk scoring · Executive Readiness Score · Command Tower always live</a:t>
            </a:r>
          </a:p>
        </p:txBody>
      </p:sp>
      <p:sp>
        <p:nvSpPr>
          <p:cNvPr id="19" name="Rectangle 18"/>
          <p:cNvSpPr/>
          <p:nvPr/>
        </p:nvSpPr>
        <p:spPr>
          <a:xfrm>
            <a:off x="438912" y="2962656"/>
            <a:ext cx="11320272" cy="74980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08960"/>
            <a:ext cx="365760" cy="457200"/>
          </a:xfrm>
          <a:prstGeom prst="rect">
            <a:avLst/>
          </a:prstGeom>
          <a:noFill/>
        </p:spPr>
        <p:txBody>
          <a:bodyPr wrap="square">
            <a:spAutoFit/>
          </a:bodyPr>
          <a:lstStyle/>
          <a:p>
            <a:pPr algn="l"/>
            <a:r>
              <a:rPr sz="1800" b="1" i="0">
                <a:solidFill>
                  <a:srgbClr val="C9A84C"/>
                </a:solidFill>
                <a:latin typeface="Georgia"/>
              </a:rPr>
              <a:t>02</a:t>
            </a:r>
          </a:p>
        </p:txBody>
      </p:sp>
      <p:sp>
        <p:nvSpPr>
          <p:cNvPr id="21" name="Rectangle 20"/>
          <p:cNvSpPr/>
          <p:nvPr/>
        </p:nvSpPr>
        <p:spPr>
          <a:xfrm>
            <a:off x="1005840" y="3054096"/>
            <a:ext cx="18288" cy="5669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3035808"/>
            <a:ext cx="1371600" cy="237744"/>
          </a:xfrm>
          <a:prstGeom prst="rect">
            <a:avLst/>
          </a:prstGeom>
          <a:noFill/>
        </p:spPr>
        <p:txBody>
          <a:bodyPr wrap="square">
            <a:spAutoFit/>
          </a:bodyPr>
          <a:lstStyle/>
          <a:p>
            <a:pPr algn="l"/>
            <a:r>
              <a:rPr sz="700" b="1" i="0">
                <a:solidFill>
                  <a:srgbClr val="C9A84C"/>
                </a:solidFill>
                <a:latin typeface="Calibri"/>
              </a:rPr>
              <a:t>IDENTIFY</a:t>
            </a:r>
          </a:p>
        </p:txBody>
      </p:sp>
      <p:sp>
        <p:nvSpPr>
          <p:cNvPr id="23" name="TextBox 22"/>
          <p:cNvSpPr txBox="1"/>
          <p:nvPr/>
        </p:nvSpPr>
        <p:spPr>
          <a:xfrm>
            <a:off x="1097280" y="3273551"/>
            <a:ext cx="3657600" cy="292608"/>
          </a:xfrm>
          <a:prstGeom prst="rect">
            <a:avLst/>
          </a:prstGeom>
          <a:noFill/>
        </p:spPr>
        <p:txBody>
          <a:bodyPr wrap="square">
            <a:spAutoFit/>
          </a:bodyPr>
          <a:lstStyle/>
          <a:p>
            <a:pPr algn="l"/>
            <a:r>
              <a:rPr sz="1150" b="1" i="0">
                <a:solidFill>
                  <a:srgbClr val="FFFFFF"/>
                </a:solidFill>
                <a:latin typeface="Calibri"/>
              </a:rPr>
              <a:t>Trigger Classification &amp; Routing</a:t>
            </a:r>
          </a:p>
        </p:txBody>
      </p:sp>
      <p:sp>
        <p:nvSpPr>
          <p:cNvPr id="24" name="TextBox 23"/>
          <p:cNvSpPr txBox="1"/>
          <p:nvPr/>
        </p:nvSpPr>
        <p:spPr>
          <a:xfrm>
            <a:off x="4864608" y="3127248"/>
            <a:ext cx="6803136" cy="475488"/>
          </a:xfrm>
          <a:prstGeom prst="rect">
            <a:avLst/>
          </a:prstGeom>
          <a:noFill/>
        </p:spPr>
        <p:txBody>
          <a:bodyPr wrap="square">
            <a:spAutoFit/>
          </a:bodyPr>
          <a:lstStyle/>
          <a:p>
            <a:pPr algn="l"/>
            <a:r>
              <a:rPr sz="950" b="0" i="0">
                <a:solidFill>
                  <a:srgbClr val="AAB4CC"/>
                </a:solidFill>
                <a:latin typeface="Calibri"/>
              </a:rPr>
              <a:t>Proprietary algorithm: √signals × 8 · LOW / MEDIUM / HIGH classification · auto-routed to protocol library</a:t>
            </a:r>
          </a:p>
        </p:txBody>
      </p:sp>
      <p:sp>
        <p:nvSpPr>
          <p:cNvPr id="25" name="Rectangle 24"/>
          <p:cNvSpPr/>
          <p:nvPr/>
        </p:nvSpPr>
        <p:spPr>
          <a:xfrm>
            <a:off x="438912" y="3767328"/>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913632"/>
            <a:ext cx="365760" cy="457200"/>
          </a:xfrm>
          <a:prstGeom prst="rect">
            <a:avLst/>
          </a:prstGeom>
          <a:noFill/>
        </p:spPr>
        <p:txBody>
          <a:bodyPr wrap="square">
            <a:spAutoFit/>
          </a:bodyPr>
          <a:lstStyle/>
          <a:p>
            <a:pPr algn="l"/>
            <a:r>
              <a:rPr sz="1800" b="1" i="0">
                <a:solidFill>
                  <a:srgbClr val="FFFFFF"/>
                </a:solidFill>
                <a:latin typeface="Georgia"/>
              </a:rPr>
              <a:t>03</a:t>
            </a:r>
          </a:p>
        </p:txBody>
      </p:sp>
      <p:sp>
        <p:nvSpPr>
          <p:cNvPr id="27" name="Rectangle 26"/>
          <p:cNvSpPr/>
          <p:nvPr/>
        </p:nvSpPr>
        <p:spPr>
          <a:xfrm>
            <a:off x="1005840" y="3858768"/>
            <a:ext cx="1828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3840480"/>
            <a:ext cx="1371600" cy="237744"/>
          </a:xfrm>
          <a:prstGeom prst="rect">
            <a:avLst/>
          </a:prstGeom>
          <a:noFill/>
        </p:spPr>
        <p:txBody>
          <a:bodyPr wrap="square">
            <a:spAutoFit/>
          </a:bodyPr>
          <a:lstStyle/>
          <a:p>
            <a:pPr algn="l"/>
            <a:r>
              <a:rPr sz="700" b="1" i="0">
                <a:solidFill>
                  <a:srgbClr val="FFFFFF"/>
                </a:solidFill>
                <a:latin typeface="Calibri"/>
              </a:rPr>
              <a:t>STAGE</a:t>
            </a:r>
          </a:p>
        </p:txBody>
      </p:sp>
      <p:sp>
        <p:nvSpPr>
          <p:cNvPr id="29" name="TextBox 28"/>
          <p:cNvSpPr txBox="1"/>
          <p:nvPr/>
        </p:nvSpPr>
        <p:spPr>
          <a:xfrm>
            <a:off x="1097280" y="4078224"/>
            <a:ext cx="3657600" cy="292608"/>
          </a:xfrm>
          <a:prstGeom prst="rect">
            <a:avLst/>
          </a:prstGeom>
          <a:noFill/>
        </p:spPr>
        <p:txBody>
          <a:bodyPr wrap="square">
            <a:spAutoFit/>
          </a:bodyPr>
          <a:lstStyle/>
          <a:p>
            <a:pPr algn="l"/>
            <a:r>
              <a:rPr sz="1150" b="1" i="0">
                <a:solidFill>
                  <a:srgbClr val="FFFFFF"/>
                </a:solidFill>
                <a:latin typeface="Calibri"/>
              </a:rPr>
              <a:t>Protocol Pre-Staging</a:t>
            </a:r>
          </a:p>
        </p:txBody>
      </p:sp>
      <p:sp>
        <p:nvSpPr>
          <p:cNvPr id="30" name="TextBox 29"/>
          <p:cNvSpPr txBox="1"/>
          <p:nvPr/>
        </p:nvSpPr>
        <p:spPr>
          <a:xfrm>
            <a:off x="4864608" y="3931920"/>
            <a:ext cx="6803136" cy="475488"/>
          </a:xfrm>
          <a:prstGeom prst="rect">
            <a:avLst/>
          </a:prstGeom>
          <a:noFill/>
        </p:spPr>
        <p:txBody>
          <a:bodyPr wrap="square">
            <a:spAutoFit/>
          </a:bodyPr>
          <a:lstStyle/>
          <a:p>
            <a:pPr algn="l"/>
            <a:r>
              <a:rPr sz="950" b="0" i="0">
                <a:solidFill>
                  <a:srgbClr val="AAB4CC"/>
                </a:solidFill>
                <a:latin typeface="Calibri"/>
              </a:rPr>
              <a:t>170 Readiness Protocols + 12 Compound Engines pre-built and ready before the trigger fires — zero staging delay</a:t>
            </a:r>
          </a:p>
        </p:txBody>
      </p:sp>
      <p:sp>
        <p:nvSpPr>
          <p:cNvPr id="31" name="Rectangle 30"/>
          <p:cNvSpPr/>
          <p:nvPr/>
        </p:nvSpPr>
        <p:spPr>
          <a:xfrm>
            <a:off x="438912" y="4572000"/>
            <a:ext cx="11320272" cy="74980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18304"/>
            <a:ext cx="365760" cy="457200"/>
          </a:xfrm>
          <a:prstGeom prst="rect">
            <a:avLst/>
          </a:prstGeom>
          <a:noFill/>
        </p:spPr>
        <p:txBody>
          <a:bodyPr wrap="square">
            <a:spAutoFit/>
          </a:bodyPr>
          <a:lstStyle/>
          <a:p>
            <a:pPr algn="l"/>
            <a:r>
              <a:rPr sz="1800" b="1" i="0">
                <a:solidFill>
                  <a:srgbClr val="C9A84C"/>
                </a:solidFill>
                <a:latin typeface="Georgia"/>
              </a:rPr>
              <a:t>04</a:t>
            </a:r>
          </a:p>
        </p:txBody>
      </p:sp>
      <p:sp>
        <p:nvSpPr>
          <p:cNvPr id="33" name="Rectangle 32"/>
          <p:cNvSpPr/>
          <p:nvPr/>
        </p:nvSpPr>
        <p:spPr>
          <a:xfrm>
            <a:off x="1005840" y="4663440"/>
            <a:ext cx="18288" cy="5669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645152"/>
            <a:ext cx="1371600" cy="237744"/>
          </a:xfrm>
          <a:prstGeom prst="rect">
            <a:avLst/>
          </a:prstGeom>
          <a:noFill/>
        </p:spPr>
        <p:txBody>
          <a:bodyPr wrap="square">
            <a:spAutoFit/>
          </a:bodyPr>
          <a:lstStyle/>
          <a:p>
            <a:pPr algn="l"/>
            <a:r>
              <a:rPr sz="700" b="1" i="0">
                <a:solidFill>
                  <a:srgbClr val="C9A84C"/>
                </a:solidFill>
                <a:latin typeface="Calibri"/>
              </a:rPr>
              <a:t>EXECUTE</a:t>
            </a:r>
          </a:p>
        </p:txBody>
      </p:sp>
      <p:sp>
        <p:nvSpPr>
          <p:cNvPr id="35" name="TextBox 34"/>
          <p:cNvSpPr txBox="1"/>
          <p:nvPr/>
        </p:nvSpPr>
        <p:spPr>
          <a:xfrm>
            <a:off x="1097280" y="4882896"/>
            <a:ext cx="3657600" cy="292608"/>
          </a:xfrm>
          <a:prstGeom prst="rect">
            <a:avLst/>
          </a:prstGeom>
          <a:noFill/>
        </p:spPr>
        <p:txBody>
          <a:bodyPr wrap="square">
            <a:spAutoFit/>
          </a:bodyPr>
          <a:lstStyle/>
          <a:p>
            <a:pPr algn="l"/>
            <a:r>
              <a:rPr sz="1150" b="1" i="0">
                <a:solidFill>
                  <a:srgbClr val="FFFFFF"/>
                </a:solidFill>
                <a:latin typeface="Calibri"/>
              </a:rPr>
              <a:t>War Room &amp; Executive Authorization</a:t>
            </a:r>
          </a:p>
        </p:txBody>
      </p:sp>
      <p:sp>
        <p:nvSpPr>
          <p:cNvPr id="36" name="TextBox 35"/>
          <p:cNvSpPr txBox="1"/>
          <p:nvPr/>
        </p:nvSpPr>
        <p:spPr>
          <a:xfrm>
            <a:off x="4864608" y="4736592"/>
            <a:ext cx="6803136" cy="475488"/>
          </a:xfrm>
          <a:prstGeom prst="rect">
            <a:avLst/>
          </a:prstGeom>
          <a:noFill/>
        </p:spPr>
        <p:txBody>
          <a:bodyPr wrap="square">
            <a:spAutoFit/>
          </a:bodyPr>
          <a:lstStyle/>
          <a:p>
            <a:pPr algn="l"/>
            <a:r>
              <a:rPr sz="950" b="0" i="0">
                <a:solidFill>
                  <a:srgbClr val="AAB4CC"/>
                </a:solidFill>
                <a:latin typeface="Calibri"/>
              </a:rPr>
              <a:t>Tasks assigned · stakeholders notified · executive authorizes · war room opens · 12 minutes end to end</a:t>
            </a:r>
          </a:p>
        </p:txBody>
      </p:sp>
      <p:sp>
        <p:nvSpPr>
          <p:cNvPr id="37" name="Rectangle 36"/>
          <p:cNvSpPr/>
          <p:nvPr/>
        </p:nvSpPr>
        <p:spPr>
          <a:xfrm>
            <a:off x="438912" y="5376672"/>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522976"/>
            <a:ext cx="365760" cy="457200"/>
          </a:xfrm>
          <a:prstGeom prst="rect">
            <a:avLst/>
          </a:prstGeom>
          <a:noFill/>
        </p:spPr>
        <p:txBody>
          <a:bodyPr wrap="square">
            <a:spAutoFit/>
          </a:bodyPr>
          <a:lstStyle/>
          <a:p>
            <a:pPr algn="l"/>
            <a:r>
              <a:rPr sz="1800" b="1" i="0">
                <a:solidFill>
                  <a:srgbClr val="2B8A6E"/>
                </a:solidFill>
                <a:latin typeface="Georgia"/>
              </a:rPr>
              <a:t>05</a:t>
            </a:r>
          </a:p>
        </p:txBody>
      </p:sp>
      <p:sp>
        <p:nvSpPr>
          <p:cNvPr id="39" name="Rectangle 38"/>
          <p:cNvSpPr/>
          <p:nvPr/>
        </p:nvSpPr>
        <p:spPr>
          <a:xfrm>
            <a:off x="1005840" y="5468112"/>
            <a:ext cx="18288" cy="56692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5449824"/>
            <a:ext cx="1371600" cy="237744"/>
          </a:xfrm>
          <a:prstGeom prst="rect">
            <a:avLst/>
          </a:prstGeom>
          <a:noFill/>
        </p:spPr>
        <p:txBody>
          <a:bodyPr wrap="square">
            <a:spAutoFit/>
          </a:bodyPr>
          <a:lstStyle/>
          <a:p>
            <a:pPr algn="l"/>
            <a:r>
              <a:rPr sz="700" b="1" i="0">
                <a:solidFill>
                  <a:srgbClr val="2B8A6E"/>
                </a:solidFill>
                <a:latin typeface="Calibri"/>
              </a:rPr>
              <a:t>ADVANCE</a:t>
            </a:r>
          </a:p>
        </p:txBody>
      </p:sp>
      <p:sp>
        <p:nvSpPr>
          <p:cNvPr id="41" name="TextBox 40"/>
          <p:cNvSpPr txBox="1"/>
          <p:nvPr/>
        </p:nvSpPr>
        <p:spPr>
          <a:xfrm>
            <a:off x="1097280" y="5687568"/>
            <a:ext cx="3657600" cy="292608"/>
          </a:xfrm>
          <a:prstGeom prst="rect">
            <a:avLst/>
          </a:prstGeom>
          <a:noFill/>
        </p:spPr>
        <p:txBody>
          <a:bodyPr wrap="square">
            <a:spAutoFit/>
          </a:bodyPr>
          <a:lstStyle/>
          <a:p>
            <a:pPr algn="l"/>
            <a:r>
              <a:rPr sz="1150" b="1" i="0">
                <a:solidFill>
                  <a:srgbClr val="FFFFFF"/>
                </a:solidFill>
                <a:latin typeface="Calibri"/>
              </a:rPr>
              <a:t>Institutional Memory &amp; Improvement</a:t>
            </a:r>
          </a:p>
        </p:txBody>
      </p:sp>
      <p:sp>
        <p:nvSpPr>
          <p:cNvPr id="42" name="TextBox 41"/>
          <p:cNvSpPr txBox="1"/>
          <p:nvPr/>
        </p:nvSpPr>
        <p:spPr>
          <a:xfrm>
            <a:off x="4864608" y="5541264"/>
            <a:ext cx="6803136" cy="475488"/>
          </a:xfrm>
          <a:prstGeom prst="rect">
            <a:avLst/>
          </a:prstGeom>
          <a:noFill/>
        </p:spPr>
        <p:txBody>
          <a:bodyPr wrap="square">
            <a:spAutoFit/>
          </a:bodyPr>
          <a:lstStyle/>
          <a:p>
            <a:pPr algn="l"/>
            <a:r>
              <a:rPr sz="950" b="0" i="0">
                <a:solidFill>
                  <a:srgbClr val="AAB4CC"/>
                </a:solidFill>
                <a:latin typeface="Calibri"/>
              </a:rPr>
              <a:t>Debrief classification · score update · protocol improvement · board reports · compounding value with every activation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04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1 — LIVE SIGNAL INTELLIGENCE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System Never Sleeps.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Continuous monitoring. Automatic scoring. Always armed.</a:t>
            </a:r>
          </a:p>
        </p:txBody>
      </p:sp>
      <p:sp>
        <p:nvSpPr>
          <p:cNvPr id="12" name="Rectangle 11"/>
          <p:cNvSpPr/>
          <p:nvPr/>
        </p:nvSpPr>
        <p:spPr>
          <a:xfrm>
            <a:off x="438912" y="1737360"/>
            <a:ext cx="2596896" cy="146304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847088"/>
            <a:ext cx="2414016" cy="658368"/>
          </a:xfrm>
          <a:prstGeom prst="rect">
            <a:avLst/>
          </a:prstGeom>
          <a:noFill/>
        </p:spPr>
        <p:txBody>
          <a:bodyPr wrap="square">
            <a:spAutoFit/>
          </a:bodyPr>
          <a:lstStyle/>
          <a:p>
            <a:pPr algn="ctr"/>
            <a:r>
              <a:rPr sz="4200" b="1" i="0">
                <a:solidFill>
                  <a:srgbClr val="C9A84C"/>
                </a:solidFill>
                <a:latin typeface="Georgia"/>
              </a:rPr>
              <a:t>8</a:t>
            </a:r>
          </a:p>
        </p:txBody>
      </p:sp>
      <p:sp>
        <p:nvSpPr>
          <p:cNvPr id="14" name="TextBox 13"/>
          <p:cNvSpPr txBox="1"/>
          <p:nvPr/>
        </p:nvSpPr>
        <p:spPr>
          <a:xfrm>
            <a:off x="530352" y="2523744"/>
            <a:ext cx="2414016" cy="548640"/>
          </a:xfrm>
          <a:prstGeom prst="rect">
            <a:avLst/>
          </a:prstGeom>
          <a:noFill/>
        </p:spPr>
        <p:txBody>
          <a:bodyPr wrap="square">
            <a:spAutoFit/>
          </a:bodyPr>
          <a:lstStyle/>
          <a:p>
            <a:pPr algn="ctr"/>
            <a:r>
              <a:rPr sz="750" b="1" i="0">
                <a:solidFill>
                  <a:srgbClr val="AAB4CC"/>
                </a:solidFill>
                <a:latin typeface="Calibri"/>
              </a:rPr>
              <a:t>LIVE INTELLIGENCE
SOURCES MONITORED</a:t>
            </a:r>
          </a:p>
        </p:txBody>
      </p:sp>
      <p:sp>
        <p:nvSpPr>
          <p:cNvPr id="15" name="Rectangle 14"/>
          <p:cNvSpPr/>
          <p:nvPr/>
        </p:nvSpPr>
        <p:spPr>
          <a:xfrm>
            <a:off x="3273552" y="1737360"/>
            <a:ext cx="2596896" cy="146304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1847088"/>
            <a:ext cx="2414016" cy="658368"/>
          </a:xfrm>
          <a:prstGeom prst="rect">
            <a:avLst/>
          </a:prstGeom>
          <a:noFill/>
        </p:spPr>
        <p:txBody>
          <a:bodyPr wrap="square">
            <a:spAutoFit/>
          </a:bodyPr>
          <a:lstStyle/>
          <a:p>
            <a:pPr algn="ctr"/>
            <a:r>
              <a:rPr sz="4200" b="1" i="0">
                <a:solidFill>
                  <a:srgbClr val="2B8A6E"/>
                </a:solidFill>
                <a:latin typeface="Georgia"/>
              </a:rPr>
              <a:t>15</a:t>
            </a:r>
          </a:p>
        </p:txBody>
      </p:sp>
      <p:sp>
        <p:nvSpPr>
          <p:cNvPr id="17" name="TextBox 16"/>
          <p:cNvSpPr txBox="1"/>
          <p:nvPr/>
        </p:nvSpPr>
        <p:spPr>
          <a:xfrm>
            <a:off x="3364992" y="2523744"/>
            <a:ext cx="2414016" cy="548640"/>
          </a:xfrm>
          <a:prstGeom prst="rect">
            <a:avLst/>
          </a:prstGeom>
          <a:noFill/>
        </p:spPr>
        <p:txBody>
          <a:bodyPr wrap="square">
            <a:spAutoFit/>
          </a:bodyPr>
          <a:lstStyle/>
          <a:p>
            <a:pPr algn="ctr"/>
            <a:r>
              <a:rPr sz="750" b="1" i="0">
                <a:solidFill>
                  <a:srgbClr val="AAB4CC"/>
                </a:solidFill>
                <a:latin typeface="Calibri"/>
              </a:rPr>
              <a:t>MINUTES BETWEEN
SCAN CYCLES</a:t>
            </a:r>
          </a:p>
        </p:txBody>
      </p:sp>
      <p:sp>
        <p:nvSpPr>
          <p:cNvPr id="18" name="Rectangle 17"/>
          <p:cNvSpPr/>
          <p:nvPr/>
        </p:nvSpPr>
        <p:spPr>
          <a:xfrm>
            <a:off x="438912" y="3328415"/>
            <a:ext cx="2596896" cy="146304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3438144"/>
            <a:ext cx="2414016" cy="658368"/>
          </a:xfrm>
          <a:prstGeom prst="rect">
            <a:avLst/>
          </a:prstGeom>
          <a:noFill/>
        </p:spPr>
        <p:txBody>
          <a:bodyPr wrap="square">
            <a:spAutoFit/>
          </a:bodyPr>
          <a:lstStyle/>
          <a:p>
            <a:pPr algn="ctr"/>
            <a:r>
              <a:rPr sz="4200" b="1" i="0">
                <a:solidFill>
                  <a:srgbClr val="C9A84C"/>
                </a:solidFill>
                <a:latin typeface="Georgia"/>
              </a:rPr>
              <a:t>221</a:t>
            </a:r>
          </a:p>
        </p:txBody>
      </p:sp>
      <p:sp>
        <p:nvSpPr>
          <p:cNvPr id="20" name="TextBox 19"/>
          <p:cNvSpPr txBox="1"/>
          <p:nvPr/>
        </p:nvSpPr>
        <p:spPr>
          <a:xfrm>
            <a:off x="530352" y="4114800"/>
            <a:ext cx="2414016" cy="548640"/>
          </a:xfrm>
          <a:prstGeom prst="rect">
            <a:avLst/>
          </a:prstGeom>
          <a:noFill/>
        </p:spPr>
        <p:txBody>
          <a:bodyPr wrap="square">
            <a:spAutoFit/>
          </a:bodyPr>
          <a:lstStyle/>
          <a:p>
            <a:pPr algn="ctr"/>
            <a:r>
              <a:rPr sz="750" b="1" i="0">
                <a:solidFill>
                  <a:srgbClr val="AAB4CC"/>
                </a:solidFill>
                <a:latin typeface="Calibri"/>
              </a:rPr>
              <a:t>STRATEGIC TRIGGERS
IN MAPPED LIBRARY</a:t>
            </a:r>
          </a:p>
        </p:txBody>
      </p:sp>
      <p:sp>
        <p:nvSpPr>
          <p:cNvPr id="21" name="Rectangle 20"/>
          <p:cNvSpPr/>
          <p:nvPr/>
        </p:nvSpPr>
        <p:spPr>
          <a:xfrm>
            <a:off x="3273552" y="3328415"/>
            <a:ext cx="2596896" cy="146304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64992" y="3438144"/>
            <a:ext cx="2414016" cy="658368"/>
          </a:xfrm>
          <a:prstGeom prst="rect">
            <a:avLst/>
          </a:prstGeom>
          <a:noFill/>
        </p:spPr>
        <p:txBody>
          <a:bodyPr wrap="square">
            <a:spAutoFit/>
          </a:bodyPr>
          <a:lstStyle/>
          <a:p>
            <a:pPr algn="ctr"/>
            <a:r>
              <a:rPr sz="4200" b="1" i="0">
                <a:solidFill>
                  <a:srgbClr val="2B8A6E"/>
                </a:solidFill>
                <a:latin typeface="Georgia"/>
              </a:rPr>
              <a:t>16</a:t>
            </a:r>
          </a:p>
        </p:txBody>
      </p:sp>
      <p:sp>
        <p:nvSpPr>
          <p:cNvPr id="23" name="TextBox 22"/>
          <p:cNvSpPr txBox="1"/>
          <p:nvPr/>
        </p:nvSpPr>
        <p:spPr>
          <a:xfrm>
            <a:off x="3364992" y="4114800"/>
            <a:ext cx="2414016" cy="548640"/>
          </a:xfrm>
          <a:prstGeom prst="rect">
            <a:avLst/>
          </a:prstGeom>
          <a:noFill/>
        </p:spPr>
        <p:txBody>
          <a:bodyPr wrap="square">
            <a:spAutoFit/>
          </a:bodyPr>
          <a:lstStyle/>
          <a:p>
            <a:pPr algn="ctr"/>
            <a:r>
              <a:rPr sz="750" b="1" i="0">
                <a:solidFill>
                  <a:srgbClr val="AAB4CC"/>
                </a:solidFill>
                <a:latin typeface="Calibri"/>
              </a:rPr>
              <a:t>TRIGGER PATTERN
CLASSIFIERS ACTIVE</a:t>
            </a:r>
          </a:p>
        </p:txBody>
      </p:sp>
      <p:sp>
        <p:nvSpPr>
          <p:cNvPr id="24" name="Rectangle 23"/>
          <p:cNvSpPr/>
          <p:nvPr/>
        </p:nvSpPr>
        <p:spPr>
          <a:xfrm>
            <a:off x="6181344" y="1664208"/>
            <a:ext cx="18288" cy="462686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1737360"/>
            <a:ext cx="5614416" cy="256032"/>
          </a:xfrm>
          <a:prstGeom prst="rect">
            <a:avLst/>
          </a:prstGeom>
          <a:noFill/>
        </p:spPr>
        <p:txBody>
          <a:bodyPr wrap="square">
            <a:spAutoFit/>
          </a:bodyPr>
          <a:lstStyle/>
          <a:p>
            <a:pPr algn="l"/>
            <a:r>
              <a:rPr sz="950" b="1" i="0">
                <a:solidFill>
                  <a:srgbClr val="C9A84C"/>
                </a:solidFill>
                <a:latin typeface="Calibri"/>
              </a:rPr>
              <a:t>◆  Executive Readiness Score</a:t>
            </a:r>
          </a:p>
        </p:txBody>
      </p:sp>
      <p:sp>
        <p:nvSpPr>
          <p:cNvPr id="26" name="TextBox 25"/>
          <p:cNvSpPr txBox="1"/>
          <p:nvPr/>
        </p:nvSpPr>
        <p:spPr>
          <a:xfrm>
            <a:off x="6492240" y="2048255"/>
            <a:ext cx="5468112" cy="658368"/>
          </a:xfrm>
          <a:prstGeom prst="rect">
            <a:avLst/>
          </a:prstGeom>
          <a:noFill/>
        </p:spPr>
        <p:txBody>
          <a:bodyPr wrap="square">
            <a:spAutoFit/>
          </a:bodyPr>
          <a:lstStyle/>
          <a:p>
            <a:pPr algn="l"/>
            <a:r>
              <a:rPr sz="900" b="0" i="0">
                <a:solidFill>
                  <a:srgbClr val="AAB4CC"/>
                </a:solidFill>
                <a:latin typeface="Calibri"/>
              </a:rPr>
              <a:t>0–100 board-level KPI · continuously recalculated from live signals, protocol activations, and debrief outcomes · once boards track this number you own the relationship</a:t>
            </a:r>
          </a:p>
        </p:txBody>
      </p:sp>
      <p:sp>
        <p:nvSpPr>
          <p:cNvPr id="27" name="Rectangle 26"/>
          <p:cNvSpPr/>
          <p:nvPr/>
        </p:nvSpPr>
        <p:spPr>
          <a:xfrm>
            <a:off x="6345936" y="2761488"/>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2871215"/>
            <a:ext cx="5614416" cy="256032"/>
          </a:xfrm>
          <a:prstGeom prst="rect">
            <a:avLst/>
          </a:prstGeom>
          <a:noFill/>
        </p:spPr>
        <p:txBody>
          <a:bodyPr wrap="square">
            <a:spAutoFit/>
          </a:bodyPr>
          <a:lstStyle/>
          <a:p>
            <a:pPr algn="l"/>
            <a:r>
              <a:rPr sz="950" b="1" i="0">
                <a:solidFill>
                  <a:srgbClr val="2B8A6E"/>
                </a:solidFill>
                <a:latin typeface="Calibri"/>
              </a:rPr>
              <a:t>◆  Command Tower</a:t>
            </a:r>
          </a:p>
        </p:txBody>
      </p:sp>
      <p:sp>
        <p:nvSpPr>
          <p:cNvPr id="29" name="TextBox 28"/>
          <p:cNvSpPr txBox="1"/>
          <p:nvPr/>
        </p:nvSpPr>
        <p:spPr>
          <a:xfrm>
            <a:off x="6492240" y="3182111"/>
            <a:ext cx="5468112" cy="658368"/>
          </a:xfrm>
          <a:prstGeom prst="rect">
            <a:avLst/>
          </a:prstGeom>
          <a:noFill/>
        </p:spPr>
        <p:txBody>
          <a:bodyPr wrap="square">
            <a:spAutoFit/>
          </a:bodyPr>
          <a:lstStyle/>
          <a:p>
            <a:pPr algn="l"/>
            <a:r>
              <a:rPr sz="900" b="0" i="0">
                <a:solidFill>
                  <a:srgbClr val="AAB4CC"/>
                </a:solidFill>
                <a:latin typeface="Calibri"/>
              </a:rPr>
              <a:t>Full-screen executive display · live trigger detections · multi-protocol status · system statistics · always-on mission control for the C-suite</a:t>
            </a:r>
          </a:p>
        </p:txBody>
      </p:sp>
      <p:sp>
        <p:nvSpPr>
          <p:cNvPr id="30" name="Rectangle 29"/>
          <p:cNvSpPr/>
          <p:nvPr/>
        </p:nvSpPr>
        <p:spPr>
          <a:xfrm>
            <a:off x="6345936" y="3895344"/>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4005072"/>
            <a:ext cx="5614416" cy="256032"/>
          </a:xfrm>
          <a:prstGeom prst="rect">
            <a:avLst/>
          </a:prstGeom>
          <a:noFill/>
        </p:spPr>
        <p:txBody>
          <a:bodyPr wrap="square">
            <a:spAutoFit/>
          </a:bodyPr>
          <a:lstStyle/>
          <a:p>
            <a:pPr algn="l"/>
            <a:r>
              <a:rPr sz="950" b="1" i="0">
                <a:solidFill>
                  <a:srgbClr val="FFFFFF"/>
                </a:solidFill>
                <a:latin typeface="Calibri"/>
              </a:rPr>
              <a:t>◆  Risk Scoring Algorithm</a:t>
            </a:r>
          </a:p>
        </p:txBody>
      </p:sp>
      <p:sp>
        <p:nvSpPr>
          <p:cNvPr id="32" name="TextBox 31"/>
          <p:cNvSpPr txBox="1"/>
          <p:nvPr/>
        </p:nvSpPr>
        <p:spPr>
          <a:xfrm>
            <a:off x="6492240" y="4315968"/>
            <a:ext cx="5468112" cy="658368"/>
          </a:xfrm>
          <a:prstGeom prst="rect">
            <a:avLst/>
          </a:prstGeom>
          <a:noFill/>
        </p:spPr>
        <p:txBody>
          <a:bodyPr wrap="square">
            <a:spAutoFit/>
          </a:bodyPr>
          <a:lstStyle/>
          <a:p>
            <a:pPr algn="l"/>
            <a:r>
              <a:rPr sz="900" b="0" i="0">
                <a:solidFill>
                  <a:srgbClr val="AAB4CC"/>
                </a:solidFill>
                <a:latin typeface="Calibri"/>
              </a:rPr>
              <a:t>Proprietary: √signals × 8 · auto-classifies LOW (&lt;35) / MEDIUM (35–74) / HIGH (75+) · routes directly to appropriate protocols</a:t>
            </a:r>
          </a:p>
        </p:txBody>
      </p:sp>
      <p:sp>
        <p:nvSpPr>
          <p:cNvPr id="33" name="Rectangle 32"/>
          <p:cNvSpPr/>
          <p:nvPr/>
        </p:nvSpPr>
        <p:spPr>
          <a:xfrm>
            <a:off x="6345936" y="5029200"/>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5138927"/>
            <a:ext cx="5614416" cy="256032"/>
          </a:xfrm>
          <a:prstGeom prst="rect">
            <a:avLst/>
          </a:prstGeom>
          <a:noFill/>
        </p:spPr>
        <p:txBody>
          <a:bodyPr wrap="square">
            <a:spAutoFit/>
          </a:bodyPr>
          <a:lstStyle/>
          <a:p>
            <a:pPr algn="l"/>
            <a:r>
              <a:rPr sz="950" b="1" i="0">
                <a:solidFill>
                  <a:srgbClr val="C9A84C"/>
                </a:solidFill>
                <a:latin typeface="Calibri"/>
              </a:rPr>
              <a:t>◆  Regulatory Calendar</a:t>
            </a:r>
          </a:p>
        </p:txBody>
      </p:sp>
      <p:sp>
        <p:nvSpPr>
          <p:cNvPr id="35" name="TextBox 34"/>
          <p:cNvSpPr txBox="1"/>
          <p:nvPr/>
        </p:nvSpPr>
        <p:spPr>
          <a:xfrm>
            <a:off x="6492240" y="5449823"/>
            <a:ext cx="5468112" cy="658368"/>
          </a:xfrm>
          <a:prstGeom prst="rect">
            <a:avLst/>
          </a:prstGeom>
          <a:noFill/>
        </p:spPr>
        <p:txBody>
          <a:bodyPr wrap="square">
            <a:spAutoFit/>
          </a:bodyPr>
          <a:lstStyle/>
          <a:p>
            <a:pPr algn="l"/>
            <a:r>
              <a:rPr sz="900" b="0" i="0">
                <a:solidFill>
                  <a:srgbClr val="AAB4CC"/>
                </a:solidFill>
                <a:latin typeface="Calibri"/>
              </a:rPr>
              <a:t>Compliance deadlines tracked · GDPR, SOX, FDA, SEC · urgency-flagged · readiness sprints triggered automatically before deadline windows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05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2 — PROTOCOL ARCHITECTURE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170 Core Protocols. 12 Compound Engines.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6 Industry Packs. Pre-staged before the trigger fires.</a:t>
            </a:r>
          </a:p>
        </p:txBody>
      </p:sp>
      <p:sp>
        <p:nvSpPr>
          <p:cNvPr id="12" name="Rectangle 11"/>
          <p:cNvSpPr/>
          <p:nvPr/>
        </p:nvSpPr>
        <p:spPr>
          <a:xfrm>
            <a:off x="438912" y="2048256"/>
            <a:ext cx="3675887" cy="404164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121408"/>
            <a:ext cx="3419856" cy="530352"/>
          </a:xfrm>
          <a:prstGeom prst="rect">
            <a:avLst/>
          </a:prstGeom>
          <a:noFill/>
        </p:spPr>
        <p:txBody>
          <a:bodyPr wrap="square">
            <a:spAutoFit/>
          </a:bodyPr>
          <a:lstStyle/>
          <a:p>
            <a:pPr algn="ctr"/>
            <a:r>
              <a:rPr sz="1000" b="1" i="0">
                <a:solidFill>
                  <a:srgbClr val="C9A84C"/>
                </a:solidFill>
                <a:latin typeface="Calibri"/>
              </a:rPr>
              <a:t>GROWTH &amp;
POSITIONING</a:t>
            </a:r>
          </a:p>
        </p:txBody>
      </p:sp>
      <p:sp>
        <p:nvSpPr>
          <p:cNvPr id="14" name="Rectangle 13"/>
          <p:cNvSpPr/>
          <p:nvPr/>
        </p:nvSpPr>
        <p:spPr>
          <a:xfrm>
            <a:off x="566928" y="2670048"/>
            <a:ext cx="3419856"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 y="2743200"/>
            <a:ext cx="3401568" cy="402336"/>
          </a:xfrm>
          <a:prstGeom prst="rect">
            <a:avLst/>
          </a:prstGeom>
          <a:noFill/>
        </p:spPr>
        <p:txBody>
          <a:bodyPr wrap="square">
            <a:spAutoFit/>
          </a:bodyPr>
          <a:lstStyle/>
          <a:p>
            <a:pPr algn="l"/>
            <a:r>
              <a:rPr sz="850" b="0" i="0">
                <a:solidFill>
                  <a:srgbClr val="AAB4CC"/>
                </a:solidFill>
                <a:latin typeface="Calibri"/>
              </a:rPr>
              <a:t>→  Competitor Displacement Sprint</a:t>
            </a:r>
          </a:p>
        </p:txBody>
      </p:sp>
      <p:sp>
        <p:nvSpPr>
          <p:cNvPr id="16" name="TextBox 15"/>
          <p:cNvSpPr txBox="1"/>
          <p:nvPr/>
        </p:nvSpPr>
        <p:spPr>
          <a:xfrm>
            <a:off x="585216" y="3200400"/>
            <a:ext cx="3401568" cy="402336"/>
          </a:xfrm>
          <a:prstGeom prst="rect">
            <a:avLst/>
          </a:prstGeom>
          <a:noFill/>
        </p:spPr>
        <p:txBody>
          <a:bodyPr wrap="square">
            <a:spAutoFit/>
          </a:bodyPr>
          <a:lstStyle/>
          <a:p>
            <a:pPr algn="l"/>
            <a:r>
              <a:rPr sz="850" b="0" i="0">
                <a:solidFill>
                  <a:srgbClr val="AAB4CC"/>
                </a:solidFill>
                <a:latin typeface="Calibri"/>
              </a:rPr>
              <a:t>→  M&amp;A Rapid Response (LOI in 48h)</a:t>
            </a:r>
          </a:p>
        </p:txBody>
      </p:sp>
      <p:sp>
        <p:nvSpPr>
          <p:cNvPr id="17" name="TextBox 16"/>
          <p:cNvSpPr txBox="1"/>
          <p:nvPr/>
        </p:nvSpPr>
        <p:spPr>
          <a:xfrm>
            <a:off x="585216" y="3657600"/>
            <a:ext cx="3401568" cy="402336"/>
          </a:xfrm>
          <a:prstGeom prst="rect">
            <a:avLst/>
          </a:prstGeom>
          <a:noFill/>
        </p:spPr>
        <p:txBody>
          <a:bodyPr wrap="square">
            <a:spAutoFit/>
          </a:bodyPr>
          <a:lstStyle/>
          <a:p>
            <a:pPr algn="l"/>
            <a:r>
              <a:rPr sz="850" b="0" i="0">
                <a:solidFill>
                  <a:srgbClr val="AAB4CC"/>
                </a:solidFill>
                <a:latin typeface="Calibri"/>
              </a:rPr>
              <a:t>→  Market Entry Acceleration</a:t>
            </a:r>
          </a:p>
        </p:txBody>
      </p:sp>
      <p:sp>
        <p:nvSpPr>
          <p:cNvPr id="18" name="TextBox 17"/>
          <p:cNvSpPr txBox="1"/>
          <p:nvPr/>
        </p:nvSpPr>
        <p:spPr>
          <a:xfrm>
            <a:off x="585216" y="4114800"/>
            <a:ext cx="3401568" cy="402336"/>
          </a:xfrm>
          <a:prstGeom prst="rect">
            <a:avLst/>
          </a:prstGeom>
          <a:noFill/>
        </p:spPr>
        <p:txBody>
          <a:bodyPr wrap="square">
            <a:spAutoFit/>
          </a:bodyPr>
          <a:lstStyle/>
          <a:p>
            <a:pPr algn="l"/>
            <a:r>
              <a:rPr sz="850" b="0" i="0">
                <a:solidFill>
                  <a:srgbClr val="AAB4CC"/>
                </a:solidFill>
                <a:latin typeface="Calibri"/>
              </a:rPr>
              <a:t>→  Go-to-Market Sprint</a:t>
            </a:r>
          </a:p>
        </p:txBody>
      </p:sp>
      <p:sp>
        <p:nvSpPr>
          <p:cNvPr id="19" name="TextBox 18"/>
          <p:cNvSpPr txBox="1"/>
          <p:nvPr/>
        </p:nvSpPr>
        <p:spPr>
          <a:xfrm>
            <a:off x="585216" y="4572000"/>
            <a:ext cx="3401568" cy="402336"/>
          </a:xfrm>
          <a:prstGeom prst="rect">
            <a:avLst/>
          </a:prstGeom>
          <a:noFill/>
        </p:spPr>
        <p:txBody>
          <a:bodyPr wrap="square">
            <a:spAutoFit/>
          </a:bodyPr>
          <a:lstStyle/>
          <a:p>
            <a:pPr algn="l"/>
            <a:r>
              <a:rPr sz="850" b="0" i="0">
                <a:solidFill>
                  <a:srgbClr val="AAB4CC"/>
                </a:solidFill>
                <a:latin typeface="Calibri"/>
              </a:rPr>
              <a:t>→  Partnership Crisis Response</a:t>
            </a:r>
          </a:p>
        </p:txBody>
      </p:sp>
      <p:sp>
        <p:nvSpPr>
          <p:cNvPr id="20" name="TextBox 19"/>
          <p:cNvSpPr txBox="1"/>
          <p:nvPr/>
        </p:nvSpPr>
        <p:spPr>
          <a:xfrm>
            <a:off x="585216" y="5029200"/>
            <a:ext cx="3401568" cy="402336"/>
          </a:xfrm>
          <a:prstGeom prst="rect">
            <a:avLst/>
          </a:prstGeom>
          <a:noFill/>
        </p:spPr>
        <p:txBody>
          <a:bodyPr wrap="square">
            <a:spAutoFit/>
          </a:bodyPr>
          <a:lstStyle/>
          <a:p>
            <a:pPr algn="l"/>
            <a:r>
              <a:rPr sz="850" b="0" i="0">
                <a:solidFill>
                  <a:srgbClr val="AAB4CC"/>
                </a:solidFill>
                <a:latin typeface="Calibri"/>
              </a:rPr>
              <a:t>→  Brand Reputation Defense</a:t>
            </a:r>
          </a:p>
        </p:txBody>
      </p:sp>
      <p:sp>
        <p:nvSpPr>
          <p:cNvPr id="21" name="Rectangle 20"/>
          <p:cNvSpPr/>
          <p:nvPr/>
        </p:nvSpPr>
        <p:spPr>
          <a:xfrm>
            <a:off x="4315968" y="2048256"/>
            <a:ext cx="3675887" cy="404164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121408"/>
            <a:ext cx="3419856" cy="530352"/>
          </a:xfrm>
          <a:prstGeom prst="rect">
            <a:avLst/>
          </a:prstGeom>
          <a:noFill/>
        </p:spPr>
        <p:txBody>
          <a:bodyPr wrap="square">
            <a:spAutoFit/>
          </a:bodyPr>
          <a:lstStyle/>
          <a:p>
            <a:pPr algn="ctr"/>
            <a:r>
              <a:rPr sz="1000" b="1" i="0">
                <a:solidFill>
                  <a:srgbClr val="2B8A6E"/>
                </a:solidFill>
                <a:latin typeface="Calibri"/>
              </a:rPr>
              <a:t>RISK &amp;
RESILIENCE</a:t>
            </a:r>
          </a:p>
        </p:txBody>
      </p:sp>
      <p:sp>
        <p:nvSpPr>
          <p:cNvPr id="23" name="Rectangle 22"/>
          <p:cNvSpPr/>
          <p:nvPr/>
        </p:nvSpPr>
        <p:spPr>
          <a:xfrm>
            <a:off x="4443984" y="2670048"/>
            <a:ext cx="3419856" cy="914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62272" y="2743200"/>
            <a:ext cx="3401568" cy="402336"/>
          </a:xfrm>
          <a:prstGeom prst="rect">
            <a:avLst/>
          </a:prstGeom>
          <a:noFill/>
        </p:spPr>
        <p:txBody>
          <a:bodyPr wrap="square">
            <a:spAutoFit/>
          </a:bodyPr>
          <a:lstStyle/>
          <a:p>
            <a:pPr algn="l"/>
            <a:r>
              <a:rPr sz="850" b="0" i="0">
                <a:solidFill>
                  <a:srgbClr val="AAB4CC"/>
                </a:solidFill>
                <a:latin typeface="Calibri"/>
              </a:rPr>
              <a:t>→  Ransomware Response Protocol</a:t>
            </a:r>
          </a:p>
        </p:txBody>
      </p:sp>
      <p:sp>
        <p:nvSpPr>
          <p:cNvPr id="25" name="TextBox 24"/>
          <p:cNvSpPr txBox="1"/>
          <p:nvPr/>
        </p:nvSpPr>
        <p:spPr>
          <a:xfrm>
            <a:off x="4462272" y="3200400"/>
            <a:ext cx="3401568" cy="402336"/>
          </a:xfrm>
          <a:prstGeom prst="rect">
            <a:avLst/>
          </a:prstGeom>
          <a:noFill/>
        </p:spPr>
        <p:txBody>
          <a:bodyPr wrap="square">
            <a:spAutoFit/>
          </a:bodyPr>
          <a:lstStyle/>
          <a:p>
            <a:pPr algn="l"/>
            <a:r>
              <a:rPr sz="850" b="0" i="0">
                <a:solidFill>
                  <a:srgbClr val="AAB4CC"/>
                </a:solidFill>
                <a:latin typeface="Calibri"/>
              </a:rPr>
              <a:t>→  FDA Recall &amp; Safety Crisis</a:t>
            </a:r>
          </a:p>
        </p:txBody>
      </p:sp>
      <p:sp>
        <p:nvSpPr>
          <p:cNvPr id="26" name="TextBox 25"/>
          <p:cNvSpPr txBox="1"/>
          <p:nvPr/>
        </p:nvSpPr>
        <p:spPr>
          <a:xfrm>
            <a:off x="4462272" y="3657600"/>
            <a:ext cx="3401568" cy="402336"/>
          </a:xfrm>
          <a:prstGeom prst="rect">
            <a:avLst/>
          </a:prstGeom>
          <a:noFill/>
        </p:spPr>
        <p:txBody>
          <a:bodyPr wrap="square">
            <a:spAutoFit/>
          </a:bodyPr>
          <a:lstStyle/>
          <a:p>
            <a:pPr algn="l"/>
            <a:r>
              <a:rPr sz="850" b="0" i="0">
                <a:solidFill>
                  <a:srgbClr val="AAB4CC"/>
                </a:solidFill>
                <a:latin typeface="Calibri"/>
              </a:rPr>
              <a:t>→  Supply Chain Collapse</a:t>
            </a:r>
          </a:p>
        </p:txBody>
      </p:sp>
      <p:sp>
        <p:nvSpPr>
          <p:cNvPr id="27" name="TextBox 26"/>
          <p:cNvSpPr txBox="1"/>
          <p:nvPr/>
        </p:nvSpPr>
        <p:spPr>
          <a:xfrm>
            <a:off x="4462272" y="4114800"/>
            <a:ext cx="3401568" cy="402336"/>
          </a:xfrm>
          <a:prstGeom prst="rect">
            <a:avLst/>
          </a:prstGeom>
          <a:noFill/>
        </p:spPr>
        <p:txBody>
          <a:bodyPr wrap="square">
            <a:spAutoFit/>
          </a:bodyPr>
          <a:lstStyle/>
          <a:p>
            <a:pPr algn="l"/>
            <a:r>
              <a:rPr sz="850" b="0" i="0">
                <a:solidFill>
                  <a:srgbClr val="AAB4CC"/>
                </a:solidFill>
                <a:latin typeface="Calibri"/>
              </a:rPr>
              <a:t>→  Data Breach &amp; Privacy Crisis</a:t>
            </a:r>
          </a:p>
        </p:txBody>
      </p:sp>
      <p:sp>
        <p:nvSpPr>
          <p:cNvPr id="28" name="TextBox 27"/>
          <p:cNvSpPr txBox="1"/>
          <p:nvPr/>
        </p:nvSpPr>
        <p:spPr>
          <a:xfrm>
            <a:off x="4462272" y="4572000"/>
            <a:ext cx="3401568" cy="402336"/>
          </a:xfrm>
          <a:prstGeom prst="rect">
            <a:avLst/>
          </a:prstGeom>
          <a:noFill/>
        </p:spPr>
        <p:txBody>
          <a:bodyPr wrap="square">
            <a:spAutoFit/>
          </a:bodyPr>
          <a:lstStyle/>
          <a:p>
            <a:pPr algn="l"/>
            <a:r>
              <a:rPr sz="850" b="0" i="0">
                <a:solidFill>
                  <a:srgbClr val="AAB4CC"/>
                </a:solidFill>
                <a:latin typeface="Calibri"/>
              </a:rPr>
              <a:t>→  DOJ Investigation Response</a:t>
            </a:r>
          </a:p>
        </p:txBody>
      </p:sp>
      <p:sp>
        <p:nvSpPr>
          <p:cNvPr id="29" name="TextBox 28"/>
          <p:cNvSpPr txBox="1"/>
          <p:nvPr/>
        </p:nvSpPr>
        <p:spPr>
          <a:xfrm>
            <a:off x="4462272" y="5029200"/>
            <a:ext cx="3401568" cy="402336"/>
          </a:xfrm>
          <a:prstGeom prst="rect">
            <a:avLst/>
          </a:prstGeom>
          <a:noFill/>
        </p:spPr>
        <p:txBody>
          <a:bodyPr wrap="square">
            <a:spAutoFit/>
          </a:bodyPr>
          <a:lstStyle/>
          <a:p>
            <a:pPr algn="l"/>
            <a:r>
              <a:rPr sz="850" b="0" i="0">
                <a:solidFill>
                  <a:srgbClr val="AAB4CC"/>
                </a:solidFill>
                <a:latin typeface="Calibri"/>
              </a:rPr>
              <a:t>→  Activist Investor Defense</a:t>
            </a:r>
          </a:p>
        </p:txBody>
      </p:sp>
      <p:sp>
        <p:nvSpPr>
          <p:cNvPr id="30" name="Rectangle 29"/>
          <p:cNvSpPr/>
          <p:nvPr/>
        </p:nvSpPr>
        <p:spPr>
          <a:xfrm>
            <a:off x="8193024" y="2048256"/>
            <a:ext cx="3675887" cy="404164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2121408"/>
            <a:ext cx="3419856" cy="530352"/>
          </a:xfrm>
          <a:prstGeom prst="rect">
            <a:avLst/>
          </a:prstGeom>
          <a:noFill/>
        </p:spPr>
        <p:txBody>
          <a:bodyPr wrap="square">
            <a:spAutoFit/>
          </a:bodyPr>
          <a:lstStyle/>
          <a:p>
            <a:pPr algn="ctr"/>
            <a:r>
              <a:rPr sz="1000" b="1" i="0">
                <a:solidFill>
                  <a:srgbClr val="FFFFFF"/>
                </a:solidFill>
                <a:latin typeface="Calibri"/>
              </a:rPr>
              <a:t>TRANSFORMATION</a:t>
            </a:r>
          </a:p>
        </p:txBody>
      </p:sp>
      <p:sp>
        <p:nvSpPr>
          <p:cNvPr id="32" name="Rectangle 31"/>
          <p:cNvSpPr/>
          <p:nvPr/>
        </p:nvSpPr>
        <p:spPr>
          <a:xfrm>
            <a:off x="8321040" y="2670048"/>
            <a:ext cx="3419856" cy="9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9328" y="2743200"/>
            <a:ext cx="3401568" cy="402336"/>
          </a:xfrm>
          <a:prstGeom prst="rect">
            <a:avLst/>
          </a:prstGeom>
          <a:noFill/>
        </p:spPr>
        <p:txBody>
          <a:bodyPr wrap="square">
            <a:spAutoFit/>
          </a:bodyPr>
          <a:lstStyle/>
          <a:p>
            <a:pPr algn="l"/>
            <a:r>
              <a:rPr sz="850" b="0" i="0">
                <a:solidFill>
                  <a:srgbClr val="AAB4CC"/>
                </a:solidFill>
                <a:latin typeface="Calibri"/>
              </a:rPr>
              <a:t>→  Workforce Transformation (6,720 roles)</a:t>
            </a:r>
          </a:p>
        </p:txBody>
      </p:sp>
      <p:sp>
        <p:nvSpPr>
          <p:cNvPr id="34" name="TextBox 33"/>
          <p:cNvSpPr txBox="1"/>
          <p:nvPr/>
        </p:nvSpPr>
        <p:spPr>
          <a:xfrm>
            <a:off x="8339328" y="3200400"/>
            <a:ext cx="3401568" cy="402336"/>
          </a:xfrm>
          <a:prstGeom prst="rect">
            <a:avLst/>
          </a:prstGeom>
          <a:noFill/>
        </p:spPr>
        <p:txBody>
          <a:bodyPr wrap="square">
            <a:spAutoFit/>
          </a:bodyPr>
          <a:lstStyle/>
          <a:p>
            <a:pPr algn="l"/>
            <a:r>
              <a:rPr sz="850" b="0" i="0">
                <a:solidFill>
                  <a:srgbClr val="AAB4CC"/>
                </a:solidFill>
                <a:latin typeface="Calibri"/>
              </a:rPr>
              <a:t>→  Digital Platform Migration</a:t>
            </a:r>
          </a:p>
        </p:txBody>
      </p:sp>
      <p:sp>
        <p:nvSpPr>
          <p:cNvPr id="35" name="TextBox 34"/>
          <p:cNvSpPr txBox="1"/>
          <p:nvPr/>
        </p:nvSpPr>
        <p:spPr>
          <a:xfrm>
            <a:off x="8339328" y="3657600"/>
            <a:ext cx="3401568" cy="402336"/>
          </a:xfrm>
          <a:prstGeom prst="rect">
            <a:avLst/>
          </a:prstGeom>
          <a:noFill/>
        </p:spPr>
        <p:txBody>
          <a:bodyPr wrap="square">
            <a:spAutoFit/>
          </a:bodyPr>
          <a:lstStyle/>
          <a:p>
            <a:pPr algn="l"/>
            <a:r>
              <a:rPr sz="850" b="0" i="0">
                <a:solidFill>
                  <a:srgbClr val="AAB4CC"/>
                </a:solidFill>
                <a:latin typeface="Calibri"/>
              </a:rPr>
              <a:t>→  Post-M&amp;A Integration Sprint</a:t>
            </a:r>
          </a:p>
        </p:txBody>
      </p:sp>
      <p:sp>
        <p:nvSpPr>
          <p:cNvPr id="36" name="TextBox 35"/>
          <p:cNvSpPr txBox="1"/>
          <p:nvPr/>
        </p:nvSpPr>
        <p:spPr>
          <a:xfrm>
            <a:off x="8339328" y="4114800"/>
            <a:ext cx="3401568" cy="402336"/>
          </a:xfrm>
          <a:prstGeom prst="rect">
            <a:avLst/>
          </a:prstGeom>
          <a:noFill/>
        </p:spPr>
        <p:txBody>
          <a:bodyPr wrap="square">
            <a:spAutoFit/>
          </a:bodyPr>
          <a:lstStyle/>
          <a:p>
            <a:pPr algn="l"/>
            <a:r>
              <a:rPr sz="850" b="0" i="0">
                <a:solidFill>
                  <a:srgbClr val="AAB4CC"/>
                </a:solidFill>
                <a:latin typeface="Calibri"/>
              </a:rPr>
              <a:t>→  Energy Grid Failure Response</a:t>
            </a:r>
          </a:p>
        </p:txBody>
      </p:sp>
      <p:sp>
        <p:nvSpPr>
          <p:cNvPr id="37" name="TextBox 36"/>
          <p:cNvSpPr txBox="1"/>
          <p:nvPr/>
        </p:nvSpPr>
        <p:spPr>
          <a:xfrm>
            <a:off x="8339328" y="4572000"/>
            <a:ext cx="3401568" cy="402336"/>
          </a:xfrm>
          <a:prstGeom prst="rect">
            <a:avLst/>
          </a:prstGeom>
          <a:noFill/>
        </p:spPr>
        <p:txBody>
          <a:bodyPr wrap="square">
            <a:spAutoFit/>
          </a:bodyPr>
          <a:lstStyle/>
          <a:p>
            <a:pPr algn="l"/>
            <a:r>
              <a:rPr sz="850" b="0" i="0">
                <a:solidFill>
                  <a:srgbClr val="AAB4CC"/>
                </a:solidFill>
                <a:latin typeface="Calibri"/>
              </a:rPr>
              <a:t>→  Food Safety Crisis Protocol</a:t>
            </a:r>
          </a:p>
        </p:txBody>
      </p:sp>
      <p:sp>
        <p:nvSpPr>
          <p:cNvPr id="38" name="TextBox 37"/>
          <p:cNvSpPr txBox="1"/>
          <p:nvPr/>
        </p:nvSpPr>
        <p:spPr>
          <a:xfrm>
            <a:off x="8339328" y="5029200"/>
            <a:ext cx="3401568" cy="402336"/>
          </a:xfrm>
          <a:prstGeom prst="rect">
            <a:avLst/>
          </a:prstGeom>
          <a:noFill/>
        </p:spPr>
        <p:txBody>
          <a:bodyPr wrap="square">
            <a:spAutoFit/>
          </a:bodyPr>
          <a:lstStyle/>
          <a:p>
            <a:pPr algn="l"/>
            <a:r>
              <a:rPr sz="850" b="0" i="0">
                <a:solidFill>
                  <a:srgbClr val="AAB4CC"/>
                </a:solidFill>
                <a:latin typeface="Calibri"/>
              </a:rPr>
              <a:t>→  Regulatory Compliance Sprint</a:t>
            </a:r>
          </a:p>
        </p:txBody>
      </p:sp>
      <p:sp>
        <p:nvSpPr>
          <p:cNvPr id="39" name="Rectangle 38"/>
          <p:cNvSpPr/>
          <p:nvPr/>
        </p:nvSpPr>
        <p:spPr>
          <a:xfrm>
            <a:off x="438912" y="6053328"/>
            <a:ext cx="11320272" cy="329184"/>
          </a:xfrm>
          <a:prstGeom prst="rect">
            <a:avLst/>
          </a:prstGeom>
          <a:solidFill>
            <a:srgbClr val="0A160A"/>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6108192"/>
            <a:ext cx="10972800" cy="237744"/>
          </a:xfrm>
          <a:prstGeom prst="rect">
            <a:avLst/>
          </a:prstGeom>
          <a:noFill/>
        </p:spPr>
        <p:txBody>
          <a:bodyPr wrap="square">
            <a:spAutoFit/>
          </a:bodyPr>
          <a:lstStyle/>
          <a:p>
            <a:pPr algn="l"/>
            <a:r>
              <a:rPr sz="850" b="1" i="0">
                <a:solidFill>
                  <a:srgbClr val="2B8A6E"/>
                </a:solidFill>
                <a:latin typeface="Calibri"/>
              </a:rPr>
              <a:t>+ INDUSTRY PROTOCOL PACKS:  Healthcare  ·  Financial Services  ·  Manufacturing  ·  Energy  ·  Retail  ·  Technology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07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Real Crises Don't Arrive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One at a Time. Readiness OS handles both simultaneously.</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12 Compound Protocol Engines activate two protocols simultaneously when crises overlap. No other enterprise platform does this natively.</a:t>
            </a:r>
          </a:p>
        </p:txBody>
      </p:sp>
      <p:sp>
        <p:nvSpPr>
          <p:cNvPr id="13" name="Rectangle 12"/>
          <p:cNvSpPr/>
          <p:nvPr/>
        </p:nvSpPr>
        <p:spPr>
          <a:xfrm>
            <a:off x="438912" y="2176272"/>
            <a:ext cx="5650992" cy="3950208"/>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2176272"/>
            <a:ext cx="5650992"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231136"/>
            <a:ext cx="5394960" cy="219456"/>
          </a:xfrm>
          <a:prstGeom prst="rect">
            <a:avLst/>
          </a:prstGeom>
          <a:noFill/>
        </p:spPr>
        <p:txBody>
          <a:bodyPr wrap="square">
            <a:spAutoFit/>
          </a:bodyPr>
          <a:lstStyle/>
          <a:p>
            <a:pPr algn="ctr"/>
            <a:r>
              <a:rPr sz="750" b="1" i="0">
                <a:solidFill>
                  <a:srgbClr val="0A0F2E"/>
                </a:solidFill>
                <a:latin typeface="Calibri"/>
              </a:rPr>
              <a:t>ACTIVIST INVESTOR  +  REGULATORY INQUIRY</a:t>
            </a:r>
          </a:p>
        </p:txBody>
      </p:sp>
      <p:sp>
        <p:nvSpPr>
          <p:cNvPr id="16" name="TextBox 15"/>
          <p:cNvSpPr txBox="1"/>
          <p:nvPr/>
        </p:nvSpPr>
        <p:spPr>
          <a:xfrm>
            <a:off x="566928" y="2578608"/>
            <a:ext cx="5394960" cy="292608"/>
          </a:xfrm>
          <a:prstGeom prst="rect">
            <a:avLst/>
          </a:prstGeom>
          <a:noFill/>
        </p:spPr>
        <p:txBody>
          <a:bodyPr wrap="square">
            <a:spAutoFit/>
          </a:bodyPr>
          <a:lstStyle/>
          <a:p>
            <a:pPr algn="l"/>
            <a:r>
              <a:rPr sz="900" b="0" i="0">
                <a:solidFill>
                  <a:srgbClr val="AAB4CC"/>
                </a:solidFill>
                <a:latin typeface="Calibri"/>
              </a:rPr>
              <a:t>Protocol #58 + Protocol #34 · 10 tasks · dual-track war room · 12-minute authorization</a:t>
            </a:r>
          </a:p>
        </p:txBody>
      </p:sp>
      <p:sp>
        <p:nvSpPr>
          <p:cNvPr id="17" name="TextBox 16"/>
          <p:cNvSpPr txBox="1"/>
          <p:nvPr/>
        </p:nvSpPr>
        <p:spPr>
          <a:xfrm>
            <a:off x="566928" y="2907792"/>
            <a:ext cx="5394960" cy="219456"/>
          </a:xfrm>
          <a:prstGeom prst="rect">
            <a:avLst/>
          </a:prstGeom>
          <a:noFill/>
        </p:spPr>
        <p:txBody>
          <a:bodyPr wrap="square">
            <a:spAutoFit/>
          </a:bodyPr>
          <a:lstStyle/>
          <a:p>
            <a:pPr algn="l"/>
            <a:r>
              <a:rPr sz="750" b="1" i="0">
                <a:solidFill>
                  <a:srgbClr val="C9A84C"/>
                </a:solidFill>
                <a:latin typeface="Calibri"/>
              </a:rPr>
              <a:t>2 PROTOCOLS · SIMULTANEOUS ACTIVATION</a:t>
            </a:r>
          </a:p>
        </p:txBody>
      </p:sp>
      <p:sp>
        <p:nvSpPr>
          <p:cNvPr id="18" name="TextBox 17"/>
          <p:cNvSpPr txBox="1"/>
          <p:nvPr/>
        </p:nvSpPr>
        <p:spPr>
          <a:xfrm>
            <a:off x="566928" y="3218688"/>
            <a:ext cx="5394960" cy="384048"/>
          </a:xfrm>
          <a:prstGeom prst="rect">
            <a:avLst/>
          </a:prstGeom>
          <a:noFill/>
        </p:spPr>
        <p:txBody>
          <a:bodyPr wrap="square">
            <a:spAutoFit/>
          </a:bodyPr>
          <a:lstStyle/>
          <a:p>
            <a:pPr algn="l"/>
            <a:r>
              <a:rPr sz="900" b="0" i="0">
                <a:solidFill>
                  <a:srgbClr val="FFFFFF"/>
                </a:solidFill>
                <a:latin typeface="Calibri"/>
              </a:rPr>
              <a:t>✓  Shareholder communication pre-staged</a:t>
            </a:r>
          </a:p>
        </p:txBody>
      </p:sp>
      <p:sp>
        <p:nvSpPr>
          <p:cNvPr id="19" name="TextBox 18"/>
          <p:cNvSpPr txBox="1"/>
          <p:nvPr/>
        </p:nvSpPr>
        <p:spPr>
          <a:xfrm>
            <a:off x="566928" y="3657600"/>
            <a:ext cx="5394960" cy="384048"/>
          </a:xfrm>
          <a:prstGeom prst="rect">
            <a:avLst/>
          </a:prstGeom>
          <a:noFill/>
        </p:spPr>
        <p:txBody>
          <a:bodyPr wrap="square">
            <a:spAutoFit/>
          </a:bodyPr>
          <a:lstStyle/>
          <a:p>
            <a:pPr algn="l"/>
            <a:r>
              <a:rPr sz="900" b="0" i="0">
                <a:solidFill>
                  <a:srgbClr val="FFFFFF"/>
                </a:solidFill>
                <a:latin typeface="Calibri"/>
              </a:rPr>
              <a:t>✓  Legal response pre-drafted &amp; ready</a:t>
            </a:r>
          </a:p>
        </p:txBody>
      </p:sp>
      <p:sp>
        <p:nvSpPr>
          <p:cNvPr id="20" name="TextBox 19"/>
          <p:cNvSpPr txBox="1"/>
          <p:nvPr/>
        </p:nvSpPr>
        <p:spPr>
          <a:xfrm>
            <a:off x="566928" y="4096512"/>
            <a:ext cx="5394960" cy="384048"/>
          </a:xfrm>
          <a:prstGeom prst="rect">
            <a:avLst/>
          </a:prstGeom>
          <a:noFill/>
        </p:spPr>
        <p:txBody>
          <a:bodyPr wrap="square">
            <a:spAutoFit/>
          </a:bodyPr>
          <a:lstStyle/>
          <a:p>
            <a:pPr algn="l"/>
            <a:r>
              <a:rPr sz="900" b="0" i="0">
                <a:solidFill>
                  <a:srgbClr val="FFFFFF"/>
                </a:solidFill>
                <a:latin typeface="Calibri"/>
              </a:rPr>
              <a:t>✓  Board briefing auto-generated</a:t>
            </a:r>
          </a:p>
        </p:txBody>
      </p:sp>
      <p:sp>
        <p:nvSpPr>
          <p:cNvPr id="21" name="TextBox 20"/>
          <p:cNvSpPr txBox="1"/>
          <p:nvPr/>
        </p:nvSpPr>
        <p:spPr>
          <a:xfrm>
            <a:off x="566928" y="4535424"/>
            <a:ext cx="5394960" cy="384048"/>
          </a:xfrm>
          <a:prstGeom prst="rect">
            <a:avLst/>
          </a:prstGeom>
          <a:noFill/>
        </p:spPr>
        <p:txBody>
          <a:bodyPr wrap="square">
            <a:spAutoFit/>
          </a:bodyPr>
          <a:lstStyle/>
          <a:p>
            <a:pPr algn="l"/>
            <a:r>
              <a:rPr sz="900" b="0" i="0">
                <a:solidFill>
                  <a:srgbClr val="FFFFFF"/>
                </a:solidFill>
                <a:latin typeface="Calibri"/>
              </a:rPr>
              <a:t>✓  Regulatory timeline tracked live</a:t>
            </a:r>
          </a:p>
        </p:txBody>
      </p:sp>
      <p:sp>
        <p:nvSpPr>
          <p:cNvPr id="22" name="TextBox 21"/>
          <p:cNvSpPr txBox="1"/>
          <p:nvPr/>
        </p:nvSpPr>
        <p:spPr>
          <a:xfrm>
            <a:off x="566928" y="4974336"/>
            <a:ext cx="5394960" cy="384048"/>
          </a:xfrm>
          <a:prstGeom prst="rect">
            <a:avLst/>
          </a:prstGeom>
          <a:noFill/>
        </p:spPr>
        <p:txBody>
          <a:bodyPr wrap="square">
            <a:spAutoFit/>
          </a:bodyPr>
          <a:lstStyle/>
          <a:p>
            <a:pPr algn="l"/>
            <a:r>
              <a:rPr sz="900" b="0" i="0">
                <a:solidFill>
                  <a:srgbClr val="FFFFFF"/>
                </a:solidFill>
                <a:latin typeface="Calibri"/>
              </a:rPr>
              <a:t>✓  Media holding statement ready</a:t>
            </a:r>
          </a:p>
        </p:txBody>
      </p:sp>
      <p:sp>
        <p:nvSpPr>
          <p:cNvPr id="23" name="Rectangle 22"/>
          <p:cNvSpPr/>
          <p:nvPr/>
        </p:nvSpPr>
        <p:spPr>
          <a:xfrm>
            <a:off x="6309360" y="2176272"/>
            <a:ext cx="5650992" cy="3950208"/>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176272"/>
            <a:ext cx="5650992"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231136"/>
            <a:ext cx="5394960" cy="219456"/>
          </a:xfrm>
          <a:prstGeom prst="rect">
            <a:avLst/>
          </a:prstGeom>
          <a:noFill/>
        </p:spPr>
        <p:txBody>
          <a:bodyPr wrap="square">
            <a:spAutoFit/>
          </a:bodyPr>
          <a:lstStyle/>
          <a:p>
            <a:pPr algn="ctr"/>
            <a:r>
              <a:rPr sz="750" b="1" i="0">
                <a:solidFill>
                  <a:srgbClr val="FFFFFF"/>
                </a:solidFill>
                <a:latin typeface="Calibri"/>
              </a:rPr>
              <a:t>RANSOMWARE  +  MEDIA CRISIS</a:t>
            </a:r>
          </a:p>
        </p:txBody>
      </p:sp>
      <p:sp>
        <p:nvSpPr>
          <p:cNvPr id="26" name="TextBox 25"/>
          <p:cNvSpPr txBox="1"/>
          <p:nvPr/>
        </p:nvSpPr>
        <p:spPr>
          <a:xfrm>
            <a:off x="6437376" y="2578608"/>
            <a:ext cx="5394960" cy="292608"/>
          </a:xfrm>
          <a:prstGeom prst="rect">
            <a:avLst/>
          </a:prstGeom>
          <a:noFill/>
        </p:spPr>
        <p:txBody>
          <a:bodyPr wrap="square">
            <a:spAutoFit/>
          </a:bodyPr>
          <a:lstStyle/>
          <a:p>
            <a:pPr algn="l"/>
            <a:r>
              <a:rPr sz="900" b="0" i="0">
                <a:solidFill>
                  <a:srgbClr val="AAB4CC"/>
                </a:solidFill>
                <a:latin typeface="Calibri"/>
              </a:rPr>
              <a:t>Protocol #12 + Protocol #67 · IT containment + comms run in parallel · zero coordination delay</a:t>
            </a:r>
          </a:p>
        </p:txBody>
      </p:sp>
      <p:sp>
        <p:nvSpPr>
          <p:cNvPr id="27" name="TextBox 26"/>
          <p:cNvSpPr txBox="1"/>
          <p:nvPr/>
        </p:nvSpPr>
        <p:spPr>
          <a:xfrm>
            <a:off x="6437376" y="2907792"/>
            <a:ext cx="5394960" cy="219456"/>
          </a:xfrm>
          <a:prstGeom prst="rect">
            <a:avLst/>
          </a:prstGeom>
          <a:noFill/>
        </p:spPr>
        <p:txBody>
          <a:bodyPr wrap="square">
            <a:spAutoFit/>
          </a:bodyPr>
          <a:lstStyle/>
          <a:p>
            <a:pPr algn="l"/>
            <a:r>
              <a:rPr sz="750" b="1" i="0">
                <a:solidFill>
                  <a:srgbClr val="2B8A6E"/>
                </a:solidFill>
                <a:latin typeface="Calibri"/>
              </a:rPr>
              <a:t>2 PROTOCOLS · SIMULTANEOUS ACTIVATION</a:t>
            </a:r>
          </a:p>
        </p:txBody>
      </p:sp>
      <p:sp>
        <p:nvSpPr>
          <p:cNvPr id="28" name="TextBox 27"/>
          <p:cNvSpPr txBox="1"/>
          <p:nvPr/>
        </p:nvSpPr>
        <p:spPr>
          <a:xfrm>
            <a:off x="6437376" y="3218688"/>
            <a:ext cx="5394960" cy="384048"/>
          </a:xfrm>
          <a:prstGeom prst="rect">
            <a:avLst/>
          </a:prstGeom>
          <a:noFill/>
        </p:spPr>
        <p:txBody>
          <a:bodyPr wrap="square">
            <a:spAutoFit/>
          </a:bodyPr>
          <a:lstStyle/>
          <a:p>
            <a:pPr algn="l"/>
            <a:r>
              <a:rPr sz="900" b="0" i="0">
                <a:solidFill>
                  <a:srgbClr val="FFFFFF"/>
                </a:solidFill>
                <a:latin typeface="Calibri"/>
              </a:rPr>
              <a:t>✓  IT isolation protocol activated</a:t>
            </a:r>
          </a:p>
        </p:txBody>
      </p:sp>
      <p:sp>
        <p:nvSpPr>
          <p:cNvPr id="29" name="TextBox 28"/>
          <p:cNvSpPr txBox="1"/>
          <p:nvPr/>
        </p:nvSpPr>
        <p:spPr>
          <a:xfrm>
            <a:off x="6437376" y="3657600"/>
            <a:ext cx="5394960" cy="384048"/>
          </a:xfrm>
          <a:prstGeom prst="rect">
            <a:avLst/>
          </a:prstGeom>
          <a:noFill/>
        </p:spPr>
        <p:txBody>
          <a:bodyPr wrap="square">
            <a:spAutoFit/>
          </a:bodyPr>
          <a:lstStyle/>
          <a:p>
            <a:pPr algn="l"/>
            <a:r>
              <a:rPr sz="900" b="0" i="0">
                <a:solidFill>
                  <a:srgbClr val="FFFFFF"/>
                </a:solidFill>
                <a:latin typeface="Calibri"/>
              </a:rPr>
              <a:t>✓  Customer notification pre-staged</a:t>
            </a:r>
          </a:p>
        </p:txBody>
      </p:sp>
      <p:sp>
        <p:nvSpPr>
          <p:cNvPr id="30" name="TextBox 29"/>
          <p:cNvSpPr txBox="1"/>
          <p:nvPr/>
        </p:nvSpPr>
        <p:spPr>
          <a:xfrm>
            <a:off x="6437376" y="4096512"/>
            <a:ext cx="5394960" cy="384048"/>
          </a:xfrm>
          <a:prstGeom prst="rect">
            <a:avLst/>
          </a:prstGeom>
          <a:noFill/>
        </p:spPr>
        <p:txBody>
          <a:bodyPr wrap="square">
            <a:spAutoFit/>
          </a:bodyPr>
          <a:lstStyle/>
          <a:p>
            <a:pPr algn="l"/>
            <a:r>
              <a:rPr sz="900" b="0" i="0">
                <a:solidFill>
                  <a:srgbClr val="FFFFFF"/>
                </a:solidFill>
                <a:latin typeface="Calibri"/>
              </a:rPr>
              <a:t>✓  Board report auto-drafted</a:t>
            </a:r>
          </a:p>
        </p:txBody>
      </p:sp>
      <p:sp>
        <p:nvSpPr>
          <p:cNvPr id="31" name="TextBox 30"/>
          <p:cNvSpPr txBox="1"/>
          <p:nvPr/>
        </p:nvSpPr>
        <p:spPr>
          <a:xfrm>
            <a:off x="6437376" y="4535424"/>
            <a:ext cx="5394960" cy="384048"/>
          </a:xfrm>
          <a:prstGeom prst="rect">
            <a:avLst/>
          </a:prstGeom>
          <a:noFill/>
        </p:spPr>
        <p:txBody>
          <a:bodyPr wrap="square">
            <a:spAutoFit/>
          </a:bodyPr>
          <a:lstStyle/>
          <a:p>
            <a:pPr algn="l"/>
            <a:r>
              <a:rPr sz="900" b="0" i="0">
                <a:solidFill>
                  <a:srgbClr val="FFFFFF"/>
                </a:solidFill>
                <a:latin typeface="Calibri"/>
              </a:rPr>
              <a:t>✓  Media statement ready to release</a:t>
            </a:r>
          </a:p>
        </p:txBody>
      </p:sp>
      <p:sp>
        <p:nvSpPr>
          <p:cNvPr id="32" name="TextBox 31"/>
          <p:cNvSpPr txBox="1"/>
          <p:nvPr/>
        </p:nvSpPr>
        <p:spPr>
          <a:xfrm>
            <a:off x="6437376" y="4974336"/>
            <a:ext cx="5394960" cy="384048"/>
          </a:xfrm>
          <a:prstGeom prst="rect">
            <a:avLst/>
          </a:prstGeom>
          <a:noFill/>
        </p:spPr>
        <p:txBody>
          <a:bodyPr wrap="square">
            <a:spAutoFit/>
          </a:bodyPr>
          <a:lstStyle/>
          <a:p>
            <a:pPr algn="l"/>
            <a:r>
              <a:rPr sz="900" b="0" i="0">
                <a:solidFill>
                  <a:srgbClr val="FFFFFF"/>
                </a:solidFill>
                <a:latin typeface="Calibri"/>
              </a:rPr>
              <a:t>✓  Regulatory disclosure pre-staged</a:t>
            </a:r>
          </a:p>
        </p:txBody>
      </p:sp>
      <p:sp>
        <p:nvSpPr>
          <p:cNvPr id="33" name="Rectangle 32"/>
          <p:cNvSpPr/>
          <p:nvPr/>
        </p:nvSpPr>
        <p:spPr>
          <a:xfrm>
            <a:off x="6144768" y="2139696"/>
            <a:ext cx="18288" cy="402336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8912" y="6144768"/>
            <a:ext cx="11320272" cy="23774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6163056"/>
            <a:ext cx="10972800" cy="201168"/>
          </a:xfrm>
          <a:prstGeom prst="rect">
            <a:avLst/>
          </a:prstGeom>
          <a:noFill/>
        </p:spPr>
        <p:txBody>
          <a:bodyPr wrap="square">
            <a:spAutoFit/>
          </a:bodyPr>
          <a:lstStyle/>
          <a:p>
            <a:pPr algn="ctr"/>
            <a:r>
              <a:rPr sz="850" b="1" i="0">
                <a:solidFill>
                  <a:srgbClr val="C9A84C"/>
                </a:solidFill>
                <a:latin typeface="Calibri"/>
              </a:rPr>
              <a:t>12 Compound Protocol Engines  ·  Cross-domain simultaneous response  ·  No other platform does this natively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08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3 — THE EXECUTION ENGINE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Signal to War Room.</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12 minutes. Executive authority preserved at every step.</a:t>
            </a:r>
          </a:p>
        </p:txBody>
      </p:sp>
      <p:sp>
        <p:nvSpPr>
          <p:cNvPr id="12" name="TextBox 11"/>
          <p:cNvSpPr txBox="1"/>
          <p:nvPr/>
        </p:nvSpPr>
        <p:spPr>
          <a:xfrm>
            <a:off x="4041648" y="1901952"/>
            <a:ext cx="4114800" cy="256032"/>
          </a:xfrm>
          <a:prstGeom prst="rect">
            <a:avLst/>
          </a:prstGeom>
          <a:noFill/>
        </p:spPr>
        <p:txBody>
          <a:bodyPr wrap="square">
            <a:spAutoFit/>
          </a:bodyPr>
          <a:lstStyle/>
          <a:p>
            <a:pPr algn="ctr"/>
            <a:r>
              <a:rPr sz="1100" b="1" i="0">
                <a:solidFill>
                  <a:srgbClr val="C9A84C"/>
                </a:solidFill>
                <a:latin typeface="Calibri"/>
              </a:rPr>
              <a:t>12 MINUTES  END TO END</a:t>
            </a:r>
          </a:p>
        </p:txBody>
      </p:sp>
      <p:sp>
        <p:nvSpPr>
          <p:cNvPr id="13" name="Oval 12"/>
          <p:cNvSpPr/>
          <p:nvPr/>
        </p:nvSpPr>
        <p:spPr>
          <a:xfrm>
            <a:off x="768096" y="2176272"/>
            <a:ext cx="1097280" cy="1097280"/>
          </a:xfrm>
          <a:prstGeom prst="ellipse">
            <a:avLst/>
          </a:prstGeom>
          <a:solidFill>
            <a:srgbClr val="070B2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77440"/>
            <a:ext cx="1097280" cy="548640"/>
          </a:xfrm>
          <a:prstGeom prst="rect">
            <a:avLst/>
          </a:prstGeom>
          <a:noFill/>
        </p:spPr>
        <p:txBody>
          <a:bodyPr wrap="square">
            <a:spAutoFit/>
          </a:bodyPr>
          <a:lstStyle/>
          <a:p>
            <a:pPr algn="ctr"/>
            <a:r>
              <a:rPr sz="2200" b="1" i="0">
                <a:solidFill>
                  <a:srgbClr val="2B8A6E"/>
                </a:solidFill>
                <a:latin typeface="Georgia"/>
              </a:rPr>
              <a:t>01</a:t>
            </a:r>
          </a:p>
        </p:txBody>
      </p:sp>
      <p:sp>
        <p:nvSpPr>
          <p:cNvPr id="15" name="TextBox 14"/>
          <p:cNvSpPr txBox="1"/>
          <p:nvPr/>
        </p:nvSpPr>
        <p:spPr>
          <a:xfrm>
            <a:off x="585216" y="3328416"/>
            <a:ext cx="1463040" cy="457200"/>
          </a:xfrm>
          <a:prstGeom prst="rect">
            <a:avLst/>
          </a:prstGeom>
          <a:noFill/>
        </p:spPr>
        <p:txBody>
          <a:bodyPr wrap="square">
            <a:spAutoFit/>
          </a:bodyPr>
          <a:lstStyle/>
          <a:p>
            <a:pPr algn="ctr"/>
            <a:r>
              <a:rPr sz="750" b="1" i="0">
                <a:solidFill>
                  <a:srgbClr val="2B8A6E"/>
                </a:solidFill>
                <a:latin typeface="Calibri"/>
              </a:rPr>
              <a:t>SIGNAL
DETECTED</a:t>
            </a:r>
          </a:p>
        </p:txBody>
      </p:sp>
      <p:sp>
        <p:nvSpPr>
          <p:cNvPr id="16" name="TextBox 15"/>
          <p:cNvSpPr txBox="1"/>
          <p:nvPr/>
        </p:nvSpPr>
        <p:spPr>
          <a:xfrm>
            <a:off x="493776" y="3822191"/>
            <a:ext cx="1645920" cy="457200"/>
          </a:xfrm>
          <a:prstGeom prst="rect">
            <a:avLst/>
          </a:prstGeom>
          <a:noFill/>
        </p:spPr>
        <p:txBody>
          <a:bodyPr wrap="square">
            <a:spAutoFit/>
          </a:bodyPr>
          <a:lstStyle/>
          <a:p>
            <a:pPr algn="ctr"/>
            <a:r>
              <a:rPr sz="800" b="0" i="0">
                <a:solidFill>
                  <a:srgbClr val="AAB4CC"/>
                </a:solidFill>
                <a:latin typeface="Calibri"/>
              </a:rPr>
              <a:t>System scores against
221 triggers</a:t>
            </a:r>
          </a:p>
        </p:txBody>
      </p:sp>
      <p:sp>
        <p:nvSpPr>
          <p:cNvPr id="17" name="Rectangle 16"/>
          <p:cNvSpPr/>
          <p:nvPr/>
        </p:nvSpPr>
        <p:spPr>
          <a:xfrm>
            <a:off x="1920240"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90672" y="2176272"/>
            <a:ext cx="1097280" cy="1097280"/>
          </a:xfrm>
          <a:prstGeom prst="ellipse">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90672" y="2377440"/>
            <a:ext cx="1097280" cy="548640"/>
          </a:xfrm>
          <a:prstGeom prst="rect">
            <a:avLst/>
          </a:prstGeom>
          <a:noFill/>
        </p:spPr>
        <p:txBody>
          <a:bodyPr wrap="square">
            <a:spAutoFit/>
          </a:bodyPr>
          <a:lstStyle/>
          <a:p>
            <a:pPr algn="ctr"/>
            <a:r>
              <a:rPr sz="2200" b="1" i="0">
                <a:solidFill>
                  <a:srgbClr val="C9A84C"/>
                </a:solidFill>
                <a:latin typeface="Georgia"/>
              </a:rPr>
              <a:t>02</a:t>
            </a:r>
          </a:p>
        </p:txBody>
      </p:sp>
      <p:sp>
        <p:nvSpPr>
          <p:cNvPr id="20" name="TextBox 19"/>
          <p:cNvSpPr txBox="1"/>
          <p:nvPr/>
        </p:nvSpPr>
        <p:spPr>
          <a:xfrm>
            <a:off x="2907791" y="3328416"/>
            <a:ext cx="1463040" cy="457200"/>
          </a:xfrm>
          <a:prstGeom prst="rect">
            <a:avLst/>
          </a:prstGeom>
          <a:noFill/>
        </p:spPr>
        <p:txBody>
          <a:bodyPr wrap="square">
            <a:spAutoFit/>
          </a:bodyPr>
          <a:lstStyle/>
          <a:p>
            <a:pPr algn="ctr"/>
            <a:r>
              <a:rPr sz="750" b="1" i="0">
                <a:solidFill>
                  <a:srgbClr val="C9A84C"/>
                </a:solidFill>
                <a:latin typeface="Calibri"/>
              </a:rPr>
              <a:t>PROTOCOL
STAGED</a:t>
            </a:r>
          </a:p>
        </p:txBody>
      </p:sp>
      <p:sp>
        <p:nvSpPr>
          <p:cNvPr id="21" name="TextBox 20"/>
          <p:cNvSpPr txBox="1"/>
          <p:nvPr/>
        </p:nvSpPr>
        <p:spPr>
          <a:xfrm>
            <a:off x="2816352" y="3822191"/>
            <a:ext cx="1645920" cy="457200"/>
          </a:xfrm>
          <a:prstGeom prst="rect">
            <a:avLst/>
          </a:prstGeom>
          <a:noFill/>
        </p:spPr>
        <p:txBody>
          <a:bodyPr wrap="square">
            <a:spAutoFit/>
          </a:bodyPr>
          <a:lstStyle/>
          <a:p>
            <a:pPr algn="ctr"/>
            <a:r>
              <a:rPr sz="800" b="0" i="0">
                <a:solidFill>
                  <a:srgbClr val="AAB4CC"/>
                </a:solidFill>
                <a:latin typeface="Calibri"/>
              </a:rPr>
              <a:t>170 pre-built ready
instantly</a:t>
            </a:r>
          </a:p>
        </p:txBody>
      </p:sp>
      <p:sp>
        <p:nvSpPr>
          <p:cNvPr id="22" name="Rectangle 21"/>
          <p:cNvSpPr/>
          <p:nvPr/>
        </p:nvSpPr>
        <p:spPr>
          <a:xfrm>
            <a:off x="4242816"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413248" y="2176272"/>
            <a:ext cx="1097280" cy="1097280"/>
          </a:xfrm>
          <a:prstGeom prst="ellipse">
            <a:avLst/>
          </a:prstGeom>
          <a:solidFill>
            <a:srgbClr val="070B2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13248" y="2377440"/>
            <a:ext cx="1097280" cy="548640"/>
          </a:xfrm>
          <a:prstGeom prst="rect">
            <a:avLst/>
          </a:prstGeom>
          <a:noFill/>
        </p:spPr>
        <p:txBody>
          <a:bodyPr wrap="square">
            <a:spAutoFit/>
          </a:bodyPr>
          <a:lstStyle/>
          <a:p>
            <a:pPr algn="ctr"/>
            <a:r>
              <a:rPr sz="2200" b="1" i="0">
                <a:solidFill>
                  <a:srgbClr val="FFFFFF"/>
                </a:solidFill>
                <a:latin typeface="Georgia"/>
              </a:rPr>
              <a:t>03</a:t>
            </a:r>
          </a:p>
        </p:txBody>
      </p:sp>
      <p:sp>
        <p:nvSpPr>
          <p:cNvPr id="25" name="TextBox 24"/>
          <p:cNvSpPr txBox="1"/>
          <p:nvPr/>
        </p:nvSpPr>
        <p:spPr>
          <a:xfrm>
            <a:off x="5230368" y="3328416"/>
            <a:ext cx="1463040" cy="457200"/>
          </a:xfrm>
          <a:prstGeom prst="rect">
            <a:avLst/>
          </a:prstGeom>
          <a:noFill/>
        </p:spPr>
        <p:txBody>
          <a:bodyPr wrap="square">
            <a:spAutoFit/>
          </a:bodyPr>
          <a:lstStyle/>
          <a:p>
            <a:pPr algn="ctr"/>
            <a:r>
              <a:rPr sz="750" b="1" i="0">
                <a:solidFill>
                  <a:srgbClr val="FFFFFF"/>
                </a:solidFill>
                <a:latin typeface="Calibri"/>
              </a:rPr>
              <a:t>TASKS
ASSIGNED</a:t>
            </a:r>
          </a:p>
        </p:txBody>
      </p:sp>
      <p:sp>
        <p:nvSpPr>
          <p:cNvPr id="26" name="TextBox 25"/>
          <p:cNvSpPr txBox="1"/>
          <p:nvPr/>
        </p:nvSpPr>
        <p:spPr>
          <a:xfrm>
            <a:off x="5138928" y="3822191"/>
            <a:ext cx="1645920" cy="457200"/>
          </a:xfrm>
          <a:prstGeom prst="rect">
            <a:avLst/>
          </a:prstGeom>
          <a:noFill/>
        </p:spPr>
        <p:txBody>
          <a:bodyPr wrap="square">
            <a:spAutoFit/>
          </a:bodyPr>
          <a:lstStyle/>
          <a:p>
            <a:pPr algn="ctr"/>
            <a:r>
              <a:rPr sz="800" b="0" i="0">
                <a:solidFill>
                  <a:srgbClr val="AAB4CC"/>
                </a:solidFill>
                <a:latin typeface="Calibri"/>
              </a:rPr>
              <a:t>Stakeholders notified
automatically</a:t>
            </a:r>
          </a:p>
        </p:txBody>
      </p:sp>
      <p:sp>
        <p:nvSpPr>
          <p:cNvPr id="27" name="Rectangle 26"/>
          <p:cNvSpPr/>
          <p:nvPr/>
        </p:nvSpPr>
        <p:spPr>
          <a:xfrm>
            <a:off x="6565392"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35824" y="2176272"/>
            <a:ext cx="1097280" cy="1097280"/>
          </a:xfrm>
          <a:prstGeom prst="ellipse">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35824" y="2377440"/>
            <a:ext cx="1097280" cy="548640"/>
          </a:xfrm>
          <a:prstGeom prst="rect">
            <a:avLst/>
          </a:prstGeom>
          <a:noFill/>
        </p:spPr>
        <p:txBody>
          <a:bodyPr wrap="square">
            <a:spAutoFit/>
          </a:bodyPr>
          <a:lstStyle/>
          <a:p>
            <a:pPr algn="ctr"/>
            <a:r>
              <a:rPr sz="2200" b="1" i="0">
                <a:solidFill>
                  <a:srgbClr val="C9A84C"/>
                </a:solidFill>
                <a:latin typeface="Georgia"/>
              </a:rPr>
              <a:t>04</a:t>
            </a:r>
          </a:p>
        </p:txBody>
      </p:sp>
      <p:sp>
        <p:nvSpPr>
          <p:cNvPr id="30" name="TextBox 29"/>
          <p:cNvSpPr txBox="1"/>
          <p:nvPr/>
        </p:nvSpPr>
        <p:spPr>
          <a:xfrm>
            <a:off x="7552944" y="3328416"/>
            <a:ext cx="1463040" cy="457200"/>
          </a:xfrm>
          <a:prstGeom prst="rect">
            <a:avLst/>
          </a:prstGeom>
          <a:noFill/>
        </p:spPr>
        <p:txBody>
          <a:bodyPr wrap="square">
            <a:spAutoFit/>
          </a:bodyPr>
          <a:lstStyle/>
          <a:p>
            <a:pPr algn="ctr"/>
            <a:r>
              <a:rPr sz="750" b="1" i="0">
                <a:solidFill>
                  <a:srgbClr val="C9A84C"/>
                </a:solidFill>
                <a:latin typeface="Calibri"/>
              </a:rPr>
              <a:t>EXECUTIVE
AUTHORIZES</a:t>
            </a:r>
          </a:p>
        </p:txBody>
      </p:sp>
      <p:sp>
        <p:nvSpPr>
          <p:cNvPr id="31" name="TextBox 30"/>
          <p:cNvSpPr txBox="1"/>
          <p:nvPr/>
        </p:nvSpPr>
        <p:spPr>
          <a:xfrm>
            <a:off x="7461504" y="3822191"/>
            <a:ext cx="1645920" cy="457200"/>
          </a:xfrm>
          <a:prstGeom prst="rect">
            <a:avLst/>
          </a:prstGeom>
          <a:noFill/>
        </p:spPr>
        <p:txBody>
          <a:bodyPr wrap="square">
            <a:spAutoFit/>
          </a:bodyPr>
          <a:lstStyle/>
          <a:p>
            <a:pPr algn="ctr"/>
            <a:r>
              <a:rPr sz="800" b="0" i="0">
                <a:solidFill>
                  <a:srgbClr val="AAB4CC"/>
                </a:solidFill>
                <a:latin typeface="Calibri"/>
              </a:rPr>
              <a:t>No protocol activates
without sign-off</a:t>
            </a:r>
          </a:p>
        </p:txBody>
      </p:sp>
      <p:sp>
        <p:nvSpPr>
          <p:cNvPr id="32" name="Rectangle 31"/>
          <p:cNvSpPr/>
          <p:nvPr/>
        </p:nvSpPr>
        <p:spPr>
          <a:xfrm>
            <a:off x="8887968"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58400" y="2176272"/>
            <a:ext cx="1097280" cy="1097280"/>
          </a:xfrm>
          <a:prstGeom prst="ellipse">
            <a:avLst/>
          </a:prstGeom>
          <a:solidFill>
            <a:srgbClr val="070B2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0" y="2377440"/>
            <a:ext cx="1097280" cy="548640"/>
          </a:xfrm>
          <a:prstGeom prst="rect">
            <a:avLst/>
          </a:prstGeom>
          <a:noFill/>
        </p:spPr>
        <p:txBody>
          <a:bodyPr wrap="square">
            <a:spAutoFit/>
          </a:bodyPr>
          <a:lstStyle/>
          <a:p>
            <a:pPr algn="ctr"/>
            <a:r>
              <a:rPr sz="2200" b="1" i="0">
                <a:solidFill>
                  <a:srgbClr val="2B8A6E"/>
                </a:solidFill>
                <a:latin typeface="Georgia"/>
              </a:rPr>
              <a:t>05</a:t>
            </a:r>
          </a:p>
        </p:txBody>
      </p:sp>
      <p:sp>
        <p:nvSpPr>
          <p:cNvPr id="35" name="TextBox 34"/>
          <p:cNvSpPr txBox="1"/>
          <p:nvPr/>
        </p:nvSpPr>
        <p:spPr>
          <a:xfrm>
            <a:off x="9875520" y="3328416"/>
            <a:ext cx="1463040" cy="457200"/>
          </a:xfrm>
          <a:prstGeom prst="rect">
            <a:avLst/>
          </a:prstGeom>
          <a:noFill/>
        </p:spPr>
        <p:txBody>
          <a:bodyPr wrap="square">
            <a:spAutoFit/>
          </a:bodyPr>
          <a:lstStyle/>
          <a:p>
            <a:pPr algn="ctr"/>
            <a:r>
              <a:rPr sz="750" b="1" i="0">
                <a:solidFill>
                  <a:srgbClr val="2B8A6E"/>
                </a:solidFill>
                <a:latin typeface="Calibri"/>
              </a:rPr>
              <a:t>WAR ROOM
OPEN</a:t>
            </a:r>
          </a:p>
        </p:txBody>
      </p:sp>
      <p:sp>
        <p:nvSpPr>
          <p:cNvPr id="36" name="TextBox 35"/>
          <p:cNvSpPr txBox="1"/>
          <p:nvPr/>
        </p:nvSpPr>
        <p:spPr>
          <a:xfrm>
            <a:off x="9784080" y="3822191"/>
            <a:ext cx="1645920" cy="457200"/>
          </a:xfrm>
          <a:prstGeom prst="rect">
            <a:avLst/>
          </a:prstGeom>
          <a:noFill/>
        </p:spPr>
        <p:txBody>
          <a:bodyPr wrap="square">
            <a:spAutoFit/>
          </a:bodyPr>
          <a:lstStyle/>
          <a:p>
            <a:pPr algn="ctr"/>
            <a:r>
              <a:rPr sz="800" b="0" i="0">
                <a:solidFill>
                  <a:srgbClr val="AAB4CC"/>
                </a:solidFill>
                <a:latin typeface="Calibri"/>
              </a:rPr>
              <a:t>Full coordination
console live</a:t>
            </a:r>
          </a:p>
        </p:txBody>
      </p:sp>
      <p:sp>
        <p:nvSpPr>
          <p:cNvPr id="37" name="Rectangle 36"/>
          <p:cNvSpPr/>
          <p:nvPr/>
        </p:nvSpPr>
        <p:spPr>
          <a:xfrm>
            <a:off x="438912" y="449884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590288"/>
            <a:ext cx="3419856" cy="237744"/>
          </a:xfrm>
          <a:prstGeom prst="rect">
            <a:avLst/>
          </a:prstGeom>
          <a:noFill/>
        </p:spPr>
        <p:txBody>
          <a:bodyPr wrap="square">
            <a:spAutoFit/>
          </a:bodyPr>
          <a:lstStyle/>
          <a:p>
            <a:pPr algn="l"/>
            <a:r>
              <a:rPr sz="900" b="1" i="0">
                <a:solidFill>
                  <a:srgbClr val="FFFFFF"/>
                </a:solidFill>
                <a:latin typeface="Calibri"/>
              </a:rPr>
              <a:t>Real Organizational Stakeholders</a:t>
            </a:r>
          </a:p>
        </p:txBody>
      </p:sp>
      <p:sp>
        <p:nvSpPr>
          <p:cNvPr id="39" name="TextBox 38"/>
          <p:cNvSpPr txBox="1"/>
          <p:nvPr/>
        </p:nvSpPr>
        <p:spPr>
          <a:xfrm>
            <a:off x="566928" y="4882896"/>
            <a:ext cx="3419856" cy="438912"/>
          </a:xfrm>
          <a:prstGeom prst="rect">
            <a:avLst/>
          </a:prstGeom>
          <a:noFill/>
        </p:spPr>
        <p:txBody>
          <a:bodyPr wrap="square">
            <a:spAutoFit/>
          </a:bodyPr>
          <a:lstStyle/>
          <a:p>
            <a:pPr algn="l"/>
            <a:r>
              <a:rPr sz="850" b="0" i="0">
                <a:solidFill>
                  <a:srgbClr val="AAB4CC"/>
                </a:solidFill>
                <a:latin typeface="Calibri"/>
              </a:rPr>
              <a:t>Actual executives — not placeholders</a:t>
            </a:r>
          </a:p>
        </p:txBody>
      </p:sp>
      <p:sp>
        <p:nvSpPr>
          <p:cNvPr id="40" name="Rectangle 39"/>
          <p:cNvSpPr/>
          <p:nvPr/>
        </p:nvSpPr>
        <p:spPr>
          <a:xfrm>
            <a:off x="4315968" y="449884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43984" y="4590288"/>
            <a:ext cx="3419856" cy="237744"/>
          </a:xfrm>
          <a:prstGeom prst="rect">
            <a:avLst/>
          </a:prstGeom>
          <a:noFill/>
        </p:spPr>
        <p:txBody>
          <a:bodyPr wrap="square">
            <a:spAutoFit/>
          </a:bodyPr>
          <a:lstStyle/>
          <a:p>
            <a:pPr algn="l"/>
            <a:r>
              <a:rPr sz="900" b="1" i="0">
                <a:solidFill>
                  <a:srgbClr val="FFFFFF"/>
                </a:solidFill>
                <a:latin typeface="Calibri"/>
              </a:rPr>
              <a:t>Decision Log &amp; Audit Trail</a:t>
            </a:r>
          </a:p>
        </p:txBody>
      </p:sp>
      <p:sp>
        <p:nvSpPr>
          <p:cNvPr id="42" name="TextBox 41"/>
          <p:cNvSpPr txBox="1"/>
          <p:nvPr/>
        </p:nvSpPr>
        <p:spPr>
          <a:xfrm>
            <a:off x="4443984" y="4882896"/>
            <a:ext cx="3419856" cy="438912"/>
          </a:xfrm>
          <a:prstGeom prst="rect">
            <a:avLst/>
          </a:prstGeom>
          <a:noFill/>
        </p:spPr>
        <p:txBody>
          <a:bodyPr wrap="square">
            <a:spAutoFit/>
          </a:bodyPr>
          <a:lstStyle/>
          <a:p>
            <a:pPr algn="l"/>
            <a:r>
              <a:rPr sz="850" b="0" i="0">
                <a:solidFill>
                  <a:srgbClr val="AAB4CC"/>
                </a:solidFill>
                <a:latin typeface="Calibri"/>
              </a:rPr>
              <a:t>Every decision captured for governance</a:t>
            </a:r>
          </a:p>
        </p:txBody>
      </p:sp>
      <p:sp>
        <p:nvSpPr>
          <p:cNvPr id="43" name="Rectangle 42"/>
          <p:cNvSpPr/>
          <p:nvPr/>
        </p:nvSpPr>
        <p:spPr>
          <a:xfrm>
            <a:off x="8193024" y="449884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590288"/>
            <a:ext cx="3419856" cy="237744"/>
          </a:xfrm>
          <a:prstGeom prst="rect">
            <a:avLst/>
          </a:prstGeom>
          <a:noFill/>
        </p:spPr>
        <p:txBody>
          <a:bodyPr wrap="square">
            <a:spAutoFit/>
          </a:bodyPr>
          <a:lstStyle/>
          <a:p>
            <a:pPr algn="l"/>
            <a:r>
              <a:rPr sz="900" b="1" i="0">
                <a:solidFill>
                  <a:srgbClr val="FFFFFF"/>
                </a:solidFill>
                <a:latin typeface="Calibri"/>
              </a:rPr>
              <a:t>Ownership Close-Out Gate</a:t>
            </a:r>
          </a:p>
        </p:txBody>
      </p:sp>
      <p:sp>
        <p:nvSpPr>
          <p:cNvPr id="45" name="TextBox 44"/>
          <p:cNvSpPr txBox="1"/>
          <p:nvPr/>
        </p:nvSpPr>
        <p:spPr>
          <a:xfrm>
            <a:off x="8321040" y="4882896"/>
            <a:ext cx="3419856" cy="438912"/>
          </a:xfrm>
          <a:prstGeom prst="rect">
            <a:avLst/>
          </a:prstGeom>
          <a:noFill/>
        </p:spPr>
        <p:txBody>
          <a:bodyPr wrap="square">
            <a:spAutoFit/>
          </a:bodyPr>
          <a:lstStyle/>
          <a:p>
            <a:pPr algn="l"/>
            <a:r>
              <a:rPr sz="850" b="0" i="0">
                <a:solidFill>
                  <a:srgbClr val="AAB4CC"/>
                </a:solidFill>
                <a:latin typeface="Calibri"/>
              </a:rPr>
              <a:t>Formal verdict required post-activation</a:t>
            </a:r>
          </a:p>
        </p:txBody>
      </p:sp>
      <p:sp>
        <p:nvSpPr>
          <p:cNvPr id="46" name="Rectangle 45"/>
          <p:cNvSpPr/>
          <p:nvPr/>
        </p:nvSpPr>
        <p:spPr>
          <a:xfrm>
            <a:off x="438912" y="550468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 y="5596127"/>
            <a:ext cx="3419856" cy="237744"/>
          </a:xfrm>
          <a:prstGeom prst="rect">
            <a:avLst/>
          </a:prstGeom>
          <a:noFill/>
        </p:spPr>
        <p:txBody>
          <a:bodyPr wrap="square">
            <a:spAutoFit/>
          </a:bodyPr>
          <a:lstStyle/>
          <a:p>
            <a:pPr algn="l"/>
            <a:r>
              <a:rPr sz="900" b="1" i="0">
                <a:solidFill>
                  <a:srgbClr val="FFFFFF"/>
                </a:solidFill>
                <a:latin typeface="Calibri"/>
              </a:rPr>
              <a:t>Board-Ready Report</a:t>
            </a:r>
          </a:p>
        </p:txBody>
      </p:sp>
      <p:sp>
        <p:nvSpPr>
          <p:cNvPr id="48" name="TextBox 47"/>
          <p:cNvSpPr txBox="1"/>
          <p:nvPr/>
        </p:nvSpPr>
        <p:spPr>
          <a:xfrm>
            <a:off x="566928" y="5888736"/>
            <a:ext cx="3419856" cy="438912"/>
          </a:xfrm>
          <a:prstGeom prst="rect">
            <a:avLst/>
          </a:prstGeom>
          <a:noFill/>
        </p:spPr>
        <p:txBody>
          <a:bodyPr wrap="square">
            <a:spAutoFit/>
          </a:bodyPr>
          <a:lstStyle/>
          <a:p>
            <a:pPr algn="l"/>
            <a:r>
              <a:rPr sz="850" b="0" i="0">
                <a:solidFill>
                  <a:srgbClr val="AAB4CC"/>
                </a:solidFill>
                <a:latin typeface="Calibri"/>
              </a:rPr>
              <a:t>Auto-generated when war room closes</a:t>
            </a:r>
          </a:p>
        </p:txBody>
      </p:sp>
      <p:sp>
        <p:nvSpPr>
          <p:cNvPr id="49" name="Rectangle 48"/>
          <p:cNvSpPr/>
          <p:nvPr/>
        </p:nvSpPr>
        <p:spPr>
          <a:xfrm>
            <a:off x="4315968" y="550468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43984" y="5596127"/>
            <a:ext cx="3419856" cy="237744"/>
          </a:xfrm>
          <a:prstGeom prst="rect">
            <a:avLst/>
          </a:prstGeom>
          <a:noFill/>
        </p:spPr>
        <p:txBody>
          <a:bodyPr wrap="square">
            <a:spAutoFit/>
          </a:bodyPr>
          <a:lstStyle/>
          <a:p>
            <a:pPr algn="l"/>
            <a:r>
              <a:rPr sz="900" b="1" i="0">
                <a:solidFill>
                  <a:srgbClr val="FFFFFF"/>
                </a:solidFill>
                <a:latin typeface="Calibri"/>
              </a:rPr>
              <a:t>Post-Activation Debrief</a:t>
            </a:r>
          </a:p>
        </p:txBody>
      </p:sp>
      <p:sp>
        <p:nvSpPr>
          <p:cNvPr id="51" name="TextBox 50"/>
          <p:cNvSpPr txBox="1"/>
          <p:nvPr/>
        </p:nvSpPr>
        <p:spPr>
          <a:xfrm>
            <a:off x="4443984" y="5888736"/>
            <a:ext cx="3419856" cy="438912"/>
          </a:xfrm>
          <a:prstGeom prst="rect">
            <a:avLst/>
          </a:prstGeom>
          <a:noFill/>
        </p:spPr>
        <p:txBody>
          <a:bodyPr wrap="square">
            <a:spAutoFit/>
          </a:bodyPr>
          <a:lstStyle/>
          <a:p>
            <a:pPr algn="l"/>
            <a:r>
              <a:rPr sz="850" b="0" i="0">
                <a:solidFill>
                  <a:srgbClr val="AAB4CC"/>
                </a:solidFill>
                <a:latin typeface="Calibri"/>
              </a:rPr>
              <a:t>Classified: Optimization / Mixed / Recovery</a:t>
            </a:r>
          </a:p>
        </p:txBody>
      </p:sp>
      <p:sp>
        <p:nvSpPr>
          <p:cNvPr id="52" name="Rectangle 51"/>
          <p:cNvSpPr/>
          <p:nvPr/>
        </p:nvSpPr>
        <p:spPr>
          <a:xfrm>
            <a:off x="8193024" y="550468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21040" y="5596127"/>
            <a:ext cx="3419856" cy="237744"/>
          </a:xfrm>
          <a:prstGeom prst="rect">
            <a:avLst/>
          </a:prstGeom>
          <a:noFill/>
        </p:spPr>
        <p:txBody>
          <a:bodyPr wrap="square">
            <a:spAutoFit/>
          </a:bodyPr>
          <a:lstStyle/>
          <a:p>
            <a:pPr algn="l"/>
            <a:r>
              <a:rPr sz="900" b="1" i="0">
                <a:solidFill>
                  <a:srgbClr val="FFFFFF"/>
                </a:solidFill>
                <a:latin typeface="Calibri"/>
              </a:rPr>
              <a:t>Protocol Score Update</a:t>
            </a:r>
          </a:p>
        </p:txBody>
      </p:sp>
      <p:sp>
        <p:nvSpPr>
          <p:cNvPr id="54" name="TextBox 53"/>
          <p:cNvSpPr txBox="1"/>
          <p:nvPr/>
        </p:nvSpPr>
        <p:spPr>
          <a:xfrm>
            <a:off x="8321040" y="5888736"/>
            <a:ext cx="3419856" cy="438912"/>
          </a:xfrm>
          <a:prstGeom prst="rect">
            <a:avLst/>
          </a:prstGeom>
          <a:noFill/>
        </p:spPr>
        <p:txBody>
          <a:bodyPr wrap="square">
            <a:spAutoFit/>
          </a:bodyPr>
          <a:lstStyle/>
          <a:p>
            <a:pPr algn="l"/>
            <a:r>
              <a:rPr sz="850" b="0" i="0">
                <a:solidFill>
                  <a:srgbClr val="AAB4CC"/>
                </a:solidFill>
                <a:latin typeface="Calibri"/>
              </a:rPr>
              <a:t>System improves from every activation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09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4 — THE COMPOUNDING MOAT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Activation Makes the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Enterprise Smarter. Permanently.</a:t>
            </a:r>
          </a:p>
        </p:txBody>
      </p:sp>
      <p:sp>
        <p:nvSpPr>
          <p:cNvPr id="12" name="TextBox 11"/>
          <p:cNvSpPr txBox="1"/>
          <p:nvPr/>
        </p:nvSpPr>
        <p:spPr>
          <a:xfrm>
            <a:off x="438912" y="1609344"/>
            <a:ext cx="11320272" cy="402336"/>
          </a:xfrm>
          <a:prstGeom prst="rect">
            <a:avLst/>
          </a:prstGeom>
          <a:noFill/>
        </p:spPr>
        <p:txBody>
          <a:bodyPr wrap="square">
            <a:spAutoFit/>
          </a:bodyPr>
          <a:lstStyle/>
          <a:p>
            <a:pPr algn="l"/>
            <a:r>
              <a:rPr sz="1150" b="0" i="0">
                <a:solidFill>
                  <a:srgbClr val="AAB4CC"/>
                </a:solidFill>
                <a:latin typeface="Calibri"/>
              </a:rPr>
              <a:t>The longer you are on the platform, the more defensible your position — and the harder it is to leave. Because the intelligence is yours, not ours.</a:t>
            </a:r>
          </a:p>
        </p:txBody>
      </p:sp>
      <p:sp>
        <p:nvSpPr>
          <p:cNvPr id="13" name="Rectangle 12"/>
          <p:cNvSpPr/>
          <p:nvPr/>
        </p:nvSpPr>
        <p:spPr>
          <a:xfrm>
            <a:off x="438912" y="2194560"/>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04288"/>
            <a:ext cx="5340096" cy="237744"/>
          </a:xfrm>
          <a:prstGeom prst="rect">
            <a:avLst/>
          </a:prstGeom>
          <a:noFill/>
        </p:spPr>
        <p:txBody>
          <a:bodyPr wrap="square">
            <a:spAutoFit/>
          </a:bodyPr>
          <a:lstStyle/>
          <a:p>
            <a:pPr algn="l"/>
            <a:r>
              <a:rPr sz="800" b="1" i="0">
                <a:solidFill>
                  <a:srgbClr val="C9A84C"/>
                </a:solidFill>
                <a:latin typeface="Calibri"/>
              </a:rPr>
              <a:t>INSTITUTIONAL MEMORY</a:t>
            </a:r>
          </a:p>
        </p:txBody>
      </p:sp>
      <p:sp>
        <p:nvSpPr>
          <p:cNvPr id="15" name="TextBox 14"/>
          <p:cNvSpPr txBox="1"/>
          <p:nvPr/>
        </p:nvSpPr>
        <p:spPr>
          <a:xfrm>
            <a:off x="566928" y="2596896"/>
            <a:ext cx="5340096" cy="914400"/>
          </a:xfrm>
          <a:prstGeom prst="rect">
            <a:avLst/>
          </a:prstGeom>
          <a:noFill/>
        </p:spPr>
        <p:txBody>
          <a:bodyPr wrap="square">
            <a:spAutoFit/>
          </a:bodyPr>
          <a:lstStyle/>
          <a:p>
            <a:pPr algn="l"/>
            <a:r>
              <a:rPr sz="850" b="0" i="0">
                <a:solidFill>
                  <a:srgbClr val="AAB4CC"/>
                </a:solidFill>
                <a:latin typeface="Calibri"/>
              </a:rPr>
              <a:t>Retrospect™ captures every decision, outcome, and pattern across all activations. Builds a proprietary playbook dataset from your specific situations — not generic templates. No competitor can replicate it because it's learned from YOUR crises.</a:t>
            </a:r>
          </a:p>
        </p:txBody>
      </p:sp>
      <p:sp>
        <p:nvSpPr>
          <p:cNvPr id="16" name="Rectangle 15"/>
          <p:cNvSpPr/>
          <p:nvPr/>
        </p:nvSpPr>
        <p:spPr>
          <a:xfrm>
            <a:off x="438912" y="3675887"/>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30752"/>
            <a:ext cx="5340096" cy="292608"/>
          </a:xfrm>
          <a:prstGeom prst="rect">
            <a:avLst/>
          </a:prstGeom>
          <a:noFill/>
        </p:spPr>
        <p:txBody>
          <a:bodyPr wrap="square">
            <a:spAutoFit/>
          </a:bodyPr>
          <a:lstStyle/>
          <a:p>
            <a:pPr algn="l"/>
            <a:r>
              <a:rPr sz="800" b="0" i="1">
                <a:solidFill>
                  <a:srgbClr val="C9A84C"/>
                </a:solidFill>
                <a:latin typeface="Calibri"/>
              </a:rPr>
              <a:t>→  67% avg improvement in execution time over 6 months</a:t>
            </a:r>
          </a:p>
        </p:txBody>
      </p:sp>
      <p:sp>
        <p:nvSpPr>
          <p:cNvPr id="18" name="Rectangle 17"/>
          <p:cNvSpPr/>
          <p:nvPr/>
        </p:nvSpPr>
        <p:spPr>
          <a:xfrm>
            <a:off x="6327648" y="2194560"/>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304288"/>
            <a:ext cx="5340096" cy="237744"/>
          </a:xfrm>
          <a:prstGeom prst="rect">
            <a:avLst/>
          </a:prstGeom>
          <a:noFill/>
        </p:spPr>
        <p:txBody>
          <a:bodyPr wrap="square">
            <a:spAutoFit/>
          </a:bodyPr>
          <a:lstStyle/>
          <a:p>
            <a:pPr algn="l"/>
            <a:r>
              <a:rPr sz="800" b="1" i="0">
                <a:solidFill>
                  <a:srgbClr val="2B8A6E"/>
                </a:solidFill>
                <a:latin typeface="Calibri"/>
              </a:rPr>
              <a:t>EXECUTIVE READINESS SCORE</a:t>
            </a:r>
          </a:p>
        </p:txBody>
      </p:sp>
      <p:sp>
        <p:nvSpPr>
          <p:cNvPr id="20" name="TextBox 19"/>
          <p:cNvSpPr txBox="1"/>
          <p:nvPr/>
        </p:nvSpPr>
        <p:spPr>
          <a:xfrm>
            <a:off x="6455664" y="2596896"/>
            <a:ext cx="5340096" cy="914400"/>
          </a:xfrm>
          <a:prstGeom prst="rect">
            <a:avLst/>
          </a:prstGeom>
          <a:noFill/>
        </p:spPr>
        <p:txBody>
          <a:bodyPr wrap="square">
            <a:spAutoFit/>
          </a:bodyPr>
          <a:lstStyle/>
          <a:p>
            <a:pPr algn="l"/>
            <a:r>
              <a:rPr sz="850" b="0" i="0">
                <a:solidFill>
                  <a:srgbClr val="AAB4CC"/>
                </a:solidFill>
                <a:latin typeface="Calibri"/>
              </a:rPr>
              <a:t>0–100 continuously recalculated board-level KPI. Once a board adopts this number — benchmarking against it quarterly — you own that relationship permanently. Boards require it. CFOs track it. Audit committees demand it.</a:t>
            </a:r>
          </a:p>
        </p:txBody>
      </p:sp>
      <p:sp>
        <p:nvSpPr>
          <p:cNvPr id="21" name="Rectangle 20"/>
          <p:cNvSpPr/>
          <p:nvPr/>
        </p:nvSpPr>
        <p:spPr>
          <a:xfrm>
            <a:off x="6327648" y="3675887"/>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5664" y="3730752"/>
            <a:ext cx="5340096" cy="292608"/>
          </a:xfrm>
          <a:prstGeom prst="rect">
            <a:avLst/>
          </a:prstGeom>
          <a:noFill/>
        </p:spPr>
        <p:txBody>
          <a:bodyPr wrap="square">
            <a:spAutoFit/>
          </a:bodyPr>
          <a:lstStyle/>
          <a:p>
            <a:pPr algn="l"/>
            <a:r>
              <a:rPr sz="800" b="0" i="1">
                <a:solidFill>
                  <a:srgbClr val="2B8A6E"/>
                </a:solidFill>
                <a:latin typeface="Calibri"/>
              </a:rPr>
              <a:t>→  New enterprise metric that did not exist before Readiness OS</a:t>
            </a:r>
          </a:p>
        </p:txBody>
      </p:sp>
      <p:sp>
        <p:nvSpPr>
          <p:cNvPr id="23" name="Rectangle 22"/>
          <p:cNvSpPr/>
          <p:nvPr/>
        </p:nvSpPr>
        <p:spPr>
          <a:xfrm>
            <a:off x="438912" y="4206240"/>
            <a:ext cx="5596128" cy="190195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315968"/>
            <a:ext cx="5340096" cy="237744"/>
          </a:xfrm>
          <a:prstGeom prst="rect">
            <a:avLst/>
          </a:prstGeom>
          <a:noFill/>
        </p:spPr>
        <p:txBody>
          <a:bodyPr wrap="square">
            <a:spAutoFit/>
          </a:bodyPr>
          <a:lstStyle/>
          <a:p>
            <a:pPr algn="l"/>
            <a:r>
              <a:rPr sz="800" b="1" i="0">
                <a:solidFill>
                  <a:srgbClr val="FFFFFF"/>
                </a:solidFill>
                <a:latin typeface="Calibri"/>
              </a:rPr>
              <a:t>BOARD-READY ACTIVATION REPORTS</a:t>
            </a:r>
          </a:p>
        </p:txBody>
      </p:sp>
      <p:sp>
        <p:nvSpPr>
          <p:cNvPr id="25" name="TextBox 24"/>
          <p:cNvSpPr txBox="1"/>
          <p:nvPr/>
        </p:nvSpPr>
        <p:spPr>
          <a:xfrm>
            <a:off x="566928" y="4608576"/>
            <a:ext cx="5340096" cy="914400"/>
          </a:xfrm>
          <a:prstGeom prst="rect">
            <a:avLst/>
          </a:prstGeom>
          <a:noFill/>
        </p:spPr>
        <p:txBody>
          <a:bodyPr wrap="square">
            <a:spAutoFit/>
          </a:bodyPr>
          <a:lstStyle/>
          <a:p>
            <a:pPr algn="l"/>
            <a:r>
              <a:rPr sz="850" b="0" i="0">
                <a:solidFill>
                  <a:srgbClr val="AAB4CC"/>
                </a:solidFill>
                <a:latin typeface="Calibri"/>
              </a:rPr>
              <a:t>Auto-generated the moment each war room closes. Elapsed time, decisions made, outcome classification, next steps. Zero manual work. Governance documentation as a byproduct of execution — not an afterthought.</a:t>
            </a:r>
          </a:p>
        </p:txBody>
      </p:sp>
      <p:sp>
        <p:nvSpPr>
          <p:cNvPr id="26" name="Rectangle 25"/>
          <p:cNvSpPr/>
          <p:nvPr/>
        </p:nvSpPr>
        <p:spPr>
          <a:xfrm>
            <a:off x="438912" y="5687568"/>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742431"/>
            <a:ext cx="5340096" cy="292608"/>
          </a:xfrm>
          <a:prstGeom prst="rect">
            <a:avLst/>
          </a:prstGeom>
          <a:noFill/>
        </p:spPr>
        <p:txBody>
          <a:bodyPr wrap="square">
            <a:spAutoFit/>
          </a:bodyPr>
          <a:lstStyle/>
          <a:p>
            <a:pPr algn="l"/>
            <a:r>
              <a:rPr sz="800" b="0" i="1">
                <a:solidFill>
                  <a:srgbClr val="FFFFFF"/>
                </a:solidFill>
                <a:latin typeface="Calibri"/>
              </a:rPr>
              <a:t>→  Procurement requirement met automatically on every activation</a:t>
            </a:r>
          </a:p>
        </p:txBody>
      </p:sp>
      <p:sp>
        <p:nvSpPr>
          <p:cNvPr id="28" name="Rectangle 27"/>
          <p:cNvSpPr/>
          <p:nvPr/>
        </p:nvSpPr>
        <p:spPr>
          <a:xfrm>
            <a:off x="6327648" y="4206240"/>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4315968"/>
            <a:ext cx="5340096" cy="237744"/>
          </a:xfrm>
          <a:prstGeom prst="rect">
            <a:avLst/>
          </a:prstGeom>
          <a:noFill/>
        </p:spPr>
        <p:txBody>
          <a:bodyPr wrap="square">
            <a:spAutoFit/>
          </a:bodyPr>
          <a:lstStyle/>
          <a:p>
            <a:pPr algn="l"/>
            <a:r>
              <a:rPr sz="800" b="1" i="0">
                <a:solidFill>
                  <a:srgbClr val="C9A84C"/>
                </a:solidFill>
                <a:latin typeface="Calibri"/>
              </a:rPr>
              <a:t>DEBRIEF &amp; PROTOCOL IMPROVEMENT</a:t>
            </a:r>
          </a:p>
        </p:txBody>
      </p:sp>
      <p:sp>
        <p:nvSpPr>
          <p:cNvPr id="30" name="TextBox 29"/>
          <p:cNvSpPr txBox="1"/>
          <p:nvPr/>
        </p:nvSpPr>
        <p:spPr>
          <a:xfrm>
            <a:off x="6455664" y="4608576"/>
            <a:ext cx="5340096" cy="914400"/>
          </a:xfrm>
          <a:prstGeom prst="rect">
            <a:avLst/>
          </a:prstGeom>
          <a:noFill/>
        </p:spPr>
        <p:txBody>
          <a:bodyPr wrap="square">
            <a:spAutoFit/>
          </a:bodyPr>
          <a:lstStyle/>
          <a:p>
            <a:pPr algn="l"/>
            <a:r>
              <a:rPr sz="850" b="0" i="0">
                <a:solidFill>
                  <a:srgbClr val="AAB4CC"/>
                </a:solidFill>
                <a:latin typeface="Calibri"/>
              </a:rPr>
              <a:t>Every activation classified: Optimization, Mixed-Signal, or Recovery. System updates protocol trigger conditions based on real performance data. The platform compounds in accuracy and speed with every single use.</a:t>
            </a:r>
          </a:p>
        </p:txBody>
      </p:sp>
      <p:sp>
        <p:nvSpPr>
          <p:cNvPr id="31" name="Rectangle 30"/>
          <p:cNvSpPr/>
          <p:nvPr/>
        </p:nvSpPr>
        <p:spPr>
          <a:xfrm>
            <a:off x="6327648" y="5687568"/>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5664" y="5742431"/>
            <a:ext cx="5340096" cy="292608"/>
          </a:xfrm>
          <a:prstGeom prst="rect">
            <a:avLst/>
          </a:prstGeom>
          <a:noFill/>
        </p:spPr>
        <p:txBody>
          <a:bodyPr wrap="square">
            <a:spAutoFit/>
          </a:bodyPr>
          <a:lstStyle/>
          <a:p>
            <a:pPr algn="l"/>
            <a:r>
              <a:rPr sz="800" b="0" i="1">
                <a:solidFill>
                  <a:srgbClr val="C9A84C"/>
                </a:solidFill>
                <a:latin typeface="Calibri"/>
              </a:rPr>
              <a:t>→  Self-improving system — no other platform does this</a:t>
            </a:r>
          </a:p>
        </p:txBody>
      </p:sp>
      <p:sp>
        <p:nvSpPr>
          <p:cNvPr id="33" name="Rectangle 32"/>
          <p:cNvSpPr/>
          <p:nvPr/>
        </p:nvSpPr>
        <p:spPr>
          <a:xfrm>
            <a:off x="6007608" y="2139696"/>
            <a:ext cx="18288" cy="39319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10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MARKET OPPORTUNITY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Operating Model Market</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Has Never Been Captured.</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Every AI investment created the need for the operating model beneath it. That market is new, growing, and unoccupied at the orchestration layer.</a:t>
            </a:r>
          </a:p>
        </p:txBody>
      </p:sp>
      <p:sp>
        <p:nvSpPr>
          <p:cNvPr id="13" name="Rectangle 12"/>
          <p:cNvSpPr/>
          <p:nvPr/>
        </p:nvSpPr>
        <p:spPr>
          <a:xfrm>
            <a:off x="438912" y="2231136"/>
            <a:ext cx="5486400" cy="1188720"/>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40864"/>
            <a:ext cx="731520" cy="256032"/>
          </a:xfrm>
          <a:prstGeom prst="rect">
            <a:avLst/>
          </a:prstGeom>
          <a:noFill/>
        </p:spPr>
        <p:txBody>
          <a:bodyPr wrap="square">
            <a:spAutoFit/>
          </a:bodyPr>
          <a:lstStyle/>
          <a:p>
            <a:pPr algn="l"/>
            <a:r>
              <a:rPr sz="800" b="1" i="0">
                <a:solidFill>
                  <a:srgbClr val="AAB4CC"/>
                </a:solidFill>
                <a:latin typeface="Calibri"/>
              </a:rPr>
              <a:t>TAM</a:t>
            </a:r>
          </a:p>
        </p:txBody>
      </p:sp>
      <p:sp>
        <p:nvSpPr>
          <p:cNvPr id="15" name="TextBox 14"/>
          <p:cNvSpPr txBox="1"/>
          <p:nvPr/>
        </p:nvSpPr>
        <p:spPr>
          <a:xfrm>
            <a:off x="1316736" y="2267712"/>
            <a:ext cx="2194560" cy="566928"/>
          </a:xfrm>
          <a:prstGeom prst="rect">
            <a:avLst/>
          </a:prstGeom>
          <a:noFill/>
        </p:spPr>
        <p:txBody>
          <a:bodyPr wrap="square">
            <a:spAutoFit/>
          </a:bodyPr>
          <a:lstStyle/>
          <a:p>
            <a:pPr algn="l"/>
            <a:r>
              <a:rPr sz="3200" b="1" i="0">
                <a:solidFill>
                  <a:srgbClr val="AAB4CC"/>
                </a:solidFill>
                <a:latin typeface="Georgia"/>
              </a:rPr>
              <a:t>$42B</a:t>
            </a:r>
          </a:p>
        </p:txBody>
      </p:sp>
      <p:sp>
        <p:nvSpPr>
          <p:cNvPr id="16" name="TextBox 15"/>
          <p:cNvSpPr txBox="1"/>
          <p:nvPr/>
        </p:nvSpPr>
        <p:spPr>
          <a:xfrm>
            <a:off x="1316736" y="2871215"/>
            <a:ext cx="3840480" cy="457200"/>
          </a:xfrm>
          <a:prstGeom prst="rect">
            <a:avLst/>
          </a:prstGeom>
          <a:noFill/>
        </p:spPr>
        <p:txBody>
          <a:bodyPr wrap="square">
            <a:spAutoFit/>
          </a:bodyPr>
          <a:lstStyle/>
          <a:p>
            <a:pPr algn="l"/>
            <a:r>
              <a:rPr sz="900" b="0" i="0">
                <a:solidFill>
                  <a:srgbClr val="AAB4CC"/>
                </a:solidFill>
                <a:latin typeface="Calibri"/>
              </a:rPr>
              <a:t>Enterprise Operating
Infrastructure Market</a:t>
            </a:r>
          </a:p>
        </p:txBody>
      </p:sp>
      <p:sp>
        <p:nvSpPr>
          <p:cNvPr id="17" name="Rectangle 16"/>
          <p:cNvSpPr/>
          <p:nvPr/>
        </p:nvSpPr>
        <p:spPr>
          <a:xfrm>
            <a:off x="438912" y="3566160"/>
            <a:ext cx="4023360" cy="118872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675887"/>
            <a:ext cx="731520" cy="256032"/>
          </a:xfrm>
          <a:prstGeom prst="rect">
            <a:avLst/>
          </a:prstGeom>
          <a:noFill/>
        </p:spPr>
        <p:txBody>
          <a:bodyPr wrap="square">
            <a:spAutoFit/>
          </a:bodyPr>
          <a:lstStyle/>
          <a:p>
            <a:pPr algn="l"/>
            <a:r>
              <a:rPr sz="800" b="1" i="0">
                <a:solidFill>
                  <a:srgbClr val="C9A84C"/>
                </a:solidFill>
                <a:latin typeface="Calibri"/>
              </a:rPr>
              <a:t>SAM</a:t>
            </a:r>
          </a:p>
        </p:txBody>
      </p:sp>
      <p:sp>
        <p:nvSpPr>
          <p:cNvPr id="19" name="TextBox 18"/>
          <p:cNvSpPr txBox="1"/>
          <p:nvPr/>
        </p:nvSpPr>
        <p:spPr>
          <a:xfrm>
            <a:off x="1316736" y="3602736"/>
            <a:ext cx="2194560" cy="566928"/>
          </a:xfrm>
          <a:prstGeom prst="rect">
            <a:avLst/>
          </a:prstGeom>
          <a:noFill/>
        </p:spPr>
        <p:txBody>
          <a:bodyPr wrap="square">
            <a:spAutoFit/>
          </a:bodyPr>
          <a:lstStyle/>
          <a:p>
            <a:pPr algn="l"/>
            <a:r>
              <a:rPr sz="3200" b="1" i="0">
                <a:solidFill>
                  <a:srgbClr val="C9A84C"/>
                </a:solidFill>
                <a:latin typeface="Georgia"/>
              </a:rPr>
              <a:t>$4.8B</a:t>
            </a:r>
          </a:p>
        </p:txBody>
      </p:sp>
      <p:sp>
        <p:nvSpPr>
          <p:cNvPr id="20" name="TextBox 19"/>
          <p:cNvSpPr txBox="1"/>
          <p:nvPr/>
        </p:nvSpPr>
        <p:spPr>
          <a:xfrm>
            <a:off x="1316736" y="4206240"/>
            <a:ext cx="3840480" cy="457200"/>
          </a:xfrm>
          <a:prstGeom prst="rect">
            <a:avLst/>
          </a:prstGeom>
          <a:noFill/>
        </p:spPr>
        <p:txBody>
          <a:bodyPr wrap="square">
            <a:spAutoFit/>
          </a:bodyPr>
          <a:lstStyle/>
          <a:p>
            <a:pPr algn="l"/>
            <a:r>
              <a:rPr sz="900" b="0" i="0">
                <a:solidFill>
                  <a:srgbClr val="AAB4CC"/>
                </a:solidFill>
                <a:latin typeface="Calibri"/>
              </a:rPr>
              <a:t>Mid-Market + Enterprise
Readiness Platforms</a:t>
            </a:r>
          </a:p>
        </p:txBody>
      </p:sp>
      <p:sp>
        <p:nvSpPr>
          <p:cNvPr id="21" name="Rectangle 20"/>
          <p:cNvSpPr/>
          <p:nvPr/>
        </p:nvSpPr>
        <p:spPr>
          <a:xfrm>
            <a:off x="438912" y="4901183"/>
            <a:ext cx="2560320" cy="118872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010912"/>
            <a:ext cx="731520" cy="256032"/>
          </a:xfrm>
          <a:prstGeom prst="rect">
            <a:avLst/>
          </a:prstGeom>
          <a:noFill/>
        </p:spPr>
        <p:txBody>
          <a:bodyPr wrap="square">
            <a:spAutoFit/>
          </a:bodyPr>
          <a:lstStyle/>
          <a:p>
            <a:pPr algn="l"/>
            <a:r>
              <a:rPr sz="800" b="1" i="0">
                <a:solidFill>
                  <a:srgbClr val="2B8A6E"/>
                </a:solidFill>
                <a:latin typeface="Calibri"/>
              </a:rPr>
              <a:t>SOM</a:t>
            </a:r>
          </a:p>
        </p:txBody>
      </p:sp>
      <p:sp>
        <p:nvSpPr>
          <p:cNvPr id="23" name="TextBox 22"/>
          <p:cNvSpPr txBox="1"/>
          <p:nvPr/>
        </p:nvSpPr>
        <p:spPr>
          <a:xfrm>
            <a:off x="1316736" y="4937759"/>
            <a:ext cx="2194560" cy="566928"/>
          </a:xfrm>
          <a:prstGeom prst="rect">
            <a:avLst/>
          </a:prstGeom>
          <a:noFill/>
        </p:spPr>
        <p:txBody>
          <a:bodyPr wrap="square">
            <a:spAutoFit/>
          </a:bodyPr>
          <a:lstStyle/>
          <a:p>
            <a:pPr algn="l"/>
            <a:r>
              <a:rPr sz="3200" b="1" i="0">
                <a:solidFill>
                  <a:srgbClr val="2B8A6E"/>
                </a:solidFill>
                <a:latin typeface="Georgia"/>
              </a:rPr>
              <a:t>$180M</a:t>
            </a:r>
          </a:p>
        </p:txBody>
      </p:sp>
      <p:sp>
        <p:nvSpPr>
          <p:cNvPr id="24" name="TextBox 23"/>
          <p:cNvSpPr txBox="1"/>
          <p:nvPr/>
        </p:nvSpPr>
        <p:spPr>
          <a:xfrm>
            <a:off x="1316736" y="5541264"/>
            <a:ext cx="3840480" cy="457200"/>
          </a:xfrm>
          <a:prstGeom prst="rect">
            <a:avLst/>
          </a:prstGeom>
          <a:noFill/>
        </p:spPr>
        <p:txBody>
          <a:bodyPr wrap="square">
            <a:spAutoFit/>
          </a:bodyPr>
          <a:lstStyle/>
          <a:p>
            <a:pPr algn="l"/>
            <a:r>
              <a:rPr sz="900" b="0" i="0">
                <a:solidFill>
                  <a:srgbClr val="AAB4CC"/>
                </a:solidFill>
                <a:latin typeface="Calibri"/>
              </a:rPr>
              <a:t>Initial Founding Partner
Cohort + Pipeline</a:t>
            </a:r>
          </a:p>
        </p:txBody>
      </p:sp>
      <p:sp>
        <p:nvSpPr>
          <p:cNvPr id="25" name="Rectangle 24"/>
          <p:cNvSpPr/>
          <p:nvPr/>
        </p:nvSpPr>
        <p:spPr>
          <a:xfrm>
            <a:off x="6144768" y="2176272"/>
            <a:ext cx="18288" cy="407822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2176272"/>
            <a:ext cx="5614416" cy="237744"/>
          </a:xfrm>
          <a:prstGeom prst="rect">
            <a:avLst/>
          </a:prstGeom>
          <a:noFill/>
        </p:spPr>
        <p:txBody>
          <a:bodyPr wrap="square">
            <a:spAutoFit/>
          </a:bodyPr>
          <a:lstStyle/>
          <a:p>
            <a:pPr algn="l"/>
            <a:r>
              <a:rPr sz="750" b="1" i="0">
                <a:solidFill>
                  <a:srgbClr val="C9A84C"/>
                </a:solidFill>
                <a:latin typeface="Calibri"/>
              </a:rPr>
              <a:t>── WHY NOW ──</a:t>
            </a:r>
          </a:p>
        </p:txBody>
      </p:sp>
      <p:sp>
        <p:nvSpPr>
          <p:cNvPr id="27" name="TextBox 26"/>
          <p:cNvSpPr txBox="1"/>
          <p:nvPr/>
        </p:nvSpPr>
        <p:spPr>
          <a:xfrm>
            <a:off x="6309360" y="2523744"/>
            <a:ext cx="5614416" cy="749808"/>
          </a:xfrm>
          <a:prstGeom prst="rect">
            <a:avLst/>
          </a:prstGeom>
          <a:noFill/>
        </p:spPr>
        <p:txBody>
          <a:bodyPr wrap="square">
            <a:spAutoFit/>
          </a:bodyPr>
          <a:lstStyle/>
          <a:p>
            <a:pPr algn="l"/>
            <a:r>
              <a:rPr sz="950" b="0" i="0">
                <a:solidFill>
                  <a:srgbClr val="AAB4CC"/>
                </a:solidFill>
                <a:latin typeface="Calibri"/>
              </a:rPr>
              <a:t>→  AI changed the speed of information — the enterprise operating model has not caught up</a:t>
            </a:r>
          </a:p>
        </p:txBody>
      </p:sp>
      <p:sp>
        <p:nvSpPr>
          <p:cNvPr id="28" name="Rectangle 27"/>
          <p:cNvSpPr/>
          <p:nvPr/>
        </p:nvSpPr>
        <p:spPr>
          <a:xfrm>
            <a:off x="6309360" y="3364992"/>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3456432"/>
            <a:ext cx="5614416" cy="749808"/>
          </a:xfrm>
          <a:prstGeom prst="rect">
            <a:avLst/>
          </a:prstGeom>
          <a:noFill/>
        </p:spPr>
        <p:txBody>
          <a:bodyPr wrap="square">
            <a:spAutoFit/>
          </a:bodyPr>
          <a:lstStyle/>
          <a:p>
            <a:pPr algn="l"/>
            <a:r>
              <a:rPr sz="950" b="0" i="0">
                <a:solidFill>
                  <a:srgbClr val="AAB4CC"/>
                </a:solidFill>
                <a:latin typeface="Calibri"/>
              </a:rPr>
              <a:t>→  Every Microsoft Copilot and Azure AI investment creates demand for the execution layer above it</a:t>
            </a:r>
          </a:p>
        </p:txBody>
      </p:sp>
      <p:sp>
        <p:nvSpPr>
          <p:cNvPr id="30" name="Rectangle 29"/>
          <p:cNvSpPr/>
          <p:nvPr/>
        </p:nvSpPr>
        <p:spPr>
          <a:xfrm>
            <a:off x="6309360" y="4297680"/>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4389120"/>
            <a:ext cx="5614416" cy="749808"/>
          </a:xfrm>
          <a:prstGeom prst="rect">
            <a:avLst/>
          </a:prstGeom>
          <a:noFill/>
        </p:spPr>
        <p:txBody>
          <a:bodyPr wrap="square">
            <a:spAutoFit/>
          </a:bodyPr>
          <a:lstStyle/>
          <a:p>
            <a:pPr algn="l"/>
            <a:r>
              <a:rPr sz="950" b="0" i="0">
                <a:solidFill>
                  <a:srgbClr val="AAB4CC"/>
                </a:solidFill>
                <a:latin typeface="Calibri"/>
              </a:rPr>
              <a:t>→  Enterprise boards now require documented readiness for governance, audit, and regulatory compliance</a:t>
            </a:r>
          </a:p>
        </p:txBody>
      </p:sp>
      <p:sp>
        <p:nvSpPr>
          <p:cNvPr id="32" name="Rectangle 31"/>
          <p:cNvSpPr/>
          <p:nvPr/>
        </p:nvSpPr>
        <p:spPr>
          <a:xfrm>
            <a:off x="6309360" y="5230368"/>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5321808"/>
            <a:ext cx="5614416" cy="749808"/>
          </a:xfrm>
          <a:prstGeom prst="rect">
            <a:avLst/>
          </a:prstGeom>
          <a:noFill/>
        </p:spPr>
        <p:txBody>
          <a:bodyPr wrap="square">
            <a:spAutoFit/>
          </a:bodyPr>
          <a:lstStyle/>
          <a:p>
            <a:pPr algn="l"/>
            <a:r>
              <a:rPr sz="950" b="0" i="0">
                <a:solidFill>
                  <a:srgbClr val="AAB4CC"/>
                </a:solidFill>
                <a:latin typeface="Calibri"/>
              </a:rPr>
              <a:t>→  The window to define this category is now — no established incumbent owns the orchestration layer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11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STRATEGIC POSITIONING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Enterprise Has Microsoft's AI Stack.</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None Have the Operating Model to Use It.</a:t>
            </a:r>
          </a:p>
        </p:txBody>
      </p:sp>
      <p:sp>
        <p:nvSpPr>
          <p:cNvPr id="12" name="TextBox 11"/>
          <p:cNvSpPr txBox="1"/>
          <p:nvPr/>
        </p:nvSpPr>
        <p:spPr>
          <a:xfrm>
            <a:off x="438912" y="1609344"/>
            <a:ext cx="11320272" cy="402336"/>
          </a:xfrm>
          <a:prstGeom prst="rect">
            <a:avLst/>
          </a:prstGeom>
          <a:noFill/>
        </p:spPr>
        <p:txBody>
          <a:bodyPr wrap="square">
            <a:spAutoFit/>
          </a:bodyPr>
          <a:lstStyle/>
          <a:p>
            <a:pPr algn="l"/>
            <a:r>
              <a:rPr sz="1150" b="0" i="0">
                <a:solidFill>
                  <a:srgbClr val="AAB4CC"/>
                </a:solidFill>
                <a:latin typeface="Calibri"/>
              </a:rPr>
              <a:t>We are not competing with Microsoft Copilot. We are completing it. Readiness OS is the orchestration layer above the Microsoft investment — not a replacement, an activator.</a:t>
            </a:r>
          </a:p>
        </p:txBody>
      </p:sp>
      <p:sp>
        <p:nvSpPr>
          <p:cNvPr id="13" name="TextBox 12"/>
          <p:cNvSpPr txBox="1"/>
          <p:nvPr/>
        </p:nvSpPr>
        <p:spPr>
          <a:xfrm>
            <a:off x="438912" y="2103120"/>
            <a:ext cx="5358384" cy="237744"/>
          </a:xfrm>
          <a:prstGeom prst="rect">
            <a:avLst/>
          </a:prstGeom>
          <a:noFill/>
        </p:spPr>
        <p:txBody>
          <a:bodyPr wrap="square">
            <a:spAutoFit/>
          </a:bodyPr>
          <a:lstStyle/>
          <a:p>
            <a:pPr algn="l"/>
            <a:r>
              <a:rPr sz="750" b="1" i="0">
                <a:solidFill>
                  <a:srgbClr val="AAB4CC"/>
                </a:solidFill>
                <a:latin typeface="Calibri"/>
              </a:rPr>
              <a:t>THE MICROSOFT ENTERPRISE STACK</a:t>
            </a:r>
          </a:p>
        </p:txBody>
      </p:sp>
      <p:sp>
        <p:nvSpPr>
          <p:cNvPr id="14" name="Rectangle 13"/>
          <p:cNvSpPr/>
          <p:nvPr/>
        </p:nvSpPr>
        <p:spPr>
          <a:xfrm>
            <a:off x="438912" y="2395728"/>
            <a:ext cx="5358384" cy="694944"/>
          </a:xfrm>
          <a:prstGeom prst="rect">
            <a:avLst/>
          </a:prstGeom>
          <a:solidFill>
            <a:srgbClr val="0F184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87168"/>
            <a:ext cx="3840480" cy="256032"/>
          </a:xfrm>
          <a:prstGeom prst="rect">
            <a:avLst/>
          </a:prstGeom>
          <a:noFill/>
        </p:spPr>
        <p:txBody>
          <a:bodyPr wrap="square">
            <a:spAutoFit/>
          </a:bodyPr>
          <a:lstStyle/>
          <a:p>
            <a:pPr algn="l"/>
            <a:r>
              <a:rPr sz="1000" b="1" i="0">
                <a:solidFill>
                  <a:srgbClr val="C9A84C"/>
                </a:solidFill>
                <a:latin typeface="Calibri"/>
              </a:rPr>
              <a:t>READINESS OS</a:t>
            </a:r>
          </a:p>
        </p:txBody>
      </p:sp>
      <p:sp>
        <p:nvSpPr>
          <p:cNvPr id="16" name="TextBox 15"/>
          <p:cNvSpPr txBox="1"/>
          <p:nvPr/>
        </p:nvSpPr>
        <p:spPr>
          <a:xfrm>
            <a:off x="566928" y="2779776"/>
            <a:ext cx="5120640" cy="237744"/>
          </a:xfrm>
          <a:prstGeom prst="rect">
            <a:avLst/>
          </a:prstGeom>
          <a:noFill/>
        </p:spPr>
        <p:txBody>
          <a:bodyPr wrap="square">
            <a:spAutoFit/>
          </a:bodyPr>
          <a:lstStyle/>
          <a:p>
            <a:pPr algn="l"/>
            <a:r>
              <a:rPr sz="850" b="0" i="0">
                <a:solidFill>
                  <a:srgbClr val="AAB4CC"/>
                </a:solidFill>
                <a:latin typeface="Calibri"/>
              </a:rPr>
              <a:t>The Operating Model Layer — orchestrates above everything</a:t>
            </a:r>
          </a:p>
        </p:txBody>
      </p:sp>
      <p:sp>
        <p:nvSpPr>
          <p:cNvPr id="17" name="Rectangle 16"/>
          <p:cNvSpPr/>
          <p:nvPr/>
        </p:nvSpPr>
        <p:spPr>
          <a:xfrm>
            <a:off x="438912" y="3145536"/>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236976"/>
            <a:ext cx="3840480" cy="256032"/>
          </a:xfrm>
          <a:prstGeom prst="rect">
            <a:avLst/>
          </a:prstGeom>
          <a:noFill/>
        </p:spPr>
        <p:txBody>
          <a:bodyPr wrap="square">
            <a:spAutoFit/>
          </a:bodyPr>
          <a:lstStyle/>
          <a:p>
            <a:pPr algn="l"/>
            <a:r>
              <a:rPr sz="1000" b="1" i="0">
                <a:solidFill>
                  <a:srgbClr val="AAB4CC"/>
                </a:solidFill>
                <a:latin typeface="Calibri"/>
              </a:rPr>
              <a:t>Microsoft Copilot Studio</a:t>
            </a:r>
          </a:p>
        </p:txBody>
      </p:sp>
      <p:sp>
        <p:nvSpPr>
          <p:cNvPr id="19" name="TextBox 18"/>
          <p:cNvSpPr txBox="1"/>
          <p:nvPr/>
        </p:nvSpPr>
        <p:spPr>
          <a:xfrm>
            <a:off x="566928" y="3529584"/>
            <a:ext cx="5120640" cy="237744"/>
          </a:xfrm>
          <a:prstGeom prst="rect">
            <a:avLst/>
          </a:prstGeom>
          <a:noFill/>
        </p:spPr>
        <p:txBody>
          <a:bodyPr wrap="square">
            <a:spAutoFit/>
          </a:bodyPr>
          <a:lstStyle/>
          <a:p>
            <a:pPr algn="l"/>
            <a:r>
              <a:rPr sz="850" b="0" i="0">
                <a:solidFill>
                  <a:srgbClr val="AAB4CC"/>
                </a:solidFill>
                <a:latin typeface="Calibri"/>
              </a:rPr>
              <a:t>Workflow automation + AI agents</a:t>
            </a:r>
          </a:p>
        </p:txBody>
      </p:sp>
      <p:sp>
        <p:nvSpPr>
          <p:cNvPr id="20" name="Rectangle 19"/>
          <p:cNvSpPr/>
          <p:nvPr/>
        </p:nvSpPr>
        <p:spPr>
          <a:xfrm>
            <a:off x="438912" y="3895344"/>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986783"/>
            <a:ext cx="3840480" cy="256032"/>
          </a:xfrm>
          <a:prstGeom prst="rect">
            <a:avLst/>
          </a:prstGeom>
          <a:noFill/>
        </p:spPr>
        <p:txBody>
          <a:bodyPr wrap="square">
            <a:spAutoFit/>
          </a:bodyPr>
          <a:lstStyle/>
          <a:p>
            <a:pPr algn="l"/>
            <a:r>
              <a:rPr sz="1000" b="1" i="0">
                <a:solidFill>
                  <a:srgbClr val="AAB4CC"/>
                </a:solidFill>
                <a:latin typeface="Calibri"/>
              </a:rPr>
              <a:t>Microsoft Teams</a:t>
            </a:r>
          </a:p>
        </p:txBody>
      </p:sp>
      <p:sp>
        <p:nvSpPr>
          <p:cNvPr id="22" name="TextBox 21"/>
          <p:cNvSpPr txBox="1"/>
          <p:nvPr/>
        </p:nvSpPr>
        <p:spPr>
          <a:xfrm>
            <a:off x="566928" y="4279392"/>
            <a:ext cx="5120640" cy="237744"/>
          </a:xfrm>
          <a:prstGeom prst="rect">
            <a:avLst/>
          </a:prstGeom>
          <a:noFill/>
        </p:spPr>
        <p:txBody>
          <a:bodyPr wrap="square">
            <a:spAutoFit/>
          </a:bodyPr>
          <a:lstStyle/>
          <a:p>
            <a:pPr algn="l"/>
            <a:r>
              <a:rPr sz="850" b="0" i="0">
                <a:solidFill>
                  <a:srgbClr val="AAB4CC"/>
                </a:solidFill>
                <a:latin typeface="Calibri"/>
              </a:rPr>
              <a:t>Communication + stakeholder coordination</a:t>
            </a:r>
          </a:p>
        </p:txBody>
      </p:sp>
      <p:sp>
        <p:nvSpPr>
          <p:cNvPr id="23" name="Rectangle 22"/>
          <p:cNvSpPr/>
          <p:nvPr/>
        </p:nvSpPr>
        <p:spPr>
          <a:xfrm>
            <a:off x="438912" y="4645152"/>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736592"/>
            <a:ext cx="3840480" cy="256032"/>
          </a:xfrm>
          <a:prstGeom prst="rect">
            <a:avLst/>
          </a:prstGeom>
          <a:noFill/>
        </p:spPr>
        <p:txBody>
          <a:bodyPr wrap="square">
            <a:spAutoFit/>
          </a:bodyPr>
          <a:lstStyle/>
          <a:p>
            <a:pPr algn="l"/>
            <a:r>
              <a:rPr sz="1000" b="1" i="0">
                <a:solidFill>
                  <a:srgbClr val="AAB4CC"/>
                </a:solidFill>
                <a:latin typeface="Calibri"/>
              </a:rPr>
              <a:t>Azure OpenAI</a:t>
            </a:r>
          </a:p>
        </p:txBody>
      </p:sp>
      <p:sp>
        <p:nvSpPr>
          <p:cNvPr id="25" name="TextBox 24"/>
          <p:cNvSpPr txBox="1"/>
          <p:nvPr/>
        </p:nvSpPr>
        <p:spPr>
          <a:xfrm>
            <a:off x="566928" y="5029200"/>
            <a:ext cx="5120640" cy="237744"/>
          </a:xfrm>
          <a:prstGeom prst="rect">
            <a:avLst/>
          </a:prstGeom>
          <a:noFill/>
        </p:spPr>
        <p:txBody>
          <a:bodyPr wrap="square">
            <a:spAutoFit/>
          </a:bodyPr>
          <a:lstStyle/>
          <a:p>
            <a:pPr algn="l"/>
            <a:r>
              <a:rPr sz="850" b="0" i="0">
                <a:solidFill>
                  <a:srgbClr val="AAB4CC"/>
                </a:solidFill>
                <a:latin typeface="Calibri"/>
              </a:rPr>
              <a:t>Intelligence + language models</a:t>
            </a:r>
          </a:p>
        </p:txBody>
      </p:sp>
      <p:sp>
        <p:nvSpPr>
          <p:cNvPr id="26" name="Rectangle 25"/>
          <p:cNvSpPr/>
          <p:nvPr/>
        </p:nvSpPr>
        <p:spPr>
          <a:xfrm>
            <a:off x="438912" y="5394960"/>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486400"/>
            <a:ext cx="3840480" cy="256032"/>
          </a:xfrm>
          <a:prstGeom prst="rect">
            <a:avLst/>
          </a:prstGeom>
          <a:noFill/>
        </p:spPr>
        <p:txBody>
          <a:bodyPr wrap="square">
            <a:spAutoFit/>
          </a:bodyPr>
          <a:lstStyle/>
          <a:p>
            <a:pPr algn="l"/>
            <a:r>
              <a:rPr sz="1000" b="1" i="0">
                <a:solidFill>
                  <a:srgbClr val="AAB4CC"/>
                </a:solidFill>
                <a:latin typeface="Calibri"/>
              </a:rPr>
              <a:t>Microsoft Entra</a:t>
            </a:r>
          </a:p>
        </p:txBody>
      </p:sp>
      <p:sp>
        <p:nvSpPr>
          <p:cNvPr id="28" name="TextBox 27"/>
          <p:cNvSpPr txBox="1"/>
          <p:nvPr/>
        </p:nvSpPr>
        <p:spPr>
          <a:xfrm>
            <a:off x="566928" y="5779008"/>
            <a:ext cx="5120640" cy="237744"/>
          </a:xfrm>
          <a:prstGeom prst="rect">
            <a:avLst/>
          </a:prstGeom>
          <a:noFill/>
        </p:spPr>
        <p:txBody>
          <a:bodyPr wrap="square">
            <a:spAutoFit/>
          </a:bodyPr>
          <a:lstStyle/>
          <a:p>
            <a:pPr algn="l"/>
            <a:r>
              <a:rPr sz="850" b="0" i="0">
                <a:solidFill>
                  <a:srgbClr val="AAB4CC"/>
                </a:solidFill>
                <a:latin typeface="Calibri"/>
              </a:rPr>
              <a:t>Identity + access management</a:t>
            </a:r>
          </a:p>
        </p:txBody>
      </p:sp>
      <p:sp>
        <p:nvSpPr>
          <p:cNvPr id="29" name="Rectangle 28"/>
          <p:cNvSpPr/>
          <p:nvPr/>
        </p:nvSpPr>
        <p:spPr>
          <a:xfrm>
            <a:off x="5961888" y="2048256"/>
            <a:ext cx="18288" cy="426110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89904" y="2103120"/>
            <a:ext cx="5797296" cy="256032"/>
          </a:xfrm>
          <a:prstGeom prst="rect">
            <a:avLst/>
          </a:prstGeom>
          <a:noFill/>
        </p:spPr>
        <p:txBody>
          <a:bodyPr wrap="square">
            <a:spAutoFit/>
          </a:bodyPr>
          <a:lstStyle/>
          <a:p>
            <a:pPr algn="l"/>
            <a:r>
              <a:rPr sz="850" b="1" i="0">
                <a:solidFill>
                  <a:srgbClr val="C9A84C"/>
                </a:solidFill>
                <a:latin typeface="Calibri"/>
              </a:rPr>
              <a:t>◆  NOT A REPLACEMENT</a:t>
            </a:r>
          </a:p>
        </p:txBody>
      </p:sp>
      <p:sp>
        <p:nvSpPr>
          <p:cNvPr id="31" name="TextBox 30"/>
          <p:cNvSpPr txBox="1"/>
          <p:nvPr/>
        </p:nvSpPr>
        <p:spPr>
          <a:xfrm>
            <a:off x="6236208" y="2414015"/>
            <a:ext cx="5650992" cy="658368"/>
          </a:xfrm>
          <a:prstGeom prst="rect">
            <a:avLst/>
          </a:prstGeom>
          <a:noFill/>
        </p:spPr>
        <p:txBody>
          <a:bodyPr wrap="square">
            <a:spAutoFit/>
          </a:bodyPr>
          <a:lstStyle/>
          <a:p>
            <a:pPr algn="l"/>
            <a:r>
              <a:rPr sz="900" b="0" i="0">
                <a:solidFill>
                  <a:srgbClr val="AAB4CC"/>
                </a:solidFill>
                <a:latin typeface="Calibri"/>
              </a:rPr>
              <a:t>We don't replace any Microsoft product. We make all of them deliver enterprise value at the speed AI enables — which is what the board paid for.</a:t>
            </a:r>
          </a:p>
        </p:txBody>
      </p:sp>
      <p:sp>
        <p:nvSpPr>
          <p:cNvPr id="32" name="Rectangle 31"/>
          <p:cNvSpPr/>
          <p:nvPr/>
        </p:nvSpPr>
        <p:spPr>
          <a:xfrm>
            <a:off x="6089904" y="3072384"/>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9904" y="3182111"/>
            <a:ext cx="5797296" cy="256032"/>
          </a:xfrm>
          <a:prstGeom prst="rect">
            <a:avLst/>
          </a:prstGeom>
          <a:noFill/>
        </p:spPr>
        <p:txBody>
          <a:bodyPr wrap="square">
            <a:spAutoFit/>
          </a:bodyPr>
          <a:lstStyle/>
          <a:p>
            <a:pPr algn="l"/>
            <a:r>
              <a:rPr sz="850" b="1" i="0">
                <a:solidFill>
                  <a:srgbClr val="2B8A6E"/>
                </a:solidFill>
                <a:latin typeface="Calibri"/>
              </a:rPr>
              <a:t>◆  THE MISSING LAYER</a:t>
            </a:r>
          </a:p>
        </p:txBody>
      </p:sp>
      <p:sp>
        <p:nvSpPr>
          <p:cNvPr id="34" name="TextBox 33"/>
          <p:cNvSpPr txBox="1"/>
          <p:nvPr/>
        </p:nvSpPr>
        <p:spPr>
          <a:xfrm>
            <a:off x="6236208" y="3493007"/>
            <a:ext cx="5650992" cy="658368"/>
          </a:xfrm>
          <a:prstGeom prst="rect">
            <a:avLst/>
          </a:prstGeom>
          <a:noFill/>
        </p:spPr>
        <p:txBody>
          <a:bodyPr wrap="square">
            <a:spAutoFit/>
          </a:bodyPr>
          <a:lstStyle/>
          <a:p>
            <a:pPr algn="l"/>
            <a:r>
              <a:rPr sz="900" b="0" i="0">
                <a:solidFill>
                  <a:srgbClr val="AAB4CC"/>
                </a:solidFill>
                <a:latin typeface="Calibri"/>
              </a:rPr>
              <a:t>Microsoft provides intelligence. We provide the operating model that acts on it. Without Readiness OS, Copilot gives you faster notes from the same slow meeting.</a:t>
            </a:r>
          </a:p>
        </p:txBody>
      </p:sp>
      <p:sp>
        <p:nvSpPr>
          <p:cNvPr id="35" name="Rectangle 34"/>
          <p:cNvSpPr/>
          <p:nvPr/>
        </p:nvSpPr>
        <p:spPr>
          <a:xfrm>
            <a:off x="6089904" y="4151375"/>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89904" y="4261104"/>
            <a:ext cx="5797296" cy="256032"/>
          </a:xfrm>
          <a:prstGeom prst="rect">
            <a:avLst/>
          </a:prstGeom>
          <a:noFill/>
        </p:spPr>
        <p:txBody>
          <a:bodyPr wrap="square">
            <a:spAutoFit/>
          </a:bodyPr>
          <a:lstStyle/>
          <a:p>
            <a:pPr algn="l"/>
            <a:r>
              <a:rPr sz="850" b="1" i="0">
                <a:solidFill>
                  <a:srgbClr val="FFFFFF"/>
                </a:solidFill>
                <a:latin typeface="Calibri"/>
              </a:rPr>
              <a:t>◆  THE SALES MOTION</a:t>
            </a:r>
          </a:p>
        </p:txBody>
      </p:sp>
      <p:sp>
        <p:nvSpPr>
          <p:cNvPr id="37" name="TextBox 36"/>
          <p:cNvSpPr txBox="1"/>
          <p:nvPr/>
        </p:nvSpPr>
        <p:spPr>
          <a:xfrm>
            <a:off x="6236208" y="4572000"/>
            <a:ext cx="5650992" cy="658368"/>
          </a:xfrm>
          <a:prstGeom prst="rect">
            <a:avLst/>
          </a:prstGeom>
          <a:noFill/>
        </p:spPr>
        <p:txBody>
          <a:bodyPr wrap="square">
            <a:spAutoFit/>
          </a:bodyPr>
          <a:lstStyle/>
          <a:p>
            <a:pPr algn="l"/>
            <a:r>
              <a:rPr sz="900" b="0" i="0">
                <a:solidFill>
                  <a:srgbClr val="AAB4CC"/>
                </a:solidFill>
                <a:latin typeface="Calibri"/>
              </a:rPr>
              <a:t>"Your Microsoft investment is already in place. Readiness OS is the operating model layer that makes it execute at enterprise speed. We make the investment worth the spend."</a:t>
            </a:r>
          </a:p>
        </p:txBody>
      </p:sp>
      <p:sp>
        <p:nvSpPr>
          <p:cNvPr id="38" name="Rectangle 37"/>
          <p:cNvSpPr/>
          <p:nvPr/>
        </p:nvSpPr>
        <p:spPr>
          <a:xfrm>
            <a:off x="6089904" y="5230368"/>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9904" y="5340096"/>
            <a:ext cx="5797296" cy="256032"/>
          </a:xfrm>
          <a:prstGeom prst="rect">
            <a:avLst/>
          </a:prstGeom>
          <a:noFill/>
        </p:spPr>
        <p:txBody>
          <a:bodyPr wrap="square">
            <a:spAutoFit/>
          </a:bodyPr>
          <a:lstStyle/>
          <a:p>
            <a:pPr algn="l"/>
            <a:r>
              <a:rPr sz="850" b="1" i="0">
                <a:solidFill>
                  <a:srgbClr val="C9A84C"/>
                </a:solidFill>
                <a:latin typeface="Calibri"/>
              </a:rPr>
              <a:t>◆  THE DEFENSIBILITY</a:t>
            </a:r>
          </a:p>
        </p:txBody>
      </p:sp>
      <p:sp>
        <p:nvSpPr>
          <p:cNvPr id="40" name="TextBox 39"/>
          <p:cNvSpPr txBox="1"/>
          <p:nvPr/>
        </p:nvSpPr>
        <p:spPr>
          <a:xfrm>
            <a:off x="6236208" y="5650992"/>
            <a:ext cx="5650992" cy="658368"/>
          </a:xfrm>
          <a:prstGeom prst="rect">
            <a:avLst/>
          </a:prstGeom>
          <a:noFill/>
        </p:spPr>
        <p:txBody>
          <a:bodyPr wrap="square">
            <a:spAutoFit/>
          </a:bodyPr>
          <a:lstStyle/>
          <a:p>
            <a:pPr algn="l"/>
            <a:r>
              <a:rPr sz="900" b="0" i="0">
                <a:solidFill>
                  <a:srgbClr val="AAB4CC"/>
                </a:solidFill>
                <a:latin typeface="Calibri"/>
              </a:rPr>
              <a:t>Microsoft sells horizontal tools. We sell a vertical operating model with 170 protocols, compound intelligence, and institutional memory that compounds. Not replaceable.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12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BUSINESS MODEL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Annual SaaS + Land and Expand.</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Core opens the account. Industry packs grow it.</a:t>
            </a:r>
          </a:p>
        </p:txBody>
      </p:sp>
      <p:sp>
        <p:nvSpPr>
          <p:cNvPr id="12" name="Rectangle 11"/>
          <p:cNvSpPr/>
          <p:nvPr/>
        </p:nvSpPr>
        <p:spPr>
          <a:xfrm>
            <a:off x="438912" y="2048256"/>
            <a:ext cx="3639312" cy="4114800"/>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 y="2048256"/>
            <a:ext cx="3639312" cy="64008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103120"/>
            <a:ext cx="3401568" cy="237744"/>
          </a:xfrm>
          <a:prstGeom prst="rect">
            <a:avLst/>
          </a:prstGeom>
          <a:noFill/>
        </p:spPr>
        <p:txBody>
          <a:bodyPr wrap="square">
            <a:spAutoFit/>
          </a:bodyPr>
          <a:lstStyle/>
          <a:p>
            <a:pPr algn="l"/>
            <a:r>
              <a:rPr sz="850" b="1" i="0">
                <a:solidFill>
                  <a:srgbClr val="AAB4CC"/>
                </a:solidFill>
                <a:latin typeface="Calibri"/>
              </a:rPr>
              <a:t>READINESS CORE</a:t>
            </a:r>
          </a:p>
        </p:txBody>
      </p:sp>
      <p:sp>
        <p:nvSpPr>
          <p:cNvPr id="15" name="TextBox 14"/>
          <p:cNvSpPr txBox="1"/>
          <p:nvPr/>
        </p:nvSpPr>
        <p:spPr>
          <a:xfrm>
            <a:off x="566928" y="2359152"/>
            <a:ext cx="3401568" cy="274320"/>
          </a:xfrm>
          <a:prstGeom prst="rect">
            <a:avLst/>
          </a:prstGeom>
          <a:noFill/>
        </p:spPr>
        <p:txBody>
          <a:bodyPr wrap="square">
            <a:spAutoFit/>
          </a:bodyPr>
          <a:lstStyle/>
          <a:p>
            <a:pPr algn="l"/>
            <a:r>
              <a:rPr sz="1250" b="1" i="0">
                <a:solidFill>
                  <a:srgbClr val="FFFFFF"/>
                </a:solidFill>
                <a:latin typeface="Georgia"/>
              </a:rPr>
              <a:t>$60K – $120K / yr</a:t>
            </a:r>
          </a:p>
        </p:txBody>
      </p:sp>
      <p:sp>
        <p:nvSpPr>
          <p:cNvPr id="16" name="TextBox 15"/>
          <p:cNvSpPr txBox="1"/>
          <p:nvPr/>
        </p:nvSpPr>
        <p:spPr>
          <a:xfrm>
            <a:off x="566928" y="2798064"/>
            <a:ext cx="3401568" cy="402336"/>
          </a:xfrm>
          <a:prstGeom prst="rect">
            <a:avLst/>
          </a:prstGeom>
          <a:noFill/>
        </p:spPr>
        <p:txBody>
          <a:bodyPr wrap="square">
            <a:spAutoFit/>
          </a:bodyPr>
          <a:lstStyle/>
          <a:p>
            <a:pPr algn="l"/>
            <a:r>
              <a:rPr sz="900" b="0" i="0">
                <a:solidFill>
                  <a:srgbClr val="AAB4CC"/>
                </a:solidFill>
                <a:latin typeface="Calibri"/>
              </a:rPr>
              <a:t>✓  170 cross-industry protocols</a:t>
            </a:r>
          </a:p>
        </p:txBody>
      </p:sp>
      <p:sp>
        <p:nvSpPr>
          <p:cNvPr id="17" name="TextBox 16"/>
          <p:cNvSpPr txBox="1"/>
          <p:nvPr/>
        </p:nvSpPr>
        <p:spPr>
          <a:xfrm>
            <a:off x="566928" y="3255264"/>
            <a:ext cx="3401568" cy="402336"/>
          </a:xfrm>
          <a:prstGeom prst="rect">
            <a:avLst/>
          </a:prstGeom>
          <a:noFill/>
        </p:spPr>
        <p:txBody>
          <a:bodyPr wrap="square">
            <a:spAutoFit/>
          </a:bodyPr>
          <a:lstStyle/>
          <a:p>
            <a:pPr algn="l"/>
            <a:r>
              <a:rPr sz="900" b="0" i="0">
                <a:solidFill>
                  <a:srgbClr val="AAB4CC"/>
                </a:solidFill>
                <a:latin typeface="Calibri"/>
              </a:rPr>
              <a:t>✓  3 strategic domains</a:t>
            </a:r>
          </a:p>
        </p:txBody>
      </p:sp>
      <p:sp>
        <p:nvSpPr>
          <p:cNvPr id="18" name="TextBox 17"/>
          <p:cNvSpPr txBox="1"/>
          <p:nvPr/>
        </p:nvSpPr>
        <p:spPr>
          <a:xfrm>
            <a:off x="566928" y="3712464"/>
            <a:ext cx="3401568" cy="402336"/>
          </a:xfrm>
          <a:prstGeom prst="rect">
            <a:avLst/>
          </a:prstGeom>
          <a:noFill/>
        </p:spPr>
        <p:txBody>
          <a:bodyPr wrap="square">
            <a:spAutoFit/>
          </a:bodyPr>
          <a:lstStyle/>
          <a:p>
            <a:pPr algn="l"/>
            <a:r>
              <a:rPr sz="900" b="0" i="0">
                <a:solidFill>
                  <a:srgbClr val="AAB4CC"/>
                </a:solidFill>
                <a:latin typeface="Calibri"/>
              </a:rPr>
              <a:t>✓  Signal detection &amp; scoring</a:t>
            </a:r>
          </a:p>
        </p:txBody>
      </p:sp>
      <p:sp>
        <p:nvSpPr>
          <p:cNvPr id="19" name="TextBox 18"/>
          <p:cNvSpPr txBox="1"/>
          <p:nvPr/>
        </p:nvSpPr>
        <p:spPr>
          <a:xfrm>
            <a:off x="566928" y="4169664"/>
            <a:ext cx="3401568" cy="402336"/>
          </a:xfrm>
          <a:prstGeom prst="rect">
            <a:avLst/>
          </a:prstGeom>
          <a:noFill/>
        </p:spPr>
        <p:txBody>
          <a:bodyPr wrap="square">
            <a:spAutoFit/>
          </a:bodyPr>
          <a:lstStyle/>
          <a:p>
            <a:pPr algn="l"/>
            <a:r>
              <a:rPr sz="900" b="0" i="0">
                <a:solidFill>
                  <a:srgbClr val="AAB4CC"/>
                </a:solidFill>
                <a:latin typeface="Calibri"/>
              </a:rPr>
              <a:t>✓  War Room + Executive Auth</a:t>
            </a:r>
          </a:p>
        </p:txBody>
      </p:sp>
      <p:sp>
        <p:nvSpPr>
          <p:cNvPr id="20" name="TextBox 19"/>
          <p:cNvSpPr txBox="1"/>
          <p:nvPr/>
        </p:nvSpPr>
        <p:spPr>
          <a:xfrm>
            <a:off x="566928" y="4626864"/>
            <a:ext cx="3401568" cy="402336"/>
          </a:xfrm>
          <a:prstGeom prst="rect">
            <a:avLst/>
          </a:prstGeom>
          <a:noFill/>
        </p:spPr>
        <p:txBody>
          <a:bodyPr wrap="square">
            <a:spAutoFit/>
          </a:bodyPr>
          <a:lstStyle/>
          <a:p>
            <a:pPr algn="l"/>
            <a:r>
              <a:rPr sz="900" b="0" i="0">
                <a:solidFill>
                  <a:srgbClr val="AAB4CC"/>
                </a:solidFill>
                <a:latin typeface="Calibri"/>
              </a:rPr>
              <a:t>✓  Standard board reporting</a:t>
            </a:r>
          </a:p>
        </p:txBody>
      </p:sp>
      <p:sp>
        <p:nvSpPr>
          <p:cNvPr id="21" name="Rectangle 20"/>
          <p:cNvSpPr/>
          <p:nvPr/>
        </p:nvSpPr>
        <p:spPr>
          <a:xfrm>
            <a:off x="4261104" y="2048256"/>
            <a:ext cx="3639312" cy="4114800"/>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1104" y="2048256"/>
            <a:ext cx="3639312" cy="640080"/>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0" y="2103120"/>
            <a:ext cx="3401568" cy="237744"/>
          </a:xfrm>
          <a:prstGeom prst="rect">
            <a:avLst/>
          </a:prstGeom>
          <a:noFill/>
        </p:spPr>
        <p:txBody>
          <a:bodyPr wrap="square">
            <a:spAutoFit/>
          </a:bodyPr>
          <a:lstStyle/>
          <a:p>
            <a:pPr algn="l"/>
            <a:r>
              <a:rPr sz="850" b="1" i="0">
                <a:solidFill>
                  <a:srgbClr val="C9A84C"/>
                </a:solidFill>
                <a:latin typeface="Calibri"/>
              </a:rPr>
              <a:t>FOUNDING PARTNER</a:t>
            </a:r>
          </a:p>
        </p:txBody>
      </p:sp>
      <p:sp>
        <p:nvSpPr>
          <p:cNvPr id="24" name="TextBox 23"/>
          <p:cNvSpPr txBox="1"/>
          <p:nvPr/>
        </p:nvSpPr>
        <p:spPr>
          <a:xfrm>
            <a:off x="4389120" y="2359152"/>
            <a:ext cx="3401568" cy="274320"/>
          </a:xfrm>
          <a:prstGeom prst="rect">
            <a:avLst/>
          </a:prstGeom>
          <a:noFill/>
        </p:spPr>
        <p:txBody>
          <a:bodyPr wrap="square">
            <a:spAutoFit/>
          </a:bodyPr>
          <a:lstStyle/>
          <a:p>
            <a:pPr algn="l"/>
            <a:r>
              <a:rPr sz="1250" b="1" i="0">
                <a:solidFill>
                  <a:srgbClr val="FFFFFF"/>
                </a:solidFill>
                <a:latin typeface="Georgia"/>
              </a:rPr>
              <a:t>$120K – $180K / yr</a:t>
            </a:r>
          </a:p>
        </p:txBody>
      </p:sp>
      <p:sp>
        <p:nvSpPr>
          <p:cNvPr id="25" name="TextBox 24"/>
          <p:cNvSpPr txBox="1"/>
          <p:nvPr/>
        </p:nvSpPr>
        <p:spPr>
          <a:xfrm>
            <a:off x="4389120" y="2798064"/>
            <a:ext cx="3401568" cy="402336"/>
          </a:xfrm>
          <a:prstGeom prst="rect">
            <a:avLst/>
          </a:prstGeom>
          <a:noFill/>
        </p:spPr>
        <p:txBody>
          <a:bodyPr wrap="square">
            <a:spAutoFit/>
          </a:bodyPr>
          <a:lstStyle/>
          <a:p>
            <a:pPr algn="l"/>
            <a:r>
              <a:rPr sz="900" b="0" i="0">
                <a:solidFill>
                  <a:srgbClr val="AAB4CC"/>
                </a:solidFill>
                <a:latin typeface="Calibri"/>
              </a:rPr>
              <a:t>✓  Everything in Core</a:t>
            </a:r>
          </a:p>
        </p:txBody>
      </p:sp>
      <p:sp>
        <p:nvSpPr>
          <p:cNvPr id="26" name="TextBox 25"/>
          <p:cNvSpPr txBox="1"/>
          <p:nvPr/>
        </p:nvSpPr>
        <p:spPr>
          <a:xfrm>
            <a:off x="4389120" y="3255264"/>
            <a:ext cx="3401568" cy="402336"/>
          </a:xfrm>
          <a:prstGeom prst="rect">
            <a:avLst/>
          </a:prstGeom>
          <a:noFill/>
        </p:spPr>
        <p:txBody>
          <a:bodyPr wrap="square">
            <a:spAutoFit/>
          </a:bodyPr>
          <a:lstStyle/>
          <a:p>
            <a:pPr algn="l"/>
            <a:r>
              <a:rPr sz="900" b="0" i="0">
                <a:solidFill>
                  <a:srgbClr val="AAB4CC"/>
                </a:solidFill>
                <a:latin typeface="Calibri"/>
              </a:rPr>
              <a:t>✓  Custom protocol builder</a:t>
            </a:r>
          </a:p>
        </p:txBody>
      </p:sp>
      <p:sp>
        <p:nvSpPr>
          <p:cNvPr id="27" name="TextBox 26"/>
          <p:cNvSpPr txBox="1"/>
          <p:nvPr/>
        </p:nvSpPr>
        <p:spPr>
          <a:xfrm>
            <a:off x="4389120" y="3712464"/>
            <a:ext cx="3401568" cy="402336"/>
          </a:xfrm>
          <a:prstGeom prst="rect">
            <a:avLst/>
          </a:prstGeom>
          <a:noFill/>
        </p:spPr>
        <p:txBody>
          <a:bodyPr wrap="square">
            <a:spAutoFit/>
          </a:bodyPr>
          <a:lstStyle/>
          <a:p>
            <a:pPr algn="l"/>
            <a:r>
              <a:rPr sz="900" b="0" i="0">
                <a:solidFill>
                  <a:srgbClr val="AAB4CC"/>
                </a:solidFill>
                <a:latin typeface="Calibri"/>
              </a:rPr>
              <a:t>✓  Compound protocol engines</a:t>
            </a:r>
          </a:p>
        </p:txBody>
      </p:sp>
      <p:sp>
        <p:nvSpPr>
          <p:cNvPr id="28" name="TextBox 27"/>
          <p:cNvSpPr txBox="1"/>
          <p:nvPr/>
        </p:nvSpPr>
        <p:spPr>
          <a:xfrm>
            <a:off x="4389120" y="4169664"/>
            <a:ext cx="3401568" cy="402336"/>
          </a:xfrm>
          <a:prstGeom prst="rect">
            <a:avLst/>
          </a:prstGeom>
          <a:noFill/>
        </p:spPr>
        <p:txBody>
          <a:bodyPr wrap="square">
            <a:spAutoFit/>
          </a:bodyPr>
          <a:lstStyle/>
          <a:p>
            <a:pPr algn="l"/>
            <a:r>
              <a:rPr sz="900" b="0" i="0">
                <a:solidFill>
                  <a:srgbClr val="AAB4CC"/>
                </a:solidFill>
                <a:latin typeface="Calibri"/>
              </a:rPr>
              <a:t>✓  Quarterly executive reviews</a:t>
            </a:r>
          </a:p>
        </p:txBody>
      </p:sp>
      <p:sp>
        <p:nvSpPr>
          <p:cNvPr id="29" name="TextBox 28"/>
          <p:cNvSpPr txBox="1"/>
          <p:nvPr/>
        </p:nvSpPr>
        <p:spPr>
          <a:xfrm>
            <a:off x="4389120" y="4626864"/>
            <a:ext cx="3401568" cy="402336"/>
          </a:xfrm>
          <a:prstGeom prst="rect">
            <a:avLst/>
          </a:prstGeom>
          <a:noFill/>
        </p:spPr>
        <p:txBody>
          <a:bodyPr wrap="square">
            <a:spAutoFit/>
          </a:bodyPr>
          <a:lstStyle/>
          <a:p>
            <a:pPr algn="l"/>
            <a:r>
              <a:rPr sz="900" b="0" i="0">
                <a:solidFill>
                  <a:srgbClr val="AAB4CC"/>
                </a:solidFill>
                <a:latin typeface="Calibri"/>
              </a:rPr>
              <a:t>✓  Priority implementation &amp; CSM</a:t>
            </a:r>
          </a:p>
        </p:txBody>
      </p:sp>
      <p:sp>
        <p:nvSpPr>
          <p:cNvPr id="30" name="Rectangle 29"/>
          <p:cNvSpPr/>
          <p:nvPr/>
        </p:nvSpPr>
        <p:spPr>
          <a:xfrm>
            <a:off x="8083296" y="2048256"/>
            <a:ext cx="3639312" cy="41148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3296" y="2048256"/>
            <a:ext cx="3639312" cy="64008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1312" y="2103120"/>
            <a:ext cx="3401568" cy="237744"/>
          </a:xfrm>
          <a:prstGeom prst="rect">
            <a:avLst/>
          </a:prstGeom>
          <a:noFill/>
        </p:spPr>
        <p:txBody>
          <a:bodyPr wrap="square">
            <a:spAutoFit/>
          </a:bodyPr>
          <a:lstStyle/>
          <a:p>
            <a:pPr algn="l"/>
            <a:r>
              <a:rPr sz="850" b="1" i="0">
                <a:solidFill>
                  <a:srgbClr val="2B8A6E"/>
                </a:solidFill>
                <a:latin typeface="Calibri"/>
              </a:rPr>
              <a:t>ENTERPRISE</a:t>
            </a:r>
          </a:p>
        </p:txBody>
      </p:sp>
      <p:sp>
        <p:nvSpPr>
          <p:cNvPr id="33" name="TextBox 32"/>
          <p:cNvSpPr txBox="1"/>
          <p:nvPr/>
        </p:nvSpPr>
        <p:spPr>
          <a:xfrm>
            <a:off x="8211312" y="2359152"/>
            <a:ext cx="3401568" cy="274320"/>
          </a:xfrm>
          <a:prstGeom prst="rect">
            <a:avLst/>
          </a:prstGeom>
          <a:noFill/>
        </p:spPr>
        <p:txBody>
          <a:bodyPr wrap="square">
            <a:spAutoFit/>
          </a:bodyPr>
          <a:lstStyle/>
          <a:p>
            <a:pPr algn="l"/>
            <a:r>
              <a:rPr sz="1250" b="1" i="0">
                <a:solidFill>
                  <a:srgbClr val="FFFFFF"/>
                </a:solidFill>
                <a:latin typeface="Georgia"/>
              </a:rPr>
              <a:t>$180K – $240K / yr</a:t>
            </a:r>
          </a:p>
        </p:txBody>
      </p:sp>
      <p:sp>
        <p:nvSpPr>
          <p:cNvPr id="34" name="TextBox 33"/>
          <p:cNvSpPr txBox="1"/>
          <p:nvPr/>
        </p:nvSpPr>
        <p:spPr>
          <a:xfrm>
            <a:off x="8211312" y="2798064"/>
            <a:ext cx="3401568" cy="402336"/>
          </a:xfrm>
          <a:prstGeom prst="rect">
            <a:avLst/>
          </a:prstGeom>
          <a:noFill/>
        </p:spPr>
        <p:txBody>
          <a:bodyPr wrap="square">
            <a:spAutoFit/>
          </a:bodyPr>
          <a:lstStyle/>
          <a:p>
            <a:pPr algn="l"/>
            <a:r>
              <a:rPr sz="900" b="0" i="0">
                <a:solidFill>
                  <a:srgbClr val="AAB4CC"/>
                </a:solidFill>
                <a:latin typeface="Calibri"/>
              </a:rPr>
              <a:t>✓  Everything in Founding Partner</a:t>
            </a:r>
          </a:p>
        </p:txBody>
      </p:sp>
      <p:sp>
        <p:nvSpPr>
          <p:cNvPr id="35" name="TextBox 34"/>
          <p:cNvSpPr txBox="1"/>
          <p:nvPr/>
        </p:nvSpPr>
        <p:spPr>
          <a:xfrm>
            <a:off x="8211312" y="3255264"/>
            <a:ext cx="3401568" cy="402336"/>
          </a:xfrm>
          <a:prstGeom prst="rect">
            <a:avLst/>
          </a:prstGeom>
          <a:noFill/>
        </p:spPr>
        <p:txBody>
          <a:bodyPr wrap="square">
            <a:spAutoFit/>
          </a:bodyPr>
          <a:lstStyle/>
          <a:p>
            <a:pPr algn="l"/>
            <a:r>
              <a:rPr sz="900" b="0" i="0">
                <a:solidFill>
                  <a:srgbClr val="AAB4CC"/>
                </a:solidFill>
                <a:latin typeface="Calibri"/>
              </a:rPr>
              <a:t>✓  Industry Protocol Pack(s)</a:t>
            </a:r>
          </a:p>
        </p:txBody>
      </p:sp>
      <p:sp>
        <p:nvSpPr>
          <p:cNvPr id="36" name="TextBox 35"/>
          <p:cNvSpPr txBox="1"/>
          <p:nvPr/>
        </p:nvSpPr>
        <p:spPr>
          <a:xfrm>
            <a:off x="8211312" y="3712464"/>
            <a:ext cx="3401568" cy="402336"/>
          </a:xfrm>
          <a:prstGeom prst="rect">
            <a:avLst/>
          </a:prstGeom>
          <a:noFill/>
        </p:spPr>
        <p:txBody>
          <a:bodyPr wrap="square">
            <a:spAutoFit/>
          </a:bodyPr>
          <a:lstStyle/>
          <a:p>
            <a:pPr algn="l"/>
            <a:r>
              <a:rPr sz="900" b="0" i="0">
                <a:solidFill>
                  <a:srgbClr val="AAB4CC"/>
                </a:solidFill>
                <a:latin typeface="Calibri"/>
              </a:rPr>
              <a:t>✓  Multi-org deployment</a:t>
            </a:r>
          </a:p>
        </p:txBody>
      </p:sp>
      <p:sp>
        <p:nvSpPr>
          <p:cNvPr id="37" name="TextBox 36"/>
          <p:cNvSpPr txBox="1"/>
          <p:nvPr/>
        </p:nvSpPr>
        <p:spPr>
          <a:xfrm>
            <a:off x="8211312" y="4169664"/>
            <a:ext cx="3401568" cy="402336"/>
          </a:xfrm>
          <a:prstGeom prst="rect">
            <a:avLst/>
          </a:prstGeom>
          <a:noFill/>
        </p:spPr>
        <p:txBody>
          <a:bodyPr wrap="square">
            <a:spAutoFit/>
          </a:bodyPr>
          <a:lstStyle/>
          <a:p>
            <a:pPr algn="l"/>
            <a:r>
              <a:rPr sz="900" b="0" i="0">
                <a:solidFill>
                  <a:srgbClr val="AAB4CC"/>
                </a:solidFill>
                <a:latin typeface="Calibri"/>
              </a:rPr>
              <a:t>✓  Board-ready report suite</a:t>
            </a:r>
          </a:p>
        </p:txBody>
      </p:sp>
      <p:sp>
        <p:nvSpPr>
          <p:cNvPr id="38" name="TextBox 37"/>
          <p:cNvSpPr txBox="1"/>
          <p:nvPr/>
        </p:nvSpPr>
        <p:spPr>
          <a:xfrm>
            <a:off x="8211312" y="4626864"/>
            <a:ext cx="3401568" cy="402336"/>
          </a:xfrm>
          <a:prstGeom prst="rect">
            <a:avLst/>
          </a:prstGeom>
          <a:noFill/>
        </p:spPr>
        <p:txBody>
          <a:bodyPr wrap="square">
            <a:spAutoFit/>
          </a:bodyPr>
          <a:lstStyle/>
          <a:p>
            <a:pPr algn="l"/>
            <a:r>
              <a:rPr sz="900" b="0" i="0">
                <a:solidFill>
                  <a:srgbClr val="AAB4CC"/>
                </a:solidFill>
                <a:latin typeface="Calibri"/>
              </a:rPr>
              <a:t>✓  Dedicated customer success</a:t>
            </a:r>
          </a:p>
        </p:txBody>
      </p:sp>
      <p:sp>
        <p:nvSpPr>
          <p:cNvPr id="39" name="Rectangle 38"/>
          <p:cNvSpPr/>
          <p:nvPr/>
        </p:nvSpPr>
        <p:spPr>
          <a:xfrm>
            <a:off x="438912" y="5980176"/>
            <a:ext cx="11320272" cy="128016"/>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5998464"/>
            <a:ext cx="10972800" cy="109728"/>
          </a:xfrm>
          <a:prstGeom prst="rect">
            <a:avLst/>
          </a:prstGeom>
          <a:noFill/>
        </p:spPr>
        <p:txBody>
          <a:bodyPr wrap="square">
            <a:spAutoFit/>
          </a:bodyPr>
          <a:lstStyle/>
          <a:p>
            <a:pPr algn="ctr"/>
            <a:r>
              <a:rPr sz="750" b="1" i="0">
                <a:solidFill>
                  <a:srgbClr val="2B8A6E"/>
                </a:solidFill>
                <a:latin typeface="Calibri"/>
              </a:rPr>
              <a:t>EXPAND:  Core  →  + Industry Protocol Pack  →  + Compound Engine  →  + Enterprise Deployment  →  Multi-Year Contract</a:t>
            </a:r>
          </a:p>
        </p:txBody>
      </p:sp>
      <p:sp>
        <p:nvSpPr>
          <p:cNvPr id="41" name="TextBox 40"/>
          <p:cNvSpPr txBox="1"/>
          <p:nvPr/>
        </p:nvSpPr>
        <p:spPr>
          <a:xfrm>
            <a:off x="438912" y="6126480"/>
            <a:ext cx="11320272" cy="201168"/>
          </a:xfrm>
          <a:prstGeom prst="rect">
            <a:avLst/>
          </a:prstGeom>
          <a:noFill/>
        </p:spPr>
        <p:txBody>
          <a:bodyPr wrap="square">
            <a:spAutoFit/>
          </a:bodyPr>
          <a:lstStyle/>
          <a:p>
            <a:pPr algn="l"/>
            <a:r>
              <a:rPr sz="750" b="1" i="0">
                <a:solidFill>
                  <a:srgbClr val="C9A84C"/>
                </a:solidFill>
                <a:latin typeface="Calibri"/>
              </a:rPr>
              <a:t>── UNIT ECONOMICS ──</a:t>
            </a:r>
          </a:p>
        </p:txBody>
      </p:sp>
      <p:sp>
        <p:nvSpPr>
          <p:cNvPr id="42" name="TextBox 41"/>
          <p:cNvSpPr txBox="1"/>
          <p:nvPr/>
        </p:nvSpPr>
        <p:spPr>
          <a:xfrm>
            <a:off x="438912" y="6144768"/>
            <a:ext cx="2651760" cy="530352"/>
          </a:xfrm>
          <a:prstGeom prst="rect">
            <a:avLst/>
          </a:prstGeom>
          <a:noFill/>
        </p:spPr>
        <p:txBody>
          <a:bodyPr wrap="square">
            <a:spAutoFit/>
          </a:bodyPr>
          <a:lstStyle/>
          <a:p>
            <a:pPr algn="ctr"/>
            <a:r>
              <a:rPr sz="1400" b="1" i="0">
                <a:solidFill>
                  <a:srgbClr val="C9A84C"/>
                </a:solidFill>
                <a:latin typeface="Georgia"/>
              </a:rPr>
              <a:t>$120K</a:t>
            </a:r>
          </a:p>
        </p:txBody>
      </p:sp>
      <p:sp>
        <p:nvSpPr>
          <p:cNvPr id="43" name="TextBox 42"/>
          <p:cNvSpPr txBox="1"/>
          <p:nvPr/>
        </p:nvSpPr>
        <p:spPr>
          <a:xfrm>
            <a:off x="438912" y="6638544"/>
            <a:ext cx="2651760" cy="237744"/>
          </a:xfrm>
          <a:prstGeom prst="rect">
            <a:avLst/>
          </a:prstGeom>
          <a:noFill/>
        </p:spPr>
        <p:txBody>
          <a:bodyPr wrap="square">
            <a:spAutoFit/>
          </a:bodyPr>
          <a:lstStyle/>
          <a:p>
            <a:pPr algn="ctr"/>
            <a:r>
              <a:rPr sz="700" b="1" i="0">
                <a:solidFill>
                  <a:srgbClr val="AAB4CC"/>
                </a:solidFill>
                <a:latin typeface="Calibri"/>
              </a:rPr>
              <a:t>Average ACV</a:t>
            </a:r>
          </a:p>
        </p:txBody>
      </p:sp>
      <p:sp>
        <p:nvSpPr>
          <p:cNvPr id="44" name="TextBox 43"/>
          <p:cNvSpPr txBox="1"/>
          <p:nvPr/>
        </p:nvSpPr>
        <p:spPr>
          <a:xfrm>
            <a:off x="3273552" y="6144768"/>
            <a:ext cx="2651760" cy="530352"/>
          </a:xfrm>
          <a:prstGeom prst="rect">
            <a:avLst/>
          </a:prstGeom>
          <a:noFill/>
        </p:spPr>
        <p:txBody>
          <a:bodyPr wrap="square">
            <a:spAutoFit/>
          </a:bodyPr>
          <a:lstStyle/>
          <a:p>
            <a:pPr algn="ctr"/>
            <a:r>
              <a:rPr sz="1400" b="1" i="0">
                <a:solidFill>
                  <a:srgbClr val="C9A84C"/>
                </a:solidFill>
                <a:latin typeface="Georgia"/>
              </a:rPr>
              <a:t>92%</a:t>
            </a:r>
          </a:p>
        </p:txBody>
      </p:sp>
      <p:sp>
        <p:nvSpPr>
          <p:cNvPr id="45" name="TextBox 44"/>
          <p:cNvSpPr txBox="1"/>
          <p:nvPr/>
        </p:nvSpPr>
        <p:spPr>
          <a:xfrm>
            <a:off x="3273552" y="6638544"/>
            <a:ext cx="2651760" cy="237744"/>
          </a:xfrm>
          <a:prstGeom prst="rect">
            <a:avLst/>
          </a:prstGeom>
          <a:noFill/>
        </p:spPr>
        <p:txBody>
          <a:bodyPr wrap="square">
            <a:spAutoFit/>
          </a:bodyPr>
          <a:lstStyle/>
          <a:p>
            <a:pPr algn="ctr"/>
            <a:r>
              <a:rPr sz="700" b="1" i="0">
                <a:solidFill>
                  <a:srgbClr val="AAB4CC"/>
                </a:solidFill>
                <a:latin typeface="Calibri"/>
              </a:rPr>
              <a:t>Target Gross Margin</a:t>
            </a:r>
          </a:p>
        </p:txBody>
      </p:sp>
      <p:sp>
        <p:nvSpPr>
          <p:cNvPr id="46" name="TextBox 45"/>
          <p:cNvSpPr txBox="1"/>
          <p:nvPr/>
        </p:nvSpPr>
        <p:spPr>
          <a:xfrm>
            <a:off x="6108192" y="6144768"/>
            <a:ext cx="2651760" cy="530352"/>
          </a:xfrm>
          <a:prstGeom prst="rect">
            <a:avLst/>
          </a:prstGeom>
          <a:noFill/>
        </p:spPr>
        <p:txBody>
          <a:bodyPr wrap="square">
            <a:spAutoFit/>
          </a:bodyPr>
          <a:lstStyle/>
          <a:p>
            <a:pPr algn="ctr"/>
            <a:r>
              <a:rPr sz="1400" b="1" i="0">
                <a:solidFill>
                  <a:srgbClr val="C9A84C"/>
                </a:solidFill>
                <a:latin typeface="Georgia"/>
              </a:rPr>
              <a:t>&lt;6 Months</a:t>
            </a:r>
          </a:p>
        </p:txBody>
      </p:sp>
      <p:sp>
        <p:nvSpPr>
          <p:cNvPr id="47" name="TextBox 46"/>
          <p:cNvSpPr txBox="1"/>
          <p:nvPr/>
        </p:nvSpPr>
        <p:spPr>
          <a:xfrm>
            <a:off x="6108192" y="6638544"/>
            <a:ext cx="2651760" cy="237744"/>
          </a:xfrm>
          <a:prstGeom prst="rect">
            <a:avLst/>
          </a:prstGeom>
          <a:noFill/>
        </p:spPr>
        <p:txBody>
          <a:bodyPr wrap="square">
            <a:spAutoFit/>
          </a:bodyPr>
          <a:lstStyle/>
          <a:p>
            <a:pPr algn="ctr"/>
            <a:r>
              <a:rPr sz="700" b="1" i="0">
                <a:solidFill>
                  <a:srgbClr val="AAB4CC"/>
                </a:solidFill>
                <a:latin typeface="Calibri"/>
              </a:rPr>
              <a:t>Implementation</a:t>
            </a:r>
          </a:p>
        </p:txBody>
      </p:sp>
      <p:sp>
        <p:nvSpPr>
          <p:cNvPr id="48" name="TextBox 47"/>
          <p:cNvSpPr txBox="1"/>
          <p:nvPr/>
        </p:nvSpPr>
        <p:spPr>
          <a:xfrm>
            <a:off x="8942832" y="6144768"/>
            <a:ext cx="2651760" cy="530352"/>
          </a:xfrm>
          <a:prstGeom prst="rect">
            <a:avLst/>
          </a:prstGeom>
          <a:noFill/>
        </p:spPr>
        <p:txBody>
          <a:bodyPr wrap="square">
            <a:spAutoFit/>
          </a:bodyPr>
          <a:lstStyle/>
          <a:p>
            <a:pPr algn="ctr"/>
            <a:r>
              <a:rPr sz="1400" b="1" i="0">
                <a:solidFill>
                  <a:srgbClr val="C9A84C"/>
                </a:solidFill>
                <a:latin typeface="Georgia"/>
              </a:rPr>
              <a:t>18 Months</a:t>
            </a:r>
          </a:p>
        </p:txBody>
      </p:sp>
      <p:sp>
        <p:nvSpPr>
          <p:cNvPr id="49" name="TextBox 48"/>
          <p:cNvSpPr txBox="1"/>
          <p:nvPr/>
        </p:nvSpPr>
        <p:spPr>
          <a:xfrm>
            <a:off x="8942832" y="6638544"/>
            <a:ext cx="2651760" cy="237744"/>
          </a:xfrm>
          <a:prstGeom prst="rect">
            <a:avLst/>
          </a:prstGeom>
          <a:noFill/>
        </p:spPr>
        <p:txBody>
          <a:bodyPr wrap="square">
            <a:spAutoFit/>
          </a:bodyPr>
          <a:lstStyle/>
          <a:p>
            <a:pPr algn="ctr"/>
            <a:r>
              <a:rPr sz="700" b="1" i="0">
                <a:solidFill>
                  <a:srgbClr val="AAB4CC"/>
                </a:solidFill>
                <a:latin typeface="Calibri"/>
              </a:rPr>
              <a:t>Payback Period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13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PROOF — THE PRODUCT IS LIVE NOW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You Can Run the Product</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Right Now. No Login Required.</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Not a prototype. Not a roadmap. A live operating system with 12 full scenarios demonstrable on demand — before, during, or after this meeting.</a:t>
            </a:r>
          </a:p>
        </p:txBody>
      </p:sp>
      <p:sp>
        <p:nvSpPr>
          <p:cNvPr id="13" name="Rectangle 12"/>
          <p:cNvSpPr/>
          <p:nvPr/>
        </p:nvSpPr>
        <p:spPr>
          <a:xfrm>
            <a:off x="438912" y="2157984"/>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267712"/>
            <a:ext cx="5340096" cy="237744"/>
          </a:xfrm>
          <a:prstGeom prst="rect">
            <a:avLst/>
          </a:prstGeom>
          <a:noFill/>
        </p:spPr>
        <p:txBody>
          <a:bodyPr wrap="square">
            <a:spAutoFit/>
          </a:bodyPr>
          <a:lstStyle/>
          <a:p>
            <a:pPr algn="l"/>
            <a:r>
              <a:rPr sz="900" b="1" i="0">
                <a:solidFill>
                  <a:srgbClr val="2B8A6E"/>
                </a:solidFill>
                <a:latin typeface="Calibri"/>
              </a:rPr>
              <a:t>12-MINUTE TEST DRIVE</a:t>
            </a:r>
          </a:p>
        </p:txBody>
      </p:sp>
      <p:sp>
        <p:nvSpPr>
          <p:cNvPr id="15" name="TextBox 14"/>
          <p:cNvSpPr txBox="1"/>
          <p:nvPr/>
        </p:nvSpPr>
        <p:spPr>
          <a:xfrm>
            <a:off x="566928" y="2523744"/>
            <a:ext cx="5340096" cy="201168"/>
          </a:xfrm>
          <a:prstGeom prst="rect">
            <a:avLst/>
          </a:prstGeom>
          <a:noFill/>
        </p:spPr>
        <p:txBody>
          <a:bodyPr wrap="square">
            <a:spAutoFit/>
          </a:bodyPr>
          <a:lstStyle/>
          <a:p>
            <a:pPr algn="l"/>
            <a:r>
              <a:rPr sz="750" b="0" i="1">
                <a:solidFill>
                  <a:srgbClr val="5588CC"/>
                </a:solidFill>
                <a:latin typeface="Calibri"/>
              </a:rPr>
              <a:t>/12-minute-experience</a:t>
            </a:r>
          </a:p>
        </p:txBody>
      </p:sp>
      <p:sp>
        <p:nvSpPr>
          <p:cNvPr id="16" name="TextBox 15"/>
          <p:cNvSpPr txBox="1"/>
          <p:nvPr/>
        </p:nvSpPr>
        <p:spPr>
          <a:xfrm>
            <a:off x="566928" y="2724912"/>
            <a:ext cx="5340096" cy="749808"/>
          </a:xfrm>
          <a:prstGeom prst="rect">
            <a:avLst/>
          </a:prstGeom>
          <a:noFill/>
        </p:spPr>
        <p:txBody>
          <a:bodyPr wrap="square">
            <a:spAutoFit/>
          </a:bodyPr>
          <a:lstStyle/>
          <a:p>
            <a:pPr algn="l"/>
            <a:r>
              <a:rPr sz="850" b="0" i="0">
                <a:solidFill>
                  <a:srgbClr val="AAB4CC"/>
                </a:solidFill>
                <a:latin typeface="Calibri"/>
              </a:rPr>
              <a:t>7 live scenarios. No login. No demo call. Run a full Activist Investor or Ransomware response from signal to executive authorization in 12 minutes. Available right now.</a:t>
            </a:r>
          </a:p>
        </p:txBody>
      </p:sp>
      <p:sp>
        <p:nvSpPr>
          <p:cNvPr id="17" name="Rectangle 16"/>
          <p:cNvSpPr/>
          <p:nvPr/>
        </p:nvSpPr>
        <p:spPr>
          <a:xfrm>
            <a:off x="438912" y="363931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694176"/>
            <a:ext cx="5340096" cy="274320"/>
          </a:xfrm>
          <a:prstGeom prst="rect">
            <a:avLst/>
          </a:prstGeom>
          <a:noFill/>
        </p:spPr>
        <p:txBody>
          <a:bodyPr wrap="square">
            <a:spAutoFit/>
          </a:bodyPr>
          <a:lstStyle/>
          <a:p>
            <a:pPr algn="l"/>
            <a:r>
              <a:rPr sz="750" b="1" i="0">
                <a:solidFill>
                  <a:srgbClr val="2B8A6E"/>
                </a:solidFill>
                <a:latin typeface="Calibri"/>
              </a:rPr>
              <a:t>7 SCENARIOS  ·  6 SINGLE-DOMAIN  +  1 COMPOUND</a:t>
            </a:r>
          </a:p>
        </p:txBody>
      </p:sp>
      <p:sp>
        <p:nvSpPr>
          <p:cNvPr id="19" name="Rectangle 18"/>
          <p:cNvSpPr/>
          <p:nvPr/>
        </p:nvSpPr>
        <p:spPr>
          <a:xfrm>
            <a:off x="6327648" y="2157984"/>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5664" y="2267712"/>
            <a:ext cx="5340096" cy="237744"/>
          </a:xfrm>
          <a:prstGeom prst="rect">
            <a:avLst/>
          </a:prstGeom>
          <a:noFill/>
        </p:spPr>
        <p:txBody>
          <a:bodyPr wrap="square">
            <a:spAutoFit/>
          </a:bodyPr>
          <a:lstStyle/>
          <a:p>
            <a:pPr algn="l"/>
            <a:r>
              <a:rPr sz="900" b="1" i="0">
                <a:solidFill>
                  <a:srgbClr val="C9A84C"/>
                </a:solidFill>
                <a:latin typeface="Calibri"/>
              </a:rPr>
              <a:t>DEMO EXPERIENCE CENTER</a:t>
            </a:r>
          </a:p>
        </p:txBody>
      </p:sp>
      <p:sp>
        <p:nvSpPr>
          <p:cNvPr id="21" name="TextBox 20"/>
          <p:cNvSpPr txBox="1"/>
          <p:nvPr/>
        </p:nvSpPr>
        <p:spPr>
          <a:xfrm>
            <a:off x="6455664" y="2523744"/>
            <a:ext cx="5340096" cy="201168"/>
          </a:xfrm>
          <a:prstGeom prst="rect">
            <a:avLst/>
          </a:prstGeom>
          <a:noFill/>
        </p:spPr>
        <p:txBody>
          <a:bodyPr wrap="square">
            <a:spAutoFit/>
          </a:bodyPr>
          <a:lstStyle/>
          <a:p>
            <a:pPr algn="l"/>
            <a:r>
              <a:rPr sz="750" b="0" i="1">
                <a:solidFill>
                  <a:srgbClr val="5588CC"/>
                </a:solidFill>
                <a:latin typeface="Calibri"/>
              </a:rPr>
              <a:t>/demo-hub</a:t>
            </a:r>
          </a:p>
        </p:txBody>
      </p:sp>
      <p:sp>
        <p:nvSpPr>
          <p:cNvPr id="22" name="TextBox 21"/>
          <p:cNvSpPr txBox="1"/>
          <p:nvPr/>
        </p:nvSpPr>
        <p:spPr>
          <a:xfrm>
            <a:off x="6455664" y="2724912"/>
            <a:ext cx="5340096" cy="749808"/>
          </a:xfrm>
          <a:prstGeom prst="rect">
            <a:avLst/>
          </a:prstGeom>
          <a:noFill/>
        </p:spPr>
        <p:txBody>
          <a:bodyPr wrap="square">
            <a:spAutoFit/>
          </a:bodyPr>
          <a:lstStyle/>
          <a:p>
            <a:pPr algn="l"/>
            <a:r>
              <a:rPr sz="850" b="0" i="0">
                <a:solidFill>
                  <a:srgbClr val="AAB4CC"/>
                </a:solidFill>
                <a:latin typeface="Calibri"/>
              </a:rPr>
              <a:t>12 full scenario simulations across all 3 strategic domains. CEO, COO, and Risk Head walkthroughs. Industry-specific: Pharma, Financial Services, Manufacturing, Retail, Energy.</a:t>
            </a:r>
          </a:p>
        </p:txBody>
      </p:sp>
      <p:sp>
        <p:nvSpPr>
          <p:cNvPr id="23" name="Rectangle 22"/>
          <p:cNvSpPr/>
          <p:nvPr/>
        </p:nvSpPr>
        <p:spPr>
          <a:xfrm>
            <a:off x="6327648" y="363931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5664" y="3694176"/>
            <a:ext cx="5340096" cy="274320"/>
          </a:xfrm>
          <a:prstGeom prst="rect">
            <a:avLst/>
          </a:prstGeom>
          <a:noFill/>
        </p:spPr>
        <p:txBody>
          <a:bodyPr wrap="square">
            <a:spAutoFit/>
          </a:bodyPr>
          <a:lstStyle/>
          <a:p>
            <a:pPr algn="l"/>
            <a:r>
              <a:rPr sz="750" b="1" i="0">
                <a:solidFill>
                  <a:srgbClr val="C9A84C"/>
                </a:solidFill>
                <a:latin typeface="Calibri"/>
              </a:rPr>
              <a:t>12 FULL SIMULATIONS  ·  ALL 3 DOMAINS  ·  LIVE</a:t>
            </a:r>
          </a:p>
        </p:txBody>
      </p:sp>
      <p:sp>
        <p:nvSpPr>
          <p:cNvPr id="25" name="Rectangle 24"/>
          <p:cNvSpPr/>
          <p:nvPr/>
        </p:nvSpPr>
        <p:spPr>
          <a:xfrm>
            <a:off x="438912" y="4169664"/>
            <a:ext cx="5596128" cy="190195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279392"/>
            <a:ext cx="5340096" cy="237744"/>
          </a:xfrm>
          <a:prstGeom prst="rect">
            <a:avLst/>
          </a:prstGeom>
          <a:noFill/>
        </p:spPr>
        <p:txBody>
          <a:bodyPr wrap="square">
            <a:spAutoFit/>
          </a:bodyPr>
          <a:lstStyle/>
          <a:p>
            <a:pPr algn="l"/>
            <a:r>
              <a:rPr sz="900" b="1" i="0">
                <a:solidFill>
                  <a:srgbClr val="FFFFFF"/>
                </a:solidFill>
                <a:latin typeface="Calibri"/>
              </a:rPr>
              <a:t>MASTER DEMO</a:t>
            </a:r>
          </a:p>
        </p:txBody>
      </p:sp>
      <p:sp>
        <p:nvSpPr>
          <p:cNvPr id="27" name="TextBox 26"/>
          <p:cNvSpPr txBox="1"/>
          <p:nvPr/>
        </p:nvSpPr>
        <p:spPr>
          <a:xfrm>
            <a:off x="566928" y="4535424"/>
            <a:ext cx="5340096" cy="201168"/>
          </a:xfrm>
          <a:prstGeom prst="rect">
            <a:avLst/>
          </a:prstGeom>
          <a:noFill/>
        </p:spPr>
        <p:txBody>
          <a:bodyPr wrap="square">
            <a:spAutoFit/>
          </a:bodyPr>
          <a:lstStyle/>
          <a:p>
            <a:pPr algn="l"/>
            <a:r>
              <a:rPr sz="750" b="0" i="1">
                <a:solidFill>
                  <a:srgbClr val="5588CC"/>
                </a:solidFill>
                <a:latin typeface="Calibri"/>
              </a:rPr>
              <a:t>/master-demo</a:t>
            </a:r>
          </a:p>
        </p:txBody>
      </p:sp>
      <p:sp>
        <p:nvSpPr>
          <p:cNvPr id="28" name="TextBox 27"/>
          <p:cNvSpPr txBox="1"/>
          <p:nvPr/>
        </p:nvSpPr>
        <p:spPr>
          <a:xfrm>
            <a:off x="566928" y="4736592"/>
            <a:ext cx="5340096" cy="749808"/>
          </a:xfrm>
          <a:prstGeom prst="rect">
            <a:avLst/>
          </a:prstGeom>
          <a:noFill/>
        </p:spPr>
        <p:txBody>
          <a:bodyPr wrap="square">
            <a:spAutoFit/>
          </a:bodyPr>
          <a:lstStyle/>
          <a:p>
            <a:pPr algn="l"/>
            <a:r>
              <a:rPr sz="850" b="0" i="0">
                <a:solidFill>
                  <a:srgbClr val="AAB4CC"/>
                </a:solidFill>
                <a:latin typeface="Calibri"/>
              </a:rPr>
              <a:t>Complete 7-phase Activist Investor walkthrough. Signal detection through post-activation debrief. Every platform layer demonstrated in one continuous execution sequence.</a:t>
            </a:r>
          </a:p>
        </p:txBody>
      </p:sp>
      <p:sp>
        <p:nvSpPr>
          <p:cNvPr id="29" name="Rectangle 28"/>
          <p:cNvSpPr/>
          <p:nvPr/>
        </p:nvSpPr>
        <p:spPr>
          <a:xfrm>
            <a:off x="438912" y="565099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5705856"/>
            <a:ext cx="5340096" cy="274320"/>
          </a:xfrm>
          <a:prstGeom prst="rect">
            <a:avLst/>
          </a:prstGeom>
          <a:noFill/>
        </p:spPr>
        <p:txBody>
          <a:bodyPr wrap="square">
            <a:spAutoFit/>
          </a:bodyPr>
          <a:lstStyle/>
          <a:p>
            <a:pPr algn="l"/>
            <a:r>
              <a:rPr sz="750" b="1" i="0">
                <a:solidFill>
                  <a:srgbClr val="FFFFFF"/>
                </a:solidFill>
                <a:latin typeface="Calibri"/>
              </a:rPr>
              <a:t>7-PHASE WALKTHROUGH  ·  FULL PLATFORM DEPTH</a:t>
            </a:r>
          </a:p>
        </p:txBody>
      </p:sp>
      <p:sp>
        <p:nvSpPr>
          <p:cNvPr id="31" name="Rectangle 30"/>
          <p:cNvSpPr/>
          <p:nvPr/>
        </p:nvSpPr>
        <p:spPr>
          <a:xfrm>
            <a:off x="6327648" y="4169664"/>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5664" y="4279392"/>
            <a:ext cx="5340096" cy="237744"/>
          </a:xfrm>
          <a:prstGeom prst="rect">
            <a:avLst/>
          </a:prstGeom>
          <a:noFill/>
        </p:spPr>
        <p:txBody>
          <a:bodyPr wrap="square">
            <a:spAutoFit/>
          </a:bodyPr>
          <a:lstStyle/>
          <a:p>
            <a:pPr algn="l"/>
            <a:r>
              <a:rPr sz="900" b="1" i="0">
                <a:solidFill>
                  <a:srgbClr val="2B8A6E"/>
                </a:solidFill>
                <a:latin typeface="Calibri"/>
              </a:rPr>
              <a:t>SHADOW STRATEGY SIMULATOR</a:t>
            </a:r>
          </a:p>
        </p:txBody>
      </p:sp>
      <p:sp>
        <p:nvSpPr>
          <p:cNvPr id="33" name="TextBox 32"/>
          <p:cNvSpPr txBox="1"/>
          <p:nvPr/>
        </p:nvSpPr>
        <p:spPr>
          <a:xfrm>
            <a:off x="6455664" y="4535424"/>
            <a:ext cx="5340096" cy="201168"/>
          </a:xfrm>
          <a:prstGeom prst="rect">
            <a:avLst/>
          </a:prstGeom>
          <a:noFill/>
        </p:spPr>
        <p:txBody>
          <a:bodyPr wrap="square">
            <a:spAutoFit/>
          </a:bodyPr>
          <a:lstStyle/>
          <a:p>
            <a:pPr algn="l"/>
            <a:r>
              <a:rPr sz="750" b="0" i="1">
                <a:solidFill>
                  <a:srgbClr val="5588CC"/>
                </a:solidFill>
                <a:latin typeface="Calibri"/>
              </a:rPr>
              <a:t>/simulation-studio</a:t>
            </a:r>
          </a:p>
        </p:txBody>
      </p:sp>
      <p:sp>
        <p:nvSpPr>
          <p:cNvPr id="34" name="TextBox 33"/>
          <p:cNvSpPr txBox="1"/>
          <p:nvPr/>
        </p:nvSpPr>
        <p:spPr>
          <a:xfrm>
            <a:off x="6455664" y="4736592"/>
            <a:ext cx="5340096" cy="749808"/>
          </a:xfrm>
          <a:prstGeom prst="rect">
            <a:avLst/>
          </a:prstGeom>
          <a:noFill/>
        </p:spPr>
        <p:txBody>
          <a:bodyPr wrap="square">
            <a:spAutoFit/>
          </a:bodyPr>
          <a:lstStyle/>
          <a:p>
            <a:pPr algn="l"/>
            <a:r>
              <a:rPr sz="850" b="0" i="0">
                <a:solidFill>
                  <a:srgbClr val="AAB4CC"/>
                </a:solidFill>
                <a:latin typeface="Calibri"/>
              </a:rPr>
              <a:t>Digital twin — run any scenario without real execution. Test protocol response, stakeholder coverage, and execution timing before a real trigger fires. Zero risk.</a:t>
            </a:r>
          </a:p>
        </p:txBody>
      </p:sp>
      <p:sp>
        <p:nvSpPr>
          <p:cNvPr id="35" name="Rectangle 34"/>
          <p:cNvSpPr/>
          <p:nvPr/>
        </p:nvSpPr>
        <p:spPr>
          <a:xfrm>
            <a:off x="6327648" y="565099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5664" y="5705856"/>
            <a:ext cx="5340096" cy="274320"/>
          </a:xfrm>
          <a:prstGeom prst="rect">
            <a:avLst/>
          </a:prstGeom>
          <a:noFill/>
        </p:spPr>
        <p:txBody>
          <a:bodyPr wrap="square">
            <a:spAutoFit/>
          </a:bodyPr>
          <a:lstStyle/>
          <a:p>
            <a:pPr algn="l"/>
            <a:r>
              <a:rPr sz="750" b="1" i="0">
                <a:solidFill>
                  <a:srgbClr val="2B8A6E"/>
                </a:solidFill>
                <a:latin typeface="Calibri"/>
              </a:rPr>
              <a:t>SIMULATION  ·  NO REAL ACTIVATION REQUIRED</a:t>
            </a:r>
          </a:p>
        </p:txBody>
      </p:sp>
      <p:sp>
        <p:nvSpPr>
          <p:cNvPr id="37" name="Rectangle 36"/>
          <p:cNvSpPr/>
          <p:nvPr/>
        </p:nvSpPr>
        <p:spPr>
          <a:xfrm>
            <a:off x="6007608" y="2103120"/>
            <a:ext cx="18288" cy="411480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14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TRACTION &amp; TEAM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Built by Enterprise Operators.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Validated by Industry Leaders.</a:t>
            </a:r>
          </a:p>
        </p:txBody>
      </p:sp>
      <p:sp>
        <p:nvSpPr>
          <p:cNvPr id="12" name="Rectangle 11"/>
          <p:cNvSpPr/>
          <p:nvPr/>
        </p:nvSpPr>
        <p:spPr>
          <a:xfrm>
            <a:off x="438912" y="1792224"/>
            <a:ext cx="2670048" cy="1316736"/>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865376"/>
            <a:ext cx="2487168" cy="658368"/>
          </a:xfrm>
          <a:prstGeom prst="rect">
            <a:avLst/>
          </a:prstGeom>
          <a:noFill/>
        </p:spPr>
        <p:txBody>
          <a:bodyPr wrap="square">
            <a:spAutoFit/>
          </a:bodyPr>
          <a:lstStyle/>
          <a:p>
            <a:pPr algn="ctr"/>
            <a:r>
              <a:rPr sz="4000" b="1" i="0">
                <a:solidFill>
                  <a:srgbClr val="C9A84C"/>
                </a:solidFill>
                <a:latin typeface="Georgia"/>
              </a:rPr>
              <a:t>170</a:t>
            </a:r>
          </a:p>
        </p:txBody>
      </p:sp>
      <p:sp>
        <p:nvSpPr>
          <p:cNvPr id="14" name="TextBox 13"/>
          <p:cNvSpPr txBox="1"/>
          <p:nvPr/>
        </p:nvSpPr>
        <p:spPr>
          <a:xfrm>
            <a:off x="530352" y="2560320"/>
            <a:ext cx="2487168" cy="457200"/>
          </a:xfrm>
          <a:prstGeom prst="rect">
            <a:avLst/>
          </a:prstGeom>
          <a:noFill/>
        </p:spPr>
        <p:txBody>
          <a:bodyPr wrap="square">
            <a:spAutoFit/>
          </a:bodyPr>
          <a:lstStyle/>
          <a:p>
            <a:pPr algn="ctr"/>
            <a:r>
              <a:rPr sz="750" b="1" i="0">
                <a:solidFill>
                  <a:srgbClr val="AAB4CC"/>
                </a:solidFill>
                <a:latin typeface="Calibri"/>
              </a:rPr>
              <a:t>READINESS PROTOCOLS
Fully built and staged</a:t>
            </a:r>
          </a:p>
        </p:txBody>
      </p:sp>
      <p:sp>
        <p:nvSpPr>
          <p:cNvPr id="15" name="Rectangle 14"/>
          <p:cNvSpPr/>
          <p:nvPr/>
        </p:nvSpPr>
        <p:spPr>
          <a:xfrm>
            <a:off x="3273552" y="1792224"/>
            <a:ext cx="2670048" cy="1316736"/>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1865376"/>
            <a:ext cx="2487168" cy="658368"/>
          </a:xfrm>
          <a:prstGeom prst="rect">
            <a:avLst/>
          </a:prstGeom>
          <a:noFill/>
        </p:spPr>
        <p:txBody>
          <a:bodyPr wrap="square">
            <a:spAutoFit/>
          </a:bodyPr>
          <a:lstStyle/>
          <a:p>
            <a:pPr algn="ctr"/>
            <a:r>
              <a:rPr sz="4000" b="1" i="0">
                <a:solidFill>
                  <a:srgbClr val="2B8A6E"/>
                </a:solidFill>
                <a:latin typeface="Georgia"/>
              </a:rPr>
              <a:t>221</a:t>
            </a:r>
          </a:p>
        </p:txBody>
      </p:sp>
      <p:sp>
        <p:nvSpPr>
          <p:cNvPr id="17" name="TextBox 16"/>
          <p:cNvSpPr txBox="1"/>
          <p:nvPr/>
        </p:nvSpPr>
        <p:spPr>
          <a:xfrm>
            <a:off x="3364992" y="2560320"/>
            <a:ext cx="2487168" cy="457200"/>
          </a:xfrm>
          <a:prstGeom prst="rect">
            <a:avLst/>
          </a:prstGeom>
          <a:noFill/>
        </p:spPr>
        <p:txBody>
          <a:bodyPr wrap="square">
            <a:spAutoFit/>
          </a:bodyPr>
          <a:lstStyle/>
          <a:p>
            <a:pPr algn="ctr"/>
            <a:r>
              <a:rPr sz="750" b="1" i="0">
                <a:solidFill>
                  <a:srgbClr val="AAB4CC"/>
                </a:solidFill>
                <a:latin typeface="Calibri"/>
              </a:rPr>
              <a:t>STRATEGIC TRIGGERS
Mapped and scored</a:t>
            </a:r>
          </a:p>
        </p:txBody>
      </p:sp>
      <p:sp>
        <p:nvSpPr>
          <p:cNvPr id="18" name="Rectangle 17"/>
          <p:cNvSpPr/>
          <p:nvPr/>
        </p:nvSpPr>
        <p:spPr>
          <a:xfrm>
            <a:off x="6108192" y="1792224"/>
            <a:ext cx="2670048" cy="1316736"/>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1" y="1865376"/>
            <a:ext cx="2487168" cy="658368"/>
          </a:xfrm>
          <a:prstGeom prst="rect">
            <a:avLst/>
          </a:prstGeom>
          <a:noFill/>
        </p:spPr>
        <p:txBody>
          <a:bodyPr wrap="square">
            <a:spAutoFit/>
          </a:bodyPr>
          <a:lstStyle/>
          <a:p>
            <a:pPr algn="ctr"/>
            <a:r>
              <a:rPr sz="4000" b="1" i="0">
                <a:solidFill>
                  <a:srgbClr val="C9A84C"/>
                </a:solidFill>
                <a:latin typeface="Georgia"/>
              </a:rPr>
              <a:t>12</a:t>
            </a:r>
          </a:p>
        </p:txBody>
      </p:sp>
      <p:sp>
        <p:nvSpPr>
          <p:cNvPr id="20" name="TextBox 19"/>
          <p:cNvSpPr txBox="1"/>
          <p:nvPr/>
        </p:nvSpPr>
        <p:spPr>
          <a:xfrm>
            <a:off x="6199631" y="2560320"/>
            <a:ext cx="2487168" cy="457200"/>
          </a:xfrm>
          <a:prstGeom prst="rect">
            <a:avLst/>
          </a:prstGeom>
          <a:noFill/>
        </p:spPr>
        <p:txBody>
          <a:bodyPr wrap="square">
            <a:spAutoFit/>
          </a:bodyPr>
          <a:lstStyle/>
          <a:p>
            <a:pPr algn="ctr"/>
            <a:r>
              <a:rPr sz="750" b="1" i="0">
                <a:solidFill>
                  <a:srgbClr val="AAB4CC"/>
                </a:solidFill>
                <a:latin typeface="Calibri"/>
              </a:rPr>
              <a:t>LIVE DEMO SCENARIOS
Runnable on demand</a:t>
            </a:r>
          </a:p>
        </p:txBody>
      </p:sp>
      <p:sp>
        <p:nvSpPr>
          <p:cNvPr id="21" name="Rectangle 20"/>
          <p:cNvSpPr/>
          <p:nvPr/>
        </p:nvSpPr>
        <p:spPr>
          <a:xfrm>
            <a:off x="8942832" y="1792224"/>
            <a:ext cx="2670048" cy="1316736"/>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34272" y="1865376"/>
            <a:ext cx="2487168" cy="658368"/>
          </a:xfrm>
          <a:prstGeom prst="rect">
            <a:avLst/>
          </a:prstGeom>
          <a:noFill/>
        </p:spPr>
        <p:txBody>
          <a:bodyPr wrap="square">
            <a:spAutoFit/>
          </a:bodyPr>
          <a:lstStyle/>
          <a:p>
            <a:pPr algn="ctr"/>
            <a:r>
              <a:rPr sz="4000" b="1" i="0">
                <a:solidFill>
                  <a:srgbClr val="2B8A6E"/>
                </a:solidFill>
                <a:latin typeface="Georgia"/>
              </a:rPr>
              <a:t>14</a:t>
            </a:r>
          </a:p>
        </p:txBody>
      </p:sp>
      <p:sp>
        <p:nvSpPr>
          <p:cNvPr id="23" name="TextBox 22"/>
          <p:cNvSpPr txBox="1"/>
          <p:nvPr/>
        </p:nvSpPr>
        <p:spPr>
          <a:xfrm>
            <a:off x="9034272" y="2560320"/>
            <a:ext cx="2487168" cy="457200"/>
          </a:xfrm>
          <a:prstGeom prst="rect">
            <a:avLst/>
          </a:prstGeom>
          <a:noFill/>
        </p:spPr>
        <p:txBody>
          <a:bodyPr wrap="square">
            <a:spAutoFit/>
          </a:bodyPr>
          <a:lstStyle/>
          <a:p>
            <a:pPr algn="ctr"/>
            <a:r>
              <a:rPr sz="750" b="1" i="0">
                <a:solidFill>
                  <a:srgbClr val="AAB4CC"/>
                </a:solidFill>
                <a:latin typeface="Calibri"/>
              </a:rPr>
              <a:t>PLATFORM MODULES
Fully operational</a:t>
            </a:r>
          </a:p>
        </p:txBody>
      </p:sp>
      <p:sp>
        <p:nvSpPr>
          <p:cNvPr id="24" name="Rectangle 23"/>
          <p:cNvSpPr/>
          <p:nvPr/>
        </p:nvSpPr>
        <p:spPr>
          <a:xfrm>
            <a:off x="438912" y="3273552"/>
            <a:ext cx="5413248" cy="28529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383280"/>
            <a:ext cx="5175504" cy="256032"/>
          </a:xfrm>
          <a:prstGeom prst="rect">
            <a:avLst/>
          </a:prstGeom>
          <a:noFill/>
        </p:spPr>
        <p:txBody>
          <a:bodyPr wrap="square">
            <a:spAutoFit/>
          </a:bodyPr>
          <a:lstStyle/>
          <a:p>
            <a:pPr algn="l"/>
            <a:r>
              <a:rPr sz="1000" b="1" i="0">
                <a:solidFill>
                  <a:srgbClr val="C9A84C"/>
                </a:solidFill>
                <a:latin typeface="Calibri"/>
              </a:rPr>
              <a:t>MARTY BRUNKE  —  Founder &amp; CEO</a:t>
            </a:r>
          </a:p>
        </p:txBody>
      </p:sp>
      <p:sp>
        <p:nvSpPr>
          <p:cNvPr id="26" name="TextBox 25"/>
          <p:cNvSpPr txBox="1"/>
          <p:nvPr/>
        </p:nvSpPr>
        <p:spPr>
          <a:xfrm>
            <a:off x="566928" y="3694176"/>
            <a:ext cx="5175504" cy="1133856"/>
          </a:xfrm>
          <a:prstGeom prst="rect">
            <a:avLst/>
          </a:prstGeom>
          <a:noFill/>
        </p:spPr>
        <p:txBody>
          <a:bodyPr wrap="square">
            <a:spAutoFit/>
          </a:bodyPr>
          <a:lstStyle/>
          <a:p>
            <a:pPr algn="l"/>
            <a:r>
              <a:rPr sz="900" b="0" i="0">
                <a:solidFill>
                  <a:srgbClr val="AAB4CC"/>
                </a:solidFill>
                <a:latin typeface="Calibri"/>
              </a:rPr>
              <a:t>Enterprise operator and systems architect. Built VaughnMartin from a singular insight: the enterprise mobilization cycle — not the crisis itself — is where organizations fail. The IDEA Framework and 170 Readiness Protocols are the result of mapping every strategic scenario an enterprise encounters and building the pre-staged response architecture before the trigger fires.</a:t>
            </a:r>
          </a:p>
        </p:txBody>
      </p:sp>
      <p:sp>
        <p:nvSpPr>
          <p:cNvPr id="27" name="TextBox 26"/>
          <p:cNvSpPr txBox="1"/>
          <p:nvPr/>
        </p:nvSpPr>
        <p:spPr>
          <a:xfrm>
            <a:off x="566928" y="4919472"/>
            <a:ext cx="5175504" cy="219456"/>
          </a:xfrm>
          <a:prstGeom prst="rect">
            <a:avLst/>
          </a:prstGeom>
          <a:noFill/>
        </p:spPr>
        <p:txBody>
          <a:bodyPr wrap="square">
            <a:spAutoFit/>
          </a:bodyPr>
          <a:lstStyle/>
          <a:p>
            <a:pPr algn="l"/>
            <a:r>
              <a:rPr sz="750" b="1" i="0">
                <a:solidFill>
                  <a:srgbClr val="2B8A6E"/>
                </a:solidFill>
                <a:latin typeface="Calibri"/>
              </a:rPr>
              <a:t>── FOUNDING PARTNER PROGRAM ──</a:t>
            </a:r>
          </a:p>
        </p:txBody>
      </p:sp>
      <p:sp>
        <p:nvSpPr>
          <p:cNvPr id="28" name="TextBox 27"/>
          <p:cNvSpPr txBox="1"/>
          <p:nvPr/>
        </p:nvSpPr>
        <p:spPr>
          <a:xfrm>
            <a:off x="566928" y="5175504"/>
            <a:ext cx="5175504" cy="512064"/>
          </a:xfrm>
          <a:prstGeom prst="rect">
            <a:avLst/>
          </a:prstGeom>
          <a:noFill/>
        </p:spPr>
        <p:txBody>
          <a:bodyPr wrap="square">
            <a:spAutoFit/>
          </a:bodyPr>
          <a:lstStyle/>
          <a:p>
            <a:pPr algn="l"/>
            <a:r>
              <a:rPr sz="900" b="0" i="0">
                <a:solidFill>
                  <a:srgbClr val="AAB4CC"/>
                </a:solidFill>
                <a:latin typeface="Calibri"/>
              </a:rPr>
              <a:t>90-day validation partnerships · Protocol customization · Quarterly executive reviews · Priority roadmap access</a:t>
            </a:r>
          </a:p>
        </p:txBody>
      </p:sp>
      <p:sp>
        <p:nvSpPr>
          <p:cNvPr id="29" name="Rectangle 28"/>
          <p:cNvSpPr/>
          <p:nvPr/>
        </p:nvSpPr>
        <p:spPr>
          <a:xfrm>
            <a:off x="6016752" y="3273552"/>
            <a:ext cx="5852160" cy="28529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3383280"/>
            <a:ext cx="5614416" cy="256032"/>
          </a:xfrm>
          <a:prstGeom prst="rect">
            <a:avLst/>
          </a:prstGeom>
          <a:noFill/>
        </p:spPr>
        <p:txBody>
          <a:bodyPr wrap="square">
            <a:spAutoFit/>
          </a:bodyPr>
          <a:lstStyle/>
          <a:p>
            <a:pPr algn="l"/>
            <a:r>
              <a:rPr sz="1000" b="1" i="0">
                <a:solidFill>
                  <a:srgbClr val="2B8A6E"/>
                </a:solidFill>
                <a:latin typeface="Calibri"/>
              </a:rPr>
              <a:t>DR. KERRY HUANG  —  Strategic Validation</a:t>
            </a:r>
          </a:p>
        </p:txBody>
      </p:sp>
      <p:sp>
        <p:nvSpPr>
          <p:cNvPr id="31" name="TextBox 30"/>
          <p:cNvSpPr txBox="1"/>
          <p:nvPr/>
        </p:nvSpPr>
        <p:spPr>
          <a:xfrm>
            <a:off x="6144768" y="3712463"/>
            <a:ext cx="5614416" cy="1042415"/>
          </a:xfrm>
          <a:prstGeom prst="rect">
            <a:avLst/>
          </a:prstGeom>
          <a:noFill/>
        </p:spPr>
        <p:txBody>
          <a:bodyPr wrap="square">
            <a:spAutoFit/>
          </a:bodyPr>
          <a:lstStyle/>
          <a:p>
            <a:pPr algn="l"/>
            <a:r>
              <a:rPr sz="950" b="0" i="1">
                <a:solidFill>
                  <a:srgbClr val="FFFFFF"/>
                </a:solidFill>
                <a:latin typeface="Georgia"/>
              </a:rPr>
              <a:t>"The Readiness OS framework addresses the most consistent failure mode in enterprise crisis response — the mobilization gap. The pre-staged protocol architecture is the correct structural solution to a problem that has cost enterprises billions in delayed response."</a:t>
            </a:r>
          </a:p>
        </p:txBody>
      </p:sp>
      <p:sp>
        <p:nvSpPr>
          <p:cNvPr id="32" name="TextBox 31"/>
          <p:cNvSpPr txBox="1"/>
          <p:nvPr/>
        </p:nvSpPr>
        <p:spPr>
          <a:xfrm>
            <a:off x="6144768" y="4864608"/>
            <a:ext cx="5614416" cy="219456"/>
          </a:xfrm>
          <a:prstGeom prst="rect">
            <a:avLst/>
          </a:prstGeom>
          <a:noFill/>
        </p:spPr>
        <p:txBody>
          <a:bodyPr wrap="square">
            <a:spAutoFit/>
          </a:bodyPr>
          <a:lstStyle/>
          <a:p>
            <a:pPr algn="l"/>
            <a:r>
              <a:rPr sz="750" b="1" i="0">
                <a:solidFill>
                  <a:srgbClr val="C9A84C"/>
                </a:solidFill>
                <a:latin typeface="Calibri"/>
              </a:rPr>
              <a:t>── PLATFORM VALIDATION ──</a:t>
            </a:r>
          </a:p>
        </p:txBody>
      </p:sp>
      <p:sp>
        <p:nvSpPr>
          <p:cNvPr id="33" name="TextBox 32"/>
          <p:cNvSpPr txBox="1"/>
          <p:nvPr/>
        </p:nvSpPr>
        <p:spPr>
          <a:xfrm>
            <a:off x="6144768" y="5120640"/>
            <a:ext cx="5614416" cy="274320"/>
          </a:xfrm>
          <a:prstGeom prst="rect">
            <a:avLst/>
          </a:prstGeom>
          <a:noFill/>
        </p:spPr>
        <p:txBody>
          <a:bodyPr wrap="square">
            <a:spAutoFit/>
          </a:bodyPr>
          <a:lstStyle/>
          <a:p>
            <a:pPr algn="l"/>
            <a:r>
              <a:rPr sz="850" b="0" i="0">
                <a:solidFill>
                  <a:srgbClr val="AAB4CC"/>
                </a:solidFill>
                <a:latin typeface="Calibri"/>
              </a:rPr>
              <a:t>✓  Live signal detection operational — 8 sources, real-time continuously</a:t>
            </a:r>
          </a:p>
        </p:txBody>
      </p:sp>
      <p:sp>
        <p:nvSpPr>
          <p:cNvPr id="34" name="TextBox 33"/>
          <p:cNvSpPr txBox="1"/>
          <p:nvPr/>
        </p:nvSpPr>
        <p:spPr>
          <a:xfrm>
            <a:off x="6144768" y="5431536"/>
            <a:ext cx="5614416" cy="274320"/>
          </a:xfrm>
          <a:prstGeom prst="rect">
            <a:avLst/>
          </a:prstGeom>
          <a:noFill/>
        </p:spPr>
        <p:txBody>
          <a:bodyPr wrap="square">
            <a:spAutoFit/>
          </a:bodyPr>
          <a:lstStyle/>
          <a:p>
            <a:pPr algn="l"/>
            <a:r>
              <a:rPr sz="850" b="0" i="0">
                <a:solidFill>
                  <a:srgbClr val="AAB4CC"/>
                </a:solidFill>
                <a:latin typeface="Calibri"/>
              </a:rPr>
              <a:t>✓  All 12 demo scenarios fully functional and demonstrable on demand</a:t>
            </a:r>
          </a:p>
        </p:txBody>
      </p:sp>
      <p:sp>
        <p:nvSpPr>
          <p:cNvPr id="35" name="TextBox 34"/>
          <p:cNvSpPr txBox="1"/>
          <p:nvPr/>
        </p:nvSpPr>
        <p:spPr>
          <a:xfrm>
            <a:off x="6144768" y="5742431"/>
            <a:ext cx="5614416" cy="274320"/>
          </a:xfrm>
          <a:prstGeom prst="rect">
            <a:avLst/>
          </a:prstGeom>
          <a:noFill/>
        </p:spPr>
        <p:txBody>
          <a:bodyPr wrap="square">
            <a:spAutoFit/>
          </a:bodyPr>
          <a:lstStyle/>
          <a:p>
            <a:pPr algn="l"/>
            <a:r>
              <a:rPr sz="850" b="0" i="0">
                <a:solidFill>
                  <a:srgbClr val="AAB4CC"/>
                </a:solidFill>
                <a:latin typeface="Calibri"/>
              </a:rPr>
              <a:t>✓  War Room, Command Tower, Debrief modules all live and operational</a:t>
            </a:r>
          </a:p>
        </p:txBody>
      </p:sp>
      <p:sp>
        <p:nvSpPr>
          <p:cNvPr id="36" name="TextBox 35"/>
          <p:cNvSpPr txBox="1"/>
          <p:nvPr/>
        </p:nvSpPr>
        <p:spPr>
          <a:xfrm>
            <a:off x="6144768" y="6053327"/>
            <a:ext cx="5614416" cy="274320"/>
          </a:xfrm>
          <a:prstGeom prst="rect">
            <a:avLst/>
          </a:prstGeom>
          <a:noFill/>
        </p:spPr>
        <p:txBody>
          <a:bodyPr wrap="square">
            <a:spAutoFit/>
          </a:bodyPr>
          <a:lstStyle/>
          <a:p>
            <a:pPr algn="l"/>
            <a:r>
              <a:rPr sz="850" b="0" i="0">
                <a:solidFill>
                  <a:srgbClr val="AAB4CC"/>
                </a:solidFill>
                <a:latin typeface="Calibri"/>
              </a:rPr>
              <a:t>✓  Executive Readiness Score calculating from live signals right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15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FINANCIAL PROJECTIONS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Conservative Path to Scale.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Founding Partners fund the proof. Enterprise funds the growth.</a:t>
            </a:r>
          </a:p>
        </p:txBody>
      </p:sp>
      <p:sp>
        <p:nvSpPr>
          <p:cNvPr id="12" name="Rectangle 11"/>
          <p:cNvSpPr/>
          <p:nvPr/>
        </p:nvSpPr>
        <p:spPr>
          <a:xfrm>
            <a:off x="438912" y="1993392"/>
            <a:ext cx="3675887" cy="4114800"/>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 y="1993392"/>
            <a:ext cx="3675887" cy="3108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29968"/>
            <a:ext cx="3419856" cy="237744"/>
          </a:xfrm>
          <a:prstGeom prst="rect">
            <a:avLst/>
          </a:prstGeom>
          <a:noFill/>
        </p:spPr>
        <p:txBody>
          <a:bodyPr wrap="square">
            <a:spAutoFit/>
          </a:bodyPr>
          <a:lstStyle/>
          <a:p>
            <a:pPr algn="l"/>
            <a:r>
              <a:rPr sz="800" b="1" i="0">
                <a:solidFill>
                  <a:srgbClr val="AAB4CC"/>
                </a:solidFill>
                <a:latin typeface="Calibri"/>
              </a:rPr>
              <a:t>YEAR 1</a:t>
            </a:r>
          </a:p>
        </p:txBody>
      </p:sp>
      <p:sp>
        <p:nvSpPr>
          <p:cNvPr id="15" name="TextBox 14"/>
          <p:cNvSpPr txBox="1"/>
          <p:nvPr/>
        </p:nvSpPr>
        <p:spPr>
          <a:xfrm>
            <a:off x="566928" y="2340864"/>
            <a:ext cx="3419856" cy="749808"/>
          </a:xfrm>
          <a:prstGeom prst="rect">
            <a:avLst/>
          </a:prstGeom>
          <a:noFill/>
        </p:spPr>
        <p:txBody>
          <a:bodyPr wrap="square">
            <a:spAutoFit/>
          </a:bodyPr>
          <a:lstStyle/>
          <a:p>
            <a:pPr algn="ctr"/>
            <a:r>
              <a:rPr sz="4400" b="1" i="0">
                <a:solidFill>
                  <a:srgbClr val="AAB4CC"/>
                </a:solidFill>
                <a:latin typeface="Georgia"/>
              </a:rPr>
              <a:t>$625K</a:t>
            </a:r>
          </a:p>
        </p:txBody>
      </p:sp>
      <p:sp>
        <p:nvSpPr>
          <p:cNvPr id="16" name="TextBox 15"/>
          <p:cNvSpPr txBox="1"/>
          <p:nvPr/>
        </p:nvSpPr>
        <p:spPr>
          <a:xfrm>
            <a:off x="566928"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17" name="TextBox 16"/>
          <p:cNvSpPr txBox="1"/>
          <p:nvPr/>
        </p:nvSpPr>
        <p:spPr>
          <a:xfrm>
            <a:off x="585216" y="3474720"/>
            <a:ext cx="3401568" cy="512064"/>
          </a:xfrm>
          <a:prstGeom prst="rect">
            <a:avLst/>
          </a:prstGeom>
          <a:noFill/>
        </p:spPr>
        <p:txBody>
          <a:bodyPr wrap="square">
            <a:spAutoFit/>
          </a:bodyPr>
          <a:lstStyle/>
          <a:p>
            <a:pPr algn="l"/>
            <a:r>
              <a:rPr sz="850" b="0" i="0">
                <a:solidFill>
                  <a:srgbClr val="AAB4CC"/>
                </a:solidFill>
                <a:latin typeface="Calibri"/>
              </a:rPr>
              <a:t>→  3–5 Founding Partner agreements at $120–$180K ACV</a:t>
            </a:r>
          </a:p>
        </p:txBody>
      </p:sp>
      <p:sp>
        <p:nvSpPr>
          <p:cNvPr id="18" name="TextBox 17"/>
          <p:cNvSpPr txBox="1"/>
          <p:nvPr/>
        </p:nvSpPr>
        <p:spPr>
          <a:xfrm>
            <a:off x="585216" y="4059935"/>
            <a:ext cx="3401568" cy="512064"/>
          </a:xfrm>
          <a:prstGeom prst="rect">
            <a:avLst/>
          </a:prstGeom>
          <a:noFill/>
        </p:spPr>
        <p:txBody>
          <a:bodyPr wrap="square">
            <a:spAutoFit/>
          </a:bodyPr>
          <a:lstStyle/>
          <a:p>
            <a:pPr algn="l"/>
            <a:r>
              <a:rPr sz="850" b="0" i="0">
                <a:solidFill>
                  <a:srgbClr val="AAB4CC"/>
                </a:solidFill>
                <a:latin typeface="Calibri"/>
              </a:rPr>
              <a:t>→  Platform fully operational — all modules live</a:t>
            </a:r>
          </a:p>
        </p:txBody>
      </p:sp>
      <p:sp>
        <p:nvSpPr>
          <p:cNvPr id="19" name="TextBox 18"/>
          <p:cNvSpPr txBox="1"/>
          <p:nvPr/>
        </p:nvSpPr>
        <p:spPr>
          <a:xfrm>
            <a:off x="585216" y="4645152"/>
            <a:ext cx="3401568" cy="512064"/>
          </a:xfrm>
          <a:prstGeom prst="rect">
            <a:avLst/>
          </a:prstGeom>
          <a:noFill/>
        </p:spPr>
        <p:txBody>
          <a:bodyPr wrap="square">
            <a:spAutoFit/>
          </a:bodyPr>
          <a:lstStyle/>
          <a:p>
            <a:pPr algn="l"/>
            <a:r>
              <a:rPr sz="850" b="0" i="0">
                <a:solidFill>
                  <a:srgbClr val="AAB4CC"/>
                </a:solidFill>
                <a:latin typeface="Calibri"/>
              </a:rPr>
              <a:t>→  First 2 enterprise proof points documented</a:t>
            </a:r>
          </a:p>
        </p:txBody>
      </p:sp>
      <p:sp>
        <p:nvSpPr>
          <p:cNvPr id="20" name="TextBox 19"/>
          <p:cNvSpPr txBox="1"/>
          <p:nvPr/>
        </p:nvSpPr>
        <p:spPr>
          <a:xfrm>
            <a:off x="585216" y="5230368"/>
            <a:ext cx="3401568" cy="512064"/>
          </a:xfrm>
          <a:prstGeom prst="rect">
            <a:avLst/>
          </a:prstGeom>
          <a:noFill/>
        </p:spPr>
        <p:txBody>
          <a:bodyPr wrap="square">
            <a:spAutoFit/>
          </a:bodyPr>
          <a:lstStyle/>
          <a:p>
            <a:pPr algn="l"/>
            <a:r>
              <a:rPr sz="850" b="0" i="0">
                <a:solidFill>
                  <a:srgbClr val="AAB4CC"/>
                </a:solidFill>
                <a:latin typeface="Calibri"/>
              </a:rPr>
              <a:t>→  Industry Protocol Pack development begins</a:t>
            </a:r>
          </a:p>
        </p:txBody>
      </p:sp>
      <p:sp>
        <p:nvSpPr>
          <p:cNvPr id="21" name="Rectangle 20"/>
          <p:cNvSpPr/>
          <p:nvPr/>
        </p:nvSpPr>
        <p:spPr>
          <a:xfrm>
            <a:off x="4279392" y="1993392"/>
            <a:ext cx="3675887" cy="4114800"/>
          </a:xfrm>
          <a:prstGeom prst="rect">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9392" y="1993392"/>
            <a:ext cx="3675887" cy="3108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7407" y="2029968"/>
            <a:ext cx="3419856" cy="237744"/>
          </a:xfrm>
          <a:prstGeom prst="rect">
            <a:avLst/>
          </a:prstGeom>
          <a:noFill/>
        </p:spPr>
        <p:txBody>
          <a:bodyPr wrap="square">
            <a:spAutoFit/>
          </a:bodyPr>
          <a:lstStyle/>
          <a:p>
            <a:pPr algn="l"/>
            <a:r>
              <a:rPr sz="800" b="1" i="0">
                <a:solidFill>
                  <a:srgbClr val="C9A84C"/>
                </a:solidFill>
                <a:latin typeface="Calibri"/>
              </a:rPr>
              <a:t>YEAR 2</a:t>
            </a:r>
          </a:p>
        </p:txBody>
      </p:sp>
      <p:sp>
        <p:nvSpPr>
          <p:cNvPr id="24" name="TextBox 23"/>
          <p:cNvSpPr txBox="1"/>
          <p:nvPr/>
        </p:nvSpPr>
        <p:spPr>
          <a:xfrm>
            <a:off x="4407407" y="2340864"/>
            <a:ext cx="3419856" cy="749808"/>
          </a:xfrm>
          <a:prstGeom prst="rect">
            <a:avLst/>
          </a:prstGeom>
          <a:noFill/>
        </p:spPr>
        <p:txBody>
          <a:bodyPr wrap="square">
            <a:spAutoFit/>
          </a:bodyPr>
          <a:lstStyle/>
          <a:p>
            <a:pPr algn="ctr"/>
            <a:r>
              <a:rPr sz="4400" b="1" i="0">
                <a:solidFill>
                  <a:srgbClr val="C9A84C"/>
                </a:solidFill>
                <a:latin typeface="Georgia"/>
              </a:rPr>
              <a:t>$3.75M</a:t>
            </a:r>
          </a:p>
        </p:txBody>
      </p:sp>
      <p:sp>
        <p:nvSpPr>
          <p:cNvPr id="25" name="TextBox 24"/>
          <p:cNvSpPr txBox="1"/>
          <p:nvPr/>
        </p:nvSpPr>
        <p:spPr>
          <a:xfrm>
            <a:off x="4407407"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26" name="TextBox 25"/>
          <p:cNvSpPr txBox="1"/>
          <p:nvPr/>
        </p:nvSpPr>
        <p:spPr>
          <a:xfrm>
            <a:off x="4425696" y="3474720"/>
            <a:ext cx="3401568" cy="512064"/>
          </a:xfrm>
          <a:prstGeom prst="rect">
            <a:avLst/>
          </a:prstGeom>
          <a:noFill/>
        </p:spPr>
        <p:txBody>
          <a:bodyPr wrap="square">
            <a:spAutoFit/>
          </a:bodyPr>
          <a:lstStyle/>
          <a:p>
            <a:pPr algn="l"/>
            <a:r>
              <a:rPr sz="850" b="0" i="0">
                <a:solidFill>
                  <a:srgbClr val="AAB4CC"/>
                </a:solidFill>
                <a:latin typeface="Calibri"/>
              </a:rPr>
              <a:t>→  18–22 enterprise clients contracted</a:t>
            </a:r>
          </a:p>
        </p:txBody>
      </p:sp>
      <p:sp>
        <p:nvSpPr>
          <p:cNvPr id="27" name="TextBox 26"/>
          <p:cNvSpPr txBox="1"/>
          <p:nvPr/>
        </p:nvSpPr>
        <p:spPr>
          <a:xfrm>
            <a:off x="4425696" y="4059935"/>
            <a:ext cx="3401568" cy="512064"/>
          </a:xfrm>
          <a:prstGeom prst="rect">
            <a:avLst/>
          </a:prstGeom>
          <a:noFill/>
        </p:spPr>
        <p:txBody>
          <a:bodyPr wrap="square">
            <a:spAutoFit/>
          </a:bodyPr>
          <a:lstStyle/>
          <a:p>
            <a:pPr algn="l"/>
            <a:r>
              <a:rPr sz="850" b="0" i="0">
                <a:solidFill>
                  <a:srgbClr val="AAB4CC"/>
                </a:solidFill>
                <a:latin typeface="Calibri"/>
              </a:rPr>
              <a:t>→  Industry Protocol Packs launched — upsell active</a:t>
            </a:r>
          </a:p>
        </p:txBody>
      </p:sp>
      <p:sp>
        <p:nvSpPr>
          <p:cNvPr id="28" name="TextBox 27"/>
          <p:cNvSpPr txBox="1"/>
          <p:nvPr/>
        </p:nvSpPr>
        <p:spPr>
          <a:xfrm>
            <a:off x="4425696" y="4645152"/>
            <a:ext cx="3401568" cy="512064"/>
          </a:xfrm>
          <a:prstGeom prst="rect">
            <a:avLst/>
          </a:prstGeom>
          <a:noFill/>
        </p:spPr>
        <p:txBody>
          <a:bodyPr wrap="square">
            <a:spAutoFit/>
          </a:bodyPr>
          <a:lstStyle/>
          <a:p>
            <a:pPr algn="l"/>
            <a:r>
              <a:rPr sz="850" b="0" i="0">
                <a:solidFill>
                  <a:srgbClr val="AAB4CC"/>
                </a:solidFill>
                <a:latin typeface="Calibri"/>
              </a:rPr>
              <a:t>→  Compound Protocol Engine expansion revenue</a:t>
            </a:r>
          </a:p>
        </p:txBody>
      </p:sp>
      <p:sp>
        <p:nvSpPr>
          <p:cNvPr id="29" name="TextBox 28"/>
          <p:cNvSpPr txBox="1"/>
          <p:nvPr/>
        </p:nvSpPr>
        <p:spPr>
          <a:xfrm>
            <a:off x="4425696" y="5230368"/>
            <a:ext cx="3401568" cy="512064"/>
          </a:xfrm>
          <a:prstGeom prst="rect">
            <a:avLst/>
          </a:prstGeom>
          <a:noFill/>
        </p:spPr>
        <p:txBody>
          <a:bodyPr wrap="square">
            <a:spAutoFit/>
          </a:bodyPr>
          <a:lstStyle/>
          <a:p>
            <a:pPr algn="l"/>
            <a:r>
              <a:rPr sz="850" b="0" i="0">
                <a:solidFill>
                  <a:srgbClr val="AAB4CC"/>
                </a:solidFill>
                <a:latin typeface="Calibri"/>
              </a:rPr>
              <a:t>→  Series A positioned on real contracted ARR</a:t>
            </a:r>
          </a:p>
        </p:txBody>
      </p:sp>
      <p:sp>
        <p:nvSpPr>
          <p:cNvPr id="30" name="Rectangle 29"/>
          <p:cNvSpPr/>
          <p:nvPr/>
        </p:nvSpPr>
        <p:spPr>
          <a:xfrm>
            <a:off x="8119872" y="1993392"/>
            <a:ext cx="3675887" cy="411480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19872" y="1993392"/>
            <a:ext cx="3675887" cy="3108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2029968"/>
            <a:ext cx="3419856" cy="237744"/>
          </a:xfrm>
          <a:prstGeom prst="rect">
            <a:avLst/>
          </a:prstGeom>
          <a:noFill/>
        </p:spPr>
        <p:txBody>
          <a:bodyPr wrap="square">
            <a:spAutoFit/>
          </a:bodyPr>
          <a:lstStyle/>
          <a:p>
            <a:pPr algn="l"/>
            <a:r>
              <a:rPr sz="800" b="1" i="0">
                <a:solidFill>
                  <a:srgbClr val="2B8A6E"/>
                </a:solidFill>
                <a:latin typeface="Calibri"/>
              </a:rPr>
              <a:t>YEAR 3</a:t>
            </a:r>
          </a:p>
        </p:txBody>
      </p:sp>
      <p:sp>
        <p:nvSpPr>
          <p:cNvPr id="33" name="TextBox 32"/>
          <p:cNvSpPr txBox="1"/>
          <p:nvPr/>
        </p:nvSpPr>
        <p:spPr>
          <a:xfrm>
            <a:off x="8247888" y="2340864"/>
            <a:ext cx="3419856" cy="749808"/>
          </a:xfrm>
          <a:prstGeom prst="rect">
            <a:avLst/>
          </a:prstGeom>
          <a:noFill/>
        </p:spPr>
        <p:txBody>
          <a:bodyPr wrap="square">
            <a:spAutoFit/>
          </a:bodyPr>
          <a:lstStyle/>
          <a:p>
            <a:pPr algn="ctr"/>
            <a:r>
              <a:rPr sz="4400" b="1" i="0">
                <a:solidFill>
                  <a:srgbClr val="2B8A6E"/>
                </a:solidFill>
                <a:latin typeface="Georgia"/>
              </a:rPr>
              <a:t>$8M+</a:t>
            </a:r>
          </a:p>
        </p:txBody>
      </p:sp>
      <p:sp>
        <p:nvSpPr>
          <p:cNvPr id="34" name="TextBox 33"/>
          <p:cNvSpPr txBox="1"/>
          <p:nvPr/>
        </p:nvSpPr>
        <p:spPr>
          <a:xfrm>
            <a:off x="8247888"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35" name="TextBox 34"/>
          <p:cNvSpPr txBox="1"/>
          <p:nvPr/>
        </p:nvSpPr>
        <p:spPr>
          <a:xfrm>
            <a:off x="8266176" y="3474720"/>
            <a:ext cx="3401568" cy="512064"/>
          </a:xfrm>
          <a:prstGeom prst="rect">
            <a:avLst/>
          </a:prstGeom>
          <a:noFill/>
        </p:spPr>
        <p:txBody>
          <a:bodyPr wrap="square">
            <a:spAutoFit/>
          </a:bodyPr>
          <a:lstStyle/>
          <a:p>
            <a:pPr algn="l"/>
            <a:r>
              <a:rPr sz="850" b="0" i="0">
                <a:solidFill>
                  <a:srgbClr val="AAB4CC"/>
                </a:solidFill>
                <a:latin typeface="Calibri"/>
              </a:rPr>
              <a:t>→  40+ enterprise accounts active</a:t>
            </a:r>
          </a:p>
        </p:txBody>
      </p:sp>
      <p:sp>
        <p:nvSpPr>
          <p:cNvPr id="36" name="TextBox 35"/>
          <p:cNvSpPr txBox="1"/>
          <p:nvPr/>
        </p:nvSpPr>
        <p:spPr>
          <a:xfrm>
            <a:off x="8266176" y="4059935"/>
            <a:ext cx="3401568" cy="512064"/>
          </a:xfrm>
          <a:prstGeom prst="rect">
            <a:avLst/>
          </a:prstGeom>
          <a:noFill/>
        </p:spPr>
        <p:txBody>
          <a:bodyPr wrap="square">
            <a:spAutoFit/>
          </a:bodyPr>
          <a:lstStyle/>
          <a:p>
            <a:pPr algn="l"/>
            <a:r>
              <a:rPr sz="850" b="0" i="0">
                <a:solidFill>
                  <a:srgbClr val="AAB4CC"/>
                </a:solidFill>
                <a:latin typeface="Calibri"/>
              </a:rPr>
              <a:t>→  Multi-year contract renewals beginning</a:t>
            </a:r>
          </a:p>
        </p:txBody>
      </p:sp>
      <p:sp>
        <p:nvSpPr>
          <p:cNvPr id="37" name="TextBox 36"/>
          <p:cNvSpPr txBox="1"/>
          <p:nvPr/>
        </p:nvSpPr>
        <p:spPr>
          <a:xfrm>
            <a:off x="8266176" y="4645152"/>
            <a:ext cx="3401568" cy="512064"/>
          </a:xfrm>
          <a:prstGeom prst="rect">
            <a:avLst/>
          </a:prstGeom>
          <a:noFill/>
        </p:spPr>
        <p:txBody>
          <a:bodyPr wrap="square">
            <a:spAutoFit/>
          </a:bodyPr>
          <a:lstStyle/>
          <a:p>
            <a:pPr algn="l"/>
            <a:r>
              <a:rPr sz="850" b="0" i="0">
                <a:solidFill>
                  <a:srgbClr val="AAB4CC"/>
                </a:solidFill>
                <a:latin typeface="Calibri"/>
              </a:rPr>
              <a:t>→  Channel partnerships generating pipeline</a:t>
            </a:r>
          </a:p>
        </p:txBody>
      </p:sp>
      <p:sp>
        <p:nvSpPr>
          <p:cNvPr id="38" name="TextBox 37"/>
          <p:cNvSpPr txBox="1"/>
          <p:nvPr/>
        </p:nvSpPr>
        <p:spPr>
          <a:xfrm>
            <a:off x="8266176" y="5230368"/>
            <a:ext cx="3401568" cy="512064"/>
          </a:xfrm>
          <a:prstGeom prst="rect">
            <a:avLst/>
          </a:prstGeom>
          <a:noFill/>
        </p:spPr>
        <p:txBody>
          <a:bodyPr wrap="square">
            <a:spAutoFit/>
          </a:bodyPr>
          <a:lstStyle/>
          <a:p>
            <a:pPr algn="l"/>
            <a:r>
              <a:rPr sz="850" b="0" i="0">
                <a:solidFill>
                  <a:srgbClr val="AAB4CC"/>
                </a:solidFill>
                <a:latin typeface="Calibri"/>
              </a:rPr>
              <a:t>→  International market entry initiated</a:t>
            </a:r>
          </a:p>
        </p:txBody>
      </p:sp>
      <p:sp>
        <p:nvSpPr>
          <p:cNvPr id="39" name="Rectangle 38"/>
          <p:cNvSpPr/>
          <p:nvPr/>
        </p:nvSpPr>
        <p:spPr>
          <a:xfrm>
            <a:off x="438912" y="6144768"/>
            <a:ext cx="11320272" cy="23774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6163056"/>
            <a:ext cx="10972800" cy="201168"/>
          </a:xfrm>
          <a:prstGeom prst="rect">
            <a:avLst/>
          </a:prstGeom>
          <a:noFill/>
        </p:spPr>
        <p:txBody>
          <a:bodyPr wrap="square">
            <a:spAutoFit/>
          </a:bodyPr>
          <a:lstStyle/>
          <a:p>
            <a:pPr algn="ctr"/>
            <a:r>
              <a:rPr sz="800" b="0" i="0">
                <a:solidFill>
                  <a:srgbClr val="AAB4CC"/>
                </a:solidFill>
                <a:latin typeface="Calibri"/>
              </a:rPr>
              <a:t>Based on 3–5 Founding Partner agreements Y1 at $120K–$180K ACV · 92% target gross margin · conservative enterprise expansion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16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ASK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Raising $750K Seed.</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18 months. Three milestones. Series A ready.</a:t>
            </a:r>
          </a:p>
        </p:txBody>
      </p:sp>
      <p:sp>
        <p:nvSpPr>
          <p:cNvPr id="12" name="Rectangle 11"/>
          <p:cNvSpPr/>
          <p:nvPr/>
        </p:nvSpPr>
        <p:spPr>
          <a:xfrm>
            <a:off x="438912" y="1901952"/>
            <a:ext cx="3858768" cy="1389888"/>
          </a:xfrm>
          <a:prstGeom prst="rect">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56816"/>
            <a:ext cx="3639312" cy="841248"/>
          </a:xfrm>
          <a:prstGeom prst="rect">
            <a:avLst/>
          </a:prstGeom>
          <a:noFill/>
        </p:spPr>
        <p:txBody>
          <a:bodyPr wrap="square">
            <a:spAutoFit/>
          </a:bodyPr>
          <a:lstStyle/>
          <a:p>
            <a:pPr algn="ctr"/>
            <a:r>
              <a:rPr sz="5200" b="1" i="0">
                <a:solidFill>
                  <a:srgbClr val="C9A84C"/>
                </a:solidFill>
                <a:latin typeface="Georgia"/>
              </a:rPr>
              <a:t>$750,000</a:t>
            </a:r>
          </a:p>
        </p:txBody>
      </p:sp>
      <p:sp>
        <p:nvSpPr>
          <p:cNvPr id="14" name="TextBox 13"/>
          <p:cNvSpPr txBox="1"/>
          <p:nvPr/>
        </p:nvSpPr>
        <p:spPr>
          <a:xfrm>
            <a:off x="548640" y="2779776"/>
            <a:ext cx="3639312" cy="256032"/>
          </a:xfrm>
          <a:prstGeom prst="rect">
            <a:avLst/>
          </a:prstGeom>
          <a:noFill/>
        </p:spPr>
        <p:txBody>
          <a:bodyPr wrap="square">
            <a:spAutoFit/>
          </a:bodyPr>
          <a:lstStyle/>
          <a:p>
            <a:pPr algn="ctr"/>
            <a:r>
              <a:rPr sz="750" b="1" i="0">
                <a:solidFill>
                  <a:srgbClr val="AAB4CC"/>
                </a:solidFill>
                <a:latin typeface="Calibri"/>
              </a:rPr>
              <a:t>SEED ROUND  ·  18-MONTH RUNWAY</a:t>
            </a:r>
          </a:p>
        </p:txBody>
      </p:sp>
      <p:sp>
        <p:nvSpPr>
          <p:cNvPr id="15" name="Rectangle 14"/>
          <p:cNvSpPr/>
          <p:nvPr/>
        </p:nvSpPr>
        <p:spPr>
          <a:xfrm>
            <a:off x="4480560" y="1901952"/>
            <a:ext cx="7406640" cy="13533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1993392"/>
            <a:ext cx="1828800" cy="219456"/>
          </a:xfrm>
          <a:prstGeom prst="rect">
            <a:avLst/>
          </a:prstGeom>
          <a:noFill/>
        </p:spPr>
        <p:txBody>
          <a:bodyPr wrap="square">
            <a:spAutoFit/>
          </a:bodyPr>
          <a:lstStyle/>
          <a:p>
            <a:pPr algn="l"/>
            <a:r>
              <a:rPr sz="750" b="1" i="0">
                <a:solidFill>
                  <a:srgbClr val="C9A84C"/>
                </a:solidFill>
                <a:latin typeface="Calibri"/>
              </a:rPr>
              <a:t>MILESTONE 1</a:t>
            </a:r>
          </a:p>
        </p:txBody>
      </p:sp>
      <p:sp>
        <p:nvSpPr>
          <p:cNvPr id="17" name="TextBox 16"/>
          <p:cNvSpPr txBox="1"/>
          <p:nvPr/>
        </p:nvSpPr>
        <p:spPr>
          <a:xfrm>
            <a:off x="4608576" y="2231136"/>
            <a:ext cx="7150608" cy="256032"/>
          </a:xfrm>
          <a:prstGeom prst="rect">
            <a:avLst/>
          </a:prstGeom>
          <a:noFill/>
        </p:spPr>
        <p:txBody>
          <a:bodyPr wrap="square">
            <a:spAutoFit/>
          </a:bodyPr>
          <a:lstStyle/>
          <a:p>
            <a:pPr algn="l"/>
            <a:r>
              <a:rPr sz="1050" b="1" i="0">
                <a:solidFill>
                  <a:srgbClr val="FFFFFF"/>
                </a:solidFill>
                <a:latin typeface="Calibri"/>
              </a:rPr>
              <a:t>Close 3–5 Founding Partner Agreements</a:t>
            </a:r>
          </a:p>
        </p:txBody>
      </p:sp>
      <p:sp>
        <p:nvSpPr>
          <p:cNvPr id="18" name="TextBox 17"/>
          <p:cNvSpPr txBox="1"/>
          <p:nvPr/>
        </p:nvSpPr>
        <p:spPr>
          <a:xfrm>
            <a:off x="4608576" y="2523744"/>
            <a:ext cx="7150608" cy="621792"/>
          </a:xfrm>
          <a:prstGeom prst="rect">
            <a:avLst/>
          </a:prstGeom>
          <a:noFill/>
        </p:spPr>
        <p:txBody>
          <a:bodyPr wrap="square">
            <a:spAutoFit/>
          </a:bodyPr>
          <a:lstStyle/>
          <a:p>
            <a:pPr algn="l"/>
            <a:r>
              <a:rPr sz="900" b="0" i="0">
                <a:solidFill>
                  <a:srgbClr val="AAB4CC"/>
                </a:solidFill>
                <a:latin typeface="Calibri"/>
              </a:rPr>
              <a:t>Validate enterprise willingness-to-pay at $120K–$180K ACV. Document 2 full activation proof points with real outcomes and measurable executive decisions. Category definition begins.</a:t>
            </a:r>
          </a:p>
        </p:txBody>
      </p:sp>
      <p:sp>
        <p:nvSpPr>
          <p:cNvPr id="19" name="Rectangle 18"/>
          <p:cNvSpPr/>
          <p:nvPr/>
        </p:nvSpPr>
        <p:spPr>
          <a:xfrm>
            <a:off x="4480560" y="3364992"/>
            <a:ext cx="7406640" cy="135331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3456432"/>
            <a:ext cx="1828800" cy="219456"/>
          </a:xfrm>
          <a:prstGeom prst="rect">
            <a:avLst/>
          </a:prstGeom>
          <a:noFill/>
        </p:spPr>
        <p:txBody>
          <a:bodyPr wrap="square">
            <a:spAutoFit/>
          </a:bodyPr>
          <a:lstStyle/>
          <a:p>
            <a:pPr algn="l"/>
            <a:r>
              <a:rPr sz="750" b="1" i="0">
                <a:solidFill>
                  <a:srgbClr val="2B8A6E"/>
                </a:solidFill>
                <a:latin typeface="Calibri"/>
              </a:rPr>
              <a:t>MILESTONE 2</a:t>
            </a:r>
          </a:p>
        </p:txBody>
      </p:sp>
      <p:sp>
        <p:nvSpPr>
          <p:cNvPr id="21" name="TextBox 20"/>
          <p:cNvSpPr txBox="1"/>
          <p:nvPr/>
        </p:nvSpPr>
        <p:spPr>
          <a:xfrm>
            <a:off x="4608576" y="3694176"/>
            <a:ext cx="7150608" cy="256032"/>
          </a:xfrm>
          <a:prstGeom prst="rect">
            <a:avLst/>
          </a:prstGeom>
          <a:noFill/>
        </p:spPr>
        <p:txBody>
          <a:bodyPr wrap="square">
            <a:spAutoFit/>
          </a:bodyPr>
          <a:lstStyle/>
          <a:p>
            <a:pPr algn="l"/>
            <a:r>
              <a:rPr sz="1050" b="1" i="0">
                <a:solidFill>
                  <a:srgbClr val="FFFFFF"/>
                </a:solidFill>
                <a:latin typeface="Calibri"/>
              </a:rPr>
              <a:t>Series A Positioned on Real ARR</a:t>
            </a:r>
          </a:p>
        </p:txBody>
      </p:sp>
      <p:sp>
        <p:nvSpPr>
          <p:cNvPr id="22" name="TextBox 21"/>
          <p:cNvSpPr txBox="1"/>
          <p:nvPr/>
        </p:nvSpPr>
        <p:spPr>
          <a:xfrm>
            <a:off x="4608576" y="3986784"/>
            <a:ext cx="7150608" cy="621792"/>
          </a:xfrm>
          <a:prstGeom prst="rect">
            <a:avLst/>
          </a:prstGeom>
          <a:noFill/>
        </p:spPr>
        <p:txBody>
          <a:bodyPr wrap="square">
            <a:spAutoFit/>
          </a:bodyPr>
          <a:lstStyle/>
          <a:p>
            <a:pPr algn="l"/>
            <a:r>
              <a:rPr sz="900" b="0" i="0">
                <a:solidFill>
                  <a:srgbClr val="AAB4CC"/>
                </a:solidFill>
                <a:latin typeface="Calibri"/>
              </a:rPr>
              <a:t>Enter the Series A process with $625K+ ARR contracted, two enterprise proof points, and a documented land-and-expand path through industry protocol packs and compound engines.</a:t>
            </a:r>
          </a:p>
        </p:txBody>
      </p:sp>
      <p:sp>
        <p:nvSpPr>
          <p:cNvPr id="23" name="Rectangle 22"/>
          <p:cNvSpPr/>
          <p:nvPr/>
        </p:nvSpPr>
        <p:spPr>
          <a:xfrm>
            <a:off x="4480560" y="4828032"/>
            <a:ext cx="7406640" cy="135331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08576" y="4919472"/>
            <a:ext cx="1828800" cy="219456"/>
          </a:xfrm>
          <a:prstGeom prst="rect">
            <a:avLst/>
          </a:prstGeom>
          <a:noFill/>
        </p:spPr>
        <p:txBody>
          <a:bodyPr wrap="square">
            <a:spAutoFit/>
          </a:bodyPr>
          <a:lstStyle/>
          <a:p>
            <a:pPr algn="l"/>
            <a:r>
              <a:rPr sz="750" b="1" i="0">
                <a:solidFill>
                  <a:srgbClr val="FFFFFF"/>
                </a:solidFill>
                <a:latin typeface="Calibri"/>
              </a:rPr>
              <a:t>MILESTONE 3</a:t>
            </a:r>
          </a:p>
        </p:txBody>
      </p:sp>
      <p:sp>
        <p:nvSpPr>
          <p:cNvPr id="25" name="TextBox 24"/>
          <p:cNvSpPr txBox="1"/>
          <p:nvPr/>
        </p:nvSpPr>
        <p:spPr>
          <a:xfrm>
            <a:off x="4608576" y="5157216"/>
            <a:ext cx="7150608" cy="256032"/>
          </a:xfrm>
          <a:prstGeom prst="rect">
            <a:avLst/>
          </a:prstGeom>
          <a:noFill/>
        </p:spPr>
        <p:txBody>
          <a:bodyPr wrap="square">
            <a:spAutoFit/>
          </a:bodyPr>
          <a:lstStyle/>
          <a:p>
            <a:pPr algn="l"/>
            <a:r>
              <a:rPr sz="1050" b="1" i="0">
                <a:solidFill>
                  <a:srgbClr val="FFFFFF"/>
                </a:solidFill>
                <a:latin typeface="Calibri"/>
              </a:rPr>
              <a:t>Category Defined — Operating Model Layer</a:t>
            </a:r>
          </a:p>
        </p:txBody>
      </p:sp>
      <p:sp>
        <p:nvSpPr>
          <p:cNvPr id="26" name="TextBox 25"/>
          <p:cNvSpPr txBox="1"/>
          <p:nvPr/>
        </p:nvSpPr>
        <p:spPr>
          <a:xfrm>
            <a:off x="4608576" y="5449824"/>
            <a:ext cx="7150608" cy="621792"/>
          </a:xfrm>
          <a:prstGeom prst="rect">
            <a:avLst/>
          </a:prstGeom>
          <a:noFill/>
        </p:spPr>
        <p:txBody>
          <a:bodyPr wrap="square">
            <a:spAutoFit/>
          </a:bodyPr>
          <a:lstStyle/>
          <a:p>
            <a:pPr algn="l"/>
            <a:r>
              <a:rPr sz="900" b="0" i="0">
                <a:solidFill>
                  <a:srgbClr val="AAB4CC"/>
                </a:solidFill>
                <a:latin typeface="Calibri"/>
              </a:rPr>
              <a:t>Establish the category in analyst community and enterprise market. Microsoft partnership conversations initiated. Competitive moat visible through institutional memory data.</a:t>
            </a:r>
          </a:p>
        </p:txBody>
      </p:sp>
      <p:sp>
        <p:nvSpPr>
          <p:cNvPr id="27" name="Rectangle 26"/>
          <p:cNvSpPr/>
          <p:nvPr/>
        </p:nvSpPr>
        <p:spPr>
          <a:xfrm>
            <a:off x="4352544" y="1847088"/>
            <a:ext cx="18288" cy="44805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4572000"/>
            <a:ext cx="3858768" cy="237744"/>
          </a:xfrm>
          <a:prstGeom prst="rect">
            <a:avLst/>
          </a:prstGeom>
          <a:noFill/>
        </p:spPr>
        <p:txBody>
          <a:bodyPr wrap="square">
            <a:spAutoFit/>
          </a:bodyPr>
          <a:lstStyle/>
          <a:p>
            <a:pPr algn="l"/>
            <a:r>
              <a:rPr sz="750" b="1" i="0">
                <a:solidFill>
                  <a:srgbClr val="C9A84C"/>
                </a:solidFill>
                <a:latin typeface="Calibri"/>
              </a:rPr>
              <a:t>── USE OF FUNDS ──</a:t>
            </a:r>
          </a:p>
        </p:txBody>
      </p:sp>
      <p:sp>
        <p:nvSpPr>
          <p:cNvPr id="29" name="Rectangle 28"/>
          <p:cNvSpPr/>
          <p:nvPr/>
        </p:nvSpPr>
        <p:spPr>
          <a:xfrm>
            <a:off x="438912" y="4901184"/>
            <a:ext cx="2183587" cy="34747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13939" y="4974336"/>
            <a:ext cx="2743200" cy="237744"/>
          </a:xfrm>
          <a:prstGeom prst="rect">
            <a:avLst/>
          </a:prstGeom>
          <a:noFill/>
        </p:spPr>
        <p:txBody>
          <a:bodyPr wrap="square">
            <a:spAutoFit/>
          </a:bodyPr>
          <a:lstStyle/>
          <a:p>
            <a:pPr algn="l"/>
            <a:r>
              <a:rPr sz="850" b="0" i="0">
                <a:solidFill>
                  <a:srgbClr val="AAB4CC"/>
                </a:solidFill>
                <a:latin typeface="Calibri"/>
              </a:rPr>
              <a:t>60%  Product &amp; Engineering</a:t>
            </a:r>
          </a:p>
        </p:txBody>
      </p:sp>
      <p:sp>
        <p:nvSpPr>
          <p:cNvPr id="31" name="Rectangle 30"/>
          <p:cNvSpPr/>
          <p:nvPr/>
        </p:nvSpPr>
        <p:spPr>
          <a:xfrm>
            <a:off x="438912" y="5394960"/>
            <a:ext cx="909828" cy="347472"/>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40180" y="5468112"/>
            <a:ext cx="2743200" cy="237744"/>
          </a:xfrm>
          <a:prstGeom prst="rect">
            <a:avLst/>
          </a:prstGeom>
          <a:noFill/>
        </p:spPr>
        <p:txBody>
          <a:bodyPr wrap="square">
            <a:spAutoFit/>
          </a:bodyPr>
          <a:lstStyle/>
          <a:p>
            <a:pPr algn="l"/>
            <a:r>
              <a:rPr sz="850" b="0" i="0">
                <a:solidFill>
                  <a:srgbClr val="AAB4CC"/>
                </a:solidFill>
                <a:latin typeface="Calibri"/>
              </a:rPr>
              <a:t>25%  Go-To-Market</a:t>
            </a:r>
          </a:p>
        </p:txBody>
      </p:sp>
      <p:sp>
        <p:nvSpPr>
          <p:cNvPr id="33" name="Rectangle 32"/>
          <p:cNvSpPr/>
          <p:nvPr/>
        </p:nvSpPr>
        <p:spPr>
          <a:xfrm>
            <a:off x="438912" y="5888736"/>
            <a:ext cx="545896" cy="347472"/>
          </a:xfrm>
          <a:prstGeom prst="rect">
            <a:avLst/>
          </a:prstGeom>
          <a:solidFill>
            <a:srgbClr val="AAB4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6248" y="5961888"/>
            <a:ext cx="2743200" cy="237744"/>
          </a:xfrm>
          <a:prstGeom prst="rect">
            <a:avLst/>
          </a:prstGeom>
          <a:noFill/>
        </p:spPr>
        <p:txBody>
          <a:bodyPr wrap="square">
            <a:spAutoFit/>
          </a:bodyPr>
          <a:lstStyle/>
          <a:p>
            <a:pPr algn="l"/>
            <a:r>
              <a:rPr sz="850" b="0" i="0">
                <a:solidFill>
                  <a:srgbClr val="AAB4CC"/>
                </a:solidFill>
                <a:latin typeface="Calibri"/>
              </a:rPr>
              <a:t>15%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85800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347472" y="402336"/>
            <a:ext cx="2194560" cy="548640"/>
          </a:xfrm>
          <a:prstGeom prst="rect">
            <a:avLst/>
          </a:prstGeom>
        </p:spPr>
      </p:pic>
      <p:sp>
        <p:nvSpPr>
          <p:cNvPr id="6" name="Rectangle 5"/>
          <p:cNvSpPr/>
          <p:nvPr/>
        </p:nvSpPr>
        <p:spPr>
          <a:xfrm>
            <a:off x="402336" y="1042415"/>
            <a:ext cx="5888736"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133856"/>
            <a:ext cx="9144000" cy="292608"/>
          </a:xfrm>
          <a:prstGeom prst="rect">
            <a:avLst/>
          </a:prstGeom>
          <a:noFill/>
        </p:spPr>
        <p:txBody>
          <a:bodyPr wrap="square">
            <a:spAutoFit/>
          </a:bodyPr>
          <a:lstStyle/>
          <a:p>
            <a:pPr algn="l"/>
            <a:r>
              <a:rPr sz="900" b="1" i="0">
                <a:solidFill>
                  <a:srgbClr val="AAB4CC"/>
                </a:solidFill>
                <a:latin typeface="Calibri"/>
              </a:rPr>
              <a:t>PREPARATION  →  READINESS  →  FEARLESS</a:t>
            </a:r>
          </a:p>
        </p:txBody>
      </p:sp>
      <p:sp>
        <p:nvSpPr>
          <p:cNvPr id="8" name="TextBox 7"/>
          <p:cNvSpPr txBox="1"/>
          <p:nvPr/>
        </p:nvSpPr>
        <p:spPr>
          <a:xfrm>
            <a:off x="402336" y="1536192"/>
            <a:ext cx="9144000" cy="749808"/>
          </a:xfrm>
          <a:prstGeom prst="rect">
            <a:avLst/>
          </a:prstGeom>
          <a:noFill/>
        </p:spPr>
        <p:txBody>
          <a:bodyPr wrap="square">
            <a:spAutoFit/>
          </a:bodyPr>
          <a:lstStyle/>
          <a:p>
            <a:pPr algn="l"/>
            <a:r>
              <a:rPr sz="4200" b="1" i="0">
                <a:solidFill>
                  <a:srgbClr val="FFFFFF"/>
                </a:solidFill>
                <a:latin typeface="Georgia"/>
              </a:rPr>
              <a:t>"The response is ready</a:t>
            </a:r>
          </a:p>
        </p:txBody>
      </p:sp>
      <p:sp>
        <p:nvSpPr>
          <p:cNvPr id="9" name="TextBox 8"/>
          <p:cNvSpPr txBox="1"/>
          <p:nvPr/>
        </p:nvSpPr>
        <p:spPr>
          <a:xfrm>
            <a:off x="402336" y="2249424"/>
            <a:ext cx="9144000" cy="731520"/>
          </a:xfrm>
          <a:prstGeom prst="rect">
            <a:avLst/>
          </a:prstGeom>
          <a:noFill/>
        </p:spPr>
        <p:txBody>
          <a:bodyPr wrap="square">
            <a:spAutoFit/>
          </a:bodyPr>
          <a:lstStyle/>
          <a:p>
            <a:pPr algn="l"/>
            <a:r>
              <a:rPr sz="4000" b="1" i="1">
                <a:solidFill>
                  <a:srgbClr val="C9A84C"/>
                </a:solidFill>
                <a:latin typeface="Georgia"/>
              </a:rPr>
              <a:t>before the trigger fires."</a:t>
            </a:r>
          </a:p>
        </p:txBody>
      </p:sp>
      <p:sp>
        <p:nvSpPr>
          <p:cNvPr id="10" name="TextBox 9"/>
          <p:cNvSpPr txBox="1"/>
          <p:nvPr/>
        </p:nvSpPr>
        <p:spPr>
          <a:xfrm>
            <a:off x="402336" y="3127248"/>
            <a:ext cx="8412480" cy="804672"/>
          </a:xfrm>
          <a:prstGeom prst="rect">
            <a:avLst/>
          </a:prstGeom>
          <a:noFill/>
        </p:spPr>
        <p:txBody>
          <a:bodyPr wrap="square">
            <a:spAutoFit/>
          </a:bodyPr>
          <a:lstStyle/>
          <a:p>
            <a:pPr algn="l"/>
            <a:r>
              <a:rPr sz="1250" b="0" i="0">
                <a:solidFill>
                  <a:srgbClr val="AAB4CC"/>
                </a:solidFill>
                <a:latin typeface="Calibri"/>
              </a:rPr>
              <a:t>Every organization that prepares for every situation it will face is no longer afraid of strategic triggers.
It is fearless. That is the structural outcome Readiness OS delivers — not as a promise, but as architecture.</a:t>
            </a:r>
          </a:p>
        </p:txBody>
      </p:sp>
      <p:sp>
        <p:nvSpPr>
          <p:cNvPr id="11" name="TextBox 10"/>
          <p:cNvSpPr txBox="1"/>
          <p:nvPr/>
        </p:nvSpPr>
        <p:spPr>
          <a:xfrm>
            <a:off x="402336" y="4133087"/>
            <a:ext cx="8229600" cy="438912"/>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2" name="TextBox 11"/>
          <p:cNvSpPr txBox="1"/>
          <p:nvPr/>
        </p:nvSpPr>
        <p:spPr>
          <a:xfrm>
            <a:off x="402336" y="4645152"/>
            <a:ext cx="8229600" cy="438912"/>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3" name="TextBox 12"/>
          <p:cNvSpPr txBox="1"/>
          <p:nvPr/>
        </p:nvSpPr>
        <p:spPr>
          <a:xfrm>
            <a:off x="402336" y="5157216"/>
            <a:ext cx="8229600" cy="438912"/>
          </a:xfrm>
          <a:prstGeom prst="rect">
            <a:avLst/>
          </a:prstGeom>
          <a:noFill/>
        </p:spPr>
        <p:txBody>
          <a:bodyPr wrap="square">
            <a:spAutoFit/>
          </a:bodyPr>
          <a:lstStyle/>
          <a:p>
            <a:pPr algn="l"/>
            <a:r>
              <a:rPr sz="1400" b="0" i="1">
                <a:solidFill>
                  <a:srgbClr val="C9A84C"/>
                </a:solidFill>
                <a:latin typeface="Georgia"/>
              </a:rPr>
              <a:t>The only question is which enterprises get there first.</a:t>
            </a:r>
          </a:p>
        </p:txBody>
      </p:sp>
      <p:sp>
        <p:nvSpPr>
          <p:cNvPr id="14" name="Rectangle 13"/>
          <p:cNvSpPr/>
          <p:nvPr/>
        </p:nvSpPr>
        <p:spPr>
          <a:xfrm>
            <a:off x="402336" y="5687568"/>
            <a:ext cx="3108960" cy="4754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5742432"/>
            <a:ext cx="2962656" cy="347472"/>
          </a:xfrm>
          <a:prstGeom prst="rect">
            <a:avLst/>
          </a:prstGeom>
          <a:noFill/>
        </p:spPr>
        <p:txBody>
          <a:bodyPr wrap="square">
            <a:spAutoFit/>
          </a:bodyPr>
          <a:lstStyle/>
          <a:p>
            <a:pPr algn="ctr"/>
            <a:r>
              <a:rPr sz="800" b="1" i="0">
                <a:solidFill>
                  <a:srgbClr val="0A0F2E"/>
                </a:solidFill>
                <a:latin typeface="Calibri"/>
              </a:rPr>
              <a:t>APPLY FOR FOUNDING PARTNER ACCESS</a:t>
            </a:r>
          </a:p>
        </p:txBody>
      </p:sp>
      <p:pic>
        <p:nvPicPr>
          <p:cNvPr id="16" name="Picture 15" descr="vm_seal_nobg.png"/>
          <p:cNvPicPr>
            <a:picLocks noChangeAspect="1"/>
          </p:cNvPicPr>
          <p:nvPr/>
        </p:nvPicPr>
        <p:blipFill>
          <a:blip r:embed="rId4"/>
          <a:stretch>
            <a:fillRect/>
          </a:stretch>
        </p:blipFill>
        <p:spPr>
          <a:xfrm>
            <a:off x="6967728" y="512064"/>
            <a:ext cx="4937760" cy="4937760"/>
          </a:xfrm>
          <a:prstGeom prst="rect">
            <a:avLst/>
          </a:prstGeom>
        </p:spPr>
      </p:pic>
      <p:sp>
        <p:nvSpPr>
          <p:cNvPr id="17" name="Rectangle 16"/>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19" name="TextBox 18"/>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18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APPENDIX — PITCH DEFENSE · OBJECTION HANDLING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Hard Question.</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Pre-staged.</a:t>
            </a:r>
          </a:p>
        </p:txBody>
      </p:sp>
      <p:sp>
        <p:nvSpPr>
          <p:cNvPr id="12" name="Rectangle 11"/>
          <p:cNvSpPr/>
          <p:nvPr/>
        </p:nvSpPr>
        <p:spPr>
          <a:xfrm>
            <a:off x="438912" y="2103120"/>
            <a:ext cx="5596128" cy="1389888"/>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194560"/>
            <a:ext cx="5340096" cy="256032"/>
          </a:xfrm>
          <a:prstGeom prst="rect">
            <a:avLst/>
          </a:prstGeom>
          <a:noFill/>
        </p:spPr>
        <p:txBody>
          <a:bodyPr wrap="square">
            <a:spAutoFit/>
          </a:bodyPr>
          <a:lstStyle/>
          <a:p>
            <a:pPr algn="l"/>
            <a:r>
              <a:rPr sz="900" b="1" i="0">
                <a:solidFill>
                  <a:srgbClr val="FFFFFF"/>
                </a:solidFill>
                <a:latin typeface="Calibri"/>
              </a:rPr>
              <a:t>Isn't this just workflow automation?</a:t>
            </a:r>
          </a:p>
        </p:txBody>
      </p:sp>
      <p:sp>
        <p:nvSpPr>
          <p:cNvPr id="14" name="TextBox 13"/>
          <p:cNvSpPr txBox="1"/>
          <p:nvPr/>
        </p:nvSpPr>
        <p:spPr>
          <a:xfrm>
            <a:off x="566928" y="2505456"/>
            <a:ext cx="5340096" cy="877824"/>
          </a:xfrm>
          <a:prstGeom prst="rect">
            <a:avLst/>
          </a:prstGeom>
          <a:noFill/>
        </p:spPr>
        <p:txBody>
          <a:bodyPr wrap="square">
            <a:spAutoFit/>
          </a:bodyPr>
          <a:lstStyle/>
          <a:p>
            <a:pPr algn="l"/>
            <a:r>
              <a:rPr sz="850" b="0" i="0">
                <a:solidFill>
                  <a:srgbClr val="AAB4CC"/>
                </a:solidFill>
                <a:latin typeface="Calibri"/>
              </a:rPr>
              <a:t>Workflow tools execute tasks you define in the moment. We pre-stage the entire response before the trigger exists — including compound crises, executive authorization, and institutional memory. Fundamentally different category.</a:t>
            </a:r>
          </a:p>
        </p:txBody>
      </p:sp>
      <p:sp>
        <p:nvSpPr>
          <p:cNvPr id="15" name="Rectangle 14"/>
          <p:cNvSpPr/>
          <p:nvPr/>
        </p:nvSpPr>
        <p:spPr>
          <a:xfrm>
            <a:off x="6327648" y="2103120"/>
            <a:ext cx="5596128" cy="1389888"/>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2194560"/>
            <a:ext cx="5340096" cy="256032"/>
          </a:xfrm>
          <a:prstGeom prst="rect">
            <a:avLst/>
          </a:prstGeom>
          <a:noFill/>
        </p:spPr>
        <p:txBody>
          <a:bodyPr wrap="square">
            <a:spAutoFit/>
          </a:bodyPr>
          <a:lstStyle/>
          <a:p>
            <a:pPr algn="l"/>
            <a:r>
              <a:rPr sz="900" b="1" i="0">
                <a:solidFill>
                  <a:srgbClr val="FFFFFF"/>
                </a:solidFill>
                <a:latin typeface="Calibri"/>
              </a:rPr>
              <a:t>Why won't Microsoft build this?</a:t>
            </a:r>
          </a:p>
        </p:txBody>
      </p:sp>
      <p:sp>
        <p:nvSpPr>
          <p:cNvPr id="17" name="TextBox 16"/>
          <p:cNvSpPr txBox="1"/>
          <p:nvPr/>
        </p:nvSpPr>
        <p:spPr>
          <a:xfrm>
            <a:off x="6455664" y="2505456"/>
            <a:ext cx="5340096" cy="877824"/>
          </a:xfrm>
          <a:prstGeom prst="rect">
            <a:avLst/>
          </a:prstGeom>
          <a:noFill/>
        </p:spPr>
        <p:txBody>
          <a:bodyPr wrap="square">
            <a:spAutoFit/>
          </a:bodyPr>
          <a:lstStyle/>
          <a:p>
            <a:pPr algn="l"/>
            <a:r>
              <a:rPr sz="850" b="0" i="0">
                <a:solidFill>
                  <a:srgbClr val="AAB4CC"/>
                </a:solidFill>
                <a:latin typeface="Calibri"/>
              </a:rPr>
              <a:t>Microsoft builds horizontal intelligence layers. We build a vertical operating model with 170 protocols, compound intelligence, and institutional memory that compounds with every activation. Not replaceable by a horizontal tool.</a:t>
            </a:r>
          </a:p>
        </p:txBody>
      </p:sp>
      <p:sp>
        <p:nvSpPr>
          <p:cNvPr id="18" name="Rectangle 17"/>
          <p:cNvSpPr/>
          <p:nvPr/>
        </p:nvSpPr>
        <p:spPr>
          <a:xfrm>
            <a:off x="438912" y="3566160"/>
            <a:ext cx="5596128" cy="1389888"/>
          </a:xfrm>
          <a:prstGeom prst="rect">
            <a:avLst/>
          </a:prstGeom>
          <a:solidFill>
            <a:srgbClr val="070B2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657600"/>
            <a:ext cx="5340096" cy="256032"/>
          </a:xfrm>
          <a:prstGeom prst="rect">
            <a:avLst/>
          </a:prstGeom>
          <a:noFill/>
        </p:spPr>
        <p:txBody>
          <a:bodyPr wrap="square">
            <a:spAutoFit/>
          </a:bodyPr>
          <a:lstStyle/>
          <a:p>
            <a:pPr algn="l"/>
            <a:r>
              <a:rPr sz="900" b="1" i="0">
                <a:solidFill>
                  <a:srgbClr val="FFFFFF"/>
                </a:solidFill>
                <a:latin typeface="Calibri"/>
              </a:rPr>
              <a:t>How do you sell into enterprise?</a:t>
            </a:r>
          </a:p>
        </p:txBody>
      </p:sp>
      <p:sp>
        <p:nvSpPr>
          <p:cNvPr id="20" name="TextBox 19"/>
          <p:cNvSpPr txBox="1"/>
          <p:nvPr/>
        </p:nvSpPr>
        <p:spPr>
          <a:xfrm>
            <a:off x="566928" y="3968496"/>
            <a:ext cx="5340096" cy="877824"/>
          </a:xfrm>
          <a:prstGeom prst="rect">
            <a:avLst/>
          </a:prstGeom>
          <a:noFill/>
        </p:spPr>
        <p:txBody>
          <a:bodyPr wrap="square">
            <a:spAutoFit/>
          </a:bodyPr>
          <a:lstStyle/>
          <a:p>
            <a:pPr algn="l"/>
            <a:r>
              <a:rPr sz="850" b="0" i="0">
                <a:solidFill>
                  <a:srgbClr val="AAB4CC"/>
                </a:solidFill>
                <a:latin typeface="Calibri"/>
              </a:rPr>
              <a:t>Through the Founding Partner Program — 90-day validation at $120K–$180K ACV. The 12-Minute Test Drive at /12-minute-experience converts executives before the first call. No other platform is demonstrable on demand with no login.</a:t>
            </a:r>
          </a:p>
        </p:txBody>
      </p:sp>
      <p:sp>
        <p:nvSpPr>
          <p:cNvPr id="21" name="Rectangle 20"/>
          <p:cNvSpPr/>
          <p:nvPr/>
        </p:nvSpPr>
        <p:spPr>
          <a:xfrm>
            <a:off x="6327648" y="3566160"/>
            <a:ext cx="5596128" cy="1389888"/>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5664" y="3657600"/>
            <a:ext cx="5340096" cy="256032"/>
          </a:xfrm>
          <a:prstGeom prst="rect">
            <a:avLst/>
          </a:prstGeom>
          <a:noFill/>
        </p:spPr>
        <p:txBody>
          <a:bodyPr wrap="square">
            <a:spAutoFit/>
          </a:bodyPr>
          <a:lstStyle/>
          <a:p>
            <a:pPr algn="l"/>
            <a:r>
              <a:rPr sz="900" b="1" i="0">
                <a:solidFill>
                  <a:srgbClr val="FFFFFF"/>
                </a:solidFill>
                <a:latin typeface="Calibri"/>
              </a:rPr>
              <a:t>What's your defensibility?</a:t>
            </a:r>
          </a:p>
        </p:txBody>
      </p:sp>
      <p:sp>
        <p:nvSpPr>
          <p:cNvPr id="23" name="TextBox 22"/>
          <p:cNvSpPr txBox="1"/>
          <p:nvPr/>
        </p:nvSpPr>
        <p:spPr>
          <a:xfrm>
            <a:off x="6455664" y="3968496"/>
            <a:ext cx="5340096" cy="877824"/>
          </a:xfrm>
          <a:prstGeom prst="rect">
            <a:avLst/>
          </a:prstGeom>
          <a:noFill/>
        </p:spPr>
        <p:txBody>
          <a:bodyPr wrap="square">
            <a:spAutoFit/>
          </a:bodyPr>
          <a:lstStyle/>
          <a:p>
            <a:pPr algn="l"/>
            <a:r>
              <a:rPr sz="850" b="0" i="0">
                <a:solidFill>
                  <a:srgbClr val="AAB4CC"/>
                </a:solidFill>
                <a:latin typeface="Calibri"/>
              </a:rPr>
              <a:t>Institutional memory created by each activation is proprietary to the enterprise — can't be replicated by a competitor because it's learned from their specific crises. Executive Readiness Score creates board-level switching costs that compound over time.</a:t>
            </a:r>
          </a:p>
        </p:txBody>
      </p:sp>
      <p:sp>
        <p:nvSpPr>
          <p:cNvPr id="24" name="Rectangle 23"/>
          <p:cNvSpPr/>
          <p:nvPr/>
        </p:nvSpPr>
        <p:spPr>
          <a:xfrm>
            <a:off x="438912" y="5029200"/>
            <a:ext cx="5596128" cy="1389888"/>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5120640"/>
            <a:ext cx="5340096" cy="256032"/>
          </a:xfrm>
          <a:prstGeom prst="rect">
            <a:avLst/>
          </a:prstGeom>
          <a:noFill/>
        </p:spPr>
        <p:txBody>
          <a:bodyPr wrap="square">
            <a:spAutoFit/>
          </a:bodyPr>
          <a:lstStyle/>
          <a:p>
            <a:pPr algn="l"/>
            <a:r>
              <a:rPr sz="900" b="1" i="0">
                <a:solidFill>
                  <a:srgbClr val="FFFFFF"/>
                </a:solidFill>
                <a:latin typeface="Calibri"/>
              </a:rPr>
              <a:t>Why now?</a:t>
            </a:r>
          </a:p>
        </p:txBody>
      </p:sp>
      <p:sp>
        <p:nvSpPr>
          <p:cNvPr id="26" name="TextBox 25"/>
          <p:cNvSpPr txBox="1"/>
          <p:nvPr/>
        </p:nvSpPr>
        <p:spPr>
          <a:xfrm>
            <a:off x="566928" y="5431536"/>
            <a:ext cx="5340096" cy="877824"/>
          </a:xfrm>
          <a:prstGeom prst="rect">
            <a:avLst/>
          </a:prstGeom>
          <a:noFill/>
        </p:spPr>
        <p:txBody>
          <a:bodyPr wrap="square">
            <a:spAutoFit/>
          </a:bodyPr>
          <a:lstStyle/>
          <a:p>
            <a:pPr algn="l"/>
            <a:r>
              <a:rPr sz="850" b="0" i="0">
                <a:solidFill>
                  <a:srgbClr val="AAB4CC"/>
                </a:solidFill>
                <a:latin typeface="Calibri"/>
              </a:rPr>
              <a:t>Every Copilot and Azure AI investment created demand for the operating model above it. No established incumbent owns the orchestration layer. The Microsoft framing opens every enterprise door without competing against them.</a:t>
            </a:r>
          </a:p>
        </p:txBody>
      </p:sp>
      <p:sp>
        <p:nvSpPr>
          <p:cNvPr id="27" name="Rectangle 26"/>
          <p:cNvSpPr/>
          <p:nvPr/>
        </p:nvSpPr>
        <p:spPr>
          <a:xfrm>
            <a:off x="6327648" y="5029200"/>
            <a:ext cx="5596128" cy="1389888"/>
          </a:xfrm>
          <a:prstGeom prst="rect">
            <a:avLst/>
          </a:prstGeom>
          <a:solidFill>
            <a:srgbClr val="070B2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5120640"/>
            <a:ext cx="5340096" cy="256032"/>
          </a:xfrm>
          <a:prstGeom prst="rect">
            <a:avLst/>
          </a:prstGeom>
          <a:noFill/>
        </p:spPr>
        <p:txBody>
          <a:bodyPr wrap="square">
            <a:spAutoFit/>
          </a:bodyPr>
          <a:lstStyle/>
          <a:p>
            <a:pPr algn="l"/>
            <a:r>
              <a:rPr sz="900" b="1" i="0">
                <a:solidFill>
                  <a:srgbClr val="FFFFFF"/>
                </a:solidFill>
                <a:latin typeface="Calibri"/>
              </a:rPr>
              <a:t>What if the market is too early?</a:t>
            </a:r>
          </a:p>
        </p:txBody>
      </p:sp>
      <p:sp>
        <p:nvSpPr>
          <p:cNvPr id="29" name="TextBox 28"/>
          <p:cNvSpPr txBox="1"/>
          <p:nvPr/>
        </p:nvSpPr>
        <p:spPr>
          <a:xfrm>
            <a:off x="6455664" y="5431536"/>
            <a:ext cx="5340096" cy="877824"/>
          </a:xfrm>
          <a:prstGeom prst="rect">
            <a:avLst/>
          </a:prstGeom>
          <a:noFill/>
        </p:spPr>
        <p:txBody>
          <a:bodyPr wrap="square">
            <a:spAutoFit/>
          </a:bodyPr>
          <a:lstStyle/>
          <a:p>
            <a:pPr algn="l"/>
            <a:r>
              <a:rPr sz="850" b="0" i="0">
                <a:solidFill>
                  <a:srgbClr val="AAB4CC"/>
                </a:solidFill>
                <a:latin typeface="Calibri"/>
              </a:rPr>
              <a:t>The product is live. Twelve scenarios are demonstrable today with no login. The 3,600× metric is explainable in one sentence. Enterprise boards already require documented readiness for governance and audit. The category name is new — the need is not.</a:t>
            </a:r>
          </a:p>
        </p:txBody>
      </p:sp>
      <p:sp>
        <p:nvSpPr>
          <p:cNvPr id="30" name="Rectangle 29"/>
          <p:cNvSpPr/>
          <p:nvPr/>
        </p:nvSpPr>
        <p:spPr>
          <a:xfrm>
            <a:off x="6007608" y="2048256"/>
            <a:ext cx="18288" cy="4425696"/>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06  /  18</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DETECT PHASE — TRIGGER ARCHITECTURE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Triggers Are Not Single Signals.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Grouped data points. Individual thresholds. Mandatory conditions.</a:t>
            </a:r>
          </a:p>
        </p:txBody>
      </p:sp>
      <p:sp>
        <p:nvSpPr>
          <p:cNvPr id="12" name="TextBox 11"/>
          <p:cNvSpPr txBox="1"/>
          <p:nvPr/>
        </p:nvSpPr>
        <p:spPr>
          <a:xfrm>
            <a:off x="438912" y="1627632"/>
            <a:ext cx="11320272" cy="402336"/>
          </a:xfrm>
          <a:prstGeom prst="rect">
            <a:avLst/>
          </a:prstGeom>
          <a:noFill/>
        </p:spPr>
        <p:txBody>
          <a:bodyPr wrap="square">
            <a:spAutoFit/>
          </a:bodyPr>
          <a:lstStyle/>
          <a:p>
            <a:pPr algn="l"/>
            <a:r>
              <a:rPr sz="1150" b="0" i="0">
                <a:solidFill>
                  <a:srgbClr val="AAB4CC"/>
                </a:solidFill>
                <a:latin typeface="Calibri"/>
              </a:rPr>
              <a:t>Each trigger is an architecture — a defined group of data points that must collectively meet specific conditions before a playbook deploys. No single signal fires a protocol.</a:t>
            </a:r>
          </a:p>
        </p:txBody>
      </p:sp>
      <p:sp>
        <p:nvSpPr>
          <p:cNvPr id="13" name="TextBox 12"/>
          <p:cNvSpPr txBox="1"/>
          <p:nvPr/>
        </p:nvSpPr>
        <p:spPr>
          <a:xfrm>
            <a:off x="438912" y="2176272"/>
            <a:ext cx="5303520" cy="219456"/>
          </a:xfrm>
          <a:prstGeom prst="rect">
            <a:avLst/>
          </a:prstGeom>
          <a:noFill/>
        </p:spPr>
        <p:txBody>
          <a:bodyPr wrap="square">
            <a:spAutoFit/>
          </a:bodyPr>
          <a:lstStyle/>
          <a:p>
            <a:pPr algn="l"/>
            <a:r>
              <a:rPr sz="750" b="1" i="0">
                <a:solidFill>
                  <a:srgbClr val="C9A84C"/>
                </a:solidFill>
                <a:latin typeface="Calibri"/>
              </a:rPr>
              <a:t>── THE THREE-THRESHOLD MODEL ──</a:t>
            </a:r>
          </a:p>
        </p:txBody>
      </p:sp>
      <p:sp>
        <p:nvSpPr>
          <p:cNvPr id="14" name="Rectangle 13"/>
          <p:cNvSpPr/>
          <p:nvPr/>
        </p:nvSpPr>
        <p:spPr>
          <a:xfrm>
            <a:off x="438912" y="2468880"/>
            <a:ext cx="5303520" cy="1152144"/>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2468880"/>
            <a:ext cx="109728" cy="1152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560320"/>
            <a:ext cx="4992624" cy="219456"/>
          </a:xfrm>
          <a:prstGeom prst="rect">
            <a:avLst/>
          </a:prstGeom>
          <a:noFill/>
        </p:spPr>
        <p:txBody>
          <a:bodyPr wrap="square">
            <a:spAutoFit/>
          </a:bodyPr>
          <a:lstStyle/>
          <a:p>
            <a:pPr algn="l"/>
            <a:r>
              <a:rPr sz="800" b="1" i="0">
                <a:solidFill>
                  <a:srgbClr val="C9A84C"/>
                </a:solidFill>
                <a:latin typeface="Calibri"/>
              </a:rPr>
              <a:t>LAYER 1 — DATA POINT THRESHOLD</a:t>
            </a:r>
          </a:p>
        </p:txBody>
      </p:sp>
      <p:sp>
        <p:nvSpPr>
          <p:cNvPr id="17" name="TextBox 16"/>
          <p:cNvSpPr txBox="1"/>
          <p:nvPr/>
        </p:nvSpPr>
        <p:spPr>
          <a:xfrm>
            <a:off x="621792" y="2816352"/>
            <a:ext cx="4992624" cy="713232"/>
          </a:xfrm>
          <a:prstGeom prst="rect">
            <a:avLst/>
          </a:prstGeom>
          <a:noFill/>
        </p:spPr>
        <p:txBody>
          <a:bodyPr wrap="square">
            <a:spAutoFit/>
          </a:bodyPr>
          <a:lstStyle/>
          <a:p>
            <a:pPr algn="l"/>
            <a:r>
              <a:rPr sz="850" b="0" i="0">
                <a:solidFill>
                  <a:srgbClr val="AAB4CC"/>
                </a:solidFill>
                <a:latin typeface="Calibri"/>
              </a:rPr>
              <a:t>Each individual data point has its own metric it must meet to become a valid signal. A regulatory filing detected. A sentiment score below threshold. A volume anomaly above baseline. Until a data point meets its individual metric, it does not count toward the group.</a:t>
            </a:r>
          </a:p>
        </p:txBody>
      </p:sp>
      <p:sp>
        <p:nvSpPr>
          <p:cNvPr id="18" name="Rectangle 17"/>
          <p:cNvSpPr/>
          <p:nvPr/>
        </p:nvSpPr>
        <p:spPr>
          <a:xfrm>
            <a:off x="438912" y="3730752"/>
            <a:ext cx="5303520" cy="1152144"/>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 y="3730752"/>
            <a:ext cx="109728" cy="115214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3822191"/>
            <a:ext cx="4992624" cy="219456"/>
          </a:xfrm>
          <a:prstGeom prst="rect">
            <a:avLst/>
          </a:prstGeom>
          <a:noFill/>
        </p:spPr>
        <p:txBody>
          <a:bodyPr wrap="square">
            <a:spAutoFit/>
          </a:bodyPr>
          <a:lstStyle/>
          <a:p>
            <a:pPr algn="l"/>
            <a:r>
              <a:rPr sz="800" b="1" i="0">
                <a:solidFill>
                  <a:srgbClr val="2B8A6E"/>
                </a:solidFill>
                <a:latin typeface="Calibri"/>
              </a:rPr>
              <a:t>LAYER 2 — MANDATORY CONDITIONS</a:t>
            </a:r>
          </a:p>
        </p:txBody>
      </p:sp>
      <p:sp>
        <p:nvSpPr>
          <p:cNvPr id="21" name="TextBox 20"/>
          <p:cNvSpPr txBox="1"/>
          <p:nvPr/>
        </p:nvSpPr>
        <p:spPr>
          <a:xfrm>
            <a:off x="621792" y="4078224"/>
            <a:ext cx="4992624" cy="713232"/>
          </a:xfrm>
          <a:prstGeom prst="rect">
            <a:avLst/>
          </a:prstGeom>
          <a:noFill/>
        </p:spPr>
        <p:txBody>
          <a:bodyPr wrap="square">
            <a:spAutoFit/>
          </a:bodyPr>
          <a:lstStyle/>
          <a:p>
            <a:pPr algn="l"/>
            <a:r>
              <a:rPr sz="850" b="0" i="0">
                <a:solidFill>
                  <a:srgbClr val="AAB4CC"/>
                </a:solidFill>
                <a:latin typeface="Calibri"/>
              </a:rPr>
              <a:t>Specific data points within a trigger group can be flagged as mandatory. The trigger group cannot fire — regardless of how many other signals are valid — unless every mandatory data point has been met. This prevents false positives on partial signal sets.</a:t>
            </a:r>
          </a:p>
        </p:txBody>
      </p:sp>
      <p:sp>
        <p:nvSpPr>
          <p:cNvPr id="22" name="Rectangle 21"/>
          <p:cNvSpPr/>
          <p:nvPr/>
        </p:nvSpPr>
        <p:spPr>
          <a:xfrm>
            <a:off x="438912" y="4992624"/>
            <a:ext cx="5303520" cy="1152144"/>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 y="4992624"/>
            <a:ext cx="109728" cy="1152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5084064"/>
            <a:ext cx="4992624" cy="219456"/>
          </a:xfrm>
          <a:prstGeom prst="rect">
            <a:avLst/>
          </a:prstGeom>
          <a:noFill/>
        </p:spPr>
        <p:txBody>
          <a:bodyPr wrap="square">
            <a:spAutoFit/>
          </a:bodyPr>
          <a:lstStyle/>
          <a:p>
            <a:pPr algn="l"/>
            <a:r>
              <a:rPr sz="800" b="1" i="0">
                <a:solidFill>
                  <a:srgbClr val="FFFFFF"/>
                </a:solidFill>
                <a:latin typeface="Calibri"/>
              </a:rPr>
              <a:t>LAYER 3 — GROUP THRESHOLD</a:t>
            </a:r>
          </a:p>
        </p:txBody>
      </p:sp>
      <p:sp>
        <p:nvSpPr>
          <p:cNvPr id="25" name="TextBox 24"/>
          <p:cNvSpPr txBox="1"/>
          <p:nvPr/>
        </p:nvSpPr>
        <p:spPr>
          <a:xfrm>
            <a:off x="621792" y="5340096"/>
            <a:ext cx="4992624" cy="713232"/>
          </a:xfrm>
          <a:prstGeom prst="rect">
            <a:avLst/>
          </a:prstGeom>
          <a:noFill/>
        </p:spPr>
        <p:txBody>
          <a:bodyPr wrap="square">
            <a:spAutoFit/>
          </a:bodyPr>
          <a:lstStyle/>
          <a:p>
            <a:pPr algn="l"/>
            <a:r>
              <a:rPr sz="850" b="0" i="0">
                <a:solidFill>
                  <a:srgbClr val="AAB4CC"/>
                </a:solidFill>
                <a:latin typeface="Calibri"/>
              </a:rPr>
              <a:t>Once individual data points are validated, the group itself must meet a final threshold — a required number or combination of valid signals. Only when the group threshold is crossed does the playbook trigger and move to execution.</a:t>
            </a:r>
          </a:p>
        </p:txBody>
      </p:sp>
      <p:sp>
        <p:nvSpPr>
          <p:cNvPr id="26" name="Rectangle 25"/>
          <p:cNvSpPr/>
          <p:nvPr/>
        </p:nvSpPr>
        <p:spPr>
          <a:xfrm>
            <a:off x="5980176" y="2103120"/>
            <a:ext cx="18288" cy="418795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2103120"/>
            <a:ext cx="5833872" cy="219456"/>
          </a:xfrm>
          <a:prstGeom prst="rect">
            <a:avLst/>
          </a:prstGeom>
          <a:noFill/>
        </p:spPr>
        <p:txBody>
          <a:bodyPr wrap="square">
            <a:spAutoFit/>
          </a:bodyPr>
          <a:lstStyle/>
          <a:p>
            <a:pPr algn="l"/>
            <a:r>
              <a:rPr sz="750" b="1" i="0">
                <a:solidFill>
                  <a:srgbClr val="C9A84C"/>
                </a:solidFill>
                <a:latin typeface="Calibri"/>
              </a:rPr>
              <a:t>── EXAMPLE: ACTIVIST INVESTOR TRIGGER GROUP ──</a:t>
            </a:r>
          </a:p>
        </p:txBody>
      </p:sp>
      <p:sp>
        <p:nvSpPr>
          <p:cNvPr id="28" name="TextBox 27"/>
          <p:cNvSpPr txBox="1"/>
          <p:nvPr/>
        </p:nvSpPr>
        <p:spPr>
          <a:xfrm>
            <a:off x="6144768" y="2359152"/>
            <a:ext cx="5833872" cy="219456"/>
          </a:xfrm>
          <a:prstGeom prst="rect">
            <a:avLst/>
          </a:prstGeom>
          <a:noFill/>
        </p:spPr>
        <p:txBody>
          <a:bodyPr wrap="square">
            <a:spAutoFit/>
          </a:bodyPr>
          <a:lstStyle/>
          <a:p>
            <a:pPr algn="l"/>
            <a:r>
              <a:rPr sz="800" b="1" i="0">
                <a:solidFill>
                  <a:srgbClr val="AAB4CC"/>
                </a:solidFill>
                <a:latin typeface="Calibri"/>
              </a:rPr>
              <a:t>Group Threshold:  4 of 5 data points valid  ·  Mandatory: Data Point #1</a:t>
            </a:r>
          </a:p>
        </p:txBody>
      </p:sp>
      <p:sp>
        <p:nvSpPr>
          <p:cNvPr id="29" name="Rectangle 28"/>
          <p:cNvSpPr/>
          <p:nvPr/>
        </p:nvSpPr>
        <p:spPr>
          <a:xfrm>
            <a:off x="6144768" y="2615184"/>
            <a:ext cx="5833872" cy="3566160"/>
          </a:xfrm>
          <a:prstGeom prst="rect">
            <a:avLst/>
          </a:prstGeom>
          <a:solidFill>
            <a:srgbClr val="05091E"/>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2706624"/>
            <a:ext cx="5687568" cy="585216"/>
          </a:xfrm>
          <a:prstGeom prst="rect">
            <a:avLst/>
          </a:prstGeom>
          <a:solidFill>
            <a:srgbClr val="1A1206"/>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54496" y="2779776"/>
            <a:ext cx="256032" cy="438912"/>
          </a:xfrm>
          <a:prstGeom prst="rect">
            <a:avLst/>
          </a:prstGeom>
          <a:noFill/>
        </p:spPr>
        <p:txBody>
          <a:bodyPr wrap="square">
            <a:spAutoFit/>
          </a:bodyPr>
          <a:lstStyle/>
          <a:p>
            <a:pPr algn="l"/>
            <a:r>
              <a:rPr sz="900" b="1" i="0">
                <a:solidFill>
                  <a:srgbClr val="C9A84C"/>
                </a:solidFill>
                <a:latin typeface="Calibri"/>
              </a:rPr>
              <a:t>★</a:t>
            </a:r>
          </a:p>
        </p:txBody>
      </p:sp>
      <p:sp>
        <p:nvSpPr>
          <p:cNvPr id="32" name="TextBox 31"/>
          <p:cNvSpPr txBox="1"/>
          <p:nvPr/>
        </p:nvSpPr>
        <p:spPr>
          <a:xfrm>
            <a:off x="6547104" y="2761488"/>
            <a:ext cx="3291840" cy="219456"/>
          </a:xfrm>
          <a:prstGeom prst="rect">
            <a:avLst/>
          </a:prstGeom>
          <a:noFill/>
        </p:spPr>
        <p:txBody>
          <a:bodyPr wrap="square">
            <a:spAutoFit/>
          </a:bodyPr>
          <a:lstStyle/>
          <a:p>
            <a:pPr algn="l"/>
            <a:r>
              <a:rPr sz="850" b="1" i="0">
                <a:solidFill>
                  <a:srgbClr val="C9A84C"/>
                </a:solidFill>
                <a:latin typeface="Calibri"/>
              </a:rPr>
              <a:t>SEC 13D Filing Detected</a:t>
            </a:r>
          </a:p>
        </p:txBody>
      </p:sp>
      <p:sp>
        <p:nvSpPr>
          <p:cNvPr id="33" name="TextBox 32"/>
          <p:cNvSpPr txBox="1"/>
          <p:nvPr/>
        </p:nvSpPr>
        <p:spPr>
          <a:xfrm>
            <a:off x="6547104" y="2999232"/>
            <a:ext cx="3291840" cy="219456"/>
          </a:xfrm>
          <a:prstGeom prst="rect">
            <a:avLst/>
          </a:prstGeom>
          <a:noFill/>
        </p:spPr>
        <p:txBody>
          <a:bodyPr wrap="square">
            <a:spAutoFit/>
          </a:bodyPr>
          <a:lstStyle/>
          <a:p>
            <a:pPr algn="l"/>
            <a:r>
              <a:rPr sz="750" b="0" i="0">
                <a:solidFill>
                  <a:srgbClr val="AAB4CC"/>
                </a:solidFill>
                <a:latin typeface="Calibri"/>
              </a:rPr>
              <a:t>&gt; 5% ownership disclosure filed with SEC</a:t>
            </a:r>
          </a:p>
        </p:txBody>
      </p:sp>
      <p:sp>
        <p:nvSpPr>
          <p:cNvPr id="34" name="TextBox 33"/>
          <p:cNvSpPr txBox="1"/>
          <p:nvPr/>
        </p:nvSpPr>
        <p:spPr>
          <a:xfrm>
            <a:off x="9912096" y="2889504"/>
            <a:ext cx="1810512" cy="219456"/>
          </a:xfrm>
          <a:prstGeom prst="rect">
            <a:avLst/>
          </a:prstGeom>
          <a:noFill/>
        </p:spPr>
        <p:txBody>
          <a:bodyPr wrap="square">
            <a:spAutoFit/>
          </a:bodyPr>
          <a:lstStyle/>
          <a:p>
            <a:pPr algn="r"/>
            <a:r>
              <a:rPr sz="700" b="1" i="0">
                <a:solidFill>
                  <a:srgbClr val="C9A84C"/>
                </a:solidFill>
                <a:latin typeface="Calibri"/>
              </a:rPr>
              <a:t>MANDATORY</a:t>
            </a:r>
          </a:p>
        </p:txBody>
      </p:sp>
      <p:sp>
        <p:nvSpPr>
          <p:cNvPr id="35" name="Rectangle 34"/>
          <p:cNvSpPr/>
          <p:nvPr/>
        </p:nvSpPr>
        <p:spPr>
          <a:xfrm>
            <a:off x="6217920" y="3364991"/>
            <a:ext cx="5687568" cy="585216"/>
          </a:xfrm>
          <a:prstGeom prst="rect">
            <a:avLst/>
          </a:prstGeom>
          <a:solidFill>
            <a:srgbClr val="0A160A"/>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3438144"/>
            <a:ext cx="256032" cy="438912"/>
          </a:xfrm>
          <a:prstGeom prst="rect">
            <a:avLst/>
          </a:prstGeom>
          <a:noFill/>
        </p:spPr>
        <p:txBody>
          <a:bodyPr wrap="square">
            <a:spAutoFit/>
          </a:bodyPr>
          <a:lstStyle/>
          <a:p>
            <a:pPr algn="l"/>
            <a:r>
              <a:rPr sz="900" b="1" i="0">
                <a:solidFill>
                  <a:srgbClr val="2B8A6E"/>
                </a:solidFill>
                <a:latin typeface="Calibri"/>
              </a:rPr>
              <a:t>◆</a:t>
            </a:r>
          </a:p>
        </p:txBody>
      </p:sp>
      <p:sp>
        <p:nvSpPr>
          <p:cNvPr id="37" name="TextBox 36"/>
          <p:cNvSpPr txBox="1"/>
          <p:nvPr/>
        </p:nvSpPr>
        <p:spPr>
          <a:xfrm>
            <a:off x="6547104" y="3419856"/>
            <a:ext cx="3291840" cy="219456"/>
          </a:xfrm>
          <a:prstGeom prst="rect">
            <a:avLst/>
          </a:prstGeom>
          <a:noFill/>
        </p:spPr>
        <p:txBody>
          <a:bodyPr wrap="square">
            <a:spAutoFit/>
          </a:bodyPr>
          <a:lstStyle/>
          <a:p>
            <a:pPr algn="l"/>
            <a:r>
              <a:rPr sz="850" b="1" i="0">
                <a:solidFill>
                  <a:srgbClr val="FFFFFF"/>
                </a:solidFill>
                <a:latin typeface="Calibri"/>
              </a:rPr>
              <a:t>Institutional Position Change</a:t>
            </a:r>
          </a:p>
        </p:txBody>
      </p:sp>
      <p:sp>
        <p:nvSpPr>
          <p:cNvPr id="38" name="TextBox 37"/>
          <p:cNvSpPr txBox="1"/>
          <p:nvPr/>
        </p:nvSpPr>
        <p:spPr>
          <a:xfrm>
            <a:off x="6547104" y="3657599"/>
            <a:ext cx="3291840" cy="219456"/>
          </a:xfrm>
          <a:prstGeom prst="rect">
            <a:avLst/>
          </a:prstGeom>
          <a:noFill/>
        </p:spPr>
        <p:txBody>
          <a:bodyPr wrap="square">
            <a:spAutoFit/>
          </a:bodyPr>
          <a:lstStyle/>
          <a:p>
            <a:pPr algn="l"/>
            <a:r>
              <a:rPr sz="750" b="0" i="0">
                <a:solidFill>
                  <a:srgbClr val="AAB4CC"/>
                </a:solidFill>
                <a:latin typeface="Calibri"/>
              </a:rPr>
              <a:t>&gt; 2% position change in 30-day window</a:t>
            </a:r>
          </a:p>
        </p:txBody>
      </p:sp>
      <p:sp>
        <p:nvSpPr>
          <p:cNvPr id="39" name="TextBox 38"/>
          <p:cNvSpPr txBox="1"/>
          <p:nvPr/>
        </p:nvSpPr>
        <p:spPr>
          <a:xfrm>
            <a:off x="9912096" y="3547872"/>
            <a:ext cx="1810512" cy="219456"/>
          </a:xfrm>
          <a:prstGeom prst="rect">
            <a:avLst/>
          </a:prstGeom>
          <a:noFill/>
        </p:spPr>
        <p:txBody>
          <a:bodyPr wrap="square">
            <a:spAutoFit/>
          </a:bodyPr>
          <a:lstStyle/>
          <a:p>
            <a:pPr algn="r"/>
            <a:r>
              <a:rPr sz="700" b="1" i="0">
                <a:solidFill>
                  <a:srgbClr val="2B8A6E"/>
                </a:solidFill>
                <a:latin typeface="Calibri"/>
              </a:rPr>
              <a:t>THRESHOLD MET</a:t>
            </a:r>
          </a:p>
        </p:txBody>
      </p:sp>
      <p:sp>
        <p:nvSpPr>
          <p:cNvPr id="40" name="Rectangle 39"/>
          <p:cNvSpPr/>
          <p:nvPr/>
        </p:nvSpPr>
        <p:spPr>
          <a:xfrm>
            <a:off x="6217920" y="4023360"/>
            <a:ext cx="5687568" cy="585216"/>
          </a:xfrm>
          <a:prstGeom prst="rect">
            <a:avLst/>
          </a:prstGeom>
          <a:solidFill>
            <a:srgbClr val="0A160A"/>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54496" y="4096512"/>
            <a:ext cx="256032" cy="438912"/>
          </a:xfrm>
          <a:prstGeom prst="rect">
            <a:avLst/>
          </a:prstGeom>
          <a:noFill/>
        </p:spPr>
        <p:txBody>
          <a:bodyPr wrap="square">
            <a:spAutoFit/>
          </a:bodyPr>
          <a:lstStyle/>
          <a:p>
            <a:pPr algn="l"/>
            <a:r>
              <a:rPr sz="900" b="1" i="0">
                <a:solidFill>
                  <a:srgbClr val="2B8A6E"/>
                </a:solidFill>
                <a:latin typeface="Calibri"/>
              </a:rPr>
              <a:t>◆</a:t>
            </a:r>
          </a:p>
        </p:txBody>
      </p:sp>
      <p:sp>
        <p:nvSpPr>
          <p:cNvPr id="42" name="TextBox 41"/>
          <p:cNvSpPr txBox="1"/>
          <p:nvPr/>
        </p:nvSpPr>
        <p:spPr>
          <a:xfrm>
            <a:off x="6547104" y="4078224"/>
            <a:ext cx="3291840" cy="219456"/>
          </a:xfrm>
          <a:prstGeom prst="rect">
            <a:avLst/>
          </a:prstGeom>
          <a:noFill/>
        </p:spPr>
        <p:txBody>
          <a:bodyPr wrap="square">
            <a:spAutoFit/>
          </a:bodyPr>
          <a:lstStyle/>
          <a:p>
            <a:pPr algn="l"/>
            <a:r>
              <a:rPr sz="850" b="1" i="0">
                <a:solidFill>
                  <a:srgbClr val="FFFFFF"/>
                </a:solidFill>
                <a:latin typeface="Calibri"/>
              </a:rPr>
              <a:t>Board Communication Volume</a:t>
            </a:r>
          </a:p>
        </p:txBody>
      </p:sp>
      <p:sp>
        <p:nvSpPr>
          <p:cNvPr id="43" name="TextBox 42"/>
          <p:cNvSpPr txBox="1"/>
          <p:nvPr/>
        </p:nvSpPr>
        <p:spPr>
          <a:xfrm>
            <a:off x="6547104" y="4315968"/>
            <a:ext cx="3291840" cy="219456"/>
          </a:xfrm>
          <a:prstGeom prst="rect">
            <a:avLst/>
          </a:prstGeom>
          <a:noFill/>
        </p:spPr>
        <p:txBody>
          <a:bodyPr wrap="square">
            <a:spAutoFit/>
          </a:bodyPr>
          <a:lstStyle/>
          <a:p>
            <a:pPr algn="l"/>
            <a:r>
              <a:rPr sz="750" b="0" i="0">
                <a:solidFill>
                  <a:srgbClr val="AAB4CC"/>
                </a:solidFill>
                <a:latin typeface="Calibri"/>
              </a:rPr>
              <a:t>&gt; 40% above 90-day baseline activity</a:t>
            </a:r>
          </a:p>
        </p:txBody>
      </p:sp>
      <p:sp>
        <p:nvSpPr>
          <p:cNvPr id="44" name="TextBox 43"/>
          <p:cNvSpPr txBox="1"/>
          <p:nvPr/>
        </p:nvSpPr>
        <p:spPr>
          <a:xfrm>
            <a:off x="9912096" y="4206240"/>
            <a:ext cx="1810512" cy="219456"/>
          </a:xfrm>
          <a:prstGeom prst="rect">
            <a:avLst/>
          </a:prstGeom>
          <a:noFill/>
        </p:spPr>
        <p:txBody>
          <a:bodyPr wrap="square">
            <a:spAutoFit/>
          </a:bodyPr>
          <a:lstStyle/>
          <a:p>
            <a:pPr algn="r"/>
            <a:r>
              <a:rPr sz="700" b="1" i="0">
                <a:solidFill>
                  <a:srgbClr val="2B8A6E"/>
                </a:solidFill>
                <a:latin typeface="Calibri"/>
              </a:rPr>
              <a:t>THRESHOLD MET</a:t>
            </a:r>
          </a:p>
        </p:txBody>
      </p:sp>
      <p:sp>
        <p:nvSpPr>
          <p:cNvPr id="45" name="Rectangle 44"/>
          <p:cNvSpPr/>
          <p:nvPr/>
        </p:nvSpPr>
        <p:spPr>
          <a:xfrm>
            <a:off x="6217920" y="4681728"/>
            <a:ext cx="5687568" cy="585216"/>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54496" y="4754880"/>
            <a:ext cx="256032" cy="438912"/>
          </a:xfrm>
          <a:prstGeom prst="rect">
            <a:avLst/>
          </a:prstGeom>
          <a:noFill/>
        </p:spPr>
        <p:txBody>
          <a:bodyPr wrap="square">
            <a:spAutoFit/>
          </a:bodyPr>
          <a:lstStyle/>
          <a:p>
            <a:pPr algn="l"/>
            <a:r>
              <a:rPr sz="900" b="1" i="0">
                <a:solidFill>
                  <a:srgbClr val="AAB4CC"/>
                </a:solidFill>
                <a:latin typeface="Calibri"/>
              </a:rPr>
              <a:t>◆</a:t>
            </a:r>
          </a:p>
        </p:txBody>
      </p:sp>
      <p:sp>
        <p:nvSpPr>
          <p:cNvPr id="47" name="TextBox 46"/>
          <p:cNvSpPr txBox="1"/>
          <p:nvPr/>
        </p:nvSpPr>
        <p:spPr>
          <a:xfrm>
            <a:off x="6547104" y="4736592"/>
            <a:ext cx="3291840" cy="219456"/>
          </a:xfrm>
          <a:prstGeom prst="rect">
            <a:avLst/>
          </a:prstGeom>
          <a:noFill/>
        </p:spPr>
        <p:txBody>
          <a:bodyPr wrap="square">
            <a:spAutoFit/>
          </a:bodyPr>
          <a:lstStyle/>
          <a:p>
            <a:pPr algn="l"/>
            <a:r>
              <a:rPr sz="850" b="1" i="0">
                <a:solidFill>
                  <a:srgbClr val="FFFFFF"/>
                </a:solidFill>
                <a:latin typeface="Calibri"/>
              </a:rPr>
              <a:t>Proxy Advisor Engagement</a:t>
            </a:r>
          </a:p>
        </p:txBody>
      </p:sp>
      <p:sp>
        <p:nvSpPr>
          <p:cNvPr id="48" name="TextBox 47"/>
          <p:cNvSpPr txBox="1"/>
          <p:nvPr/>
        </p:nvSpPr>
        <p:spPr>
          <a:xfrm>
            <a:off x="6547104" y="4974336"/>
            <a:ext cx="3291840" cy="219456"/>
          </a:xfrm>
          <a:prstGeom prst="rect">
            <a:avLst/>
          </a:prstGeom>
          <a:noFill/>
        </p:spPr>
        <p:txBody>
          <a:bodyPr wrap="square">
            <a:spAutoFit/>
          </a:bodyPr>
          <a:lstStyle/>
          <a:p>
            <a:pPr algn="l"/>
            <a:r>
              <a:rPr sz="750" b="0" i="0">
                <a:solidFill>
                  <a:srgbClr val="AAB4CC"/>
                </a:solidFill>
                <a:latin typeface="Calibri"/>
              </a:rPr>
              <a:t>2+ advisors engaged — monitoring</a:t>
            </a:r>
          </a:p>
        </p:txBody>
      </p:sp>
      <p:sp>
        <p:nvSpPr>
          <p:cNvPr id="49" name="TextBox 48"/>
          <p:cNvSpPr txBox="1"/>
          <p:nvPr/>
        </p:nvSpPr>
        <p:spPr>
          <a:xfrm>
            <a:off x="9912096" y="4864608"/>
            <a:ext cx="1810512" cy="219456"/>
          </a:xfrm>
          <a:prstGeom prst="rect">
            <a:avLst/>
          </a:prstGeom>
          <a:noFill/>
        </p:spPr>
        <p:txBody>
          <a:bodyPr wrap="square">
            <a:spAutoFit/>
          </a:bodyPr>
          <a:lstStyle/>
          <a:p>
            <a:pPr algn="r"/>
            <a:r>
              <a:rPr sz="700" b="1" i="0">
                <a:solidFill>
                  <a:srgbClr val="AAB4CC"/>
                </a:solidFill>
                <a:latin typeface="Calibri"/>
              </a:rPr>
              <a:t>PENDING</a:t>
            </a:r>
          </a:p>
        </p:txBody>
      </p:sp>
      <p:sp>
        <p:nvSpPr>
          <p:cNvPr id="50" name="Rectangle 49"/>
          <p:cNvSpPr/>
          <p:nvPr/>
        </p:nvSpPr>
        <p:spPr>
          <a:xfrm>
            <a:off x="6217920" y="5340096"/>
            <a:ext cx="5687568" cy="585216"/>
          </a:xfrm>
          <a:prstGeom prst="rect">
            <a:avLst/>
          </a:prstGeom>
          <a:solidFill>
            <a:srgbClr val="0A160A"/>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54496" y="5413248"/>
            <a:ext cx="256032" cy="438912"/>
          </a:xfrm>
          <a:prstGeom prst="rect">
            <a:avLst/>
          </a:prstGeom>
          <a:noFill/>
        </p:spPr>
        <p:txBody>
          <a:bodyPr wrap="square">
            <a:spAutoFit/>
          </a:bodyPr>
          <a:lstStyle/>
          <a:p>
            <a:pPr algn="l"/>
            <a:r>
              <a:rPr sz="900" b="1" i="0">
                <a:solidFill>
                  <a:srgbClr val="2B8A6E"/>
                </a:solidFill>
                <a:latin typeface="Calibri"/>
              </a:rPr>
              <a:t>◆</a:t>
            </a:r>
          </a:p>
        </p:txBody>
      </p:sp>
      <p:sp>
        <p:nvSpPr>
          <p:cNvPr id="52" name="TextBox 51"/>
          <p:cNvSpPr txBox="1"/>
          <p:nvPr/>
        </p:nvSpPr>
        <p:spPr>
          <a:xfrm>
            <a:off x="6547104" y="5394959"/>
            <a:ext cx="3291840" cy="219456"/>
          </a:xfrm>
          <a:prstGeom prst="rect">
            <a:avLst/>
          </a:prstGeom>
          <a:noFill/>
        </p:spPr>
        <p:txBody>
          <a:bodyPr wrap="square">
            <a:spAutoFit/>
          </a:bodyPr>
          <a:lstStyle/>
          <a:p>
            <a:pPr algn="l"/>
            <a:r>
              <a:rPr sz="850" b="1" i="0">
                <a:solidFill>
                  <a:srgbClr val="FFFFFF"/>
                </a:solidFill>
                <a:latin typeface="Calibri"/>
              </a:rPr>
              <a:t>Media Sentiment Score</a:t>
            </a:r>
          </a:p>
        </p:txBody>
      </p:sp>
      <p:sp>
        <p:nvSpPr>
          <p:cNvPr id="53" name="TextBox 52"/>
          <p:cNvSpPr txBox="1"/>
          <p:nvPr/>
        </p:nvSpPr>
        <p:spPr>
          <a:xfrm>
            <a:off x="6547104" y="5632704"/>
            <a:ext cx="3291840" cy="219456"/>
          </a:xfrm>
          <a:prstGeom prst="rect">
            <a:avLst/>
          </a:prstGeom>
          <a:noFill/>
        </p:spPr>
        <p:txBody>
          <a:bodyPr wrap="square">
            <a:spAutoFit/>
          </a:bodyPr>
          <a:lstStyle/>
          <a:p>
            <a:pPr algn="l"/>
            <a:r>
              <a:rPr sz="750" b="0" i="0">
                <a:solidFill>
                  <a:srgbClr val="AAB4CC"/>
                </a:solidFill>
                <a:latin typeface="Calibri"/>
              </a:rPr>
              <a:t>Sentiment index &lt; 35 (negative zone)</a:t>
            </a:r>
          </a:p>
        </p:txBody>
      </p:sp>
      <p:sp>
        <p:nvSpPr>
          <p:cNvPr id="54" name="TextBox 53"/>
          <p:cNvSpPr txBox="1"/>
          <p:nvPr/>
        </p:nvSpPr>
        <p:spPr>
          <a:xfrm>
            <a:off x="9912096" y="5522976"/>
            <a:ext cx="1810512" cy="219456"/>
          </a:xfrm>
          <a:prstGeom prst="rect">
            <a:avLst/>
          </a:prstGeom>
          <a:noFill/>
        </p:spPr>
        <p:txBody>
          <a:bodyPr wrap="square">
            <a:spAutoFit/>
          </a:bodyPr>
          <a:lstStyle/>
          <a:p>
            <a:pPr algn="r"/>
            <a:r>
              <a:rPr sz="700" b="1" i="0">
                <a:solidFill>
                  <a:srgbClr val="2B8A6E"/>
                </a:solidFill>
                <a:latin typeface="Calibri"/>
              </a:rPr>
              <a:t>THRESHOLD MET</a:t>
            </a:r>
          </a:p>
        </p:txBody>
      </p:sp>
      <p:sp>
        <p:nvSpPr>
          <p:cNvPr id="55" name="Rectangle 54"/>
          <p:cNvSpPr/>
          <p:nvPr/>
        </p:nvSpPr>
        <p:spPr>
          <a:xfrm>
            <a:off x="6144768" y="6217920"/>
            <a:ext cx="5833872" cy="384048"/>
          </a:xfrm>
          <a:prstGeom prst="rect">
            <a:avLst/>
          </a:prstGeom>
          <a:solidFill>
            <a:srgbClr val="0A200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72784" y="6272784"/>
            <a:ext cx="5614416" cy="256032"/>
          </a:xfrm>
          <a:prstGeom prst="rect">
            <a:avLst/>
          </a:prstGeom>
          <a:noFill/>
        </p:spPr>
        <p:txBody>
          <a:bodyPr wrap="square">
            <a:spAutoFit/>
          </a:bodyPr>
          <a:lstStyle/>
          <a:p>
            <a:pPr algn="ctr"/>
            <a:r>
              <a:rPr sz="800" b="1" i="0">
                <a:solidFill>
                  <a:srgbClr val="2B8A6E"/>
                </a:solidFill>
                <a:latin typeface="Calibri"/>
              </a:rPr>
              <a:t>4 / 5 VALID  ·  MANDATORY MET  →  PROTOCOL #58 ACTIVATED  —  WAR ROOM OPEN</a:t>
            </a:r>
          </a:p>
        </p:txBody>
      </p:sp>
      <p:sp>
        <p:nvSpPr>
          <p:cNvPr id="57" name="Rectangle 56"/>
          <p:cNvSpPr/>
          <p:nvPr/>
        </p:nvSpPr>
        <p:spPr>
          <a:xfrm>
            <a:off x="438912" y="6126480"/>
            <a:ext cx="5303520" cy="256032"/>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6928" y="6144768"/>
            <a:ext cx="5138928" cy="201168"/>
          </a:xfrm>
          <a:prstGeom prst="rect">
            <a:avLst/>
          </a:prstGeom>
          <a:noFill/>
        </p:spPr>
        <p:txBody>
          <a:bodyPr wrap="square">
            <a:spAutoFit/>
          </a:bodyPr>
          <a:lstStyle/>
          <a:p>
            <a:pPr algn="l"/>
            <a:r>
              <a:rPr sz="800" b="0" i="1">
                <a:solidFill>
                  <a:srgbClr val="C9A84C"/>
                </a:solidFill>
                <a:latin typeface="Calibri"/>
              </a:rPr>
              <a:t>Result: Protocol #58 — Activist Investor Defense deploys · 12-minute execution begins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