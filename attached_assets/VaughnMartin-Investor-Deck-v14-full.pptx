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040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36576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A6E"/>
                </a:solidFill>
                <a:latin typeface="Calibri"/>
              </a:rPr>
              <a:t>●  MONITORING ACTIVE  ·  1 SIGNAL DETECTED  ·  SYSTEM ARMED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3657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AAB4CC"/>
                </a:solidFill>
                <a:latin typeface="Calibri"/>
              </a:rPr>
              <a:t>READINESS OS  ·  LIVE</a:t>
            </a:r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384048"/>
            <a:ext cx="2212848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47472" y="1024128"/>
            <a:ext cx="5888736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961888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Georgia"/>
              </a:rPr>
              <a:t>The Response Is Ready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920240"/>
            <a:ext cx="596188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0" i="1">
                <a:solidFill>
                  <a:srgbClr val="C9A84C"/>
                </a:solidFill>
                <a:latin typeface="Georgia"/>
              </a:rPr>
              <a:t>Before the Trigger Fires.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" y="2688336"/>
            <a:ext cx="5669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4CC"/>
                </a:solidFill>
                <a:latin typeface="Calibri"/>
              </a:rPr>
              <a:t>Readiness OS compresses the 30-day enterprise mobilization cycle to 12 minutes —
pre-staged, system-detected, executive-authorized.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" y="365760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Georgia"/>
              </a:rPr>
              <a:t>3,600×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" y="4096512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AAB4CC"/>
                </a:solidFill>
                <a:latin typeface="Calibri"/>
              </a:rPr>
              <a:t>EXECUTION HEAD 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9152" y="365760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Georgia"/>
              </a:rPr>
              <a:t>12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9152" y="4096512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AAB4CC"/>
                </a:solidFill>
                <a:latin typeface="Calibri"/>
              </a:rPr>
              <a:t>TRIGGER TO WAR ROOM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3657600"/>
            <a:ext cx="1645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Georgia"/>
              </a:rPr>
              <a:t>170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4096512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AAB4CC"/>
                </a:solidFill>
                <a:latin typeface="Calibri"/>
              </a:rPr>
              <a:t>READINESS PROTOCOLS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657600"/>
            <a:ext cx="1645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Georgia"/>
              </a:rPr>
              <a:t>221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096512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AAB4CC"/>
                </a:solidFill>
                <a:latin typeface="Calibri"/>
              </a:rPr>
              <a:t>STRATEGIC TRIGGERS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4663440"/>
            <a:ext cx="2743200" cy="42062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4736592"/>
            <a:ext cx="26151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A0F2E"/>
                </a:solidFill>
                <a:latin typeface="Calibri"/>
              </a:rPr>
              <a:t>FOUNDING PARTNER PROGRAM</a:t>
            </a:r>
          </a:p>
        </p:txBody>
      </p:sp>
      <p:pic>
        <p:nvPicPr>
          <p:cNvPr id="22" name="Picture 21" descr="vm_seal_nob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456" y="512064"/>
            <a:ext cx="4809744" cy="480974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00  / 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01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THE PROBLEM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The Mobilization Delay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IS the Crisis.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64208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When a strategic trigger fires, organizations spend weeks just getting organized — before a single decision is made. The delay is not a symptom. It IS the crisis.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76272"/>
            <a:ext cx="3675887" cy="2688336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267712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Calibri"/>
              </a:rPr>
              <a:t>DETECT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542032"/>
            <a:ext cx="34198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2–4 WEEKS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127248"/>
            <a:ext cx="3419856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4CC"/>
                </a:solidFill>
                <a:latin typeface="Calibri"/>
              </a:rPr>
              <a:t>Who monitors signals?
Which ones matter?
Who decides the threshold?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79" y="2176272"/>
            <a:ext cx="3675887" cy="2688336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25695" y="2267712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Calibri"/>
              </a:rPr>
              <a:t>ALIGN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5" y="2542032"/>
            <a:ext cx="34198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3–6 WEEKS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5" y="3127248"/>
            <a:ext cx="3419856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4CC"/>
                </a:solidFill>
                <a:latin typeface="Calibri"/>
              </a:rPr>
              <a:t>Who needs to be in the room?
What is the plan?
Who approves it?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56448" y="2176272"/>
            <a:ext cx="3675887" cy="2688336"/>
          </a:xfrm>
          <a:prstGeom prst="rect">
            <a:avLst/>
          </a:prstGeom>
          <a:solidFill>
            <a:srgbClr val="070B24"/>
          </a:solidFill>
          <a:ln w="9525">
            <a:solidFill>
              <a:srgbClr val="C0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4" y="2267712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3030"/>
                </a:solidFill>
                <a:latin typeface="Calibri"/>
              </a:rPr>
              <a:t>EXECUTE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2542032"/>
            <a:ext cx="34198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03030"/>
                </a:solidFill>
                <a:latin typeface="Georgia"/>
              </a:rPr>
              <a:t>CRISIS WINS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3127248"/>
            <a:ext cx="3419856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4CC"/>
                </a:solidFill>
                <a:latin typeface="Calibri"/>
              </a:rPr>
              <a:t>By this point the window has
closed. The opportunity is gone.
The damage is done.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5084064"/>
            <a:ext cx="11320272" cy="640080"/>
          </a:xfrm>
          <a:prstGeom prst="rect">
            <a:avLst/>
          </a:prstGeom>
          <a:solidFill>
            <a:srgbClr val="0A1A1A"/>
          </a:solidFill>
          <a:ln w="1270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175504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FFFFFF"/>
                </a:solidFill>
                <a:latin typeface="Georgia"/>
              </a:rPr>
              <a:t>"In any organization — startup to Fortune 500 — when a strategic trigger fires, the enterprise spends weeks just to MOBILIZE before execution even begins. That mobilization delay is the real crisis."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02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WHY CURRENT SOLUTIONS FAIL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Everyone Bolted AI Onto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The 40-Year-Old Operating Model.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64208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The constraint was never intelligence. It was the operating model underneath it. Faster spreadsheets. Smarter summaries. Better notes from the same slow meeting.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57984"/>
            <a:ext cx="2523744" cy="347472"/>
          </a:xfrm>
          <a:prstGeom prst="rect">
            <a:avLst/>
          </a:prstGeom>
          <a:solidFill>
            <a:srgbClr val="142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212848"/>
            <a:ext cx="24323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SOLUTION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90672" y="2157984"/>
            <a:ext cx="4169663" cy="347472"/>
          </a:xfrm>
          <a:prstGeom prst="rect">
            <a:avLst/>
          </a:prstGeom>
          <a:solidFill>
            <a:srgbClr val="142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2212848"/>
            <a:ext cx="40782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WHAT IT DOES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51775" y="2157984"/>
            <a:ext cx="4133087" cy="347472"/>
          </a:xfrm>
          <a:prstGeom prst="rect">
            <a:avLst/>
          </a:prstGeom>
          <a:solidFill>
            <a:srgbClr val="142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43215" y="2212848"/>
            <a:ext cx="4041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WHAT IT MISSES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2542032"/>
            <a:ext cx="2523744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2624327"/>
            <a:ext cx="2395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AAB4CC"/>
                </a:solidFill>
                <a:latin typeface="Calibri"/>
              </a:rPr>
              <a:t>Microsoft Copilot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90672" y="2542032"/>
            <a:ext cx="4169663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82112" y="2624327"/>
            <a:ext cx="4041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Summarizes meetings faster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51775" y="2542032"/>
            <a:ext cx="4133087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43215" y="2624327"/>
            <a:ext cx="4005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5555"/>
                </a:solidFill>
                <a:latin typeface="Calibri"/>
              </a:rPr>
              <a:t>The operating model that acts on those summaries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3017520"/>
            <a:ext cx="2523744" cy="43891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3099815"/>
            <a:ext cx="2395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AAB4CC"/>
                </a:solidFill>
                <a:latin typeface="Calibri"/>
              </a:rPr>
              <a:t>ChatGPT / Claude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90672" y="3017520"/>
            <a:ext cx="4169663" cy="43891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82112" y="3099815"/>
            <a:ext cx="4041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Answers questions in real time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51775" y="3017520"/>
            <a:ext cx="4133087" cy="43891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43215" y="3099815"/>
            <a:ext cx="4005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5555"/>
                </a:solidFill>
                <a:latin typeface="Calibri"/>
              </a:rPr>
              <a:t>Pre-staged execution before the question is asked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" y="3493008"/>
            <a:ext cx="2523744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3575303"/>
            <a:ext cx="2395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AAB4CC"/>
                </a:solidFill>
                <a:latin typeface="Calibri"/>
              </a:rPr>
              <a:t>Strategy Consultants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90672" y="3493008"/>
            <a:ext cx="4169663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82112" y="3575303"/>
            <a:ext cx="4041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Builds the plan after crisis hits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51775" y="3493008"/>
            <a:ext cx="4133087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43215" y="3575303"/>
            <a:ext cx="4005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5555"/>
                </a:solidFill>
                <a:latin typeface="Calibri"/>
              </a:rPr>
              <a:t>Speed, cost ($250K+), and institutional memory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8912" y="3968496"/>
            <a:ext cx="2523744" cy="43891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0352" y="4050791"/>
            <a:ext cx="2395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AAB4CC"/>
                </a:solidFill>
                <a:latin typeface="Calibri"/>
              </a:rPr>
              <a:t>Workflow Automation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90672" y="3968496"/>
            <a:ext cx="4169663" cy="43891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82112" y="4050791"/>
            <a:ext cx="4041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Executes predefined tasks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51775" y="3968496"/>
            <a:ext cx="4133087" cy="43891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3215" y="4050791"/>
            <a:ext cx="4005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5555"/>
                </a:solidFill>
                <a:latin typeface="Calibri"/>
              </a:rPr>
              <a:t>Trigger detection, compound crises, executive auth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4443983"/>
            <a:ext cx="2523744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0352" y="4526279"/>
            <a:ext cx="2395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AAB4CC"/>
                </a:solidFill>
                <a:latin typeface="Calibri"/>
              </a:rPr>
              <a:t>Scenario Planning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90672" y="4443983"/>
            <a:ext cx="4169663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82112" y="4526279"/>
            <a:ext cx="4041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Documents possible futures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51775" y="4443983"/>
            <a:ext cx="4133087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3215" y="4526279"/>
            <a:ext cx="4005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5555"/>
                </a:solidFill>
                <a:latin typeface="Calibri"/>
              </a:rPr>
              <a:t>Staged, authorized, executable response protocols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8912" y="4974336"/>
            <a:ext cx="11320272" cy="566928"/>
          </a:xfrm>
          <a:prstGeom prst="rect">
            <a:avLst/>
          </a:prstGeom>
          <a:solidFill>
            <a:srgbClr val="0A160A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5065776"/>
            <a:ext cx="10972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FFFFFF"/>
                </a:solidFill>
                <a:latin typeface="Georgia"/>
              </a:rPr>
              <a:t>VaughnMartin rebuilds from first principles. Not faster tools. A new operating model. Pre-staged protocols replace real-time coordination. Pattern detection replaces committee deliberation.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03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THE PLATFORM ARCHITECTURE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An Always-On Operating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Nervous System for the Enterprise.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64208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Not a tool you pick up when the crisis hits. Infrastructure that never stops running — detecting, staging, executing, and learning.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57984"/>
            <a:ext cx="11320272" cy="749808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04288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B8A6E"/>
                </a:solidFill>
                <a:latin typeface="Georgia"/>
              </a:rPr>
              <a:t>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" y="2249424"/>
            <a:ext cx="16459" cy="56692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2231136"/>
            <a:ext cx="1335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B8A6E"/>
                </a:solidFill>
                <a:latin typeface="Calibri"/>
              </a:rPr>
              <a:t>DETECT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2468879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Live Signal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2322576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8 sources · 15-min cycles · 221 triggers mapped · risk scoring · Readiness Score · Command Tower always live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2962656"/>
            <a:ext cx="11320272" cy="749808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10896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9A84C"/>
                </a:solidFill>
                <a:latin typeface="Georgia"/>
              </a:rPr>
              <a:t>02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7552" y="3054096"/>
            <a:ext cx="16459" cy="5669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8992" y="3035808"/>
            <a:ext cx="1335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IDENTIFY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" y="3273551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Trigger Classification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3127248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Proprietary algorithm · √signals × 8 · LOW / MEDIUM / HIGH · grouped data points · mandatory conditions · group threshold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3767328"/>
            <a:ext cx="11320272" cy="749808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913632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7552" y="3858768"/>
            <a:ext cx="16459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3840480"/>
            <a:ext cx="1335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STAGE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407822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Protocol Pre-Staging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393192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170 Readiness Protocols + 12 Compound Engines pre-built and staged — zero delay when the trigger fires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" y="4572000"/>
            <a:ext cx="11320272" cy="749808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718304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9A84C"/>
                </a:solidFill>
                <a:latin typeface="Georgia"/>
              </a:rPr>
              <a:t>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7552" y="4663440"/>
            <a:ext cx="16459" cy="5669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992" y="4645152"/>
            <a:ext cx="1335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EXECUTE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" y="4882896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War Room &amp; Executive Auth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7760" y="4736592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Tasks assigned · stakeholders notified · executive authorizes · war room opens · 12 minutes end to end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8912" y="5376672"/>
            <a:ext cx="11320272" cy="749808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522976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B8A6E"/>
                </a:solidFill>
                <a:latin typeface="Georgia"/>
              </a:rPr>
              <a:t>05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2" y="5468112"/>
            <a:ext cx="16459" cy="56692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78992" y="5449824"/>
            <a:ext cx="1335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B8A6E"/>
                </a:solidFill>
                <a:latin typeface="Calibri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8992" y="5687568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Institutional Memory Loop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37760" y="5541264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Debrief classification · score update · protocol refinement · board reports · compounding value every activation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04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DETECT PHASE — LIVE SIGNAL INTELLIGENCE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The System Never Sleeps.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Continuous monitoring. Automatic scoring. Always armed.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Eight live intelligence sources are monitored every 15 minutes, scored against 221 strategic triggers using a proprietary risk algorithm.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76272"/>
            <a:ext cx="2615184" cy="1554480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304288"/>
            <a:ext cx="24323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Georgia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980944"/>
            <a:ext cx="2432304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LIVE INTELLIGENCE
SOURCES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73552" y="2176272"/>
            <a:ext cx="2615184" cy="1554480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64992" y="2304288"/>
            <a:ext cx="24323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B8A6E"/>
                </a:solidFill>
                <a:latin typeface="Georgia"/>
              </a:rPr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4992" y="2980944"/>
            <a:ext cx="2432304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MINUTES BETWEEN
SCAN CYCLES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3858768"/>
            <a:ext cx="2615184" cy="1554480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986783"/>
            <a:ext cx="24323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Georgia"/>
              </a:rPr>
              <a:t>221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663440"/>
            <a:ext cx="2432304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STRATEGIC TRIGGERS
MAPPED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73552" y="3858768"/>
            <a:ext cx="2615184" cy="1554480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64992" y="3986783"/>
            <a:ext cx="24323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B8A6E"/>
                </a:solidFill>
                <a:latin typeface="Georgia"/>
              </a:rPr>
              <a:t>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4992" y="4663440"/>
            <a:ext cx="2432304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TRIGGER PATTERN
CLASSIFIERS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9904" y="2121408"/>
            <a:ext cx="16459" cy="418795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2176272"/>
            <a:ext cx="5705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◆  Executive Readiness 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2468879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0–100 board-level KPI · continuously recalculated from live signals, protocol activations, and debrief outcomes · once boards track this number, you own the relationship permanently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145536"/>
            <a:ext cx="5705856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3218687"/>
            <a:ext cx="5705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8A6E"/>
                </a:solidFill>
                <a:latin typeface="Calibri"/>
              </a:rPr>
              <a:t>◆  Command Tower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5936" y="3511295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Full-screen executive display · live trigger detections · multi-protocol status · system statistics · always-on mission control for the C-suite · real-time risk scoring visible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4187952"/>
            <a:ext cx="5705856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0" y="4261104"/>
            <a:ext cx="5705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◆  Risk Scoring Algorithm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4553712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Proprietary: √signals × 8 · auto-classifies LOW (&lt;35) / MEDIUM (35–74) / HIGH (75+) · routes directly to appropriate Readiness Protocol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5230368"/>
            <a:ext cx="5705856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5303520"/>
            <a:ext cx="5705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◆  Regulatory Calendar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5596128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Compliance deadlines tracked · GDPR, SOX, FDA, SEC · urgency-flagged · readiness sprints triggered automatically before deadline windows close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05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DETECT PHASE — TRIGGER ARCHITECTURE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Triggers Are Not Single Signals.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Grouped data points. Individual thresholds. Mandatory conditions.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Each trigger is an architecture — a defined group of data points that must collectively meet specific conditions before a playbook deploys.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139696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THE THREE-THRESHOLD MODEL ──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" y="2395728"/>
            <a:ext cx="5303520" cy="1170432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" y="2395728"/>
            <a:ext cx="109728" cy="1170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487168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Calibri"/>
              </a:rPr>
              <a:t>LAYER 1 — DATA POINT THRESHOLD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61488"/>
            <a:ext cx="497433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Each individual data point has its own metric it must meet to become a valid signal. A regulatory filing. A sentiment score below baseline. A volume anomaly. Until a data point clears its individual metric, it does not count toward the group trigger.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" y="3675887"/>
            <a:ext cx="5303520" cy="1170432"/>
          </a:xfrm>
          <a:prstGeom prst="rect">
            <a:avLst/>
          </a:prstGeom>
          <a:solidFill>
            <a:srgbClr val="070B24"/>
          </a:solidFill>
          <a:ln w="9525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8912" y="3675887"/>
            <a:ext cx="109728" cy="1170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67327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B8A6E"/>
                </a:solidFill>
                <a:latin typeface="Calibri"/>
              </a:rPr>
              <a:t>LAYER 2 — MANDATORY CONDITIONS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041648"/>
            <a:ext cx="497433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Specific data points within a group can be flagged as mandatory. The group cannot fire — regardless of how many other signals are valid — unless every mandatory data point has been met. Eliminates false positives on partial signal sets.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" y="4956048"/>
            <a:ext cx="5303520" cy="1170432"/>
          </a:xfrm>
          <a:prstGeom prst="rect">
            <a:avLst/>
          </a:prstGeom>
          <a:solidFill>
            <a:srgbClr val="070B2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4956048"/>
            <a:ext cx="109728" cy="1170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047488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LAYER 3 — GROUP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321808"/>
            <a:ext cx="497433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Once individual data points are validated, the group itself must cross a final threshold — a required number or combination of valid signals. Only when the group threshold is met does the playbook trigger and move to execution.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0176" y="2103120"/>
            <a:ext cx="16459" cy="4206240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9904" y="2103120"/>
            <a:ext cx="58887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EXAMPLE: ACTIVIST INVESTOR TRIGGER GROUP ──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9904" y="2340864"/>
            <a:ext cx="58887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AB4CC"/>
                </a:solidFill>
                <a:latin typeface="Calibri"/>
              </a:rPr>
              <a:t>Group Threshold: 4 of 5 data points valid  ·  ★ = Mandatory (must be present)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9904" y="2596896"/>
            <a:ext cx="5888736" cy="3218688"/>
          </a:xfrm>
          <a:prstGeom prst="rect">
            <a:avLst/>
          </a:prstGeom>
          <a:solidFill>
            <a:srgbClr val="05091E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2688336"/>
            <a:ext cx="5742432" cy="548640"/>
          </a:xfrm>
          <a:prstGeom prst="rect">
            <a:avLst/>
          </a:prstGeom>
          <a:solidFill>
            <a:srgbClr val="0A160A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9632" y="276148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★ MANDATORY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42048" y="2743200"/>
            <a:ext cx="3145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SEC 13D Filing Detected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42048" y="2980944"/>
            <a:ext cx="31455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B4CC"/>
                </a:solidFill>
                <a:latin typeface="Calibri"/>
              </a:rPr>
              <a:t>&gt; 5% ownership disclosure filed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21824" y="2852928"/>
            <a:ext cx="15910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C9A84C"/>
                </a:solidFill>
                <a:latin typeface="Calibri"/>
              </a:rPr>
              <a:t>VALID 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3056" y="3291840"/>
            <a:ext cx="5742432" cy="548640"/>
          </a:xfrm>
          <a:prstGeom prst="rect">
            <a:avLst/>
          </a:prstGeom>
          <a:solidFill>
            <a:srgbClr val="0A160A"/>
          </a:solidFill>
          <a:ln w="508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99632" y="336499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42048" y="3346704"/>
            <a:ext cx="3145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Institutional Position Change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42048" y="3584448"/>
            <a:ext cx="31455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B4CC"/>
                </a:solidFill>
                <a:latin typeface="Calibri"/>
              </a:rPr>
              <a:t>&gt; 2% change in 30-day window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21824" y="3456432"/>
            <a:ext cx="15910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2B8A6E"/>
                </a:solidFill>
                <a:latin typeface="Calibri"/>
              </a:rPr>
              <a:t>VALID 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63056" y="3895344"/>
            <a:ext cx="5742432" cy="548640"/>
          </a:xfrm>
          <a:prstGeom prst="rect">
            <a:avLst/>
          </a:prstGeom>
          <a:solidFill>
            <a:srgbClr val="0A160A"/>
          </a:solidFill>
          <a:ln w="508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99632" y="396849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42048" y="3950207"/>
            <a:ext cx="3145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Board Communication Volume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42048" y="4187952"/>
            <a:ext cx="31455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B4CC"/>
                </a:solidFill>
                <a:latin typeface="Calibri"/>
              </a:rPr>
              <a:t>&gt; 40% above 90-day baseline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21824" y="4059935"/>
            <a:ext cx="15910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2B8A6E"/>
                </a:solidFill>
                <a:latin typeface="Calibri"/>
              </a:rPr>
              <a:t>VALID 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63056" y="4498848"/>
            <a:ext cx="5742432" cy="548640"/>
          </a:xfrm>
          <a:prstGeom prst="rect">
            <a:avLst/>
          </a:prstGeom>
          <a:solidFill>
            <a:srgbClr val="070B24"/>
          </a:solidFill>
          <a:ln w="5080">
            <a:solidFill>
              <a:srgbClr val="1A2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99632" y="457200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AB4CC"/>
                </a:solidFill>
                <a:latin typeface="Calibri"/>
              </a:rPr>
              <a:t>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42048" y="4553712"/>
            <a:ext cx="3145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Proxy Advisor Engagement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42048" y="4791456"/>
            <a:ext cx="31455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B4CC"/>
                </a:solidFill>
                <a:latin typeface="Calibri"/>
              </a:rPr>
              <a:t>2+ advisors engaged — monitoring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21824" y="4663440"/>
            <a:ext cx="15910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AAB4CC"/>
                </a:solidFill>
                <a:latin typeface="Calibri"/>
              </a:rPr>
              <a:t>PENDING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63056" y="5102352"/>
            <a:ext cx="5742432" cy="548640"/>
          </a:xfrm>
          <a:prstGeom prst="rect">
            <a:avLst/>
          </a:prstGeom>
          <a:solidFill>
            <a:srgbClr val="0A160A"/>
          </a:solidFill>
          <a:ln w="508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99632" y="517550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42048" y="5157216"/>
            <a:ext cx="3145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Media Sentiment Score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42048" y="5394960"/>
            <a:ext cx="31455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B4CC"/>
                </a:solidFill>
                <a:latin typeface="Calibri"/>
              </a:rPr>
              <a:t>Sentiment index &lt; 35 (negative zone)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21824" y="5266944"/>
            <a:ext cx="15910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2B8A6E"/>
                </a:solidFill>
                <a:latin typeface="Calibri"/>
              </a:rPr>
              <a:t>VALID 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9904" y="5852160"/>
            <a:ext cx="5888736" cy="384048"/>
          </a:xfrm>
          <a:prstGeom prst="rect">
            <a:avLst/>
          </a:prstGeom>
          <a:solidFill>
            <a:srgbClr val="041404"/>
          </a:solidFill>
          <a:ln w="1270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81344" y="5907024"/>
            <a:ext cx="57058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2B8A6E"/>
                </a:solidFill>
                <a:latin typeface="Calibri"/>
              </a:rPr>
              <a:t>4 / 5 VALID  ·  MANDATORY MET  →  PROTOCOL #58 TRIGGERED  —  WAR ROOM OPEN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592531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9A84C"/>
                </a:solidFill>
                <a:latin typeface="Calibri"/>
              </a:rPr>
              <a:t>→ Protocol #58 Activist Investor Defense deploys · 12-minute execution begins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06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IDENTIFY PHASE — PROTOCOL ARCHITECTURE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170 Core Protocols. 12 Compound Engines.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6 Industry Packs. Pre-staged before the trigger fires.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Built in the Identify phase — each protocol is a complete deployment architecture with roles, tasks, communications, and escalation paths.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57984"/>
            <a:ext cx="3675887" cy="3712463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231136"/>
            <a:ext cx="341985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C9A84C"/>
                </a:solidFill>
                <a:latin typeface="Calibri"/>
              </a:rPr>
              <a:t>GROWTH &amp;
POSITIONING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779776"/>
            <a:ext cx="3419856" cy="109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28712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Competitor Displacement Sprint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33284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M&amp;A Rapid Response (LOI in 48h)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" y="37856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Market Entry Acceleration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42428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Go-to-Market Sprint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47000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Partnership Crisis Response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" y="51572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Brand Reputation Defense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79" y="2157984"/>
            <a:ext cx="3675887" cy="3712463"/>
          </a:xfrm>
          <a:prstGeom prst="rect">
            <a:avLst/>
          </a:prstGeom>
          <a:solidFill>
            <a:srgbClr val="070B24"/>
          </a:solidFill>
          <a:ln w="9525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25695" y="2231136"/>
            <a:ext cx="341985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B8A6E"/>
                </a:solidFill>
                <a:latin typeface="Calibri"/>
              </a:rPr>
              <a:t>RISK &amp;
RESILIENCE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695" y="2779776"/>
            <a:ext cx="3419856" cy="1097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43983" y="28712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Ransomware Response Protocol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983" y="33284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FDA Recall &amp; Safety Crisis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3983" y="37856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Supply Chain Collapse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3983" y="42428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Data Breach &amp; Privacy Crisis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3" y="47000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DOJ Investigation Response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43983" y="51572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Activist Investor Defense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56448" y="2157984"/>
            <a:ext cx="3675887" cy="3712463"/>
          </a:xfrm>
          <a:prstGeom prst="rect">
            <a:avLst/>
          </a:prstGeom>
          <a:solidFill>
            <a:srgbClr val="070B2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4" y="2231136"/>
            <a:ext cx="341985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TRANSFORMATION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84464" y="2779776"/>
            <a:ext cx="3419856" cy="109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28712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Workforce Transformation (6,720 roles)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33284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Digital Platform Migration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37856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Post-M&amp;A Integration Sprint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2752" y="42428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Energy Grid Failure Response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02752" y="47000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Food Safety Crisis Protocol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2752" y="51572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Regulatory Compliance Sprint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12" y="5925312"/>
            <a:ext cx="11320272" cy="347472"/>
          </a:xfrm>
          <a:prstGeom prst="rect">
            <a:avLst/>
          </a:prstGeom>
          <a:solidFill>
            <a:srgbClr val="0A160A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" y="5998464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Calibri"/>
              </a:rPr>
              <a:t>+ INDUSTRY PROTOCOL PACKS:  Healthcare  ·  Financial Services  ·  Manufacturing  ·  Energy  ·  Retail  ·  Technology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07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COMPOUND INTELLIGENCE — THE DIFFERENTIATOR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Real Crises Don't Arrive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One at a Time. Two protocols fire simultaneously.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12 Compound Protocol Engines activate two protocols simultaneously when crises overlap. No other enterprise platform does this natively.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57984"/>
            <a:ext cx="5632704" cy="3749039"/>
          </a:xfrm>
          <a:prstGeom prst="rect">
            <a:avLst/>
          </a:prstGeom>
          <a:solidFill>
            <a:srgbClr val="070B24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2157984"/>
            <a:ext cx="5632704" cy="32918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12848"/>
            <a:ext cx="5376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A0F2E"/>
                </a:solidFill>
                <a:latin typeface="Calibri"/>
              </a:rPr>
              <a:t>ACTIVIST INVESTOR  +  REGULATORY INQUIRY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60320"/>
            <a:ext cx="53766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Protocol #58 + Protocol #34  ·  10 tasks  ·  dual-track war room  ·  12-minute authorization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852928"/>
            <a:ext cx="5376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2 PROTOCOLS · SIMULTANEOUS ACTIVATION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145536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Shareholder communication pre-staged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584448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Legal response pre-drafted &amp; 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023360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Board briefing auto-generated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462272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Regulatory timeline tracked live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01183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Media holding statement ready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7648" y="2157984"/>
            <a:ext cx="5632704" cy="3749039"/>
          </a:xfrm>
          <a:prstGeom prst="rect">
            <a:avLst/>
          </a:prstGeom>
          <a:solidFill>
            <a:srgbClr val="070B24"/>
          </a:solidFill>
          <a:ln w="1270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27648" y="2157984"/>
            <a:ext cx="5632704" cy="32918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2212848"/>
            <a:ext cx="5376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RANSOMWARE  +  MEDIA CRISIS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2560320"/>
            <a:ext cx="53766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Protocol #12 + Protocol #67  ·  IT containment + comms run in parallel  ·  zero coordination delay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2852928"/>
            <a:ext cx="5376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B8A6E"/>
                </a:solidFill>
                <a:latin typeface="Calibri"/>
              </a:rPr>
              <a:t>2 PROTOCOLS · SIMULTANEOUS ACTIVATION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3145536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IT isolation protocol activated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5664" y="3584448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Customer notification pre-staged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5664" y="4023360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Board report auto-drafted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4462272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Media statement ready to release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5664" y="4901183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Regulatory disclosure pre-staged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63056" y="2103120"/>
            <a:ext cx="16459" cy="3840480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8912" y="5961888"/>
            <a:ext cx="11320272" cy="292608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5998464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Calibri"/>
              </a:rPr>
              <a:t>12 Compound Protocol Engines  ·  Cross-domain simultaneous response  ·  No other platform does this natively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08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EXECUTE PHASE — THE 12-MINUTE CHAIN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Signal to War Room.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12 minutes. Executive authority preserved at every step.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When the trigger group threshold is met, the playbook deploys automatically. Every element pre-staged in the Identify phase activates 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084831"/>
            <a:ext cx="413308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Calibri"/>
              </a:rPr>
              <a:t>12 MINUTES  ·  END TO END</a:t>
            </a:r>
          </a:p>
        </p:txBody>
      </p:sp>
      <p:sp>
        <p:nvSpPr>
          <p:cNvPr id="14" name="Oval 13"/>
          <p:cNvSpPr/>
          <p:nvPr/>
        </p:nvSpPr>
        <p:spPr>
          <a:xfrm>
            <a:off x="694944" y="2340864"/>
            <a:ext cx="1115568" cy="1115568"/>
          </a:xfrm>
          <a:prstGeom prst="ellipse">
            <a:avLst/>
          </a:prstGeom>
          <a:solidFill>
            <a:srgbClr val="070B24"/>
          </a:solidFill>
          <a:ln w="190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505456"/>
            <a:ext cx="1115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B8A6E"/>
                </a:solidFill>
                <a:latin typeface="Georgia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529584"/>
            <a:ext cx="14447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B8A6E"/>
                </a:solidFill>
                <a:latin typeface="Calibri"/>
              </a:rPr>
              <a:t>SIGNAL
DETECTED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" y="4005072"/>
            <a:ext cx="16642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AAB4CC"/>
                </a:solidFill>
                <a:latin typeface="Calibri"/>
              </a:rPr>
              <a:t>Scored against 221
trigger groups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376" y="2852928"/>
            <a:ext cx="640080" cy="91440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5808" y="2340864"/>
            <a:ext cx="1115568" cy="1115568"/>
          </a:xfrm>
          <a:prstGeom prst="ellipse">
            <a:avLst/>
          </a:prstGeom>
          <a:solidFill>
            <a:srgbClr val="070B24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35808" y="2505456"/>
            <a:ext cx="1115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  <a:latin typeface="Georgia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71215" y="3529584"/>
            <a:ext cx="14447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9A84C"/>
                </a:solidFill>
                <a:latin typeface="Calibri"/>
              </a:rPr>
              <a:t>PROTOCOL
STAGED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61488" y="4005072"/>
            <a:ext cx="16642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AAB4CC"/>
                </a:solidFill>
                <a:latin typeface="Calibri"/>
              </a:rPr>
              <a:t>Playbook deploys
instantly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2852928"/>
            <a:ext cx="640080" cy="91440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76672" y="2340864"/>
            <a:ext cx="1115568" cy="1115568"/>
          </a:xfrm>
          <a:prstGeom prst="ellipse">
            <a:avLst/>
          </a:prstGeom>
          <a:solidFill>
            <a:srgbClr val="070B2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76672" y="2505456"/>
            <a:ext cx="1115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529584"/>
            <a:ext cx="14447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TASKS
ASSIGNED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2352" y="4005072"/>
            <a:ext cx="16642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AAB4CC"/>
                </a:solidFill>
                <a:latin typeface="Calibri"/>
              </a:rPr>
              <a:t>Stakeholders notified
automatically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47104" y="2852928"/>
            <a:ext cx="640080" cy="91440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17536" y="2340864"/>
            <a:ext cx="1115568" cy="1115568"/>
          </a:xfrm>
          <a:prstGeom prst="ellipse">
            <a:avLst/>
          </a:prstGeom>
          <a:solidFill>
            <a:srgbClr val="070B24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17536" y="2505456"/>
            <a:ext cx="1115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  <a:latin typeface="Georgia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52944" y="3529584"/>
            <a:ext cx="14447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9A84C"/>
                </a:solidFill>
                <a:latin typeface="Calibri"/>
              </a:rPr>
              <a:t>EXECUTIVE
AUTHORIZES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3216" y="4005072"/>
            <a:ext cx="16642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AAB4CC"/>
                </a:solidFill>
                <a:latin typeface="Calibri"/>
              </a:rPr>
              <a:t>No action without
sign-off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2852928"/>
            <a:ext cx="640080" cy="91440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058400" y="2340864"/>
            <a:ext cx="1115568" cy="1115568"/>
          </a:xfrm>
          <a:prstGeom prst="ellipse">
            <a:avLst/>
          </a:prstGeom>
          <a:solidFill>
            <a:srgbClr val="070B24"/>
          </a:solidFill>
          <a:ln w="190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0" y="2505456"/>
            <a:ext cx="1115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B8A6E"/>
                </a:solidFill>
                <a:latin typeface="Georgia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93808" y="3529584"/>
            <a:ext cx="14447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B8A6E"/>
                </a:solidFill>
                <a:latin typeface="Calibri"/>
              </a:rPr>
              <a:t>WAR ROOM
OPEN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4005072"/>
            <a:ext cx="16642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AAB4CC"/>
                </a:solidFill>
                <a:latin typeface="Calibri"/>
              </a:rPr>
              <a:t>Full coordination
console live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4535424"/>
            <a:ext cx="3675887" cy="804672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4608576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Real Organizational Stakeholders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882896"/>
            <a:ext cx="34198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Actual executives — not placeholders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15968" y="4535424"/>
            <a:ext cx="3675887" cy="804672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43984" y="4608576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Decision Log &amp; Audit Trail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43984" y="4882896"/>
            <a:ext cx="34198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Every decision captured for governance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93024" y="4535424"/>
            <a:ext cx="3675887" cy="804672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1040" y="4608576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Ownership Close-Out Gate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4882896"/>
            <a:ext cx="34198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Formal verdict required post-activation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8912" y="5413248"/>
            <a:ext cx="3675887" cy="804672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5486400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Board-Ready Report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5760720"/>
            <a:ext cx="34198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Auto-generated when war room closes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15968" y="5413248"/>
            <a:ext cx="3675887" cy="804672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43984" y="5486400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Post-Activation Debrief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43984" y="5760720"/>
            <a:ext cx="34198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Optimization / Mixed-Signal / Recovery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93024" y="5413248"/>
            <a:ext cx="3675887" cy="804672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21040" y="5486400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Protocol Score Update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5760720"/>
            <a:ext cx="34198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System improves from every activation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09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ADVANCE PHASE — THE COMPOUNDING MOAT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Every Activation Makes the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Enterprise Smarter. Permanently.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The longer you are on the platform, the more defensible your position — and the harder it is to leave. The intelligence is yours, not ours.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57984"/>
            <a:ext cx="5596128" cy="1901952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24942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Calibri"/>
              </a:rPr>
              <a:t>INSTITUTIONAL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542032"/>
            <a:ext cx="534009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Retrospect™ captures every decision, outcome, and pattern. Builds a proprietary playbook dataset from your specific activations — not generic templates. No competitor can replicate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" y="3639312"/>
            <a:ext cx="5596128" cy="420624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694176"/>
            <a:ext cx="53400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AAB4CC"/>
                </a:solidFill>
                <a:latin typeface="Calibri"/>
              </a:rPr>
              <a:t>→  67% avg improvement in execution time over 6 months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45936" y="2157984"/>
            <a:ext cx="5596128" cy="1901952"/>
          </a:xfrm>
          <a:prstGeom prst="rect">
            <a:avLst/>
          </a:prstGeom>
          <a:solidFill>
            <a:srgbClr val="070B24"/>
          </a:solidFill>
          <a:ln w="9525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1" y="224942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B8A6E"/>
                </a:solidFill>
                <a:latin typeface="Calibri"/>
              </a:rPr>
              <a:t>EXECUTIVE READINESS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1" y="2542032"/>
            <a:ext cx="534009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0–100 board-level KPI continuously recalculated. Once a board adopts this number — benchmarking quarterly — you own that relationship. Boards require it. CFOs track 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3639312"/>
            <a:ext cx="5596128" cy="420624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1" y="3694176"/>
            <a:ext cx="53400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B8A6E"/>
                </a:solidFill>
                <a:latin typeface="Calibri"/>
              </a:rPr>
              <a:t>→  New enterprise metric that did not exist before Readiness 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4187952"/>
            <a:ext cx="5596128" cy="1901952"/>
          </a:xfrm>
          <a:prstGeom prst="rect">
            <a:avLst/>
          </a:prstGeom>
          <a:solidFill>
            <a:srgbClr val="070B2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27939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BOARD-READY ACTIVATION REPORTS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572000"/>
            <a:ext cx="534009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Auto-generated when each war room closes. Elapsed time, decisions made, outcome classification, next steps. Zero manual work. Governance documentation as a byproduct of execution.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" y="5669280"/>
            <a:ext cx="5596128" cy="420624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5724144"/>
            <a:ext cx="53400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FFFF"/>
                </a:solidFill>
                <a:latin typeface="Calibri"/>
              </a:rPr>
              <a:t>→  Procurement requirement met automatically on every activation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45936" y="4187952"/>
            <a:ext cx="5596128" cy="1901952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1" y="427939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Calibri"/>
              </a:rPr>
              <a:t>DEBRIEF &amp; PROTOCOL IMPROVEMENT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1" y="4572000"/>
            <a:ext cx="534009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Every activation classified: Optimization, Mixed-Signal, or Recovery. System updates protocol trigger conditions from real performance data. Compounds in accuracy with every use.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45936" y="5669280"/>
            <a:ext cx="5596128" cy="420624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1" y="5724144"/>
            <a:ext cx="53400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9A84C"/>
                </a:solidFill>
                <a:latin typeface="Calibri"/>
              </a:rPr>
              <a:t>→  Self-improving — no other platform does this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80176" y="2103120"/>
            <a:ext cx="16459" cy="391363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10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MARKET OPPORTUNITY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The Operating Model 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Has Never Been Captured.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Every AI investment created the need for the operating model beneath it. That market is new, growing, and unoccupied at the orchestration layer.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76272"/>
            <a:ext cx="5394960" cy="1243584"/>
          </a:xfrm>
          <a:prstGeom prst="rect">
            <a:avLst/>
          </a:prstGeom>
          <a:solidFill>
            <a:srgbClr val="070B24"/>
          </a:solidFill>
          <a:ln w="9525">
            <a:solidFill>
              <a:srgbClr val="AA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286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AB4CC"/>
                </a:solidFill>
                <a:latin typeface="Calibri"/>
              </a:rPr>
              <a:t>TAM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2212848"/>
            <a:ext cx="21945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AAB4CC"/>
                </a:solidFill>
                <a:latin typeface="Georgia"/>
              </a:rPr>
              <a:t>$42B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2834639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Enterprise Operating Infrastructure Market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547872"/>
            <a:ext cx="3931920" cy="1243584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6576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Calibri"/>
              </a:rPr>
              <a:t>SAM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3584448"/>
            <a:ext cx="21945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9A84C"/>
                </a:solidFill>
                <a:latin typeface="Georgia"/>
              </a:rPr>
              <a:t>$4.8B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42062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Mid-Market + Enterprise Readiness Platforms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4919472"/>
            <a:ext cx="2468880" cy="1243584"/>
          </a:xfrm>
          <a:prstGeom prst="rect">
            <a:avLst/>
          </a:prstGeom>
          <a:solidFill>
            <a:srgbClr val="070B24"/>
          </a:solidFill>
          <a:ln w="9525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0292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B8A6E"/>
                </a:solidFill>
                <a:latin typeface="Calibri"/>
              </a:rPr>
              <a:t>SOM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4956048"/>
            <a:ext cx="21945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2B8A6E"/>
                </a:solidFill>
                <a:latin typeface="Georgia"/>
              </a:rPr>
              <a:t>$180M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55778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Initial Founding Partner Cohort + Pipeline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2103120"/>
            <a:ext cx="16459" cy="418795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2121408"/>
            <a:ext cx="5724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WHY NOW ──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2432304"/>
            <a:ext cx="572414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AI changed the speed of information — the enterprise operating model has not caught up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54496" y="3291840"/>
            <a:ext cx="5724144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54496" y="3383280"/>
            <a:ext cx="572414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Every Microsoft Copilot and Azure AI investment creates demand for the execution layer above it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4496" y="4242816"/>
            <a:ext cx="5724144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4334256"/>
            <a:ext cx="572414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Enterprise boards now require documented readiness for governance, audit, and regulatory compliance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54496" y="5193792"/>
            <a:ext cx="5724144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96" y="5285232"/>
            <a:ext cx="572414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The window to define this category is now — no established incumbent owns the orchestration layer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11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STRATEGIC POSITIONING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Every Enterprise Has Microsoft's AI Stack.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None Have the Operating Model to Use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We are not competing with Microsoft Copilot. We are completing it — the orchestration layer above the Microsoft investment.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139696"/>
            <a:ext cx="5394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AB4CC"/>
                </a:solidFill>
                <a:latin typeface="Calibri"/>
              </a:rPr>
              <a:t>THE MICROSOFT ENTERPRISE STACK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" y="2395728"/>
            <a:ext cx="5394960" cy="694944"/>
          </a:xfrm>
          <a:prstGeom prst="rect">
            <a:avLst/>
          </a:prstGeom>
          <a:solidFill>
            <a:srgbClr val="0F1840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487168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779776"/>
            <a:ext cx="5138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The Operating Model Layer — orchestrates above everything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145536"/>
            <a:ext cx="5394960" cy="694944"/>
          </a:xfrm>
          <a:prstGeom prst="rect">
            <a:avLst/>
          </a:prstGeom>
          <a:solidFill>
            <a:srgbClr val="070B24"/>
          </a:solidFill>
          <a:ln w="6350">
            <a:solidFill>
              <a:srgbClr val="1A2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236976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AAB4CC"/>
                </a:solidFill>
                <a:latin typeface="Calibri"/>
              </a:rPr>
              <a:t>Microsoft Copilot Studio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529584"/>
            <a:ext cx="5138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Workflow automation + AI agents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3895344"/>
            <a:ext cx="5394960" cy="694944"/>
          </a:xfrm>
          <a:prstGeom prst="rect">
            <a:avLst/>
          </a:prstGeom>
          <a:solidFill>
            <a:srgbClr val="070B24"/>
          </a:solidFill>
          <a:ln w="6350">
            <a:solidFill>
              <a:srgbClr val="1A2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986783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AAB4CC"/>
                </a:solidFill>
                <a:latin typeface="Calibri"/>
              </a:rPr>
              <a:t>Microsoft Teams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279392"/>
            <a:ext cx="5138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Communication + stakeholder coordination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4645152"/>
            <a:ext cx="5394960" cy="694944"/>
          </a:xfrm>
          <a:prstGeom prst="rect">
            <a:avLst/>
          </a:prstGeom>
          <a:solidFill>
            <a:srgbClr val="070B24"/>
          </a:solidFill>
          <a:ln w="6350">
            <a:solidFill>
              <a:srgbClr val="1A2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73659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AAB4CC"/>
                </a:solidFill>
                <a:latin typeface="Calibri"/>
              </a:rPr>
              <a:t>Azure OpenAI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029200"/>
            <a:ext cx="5138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Intelligence + language models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" y="5394960"/>
            <a:ext cx="5394960" cy="694944"/>
          </a:xfrm>
          <a:prstGeom prst="rect">
            <a:avLst/>
          </a:prstGeom>
          <a:solidFill>
            <a:srgbClr val="070B24"/>
          </a:solidFill>
          <a:ln w="6350">
            <a:solidFill>
              <a:srgbClr val="1A2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5486400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AAB4CC"/>
                </a:solidFill>
                <a:latin typeface="Calibri"/>
              </a:rPr>
              <a:t>Microsoft Entra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779008"/>
            <a:ext cx="5138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Identity + access management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0176" y="2084831"/>
            <a:ext cx="16459" cy="427939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08192" y="2139696"/>
            <a:ext cx="5742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◆  NOT A REPLACEMENT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4496" y="2432303"/>
            <a:ext cx="55961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We don't replace any Microsoft product. We make all of them deliver enterprise value at the speed AI enables — which is exactly what the board paid for.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3108960"/>
            <a:ext cx="5742432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08192" y="3218687"/>
            <a:ext cx="5742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Calibri"/>
              </a:rPr>
              <a:t>◆  THE MISSING LAYER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54496" y="3511295"/>
            <a:ext cx="55961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Microsoft provides intelligence. We provide the operating model that acts on it. Without Readiness OS, Copilot gives you faster notes from the same slow meeting.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08192" y="4187952"/>
            <a:ext cx="5742432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08192" y="4297679"/>
            <a:ext cx="5742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◆  THE SALES MOTION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54496" y="4590288"/>
            <a:ext cx="55961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"Your Microsoft investment is already in place. Readiness OS is the operating model layer that makes it execute at enterprise speed."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08192" y="5266944"/>
            <a:ext cx="5742432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08192" y="5376672"/>
            <a:ext cx="5742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◆  THE DEFENSIBILITY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4496" y="5669280"/>
            <a:ext cx="55961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Microsoft sells horizontal tools. We sell a vertical operating model with 170 protocols, compound intelligence, and institutional memory. Not replaceable.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12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BUSINESS MODEL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Annual SaaS + Land and Expand.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Core opens the account. Industry packs grow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Three-tier pricing with a built-in expansion path — from core protocols to industry packs to enterprise deployment.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57984"/>
            <a:ext cx="3639312" cy="3566160"/>
          </a:xfrm>
          <a:prstGeom prst="rect">
            <a:avLst/>
          </a:prstGeom>
          <a:solidFill>
            <a:srgbClr val="070B24"/>
          </a:solidFill>
          <a:ln w="6350">
            <a:solidFill>
              <a:srgbClr val="AA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2157984"/>
            <a:ext cx="3639312" cy="62179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12848"/>
            <a:ext cx="3401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AB4CC"/>
                </a:solidFill>
                <a:latin typeface="Calibri"/>
              </a:rPr>
              <a:t>READINESS 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450592"/>
            <a:ext cx="3401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eorgia"/>
              </a:rPr>
              <a:t>$60K – $120K / yr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8895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170 cross-industry protocols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3467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3 strategic domains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039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Signal detection &amp; scoring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2611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War Room + Executive Auth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7183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Standard board reporting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61104" y="2157984"/>
            <a:ext cx="3639312" cy="3566160"/>
          </a:xfrm>
          <a:prstGeom prst="rect">
            <a:avLst/>
          </a:prstGeom>
          <a:solidFill>
            <a:srgbClr val="070B24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61104" y="2157984"/>
            <a:ext cx="3639312" cy="621792"/>
          </a:xfrm>
          <a:prstGeom prst="rect">
            <a:avLst/>
          </a:prstGeom>
          <a:solidFill>
            <a:srgbClr val="0F1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212848"/>
            <a:ext cx="3401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FOUNDING 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2450592"/>
            <a:ext cx="3401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eorgia"/>
              </a:rPr>
              <a:t>$120K – $180K / yr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28895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Everything in 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3467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Custom protocol builder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8039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Compound protocol engines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2611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Quarterly executive reviews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7183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Priority implementation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83296" y="2157984"/>
            <a:ext cx="3639312" cy="3566160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83296" y="2157984"/>
            <a:ext cx="3639312" cy="62179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11312" y="2212848"/>
            <a:ext cx="3401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Calibri"/>
              </a:rPr>
              <a:t>ENTERPRISE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2450592"/>
            <a:ext cx="3401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eorgia"/>
              </a:rPr>
              <a:t>$180K – $240K / yr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28895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Everything in Founding Partner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12" y="33467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Industry Protocol Pack(s)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12" y="38039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Multi-org deployment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11312" y="42611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Board-ready report suite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1312" y="47183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Dedicated customer success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" y="5833872"/>
            <a:ext cx="113202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UNIT ECONOMICS ──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12" y="6071616"/>
            <a:ext cx="2651760" cy="201168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0352" y="6071616"/>
            <a:ext cx="2542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$120K  ·  Average ACV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73552" y="6071616"/>
            <a:ext cx="2651760" cy="201168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64992" y="6071616"/>
            <a:ext cx="2542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Calibri"/>
              </a:rPr>
              <a:t>92%  ·  Target Gross Margin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08192" y="6071616"/>
            <a:ext cx="2651760" cy="201168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99631" y="6071616"/>
            <a:ext cx="2542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Calibri"/>
              </a:rPr>
              <a:t>2–4 Weeks  ·  Implementation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42832" y="6071616"/>
            <a:ext cx="2651760" cy="201168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34272" y="6071616"/>
            <a:ext cx="2542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Calibri"/>
              </a:rPr>
              <a:t>&lt; 6 mo  ·  Payback Period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8912" y="5760720"/>
            <a:ext cx="11320272" cy="54864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8912" y="5797296"/>
            <a:ext cx="113202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B8A6E"/>
                </a:solidFill>
                <a:latin typeface="Calibri"/>
              </a:rPr>
              <a:t>EXPAND PATH:  Core  →  + Industry Protocol Pack  →  + Compound Engine  →  Enterprise Multi-Year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13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PROOF — THE PRODUCT IS LIVE NOW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You Can Run the Product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Right Now. No Login Required.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Not a prototype. Not a roadmap. A live operating system with 12 full scenarios demonstrable on demand — before, during, or after this meeting.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57984"/>
            <a:ext cx="5596128" cy="1920240"/>
          </a:xfrm>
          <a:prstGeom prst="rect">
            <a:avLst/>
          </a:prstGeom>
          <a:solidFill>
            <a:srgbClr val="070B24"/>
          </a:solidFill>
          <a:ln w="9525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24942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8A6E"/>
                </a:solidFill>
                <a:latin typeface="Calibri"/>
              </a:rPr>
              <a:t>12-MINUTE TEST DRIVE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523744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88CC"/>
                </a:solidFill>
                <a:latin typeface="Calibri"/>
              </a:rPr>
              <a:t>/12-minute-experience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743200"/>
            <a:ext cx="53400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7 live scenarios. No login. No demo call. Run a full Activist Investor or Ransomware response from signal to executive authorization in 12 minutes.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675887"/>
            <a:ext cx="5596128" cy="402336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730752"/>
            <a:ext cx="5340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7 SCENARIOS  ·  6 SINGLE-DOMAIN  +  1 COMPOUND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5936" y="2157984"/>
            <a:ext cx="5596128" cy="1920240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1" y="224942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DEMO EXPERIENCE CENTER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1" y="2523744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88CC"/>
                </a:solidFill>
                <a:latin typeface="Calibri"/>
              </a:rPr>
              <a:t>/demo-hub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1" y="2743200"/>
            <a:ext cx="53400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12 full scenario simulations across all 3 strategic domains. CEO, COO, and Risk Head walkthroughs. Industry-specific: Pharma, Financial Services, Manufacturing, Retail.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45936" y="3675887"/>
            <a:ext cx="5596128" cy="402336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1" y="3730752"/>
            <a:ext cx="5340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12 FULL SIMULATIONS  ·  ALL 3 DOMAINS  ·  LIVE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206240"/>
            <a:ext cx="5596128" cy="1920240"/>
          </a:xfrm>
          <a:prstGeom prst="rect">
            <a:avLst/>
          </a:prstGeom>
          <a:solidFill>
            <a:srgbClr val="070B2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4297679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MASTER DEMO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4572000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88CC"/>
                </a:solidFill>
                <a:latin typeface="Calibri"/>
              </a:rPr>
              <a:t>/master-demo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791455"/>
            <a:ext cx="53400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Complete 7-phase Activist Investor walkthrough. Signal detection through post-activation debrief. Every platform layer in one continuous execution sequence.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" y="5724144"/>
            <a:ext cx="5596128" cy="402336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779007"/>
            <a:ext cx="5340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7-PHASE WALKTHROUGH  ·  FULL PLATFORM DEPTH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45936" y="4206240"/>
            <a:ext cx="5596128" cy="1920240"/>
          </a:xfrm>
          <a:prstGeom prst="rect">
            <a:avLst/>
          </a:prstGeom>
          <a:solidFill>
            <a:srgbClr val="070B24"/>
          </a:solidFill>
          <a:ln w="9525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1" y="4297679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8A6E"/>
                </a:solidFill>
                <a:latin typeface="Calibri"/>
              </a:rPr>
              <a:t>SHADOW STRATEGY SIMULATOR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1" y="4572000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88CC"/>
                </a:solidFill>
                <a:latin typeface="Calibri"/>
              </a:rPr>
              <a:t>/simulation-studio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1" y="4791455"/>
            <a:ext cx="53400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Digital twin — run any scenario without real execution. Test protocol response, stakeholder coverage, and execution timing before a real trigger fires.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45936" y="5724144"/>
            <a:ext cx="5596128" cy="402336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3951" y="5779007"/>
            <a:ext cx="5340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SIMULATION  ·  ZERO REAL ACTIVATION RISK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98464" y="2103120"/>
            <a:ext cx="16459" cy="4169663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14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TRACTION &amp; TEAM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Built by Enterprise Operators.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Validated by Industry Leaders.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The platform is live, the protocols are built, and the scenarios are demonstrable — right now, on demand.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1901952"/>
            <a:ext cx="2670048" cy="1371600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1956816"/>
            <a:ext cx="24871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Georgia"/>
              </a:rPr>
              <a:t>170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651760"/>
            <a:ext cx="24871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PROTOCOLS
Built &amp; Staged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73552" y="1901952"/>
            <a:ext cx="2670048" cy="1371600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64992" y="1956816"/>
            <a:ext cx="24871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B8A6E"/>
                </a:solidFill>
                <a:latin typeface="Georgia"/>
              </a:rPr>
              <a:t>221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4992" y="2651760"/>
            <a:ext cx="24871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TRIGGERS
Mapped &amp; Scored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08192" y="1901952"/>
            <a:ext cx="2670048" cy="1371600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1" y="1956816"/>
            <a:ext cx="24871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Georgia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1" y="2651760"/>
            <a:ext cx="24871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LIVE SCENARIOS
Demonstrable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42832" y="1901952"/>
            <a:ext cx="2670048" cy="1371600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34272" y="1956816"/>
            <a:ext cx="24871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B8A6E"/>
                </a:solidFill>
                <a:latin typeface="Georgia"/>
              </a:rPr>
              <a:t>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4272" y="2651760"/>
            <a:ext cx="24871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PLATFORM
Modules Live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3438144"/>
            <a:ext cx="5431536" cy="2651760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547872"/>
            <a:ext cx="5193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Calibri"/>
              </a:rPr>
              <a:t>MARTY BRUNKE  —  Founder &amp; CEO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858768"/>
            <a:ext cx="5193792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Enterprise operator and systems architect. Built VaughnMartin from a singular insight: the mobilization cycle — not the crisis — is where organizations fail. The IDEA Framework and 170 Readiness Protocols are the result of mapping every strategic scenario an enterprise encounters and pre-staging the response architecture before the trigger fires.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974336"/>
            <a:ext cx="5193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B8A6E"/>
                </a:solidFill>
                <a:latin typeface="Calibri"/>
              </a:rPr>
              <a:t>── FOUNDING PARTNER PROGRAM ──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5230368"/>
            <a:ext cx="5193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90-day validation partnerships · Custom protocols · Quarterly executive reviews · Priority roadmap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3438144"/>
            <a:ext cx="5870448" cy="2651760"/>
          </a:xfrm>
          <a:prstGeom prst="rect">
            <a:avLst/>
          </a:prstGeom>
          <a:solidFill>
            <a:srgbClr val="070B24"/>
          </a:solidFill>
          <a:ln w="9525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63056" y="3547872"/>
            <a:ext cx="56327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B8A6E"/>
                </a:solidFill>
                <a:latin typeface="Calibri"/>
              </a:rPr>
              <a:t>DR. KERRY HUANG  —  Strategic Validation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63056" y="3858768"/>
            <a:ext cx="563270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FFFFFF"/>
                </a:solidFill>
                <a:latin typeface="Georgia"/>
              </a:rPr>
              <a:t>"The Readiness OS framework addresses the most consistent failure mode in enterprise crisis response — the mobilization gap. The pre-staged protocol architecture is the correct structural solution to a problem that has cost enterprises billions in delayed response."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63056" y="4956048"/>
            <a:ext cx="563270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PLATFORM VALIDATION ──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63056" y="5212080"/>
            <a:ext cx="56327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✓  Live signal detection operational — 8 sources, real-time continuously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63056" y="5486400"/>
            <a:ext cx="56327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✓  All 12 demo scenarios fully functional — demonstrable on demand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63056" y="5760720"/>
            <a:ext cx="56327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✓  War Room, Command Tower, Debrief — all live and operational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63056" y="6035040"/>
            <a:ext cx="56327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✓  Executive Readiness Score calculating from live signals now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15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FINANCIAL PROJECTIONS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Conservative Path to Scale.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Founding Partners fund the proof. Enterprise funds the growth.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Three-year model: Y1 validates willingness-to-pay, Y2 enters Series A with real ARR, Y3 establishes category leadership.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048256"/>
            <a:ext cx="3675887" cy="3950208"/>
          </a:xfrm>
          <a:prstGeom prst="rect">
            <a:avLst/>
          </a:prstGeom>
          <a:solidFill>
            <a:srgbClr val="070B24"/>
          </a:solidFill>
          <a:ln w="6350">
            <a:solidFill>
              <a:srgbClr val="AA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2048256"/>
            <a:ext cx="3675887" cy="310896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084831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AB4CC"/>
                </a:solidFill>
                <a:latin typeface="Calibri"/>
              </a:rPr>
              <a:t>YEAR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395728"/>
            <a:ext cx="34198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AAB4CC"/>
                </a:solidFill>
                <a:latin typeface="Georgia"/>
              </a:rPr>
              <a:t>$625K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145536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ARR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" y="3456432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3–5 Founding Partner agreements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4041648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$120K–$180K ACV average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4626864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First 2 enterprise proof points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" y="5212079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Industry Pack development begins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9392" y="2048256"/>
            <a:ext cx="3675887" cy="3950208"/>
          </a:xfrm>
          <a:prstGeom prst="rect">
            <a:avLst/>
          </a:prstGeom>
          <a:solidFill>
            <a:srgbClr val="070B24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9392" y="2048256"/>
            <a:ext cx="3675887" cy="310896"/>
          </a:xfrm>
          <a:prstGeom prst="rect">
            <a:avLst/>
          </a:prstGeom>
          <a:solidFill>
            <a:srgbClr val="0F1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07407" y="2084831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Calibri"/>
              </a:rPr>
              <a:t>YEAR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7407" y="2395728"/>
            <a:ext cx="34198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Georgia"/>
              </a:rPr>
              <a:t>$3.75M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7" y="3145536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ARR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5696" y="3456432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18–22 enterprise clients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5696" y="4041648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Industry Packs launched — upsell active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5696" y="4626864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Compound Engine expansion revenue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5212079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Series A positioned on real ARR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19872" y="2048256"/>
            <a:ext cx="3675887" cy="3950208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19872" y="2048256"/>
            <a:ext cx="3675887" cy="310896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7888" y="2084831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B8A6E"/>
                </a:solidFill>
                <a:latin typeface="Calibri"/>
              </a:rPr>
              <a:t>YEAR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395728"/>
            <a:ext cx="34198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2B8A6E"/>
                </a:solidFill>
                <a:latin typeface="Georgia"/>
              </a:rPr>
              <a:t>$8M+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7888" y="3145536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ARR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6176" y="3456432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40+ enterprise accounts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6176" y="4041648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Multi-year contract renewals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6176" y="4626864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Channel partnerships active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6176" y="5212079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International market entry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12" y="6053328"/>
            <a:ext cx="11320272" cy="219456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" y="6071616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AAB4CC"/>
                </a:solidFill>
                <a:latin typeface="Calibri"/>
              </a:rPr>
              <a:t>Based on 3–5 Founding Partner agreements Y1 at $120K–$180K ACV  ·  92% target gross margin  ·  conservative enterprise expansion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16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THE ASK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Raising $750K Seed.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FFFFFF"/>
                </a:solidFill>
                <a:latin typeface="Georgia"/>
              </a:rPr>
              <a:t>18 months. Three milestones. Series A ready.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Three milestones that build on each other — each one de-risks the next raise.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048256"/>
            <a:ext cx="3858768" cy="1371600"/>
          </a:xfrm>
          <a:prstGeom prst="rect">
            <a:avLst/>
          </a:prstGeom>
          <a:solidFill>
            <a:srgbClr val="070B24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084831"/>
            <a:ext cx="36393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C9A84C"/>
                </a:solidFill>
                <a:latin typeface="Georgia"/>
              </a:rPr>
              <a:t>$750,000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871216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SEED ROUND  ·  18-MONTH RUNWAY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048256"/>
            <a:ext cx="7406640" cy="1316736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08576" y="2139696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MILESTONE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2359152"/>
            <a:ext cx="7150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Close 3–5 Founding Partner Agreements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8576" y="2651760"/>
            <a:ext cx="7150608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Validate enterprise willingness-to-pay at $120K–$180K ACV. Document 2 full activation proof points with real outcomes and measurable executive decisions.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60" y="3456432"/>
            <a:ext cx="7406640" cy="1316736"/>
          </a:xfrm>
          <a:prstGeom prst="rect">
            <a:avLst/>
          </a:prstGeom>
          <a:solidFill>
            <a:srgbClr val="070B24"/>
          </a:solidFill>
          <a:ln w="9525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08576" y="3547872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MILESTONE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8576" y="3767328"/>
            <a:ext cx="7150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Series A Positioned on Real ARR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8576" y="4059936"/>
            <a:ext cx="7150608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Enter the Series A process with $625K+ ARR contracted, two enterprise proof points, and a documented land-and-expand path through industry packs.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864608"/>
            <a:ext cx="7406640" cy="1316736"/>
          </a:xfrm>
          <a:prstGeom prst="rect">
            <a:avLst/>
          </a:prstGeom>
          <a:solidFill>
            <a:srgbClr val="070B2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8576" y="495604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MILESTONE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08576" y="5175504"/>
            <a:ext cx="7150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Category Defined — Operating Model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08576" y="5468112"/>
            <a:ext cx="7150608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Establish the category with analyst community. Microsoft partnership conversations initiated. Institutional memory data visible as a competitive moat.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34256" y="1993392"/>
            <a:ext cx="16459" cy="42611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4517136"/>
            <a:ext cx="38587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USE OF FUNDS ──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" y="4828032"/>
            <a:ext cx="2183587" cy="32918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13939" y="4882896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60%  Product &amp; Engineering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5303520"/>
            <a:ext cx="909828" cy="32918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40180" y="5358384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25%  Go-To-Market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5779008"/>
            <a:ext cx="545896" cy="329184"/>
          </a:xfrm>
          <a:prstGeom prst="rect">
            <a:avLst/>
          </a:prstGeom>
          <a:solidFill>
            <a:srgbClr val="AAB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76248" y="5833872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15%  Operations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384048"/>
            <a:ext cx="2212848" cy="5669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02336" y="1024128"/>
            <a:ext cx="5943600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" y="113385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AB4CC"/>
                </a:solidFill>
                <a:latin typeface="Calibri"/>
              </a:rPr>
              <a:t>PREPARATION  →  READINESS  →  FEARLESS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1517904"/>
            <a:ext cx="91440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Georgia"/>
              </a:rPr>
              <a:t>"The response is ready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" y="2249424"/>
            <a:ext cx="9144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1">
                <a:solidFill>
                  <a:srgbClr val="C9A84C"/>
                </a:solidFill>
                <a:latin typeface="Georgia"/>
              </a:rPr>
              <a:t>before the trigger fires."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3090672"/>
            <a:ext cx="84124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4CC"/>
                </a:solidFill>
                <a:latin typeface="Calibri"/>
              </a:rPr>
              <a:t>Every organization that prepares for every situation it will face is no longer afraid of strategic
triggers. It is fearless. That is the structural outcome Readiness OS delivers — not as a promise, but as architecture.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" y="4096512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>The protocols are staged.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" y="4608576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>The system is armed.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" y="512064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9A84C"/>
                </a:solidFill>
                <a:latin typeface="Georgia"/>
              </a:rPr>
              <a:t>The only question is which enterprises get there first.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5614416"/>
            <a:ext cx="3108960" cy="4572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5669280"/>
            <a:ext cx="29626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0A0F2E"/>
                </a:solidFill>
                <a:latin typeface="Calibri"/>
              </a:rPr>
              <a:t>APPLY FOR FOUNDING PARTNER ACCESS</a:t>
            </a:r>
          </a:p>
        </p:txBody>
      </p:sp>
      <p:pic>
        <p:nvPicPr>
          <p:cNvPr id="16" name="Picture 15" descr="vm_seal_nob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4304" y="493776"/>
            <a:ext cx="4901184" cy="4901184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17  /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18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APPENDIX — PITCH DEFENSE · OBJECTION HANDLING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Every Hard Question.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Pre-staged.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The six objections that most frequently arise — answered precisely, no hedging.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57984"/>
            <a:ext cx="5596128" cy="1316736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24942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Isn't this just workflow automation?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542032"/>
            <a:ext cx="534009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Workflow tools execute tasks you define in the moment. We pre-stage the entire response before the trigger exists — including compound crises, executive authorization, and institutional memory. Different category.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45936" y="2157984"/>
            <a:ext cx="5596128" cy="1316736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1" y="224942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Why won't Microsoft build this?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1" y="2542032"/>
            <a:ext cx="534009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Microsoft builds horizontal intelligence. We build a vertical operating model with 170 protocols, compound engines, and institutional memory that compounds. A horizontal tool cannot replicate a vertical model.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3547872"/>
            <a:ext cx="5596128" cy="1316736"/>
          </a:xfrm>
          <a:prstGeom prst="rect">
            <a:avLst/>
          </a:prstGeom>
          <a:solidFill>
            <a:srgbClr val="070B2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63931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How do you sell into enterprise?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931920"/>
            <a:ext cx="534009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Through the Founding Partner Program — 90-day validation at $120K–$180K ACV. The 12-Minute Test Drive at /12-minute-experience converts executives before the first call. Demonstrable on demand, no login.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45936" y="3547872"/>
            <a:ext cx="5596128" cy="1316736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363931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What's your defensibility?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1" y="3931920"/>
            <a:ext cx="534009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Institutional memory from each activation is proprietary — learned from their crises, not ours. The Executive Readiness Score creates board-level switching costs that compound over time. Structurally hard to leave.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937760"/>
            <a:ext cx="5596128" cy="1316736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5029200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Why now?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321808"/>
            <a:ext cx="534009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Every Copilot and Azure AI investment created demand for the operating model above it. No established incumbent owns the orchestration layer. The Microsoft framing opens every enterprise door without competing.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45936" y="4937760"/>
            <a:ext cx="5596128" cy="1316736"/>
          </a:xfrm>
          <a:prstGeom prst="rect">
            <a:avLst/>
          </a:prstGeom>
          <a:solidFill>
            <a:srgbClr val="070B2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1" y="5029200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What if the market is too early?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1" y="5321808"/>
            <a:ext cx="534009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The product is live. Twelve scenarios demonstrable today with no login. Enterprise boards already require documented readiness for governance and audit. The category name is new — the need is not.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0176" y="2103120"/>
            <a:ext cx="16459" cy="3931920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