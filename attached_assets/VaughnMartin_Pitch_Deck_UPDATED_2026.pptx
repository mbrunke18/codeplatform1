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30-day mobilization baseline — VaughnMartin operational research across 20 years Fortune 1000 experience. McKinsey Organizational Agility Research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All five phases live in production — VaughnMartin Readiness OS, Rev 31, May 2026. vaughnmartin.com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Competitor positioning — Signal Labs April 2026, ServiceNow documentation, Microsoft Copilot Work Trend Index 2026, McKinsey public advisory positioning.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12-minute activation — VaughnMartin Readiness OS platform specification. 3,600× = 43,200 min ÷ 12 min. vaughnmartin.com/how-it-executes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Platform in production — vaughnmartin.com. Rev 31, May 2026. Built 2023. Executive brief at vaughnmartin.com/executive-brief.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$61.3M estimated annual value — VaughnMartin ROI Calculator, Enterprise 5K–25K employees. vaughnmartin.com/roi-calculator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REFERENCE:
Capital requirements — VaughnMartin internal analysis. Founding Partner Program: 12 seats, 2026 cohort. vaughnmartin.com/founding-partner-program.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01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TRIGGER FIRES IN SECONDS.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MOBILIZATION TAKES 30 DAYS.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2331720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450592"/>
            <a:ext cx="3657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1000 organizations detect strategic triggers quickly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still spend weeks aligning ownership, authority, and sequence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delay is not execution — it is mobilization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358444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OPPORTUNITY  ·  </a:t>
            </a:r>
            <a:pPr indent="0" marL="0">
              <a:buNone/>
            </a:pPr>
            <a:r>
              <a:rPr lang="en-US" sz="8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coordination failures put an estimated $4.4T in annual value at risk. Preparation Infrastructure is the unclaimed software layer.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"Most organizations do not have a strategy problem. They have a mobilization problem. When a trigger fires, the first weeks are spent figuring out who decides and who owns the response."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7" name="Picture 36" descr="s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02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FOUNDER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FROM BOTH WORLDS.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1737360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865376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 coaching major college football at Stanford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years inside Ford, Toyota, Lockheed Martin, Charles Schwab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preparation discipline that wins games was missing from enterprise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2023 to close that gap permanently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"Very few people get exposure to both worlds at the depth where those lessons translate directly into each other. I did. And I built the infrastructure that closes it."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sp>
        <p:nvSpPr>
          <p:cNvPr id="27" name="Shape 25"/>
          <p:cNvSpPr/>
          <p:nvPr/>
        </p:nvSpPr>
        <p:spPr>
          <a:xfrm>
            <a:off x="4261104" y="109728"/>
            <a:ext cx="4709160" cy="4937760"/>
          </a:xfrm>
          <a:prstGeom prst="rect">
            <a:avLst/>
          </a:prstGeom>
          <a:solidFill>
            <a:srgbClr val="080C25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7408" y="256032"/>
            <a:ext cx="4416552" cy="2084832"/>
          </a:xfrm>
          <a:prstGeom prst="rect">
            <a:avLst/>
          </a:prstGeom>
          <a:solidFill>
            <a:srgbClr val="0D1535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07408" y="256032"/>
            <a:ext cx="4416552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47472"/>
            <a:ext cx="4123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STANFORD UNIVERSITY · 5 YEARS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53712" y="530352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FOOTBALL COACHING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53712" y="841248"/>
            <a:ext cx="412394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college football is a billion-dollar operation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40-second play clock — full organizational coordination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 architecture built before game day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trigger response pre-staged before pressure arrives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preparation IS the execution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40196" y="2395728"/>
            <a:ext cx="950976" cy="384048"/>
          </a:xfrm>
          <a:prstGeom prst="rect">
            <a:avLst/>
          </a:prstGeom>
          <a:solidFill>
            <a:srgbClr val="2B8A6E"/>
          </a:solidFill>
          <a:ln w="19050">
            <a:solidFill>
              <a:srgbClr val="3BAF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40196" y="239572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INTERSECTION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4407408" y="2816352"/>
            <a:ext cx="4416552" cy="2029968"/>
          </a:xfrm>
          <a:prstGeom prst="rect">
            <a:avLst/>
          </a:prstGeom>
          <a:solidFill>
            <a:srgbClr val="0D1535"/>
          </a:solidFill>
          <a:ln w="19050">
            <a:solidFill>
              <a:srgbClr val="2B8A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07408" y="2816352"/>
            <a:ext cx="4416552" cy="36576"/>
          </a:xfrm>
          <a:prstGeom prst="rect">
            <a:avLst/>
          </a:prstGeom>
          <a:solidFill>
            <a:srgbClr val="2B8A6E"/>
          </a:solidFill>
          <a:ln/>
        </p:spPr>
      </p:sp>
      <p:sp>
        <p:nvSpPr>
          <p:cNvPr id="37" name="Text 35"/>
          <p:cNvSpPr/>
          <p:nvPr/>
        </p:nvSpPr>
        <p:spPr>
          <a:xfrm>
            <a:off x="4553712" y="2907792"/>
            <a:ext cx="4123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FORTUNE 1000 OPERATIONS · 20 YEARS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53712" y="3090672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LEADERSHIP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53712" y="3401568"/>
            <a:ext cx="412394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 · Toyota · Lockheed Martin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Schwab · Boyd Gaming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the 30-day mobilization failure repeat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preparation gap — different trigger, same delay</a:t>
            </a:r>
            <a:endParaRPr lang="en-US" sz="95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Readiness OS in 2023 to end that pattern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03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READINESS OS: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FULL ADVANTAGE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OPERATING SYSTEM.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040" y="2249424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377440"/>
            <a:ext cx="36576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MAP  Define every trigger, threshold, and escalation path on your own terms. 221 trigger patterns across 9 strategic domains — mapped before pressure arrives.</a:t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spc="1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  <a:p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MONITOR  248+ data points. 16 signal categories checked every 15 minutes. System surfaces signals before they go public — on your terms.</a:t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spc="1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  <a:p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DECIDE  Four real choices including Stand Down. System monitors signals. Executives authorize. Always.</a:t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spc="1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  <a:p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EXECUTE  Roles, budgets, internal comms, external comms, PR. Full coordinated response in 12 minutes.</a:t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spc="1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  <a:p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LEARN  Close-Out Gate encodes every activation into future protocols. +18% readiness improvement per cycle.</a:t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b="1" spc="1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Readiness OS gives organizations end-to-end advantage: detect on your terms, decide with authority, execute in 12 minutes, and improve every cycle.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vaughnmartin.com/how-it-executes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5" name="Picture 34" descr="s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04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MOAT COMPOUNDS.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COMPETITORS START AT ZERO.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2194560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322576"/>
            <a:ext cx="3657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activation encodes what held — preparation compounds over time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intelligence calibrated to each organization's specific readiness state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of activations creates intelligence no competitor can replicate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"Signal Labs routes the signal. ServiceNow runs the workflow. McKinsey arrives after the trigger. We had the response pre-staged before any of them were called."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sp>
        <p:nvSpPr>
          <p:cNvPr id="28" name="Shape 25"/>
          <p:cNvSpPr/>
          <p:nvPr/>
        </p:nvSpPr>
        <p:spPr>
          <a:xfrm>
            <a:off x="4261104" y="109728"/>
            <a:ext cx="4709160" cy="4937760"/>
          </a:xfrm>
          <a:prstGeom prst="rect">
            <a:avLst/>
          </a:prstGeom>
          <a:solidFill>
            <a:srgbClr val="080C25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25696" y="237744"/>
            <a:ext cx="437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COMPETITORS STOP SHORT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389120" y="475488"/>
            <a:ext cx="4453128" cy="393192"/>
          </a:xfrm>
          <a:prstGeom prst="rect">
            <a:avLst/>
          </a:prstGeom>
          <a:solidFill>
            <a:srgbClr val="0D1535"/>
          </a:solidFill>
          <a:ln w="6350">
            <a:solidFill>
              <a:srgbClr val="1E2A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89120" y="475488"/>
            <a:ext cx="36576" cy="393192"/>
          </a:xfrm>
          <a:prstGeom prst="rect">
            <a:avLst/>
          </a:prstGeom>
          <a:solidFill>
            <a:srgbClr val="C03030"/>
          </a:solidFill>
          <a:ln/>
        </p:spPr>
      </p:sp>
      <p:sp>
        <p:nvSpPr>
          <p:cNvPr id="32" name="Text 29"/>
          <p:cNvSpPr/>
          <p:nvPr/>
        </p:nvSpPr>
        <p:spPr>
          <a:xfrm>
            <a:off x="4480560" y="51206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Signal Labs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480560" y="676656"/>
            <a:ext cx="4233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the signal. Stops before the response is staged.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389120" y="932688"/>
            <a:ext cx="4453128" cy="393192"/>
          </a:xfrm>
          <a:prstGeom prst="rect">
            <a:avLst/>
          </a:prstGeom>
          <a:solidFill>
            <a:srgbClr val="0D1535"/>
          </a:solidFill>
          <a:ln w="6350">
            <a:solidFill>
              <a:srgbClr val="1E2A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89120" y="932688"/>
            <a:ext cx="36576" cy="393192"/>
          </a:xfrm>
          <a:prstGeom prst="rect">
            <a:avLst/>
          </a:prstGeom>
          <a:solidFill>
            <a:srgbClr val="C03030"/>
          </a:solidFill>
          <a:ln/>
        </p:spPr>
      </p:sp>
      <p:sp>
        <p:nvSpPr>
          <p:cNvPr id="36" name="Text 33"/>
          <p:cNvSpPr/>
          <p:nvPr/>
        </p:nvSpPr>
        <p:spPr>
          <a:xfrm>
            <a:off x="4480560" y="96926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480560" y="1133856"/>
            <a:ext cx="4233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workflows after alignment. We pre-stage the alignment.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389120" y="1389888"/>
            <a:ext cx="4453128" cy="393192"/>
          </a:xfrm>
          <a:prstGeom prst="rect">
            <a:avLst/>
          </a:prstGeom>
          <a:solidFill>
            <a:srgbClr val="0D1535"/>
          </a:solidFill>
          <a:ln w="6350">
            <a:solidFill>
              <a:srgbClr val="1E2A4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389120" y="1389888"/>
            <a:ext cx="36576" cy="393192"/>
          </a:xfrm>
          <a:prstGeom prst="rect">
            <a:avLst/>
          </a:prstGeom>
          <a:solidFill>
            <a:srgbClr val="C03030"/>
          </a:solidFill>
          <a:ln/>
        </p:spPr>
      </p:sp>
      <p:sp>
        <p:nvSpPr>
          <p:cNvPr id="40" name="Text 37"/>
          <p:cNvSpPr/>
          <p:nvPr/>
        </p:nvSpPr>
        <p:spPr>
          <a:xfrm>
            <a:off x="4480560" y="142646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Microsoft Copilot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480560" y="1591056"/>
            <a:ext cx="4233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intelligence. We pre-stage the organizational response to it.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389120" y="1847088"/>
            <a:ext cx="4453128" cy="393192"/>
          </a:xfrm>
          <a:prstGeom prst="rect">
            <a:avLst/>
          </a:prstGeom>
          <a:solidFill>
            <a:srgbClr val="0D1535"/>
          </a:solidFill>
          <a:ln w="6350">
            <a:solidFill>
              <a:srgbClr val="1E2A4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389120" y="1847088"/>
            <a:ext cx="36576" cy="393192"/>
          </a:xfrm>
          <a:prstGeom prst="rect">
            <a:avLst/>
          </a:prstGeom>
          <a:solidFill>
            <a:srgbClr val="C03030"/>
          </a:solidFill>
          <a:ln/>
        </p:spPr>
      </p:sp>
      <p:sp>
        <p:nvSpPr>
          <p:cNvPr id="44" name="Text 41"/>
          <p:cNvSpPr/>
          <p:nvPr/>
        </p:nvSpPr>
        <p:spPr>
          <a:xfrm>
            <a:off x="4480560" y="188366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McKinsey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480560" y="2048256"/>
            <a:ext cx="4233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after the trigger fires. We were ready before it.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4389120" y="2340864"/>
            <a:ext cx="4453128" cy="2194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7" name="Text 44"/>
          <p:cNvSpPr/>
          <p:nvPr/>
        </p:nvSpPr>
        <p:spPr>
          <a:xfrm>
            <a:off x="4425696" y="2414016"/>
            <a:ext cx="437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BAF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MOAT — WHAT MAKES US HARD TO CATCH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389120" y="2670048"/>
            <a:ext cx="1399032" cy="2304288"/>
          </a:xfrm>
          <a:prstGeom prst="rect">
            <a:avLst/>
          </a:prstGeom>
          <a:solidFill>
            <a:srgbClr val="0D1535"/>
          </a:solidFill>
          <a:ln w="19050">
            <a:solidFill>
              <a:srgbClr val="2B8A6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389120" y="2670048"/>
            <a:ext cx="1399032" cy="36576"/>
          </a:xfrm>
          <a:prstGeom prst="rect">
            <a:avLst/>
          </a:prstGeom>
          <a:solidFill>
            <a:srgbClr val="2B8A6E"/>
          </a:solidFill>
          <a:ln/>
        </p:spPr>
      </p:sp>
      <p:sp>
        <p:nvSpPr>
          <p:cNvPr id="50" name="Text 47"/>
          <p:cNvSpPr/>
          <p:nvPr/>
        </p:nvSpPr>
        <p:spPr>
          <a:xfrm>
            <a:off x="4480560" y="2761488"/>
            <a:ext cx="1216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Compounding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Loop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480560" y="3236976"/>
            <a:ext cx="12161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0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 Gate encodes learning after every activation. Preparation compounds continuously.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852160" y="2670048"/>
            <a:ext cx="1399032" cy="2304288"/>
          </a:xfrm>
          <a:prstGeom prst="rect">
            <a:avLst/>
          </a:prstGeom>
          <a:solidFill>
            <a:srgbClr val="0D1535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52160" y="2670048"/>
            <a:ext cx="1399032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4" name="Text 51"/>
          <p:cNvSpPr/>
          <p:nvPr/>
        </p:nvSpPr>
        <p:spPr>
          <a:xfrm>
            <a:off x="5943600" y="2761488"/>
            <a:ext cx="1216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Org Context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5943600" y="3236976"/>
            <a:ext cx="12161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0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confidence + preparedness score. No generic platform replicates this.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7315200" y="2670048"/>
            <a:ext cx="1399032" cy="2304288"/>
          </a:xfrm>
          <a:prstGeom prst="rect">
            <a:avLst/>
          </a:prstGeom>
          <a:solidFill>
            <a:srgbClr val="0D1535"/>
          </a:solidFill>
          <a:ln w="19050">
            <a:solidFill>
              <a:srgbClr val="3BAF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315200" y="2670048"/>
            <a:ext cx="1399032" cy="36576"/>
          </a:xfrm>
          <a:prstGeom prst="rect">
            <a:avLst/>
          </a:prstGeom>
          <a:solidFill>
            <a:srgbClr val="3BAF8A"/>
          </a:solidFill>
          <a:ln/>
        </p:spPr>
      </p:sp>
      <p:sp>
        <p:nvSpPr>
          <p:cNvPr id="58" name="Text 55"/>
          <p:cNvSpPr/>
          <p:nvPr/>
        </p:nvSpPr>
        <p:spPr>
          <a:xfrm>
            <a:off x="7406640" y="2761488"/>
            <a:ext cx="1216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Encoding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Permanence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7406640" y="3236976"/>
            <a:ext cx="12161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0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of activations creates an intelligence layer competitors cannot offer on day one.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05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2B8A6E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TRIGGER TO COORDINATED EXECUTION IN MINUTES.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2331720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450592"/>
            <a:ext cx="365760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detected — confidence scored against 221 trigger patterns</a:t>
            </a:r>
            <a:endParaRPr lang="en-US" sz="100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protocol staged across relevant domains</a:t>
            </a:r>
            <a:endParaRPr lang="en-US" sz="100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notified with context and decision brief</a:t>
            </a:r>
            <a:endParaRPr lang="en-US" sz="100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authorizes — four real choices including Stand Down. No action deploys without explicit authorization.</a:t>
            </a:r>
            <a:endParaRPr lang="en-US" sz="100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 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launches — 12 minutes from signal to live response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key change is that coordination is pre-built, so when the trigger fires, execution starts."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vaughnmartin.com/how-it-executes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6" name="Picture 35" descr="s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06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— NOW, NOT 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PRODUCTION NOW.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2523744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51760"/>
            <a:ext cx="3657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platform live at vaughnmartin.com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public execution walkthrough available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 cohort open for 90-day validation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"This is not a roadmap concept. The platform is live and testable now."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vaughnmartin.com/executive-brief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6" name="Picture 35" descr="s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07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CASE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REPLACE EXISTING RESPONSE SPEND WITH EXECUTION INFRASTRUCTURE.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20040" y="2523744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51760"/>
            <a:ext cx="3657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budgets already fund reactive response motions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OS shifts spend to pre-staged execution readiness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$61.3M annual value — enterprises facing 3+ strategic triggers annually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36576" cy="54864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0965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"We are not asking enterprises to invent new budget. We are replacing existing response spend with a repeatable operating model."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vaughnmartin.com/roi-calculator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6" name="Picture 35" descr="s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5143500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33088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" y="841248"/>
            <a:ext cx="3474720" cy="3474720"/>
          </a:xfrm>
          <a:prstGeom prst="ellipse">
            <a:avLst/>
          </a:prstGeom>
          <a:ln w="25400">
            <a:solidFill>
              <a:srgbClr val="C4CD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667" y="1049731"/>
            <a:ext cx="3057754" cy="3057754"/>
          </a:xfrm>
          <a:prstGeom prst="ellipse">
            <a:avLst/>
          </a:prstGeom>
          <a:ln w="10160">
            <a:solidFill>
              <a:srgbClr val="C4CD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5034" y="1492758"/>
            <a:ext cx="1303020" cy="2171700"/>
          </a:xfrm>
          <a:prstGeom prst="rect">
            <a:avLst/>
          </a:prstGeom>
          <a:ln w="15240">
            <a:solidFill>
              <a:srgbClr val="C4C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72184" y="228600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4CD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289304" y="2816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400" kern="0" dirty="0">
                <a:solidFill>
                  <a:srgbClr val="C4CD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4187952"/>
            <a:ext cx="73152" cy="16459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0896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75888" y="2542032"/>
            <a:ext cx="164592" cy="73152"/>
          </a:xfrm>
          <a:prstGeom prst="rect">
            <a:avLst/>
          </a:prstGeom>
          <a:solidFill>
            <a:srgbClr val="C4CDD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8288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08 · 08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"/>
            <a:ext cx="36576" cy="1828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4389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+ CLOSE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768096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CATEGORY CREATION: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PREPARATION INFRASTRUCTURE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040" y="2011680"/>
            <a:ext cx="5029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21408"/>
            <a:ext cx="3657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Raising: Up to $1,000,000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hardening + enterprise controls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A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 conversions + Repeatable GTM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18-MO RUNWAY  ·  </a:t>
            </a:r>
            <a:pPr indent="0" marL="0">
              <a:buNone/>
            </a:pPr>
            <a:r>
              <a:rPr lang="en-US" sz="750" b="1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Mo.6 </a:t>
            </a:r>
            <a:pPr indent="0" marL="0"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partners recurring  ·  </a:t>
            </a:r>
            <a:pPr indent="0" marL="0">
              <a:buNone/>
            </a:pPr>
            <a:r>
              <a:rPr lang="en-US" sz="750" b="1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Mo.9 </a:t>
            </a:r>
            <a:pPr indent="0" marL="0"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complete  ·  </a:t>
            </a:r>
            <a:pPr indent="0" marL="0">
              <a:buNone/>
            </a:pPr>
            <a:r>
              <a:rPr lang="en-US" sz="750" b="1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Mo.12 </a:t>
            </a:r>
            <a:pPr indent="0" marL="0"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GTM + proof stories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0040" y="34198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 ·  </a:t>
            </a:r>
            <a:pPr indent="0" marL="0"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Partners $75K–$250K/yr  ·  Growth from $75K  ·  Annual recurring  ·  No per-seat pricing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363931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RESPONSE IS READY BEFORE THE TRIGGER FIRES.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0040" y="41696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"Every enterprise has AI capability. Very few have mobilization readiness. We built that layer."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20040" y="4773168"/>
            <a:ext cx="329184" cy="329184"/>
          </a:xfrm>
          <a:prstGeom prst="rect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478231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" y="47823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VaughnMartin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94944" y="4937760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2B8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OS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206240" y="91440"/>
            <a:ext cx="4800600" cy="495604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6240" y="91440"/>
            <a:ext cx="4800600" cy="310896"/>
          </a:xfrm>
          <a:prstGeom prst="rect">
            <a:avLst/>
          </a:prstGeom>
          <a:solidFill>
            <a:srgbClr val="2A2A4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25112" y="182880"/>
            <a:ext cx="118872" cy="118872"/>
          </a:xfrm>
          <a:prstGeom prst="rect">
            <a:avLst/>
          </a:prstGeom>
          <a:solidFill>
            <a:srgbClr val="FF5F57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98848" y="182880"/>
            <a:ext cx="118872" cy="118872"/>
          </a:xfrm>
          <a:prstGeom prst="rect">
            <a:avLst/>
          </a:prstGeom>
          <a:solidFill>
            <a:srgbClr val="FEBC2E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672584" y="182880"/>
            <a:ext cx="118872" cy="118872"/>
          </a:xfrm>
          <a:prstGeom prst="rect">
            <a:avLst/>
          </a:prstGeom>
          <a:solidFill>
            <a:srgbClr val="28C840"/>
          </a:solidFill>
          <a:ln w="3810">
            <a:solidFill>
              <a:srgbClr val="0000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01184" y="155448"/>
            <a:ext cx="3072384" cy="182880"/>
          </a:xfrm>
          <a:prstGeom prst="rect">
            <a:avLst/>
          </a:prstGeom>
          <a:solidFill>
            <a:srgbClr val="1A1A30"/>
          </a:solidFill>
          <a:ln w="6350">
            <a:solidFill>
              <a:srgbClr val="3A3A5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37760" y="15544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9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vaughnmartin.com/founding-partner-program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0D1535"/>
          </a:solidFill>
          <a:ln/>
        </p:spPr>
      </p:sp>
      <p:pic>
        <p:nvPicPr>
          <p:cNvPr id="38" name="Picture 37" descr="s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97864"/>
            <a:ext cx="4846320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2377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SOURCES &amp; REFERENCES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303520" y="2743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VaughnMartin Readiness OS  ·  Investor Pitch  ·  May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69494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69494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74980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 1 &amp; 5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29768" y="87782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30-Day Mobilization Baseline &amp; $4.4T Market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104241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VaughnMartin operational research — 20 years direct experience across Ford, Toyota, Lockheed Martin, Charles Schwab, and Boyd Gaming. McKinsey Organizational Agility Research (2025). $4.4T enterprise value at risk from coordination failures.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0040" y="211226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11226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16712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29768" y="229514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Platform Metrics — Five Phases All Live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45973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VaughnMartin Readiness OS production system, Rev 31, May 2026. All five phases (Prepare, Detect, Decide, Execute, Learn) live in production. 248+ data points across 16 signal categories. 221 triggers. 170 Protocols. vaughnmartin.com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20040" y="352958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52958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358444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29768" y="371246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12-Minute Activation &amp; 3,600× Head Start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9768" y="387705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VaughnMartin platform performance specification. Calculation: 30 days × 24 hrs × 60 min = 43,200 min ÷ 12 min = 3,600×. Baseline is average Fortune 1000 cross-functional mobilization cycle. vaughnmartin.com/how-it-executes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663440" y="69494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69494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4" name="Text 22"/>
          <p:cNvSpPr/>
          <p:nvPr/>
        </p:nvSpPr>
        <p:spPr>
          <a:xfrm>
            <a:off x="4773168" y="74980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7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773168" y="87782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$61.3M Estimated Annual Value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104241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VaughnMartin ROI Calculator — Enterprise profile (5K–25K employees), 3+ strategic triggers annually. Value modeled on time saved × enterprise coordination cost rate. Publicly interactive: vaughnmartin.com/roi-calculator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211226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1226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9" name="Text 27"/>
          <p:cNvSpPr/>
          <p:nvPr/>
        </p:nvSpPr>
        <p:spPr>
          <a:xfrm>
            <a:off x="4773168" y="216712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73168" y="229514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Competitor Positioning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73168" y="245973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Labs: company materials, April 2026. ServiceNow: platform documentation. Microsoft Copilot: Work Trend Index 2026. McKinsey: public advisory positioning.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9584"/>
            <a:ext cx="4160520" cy="1362456"/>
          </a:xfrm>
          <a:prstGeom prst="rect">
            <a:avLst/>
          </a:prstGeom>
          <a:solidFill>
            <a:srgbClr val="E2E8F2"/>
          </a:solidFill>
          <a:ln w="6350">
            <a:solidFill>
              <a:srgbClr val="C4CD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3529584"/>
            <a:ext cx="36576" cy="136245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4" name="Text 32"/>
          <p:cNvSpPr/>
          <p:nvPr/>
        </p:nvSpPr>
        <p:spPr>
          <a:xfrm>
            <a:off x="4773168" y="358444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8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73168" y="3712464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5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Capital Requirements — Up to $1,000,000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73168" y="3877056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VaughnMartin internal capital requirements analysis, May 2026. Founding Partner Program: 12 seats, 2026 cohort. vaughnmartin.com/founding-partner-program. Platform built 2023, in production now.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0F2E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" y="5047488"/>
            <a:ext cx="850392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platform metrics are live production figures verifiable at vaughnmartin.com  ·  Financial projections are estimates based on VaughnMartin ROI methodology  ·  Confidential — For Investor Use Only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VaughnMartin Readiness OS — Investor Pitch</dc:title>
  <dc:subject>PptxGenJS Presentation</dc:subject>
  <dc:creator>VaughnMartin</dc:creator>
  <cp:lastModifiedBy>VaughnMartin</cp:lastModifiedBy>
  <cp:revision>1</cp:revision>
  <dcterms:created xsi:type="dcterms:W3CDTF">2026-05-18T15:40:59Z</dcterms:created>
  <dcterms:modified xsi:type="dcterms:W3CDTF">2026-05-18T15:40:59Z</dcterms:modified>
</cp:coreProperties>
</file>