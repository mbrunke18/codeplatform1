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30-day mobilization baseline — VaughnMartin operational research across 20 years Fortune 1000 experience. McKinsey Organizational Agility Research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All five phases live in production — VaughnMartin Readiness OS, Rev 31, May 2026. vaughnmartin.com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Competitor positioning — Signal Labs April 2026, ServiceNow documentation, Microsoft Copilot Work Trend Index 2026, McKinsey public advisory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12-minute activation — VaughnMartin Readiness OS platform specification. 3,600× = 43,200 min ÷ 12 min. vaughnmartin.com/how-it-executes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Platform in production — vaughnmartin.com. Rev 31, May 2026. Built 2023. Executive brief at vaughnmartin.com/executive-brief.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$61.3M estimated annual value — VaughnMartin ROI Calculator, Enterprise 5K–25K employees. vaughnmartin.com/roi-calculator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Capital requirements — VaughnMartin internal analysis. Founding Partner Program: 12 seats, 2026 cohort. vaughnmartin.com/founding-partner-program.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TRIGGER FIRES IN SECONDS.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MOBILIZATION TAKES 30 DAYS.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50592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1000 organizations detect strategic triggers quickly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still spend weeks aligning ownership, authority, and sequence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is not execution — it is mobilization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5844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  ·  </a:t>
            </a:r>
            <a:pPr indent="0" marL="0">
              <a:buNone/>
            </a:pPr>
            <a:r>
              <a:rPr lang="en-US" sz="8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coordination failures put an estimated $4.4T in annual value at risk. Preparation Infrastructure is the unclaimed software layer.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organizations do not have a strategy problem. They have a mobilization problem. When a trigger fires, the first weeks are spent figuring out who decides and who owns the response."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</a:t>
            </a:r>
            <a:endParaRPr lang="en-US" sz="7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FROM BOTH WORLDS.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173736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865376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coaching major college football at Stanford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inside Ford, Toyota, Lockheed Martin, Charles Schwab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discipline that wins games was missing from enterprise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2023 to close that gap permanently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"Very few people get exposure to both worlds at the depth where those lessons translate directly into each other. I did. And I built the infrastructure that closes it."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261104" y="109728"/>
            <a:ext cx="4709160" cy="4937760"/>
          </a:xfrm>
          <a:prstGeom prst="rect">
            <a:avLst/>
          </a:prstGeom>
          <a:solidFill>
            <a:srgbClr val="080C25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7408" y="256032"/>
            <a:ext cx="4416552" cy="2084832"/>
          </a:xfrm>
          <a:prstGeom prst="rect">
            <a:avLst/>
          </a:prstGeom>
          <a:solidFill>
            <a:srgbClr val="0D153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256032"/>
            <a:ext cx="441655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347472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STANFORD UNIVERSITY · 5 YEARS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53712" y="53035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 COACHING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53712" y="841248"/>
            <a:ext cx="41239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college football is a billion-dollar operation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40-second play clock — full organizational coordination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architecture built before game day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response pre-staged before pressure arrives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IS the execution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40196" y="2395728"/>
            <a:ext cx="950976" cy="384048"/>
          </a:xfrm>
          <a:prstGeom prst="rect">
            <a:avLst/>
          </a:prstGeom>
          <a:solidFill>
            <a:srgbClr val="2B8A6E"/>
          </a:solidFill>
          <a:ln w="19050">
            <a:solidFill>
              <a:srgbClr val="3BA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0196" y="239572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INTERSECTION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407408" y="2816352"/>
            <a:ext cx="4416552" cy="2029968"/>
          </a:xfrm>
          <a:prstGeom prst="rect">
            <a:avLst/>
          </a:prstGeom>
          <a:solidFill>
            <a:srgbClr val="0D1535"/>
          </a:solidFill>
          <a:ln w="19050">
            <a:solidFill>
              <a:srgbClr val="2B8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07408" y="2816352"/>
            <a:ext cx="4416552" cy="36576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37" name="Text 35"/>
          <p:cNvSpPr/>
          <p:nvPr/>
        </p:nvSpPr>
        <p:spPr>
          <a:xfrm>
            <a:off x="4553712" y="2907792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FORTUNE 1000 OPERATIONS · 20 YEARS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53712" y="309067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LEADERSHIP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53712" y="3401568"/>
            <a:ext cx="41239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· Toyota · Lockheed Martin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Schwab · Boyd Gaming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the 30-day mobilization failure repeat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preparation gap — different trigger, same delay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Readiness OS in 2023 to end that pattern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READINESS OS: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COMPLETE ORGANIZATIONAL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 OPERATING SYSTEM.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224942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377440"/>
            <a:ext cx="36576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situation faced, facing, anticipated. Full operating architecture built in advance.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248+ data points. 16 signal categories. Surfaces triggers before organizational thresholds fire.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choices including Stand Down. AI monitors. Executives authorize. Always.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budgets, internal comms, external comms, PR. Full coordinated plan in 12 minutes.</a:t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  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Gate encodes every activation into future protocols. Compounds with every use.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OS gives organizations end-to-end advantage: see situations earlier, decide with authority, execute in minutes, and improve every cycle.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MOAT COMPOUNDS.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COMPETITORS START AT ZERO.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19456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322576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encodes what held — preparation compounds over time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intelligence calibrated to each organization's specific readiness state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activations creates intelligence no competitor can replicate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"Signal Labs routes the signal. ServiceNow runs the workflow. McKinsey arrives after the trigger. We had the response pre-staged before any of them were called."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sp>
        <p:nvSpPr>
          <p:cNvPr id="28" name="Shape 25"/>
          <p:cNvSpPr/>
          <p:nvPr/>
        </p:nvSpPr>
        <p:spPr>
          <a:xfrm>
            <a:off x="4261104" y="109728"/>
            <a:ext cx="4709160" cy="4937760"/>
          </a:xfrm>
          <a:prstGeom prst="rect">
            <a:avLst/>
          </a:prstGeom>
          <a:solidFill>
            <a:srgbClr val="080C25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25696" y="237744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COMPETITORS STOP SHORT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389120" y="4754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89120" y="4754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32" name="Text 29"/>
          <p:cNvSpPr/>
          <p:nvPr/>
        </p:nvSpPr>
        <p:spPr>
          <a:xfrm>
            <a:off x="4480560" y="5120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Labs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480560" y="6766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signal. Stops before the response is staged.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389120" y="9326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89120" y="9326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36" name="Text 33"/>
          <p:cNvSpPr/>
          <p:nvPr/>
        </p:nvSpPr>
        <p:spPr>
          <a:xfrm>
            <a:off x="4480560" y="9692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480560" y="11338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workflows after alignment. We pre-stage the alignment.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389120" y="13898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89120" y="13898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40" name="Text 37"/>
          <p:cNvSpPr/>
          <p:nvPr/>
        </p:nvSpPr>
        <p:spPr>
          <a:xfrm>
            <a:off x="4480560" y="14264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 Copilot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480560" y="15910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intelligence. We pre-stage the organizational response to it.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389120" y="18470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389120" y="18470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44" name="Text 41"/>
          <p:cNvSpPr/>
          <p:nvPr/>
        </p:nvSpPr>
        <p:spPr>
          <a:xfrm>
            <a:off x="4480560" y="18836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McKinsey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480560" y="20482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after the trigger fires. We were ready before it.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389120" y="2340864"/>
            <a:ext cx="4453128" cy="2194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7" name="Text 44"/>
          <p:cNvSpPr/>
          <p:nvPr/>
        </p:nvSpPr>
        <p:spPr>
          <a:xfrm>
            <a:off x="4425696" y="2414016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MOAT — WHAT MAKES US HARD TO CATCH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38912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2B8A6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389120" y="2670048"/>
            <a:ext cx="1399032" cy="36576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50" name="Text 47"/>
          <p:cNvSpPr/>
          <p:nvPr/>
        </p:nvSpPr>
        <p:spPr>
          <a:xfrm>
            <a:off x="448056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448056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Gate encodes learning after every activation. Preparation compounds continuously.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85216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852160" y="2670048"/>
            <a:ext cx="139903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4" name="Text 51"/>
          <p:cNvSpPr/>
          <p:nvPr/>
        </p:nvSpPr>
        <p:spPr>
          <a:xfrm>
            <a:off x="594360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 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94360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confidence + preparedness score. No generic platform replicates this.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31520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3BAF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315200" y="2670048"/>
            <a:ext cx="1399032" cy="36576"/>
          </a:xfrm>
          <a:prstGeom prst="rect">
            <a:avLst/>
          </a:prstGeom>
          <a:solidFill>
            <a:srgbClr val="3BAF8A"/>
          </a:solidFill>
          <a:ln/>
        </p:spPr>
      </p:sp>
      <p:sp>
        <p:nvSpPr>
          <p:cNvPr id="58" name="Text 55"/>
          <p:cNvSpPr/>
          <p:nvPr/>
        </p:nvSpPr>
        <p:spPr>
          <a:xfrm>
            <a:off x="740664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Encoding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Permanence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740664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activations creates an intelligence layer competitors cannot offer on day one.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TRIGGER TO COORDINATED EXECUTION IN MINUTES.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50592"/>
            <a:ext cx="3657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detected — confidence scored against 221 trigger patterns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protocol staged across relevant domains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 with context and decision brief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authorizes — four real choices including Stand Down. No action deploys without explicit authorization.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launches — 12 minutes from signal to live 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key change is that coordination is pre-built, so when the trigger fires, execution starts."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— NOW, NOT 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PRODUCTION NOW.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52374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51760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live at vaughnmartin.com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public execution walkthrough available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cohort open for 90-day validation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not a roadmap concept. The platform is live and testable now."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vaughnmartin.com/executive-brief</a:t>
            </a:r>
            <a:endParaRPr lang="en-US" sz="7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 EXISTING RESPONSE SPEND WITH EXECUTION INFRASTRUCTURE.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52374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51760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budgets already fund reactive response motions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shifts spend to pre-staged execution readiness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$61.3M annual value — enterprises facing 3+ strategic triggers annually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not asking enterprises to invent new budget. We are replacing existing response spend with a repeatable operating model."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vaughnmartin.com/roi-calculator</a:t>
            </a:r>
            <a:endParaRPr lang="en-US" sz="7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+ CLOSE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CREATION: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PREPARATION INFRASTRUCTURE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201168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121408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Up to $1,000,000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hardening + enterprise controls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conversions + Repeatable GTM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18-MO RUNWAY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Mo.6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partners recurring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Mo.9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complete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Mo.12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GTM + proof stories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0040" y="34198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 · 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$75K–$250K/yr  ·  Growth from $75K  ·  Annual recurring  ·  No per-seat pricing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363931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IS READY BEFORE THE TRIGGER FIRES.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4169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enterprise has AI capability. Very few have mobilization readiness. We built that layer."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vaughnmartin.com/founding-partner-program</a:t>
            </a:r>
            <a:endParaRPr lang="en-US" sz="75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402336"/>
            <a:ext cx="4782312" cy="4636008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0" y="274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 Readiness OS  ·  Investor Pitch  · 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9494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69494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74980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 &amp; 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87782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30-Day Mobilization Baseline &amp; $4.4T Market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04241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operational research — 20 years direct experience across Ford, Toyota, Lockheed Martin, Charles Schwab, and Boyd Gaming. McKinsey Organizational Agility Research (2025). $4.4T enterprise value at risk from coordination failures.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1226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216712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9768" y="229514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Metrics — Five Phases All Live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245973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Readiness OS production system, Rev 31, May 2026. All five phases (Prepare, Detect, Decide, Execute, Learn) live in production. 248+ data points across 16 signal categories. 221 triggers. 170 Protocols. vaughnmartin.com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52958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358444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71246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12-Minute Activation &amp; 3,600× Head Start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87705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platform performance specification. Calculation: 30 days × 24 hrs × 60 min = 43,200 min ÷ 12 min = 3,600×. Baseline is average Fortune 1000 cross-functional mobilization cycle. vaughnmartin.com/how-it-executes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69494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69494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74980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73168" y="87782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$61.3M Estimated Annual 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104241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ROI Calculator — Enterprise profile (5K–25K employees), 3+ strategic triggers annually. Value modeled on time saved × enterprise coordination cost rate. Publicly interactive: vaughnmartin.com/roi-calculator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11226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11226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16712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73168" y="229514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Positioning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45973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Labs: company materials, April 2026. ServiceNow: platform documentation. Microsoft Copilot: Work Trend Index 2026. McKinsey: public advisory positioning.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352958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52958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58444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73168" y="371246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 Requirements — Up to $1,000,000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87705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internal capital requirements analysis, May 2026. Founding Partner Program: 12 seats, 2026 cohort. vaughnmartin.com/founding-partner-program. Platform built 2023, in production now.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5047488"/>
            <a:ext cx="85039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platform metrics are live production figures verifiable at vaughnmartin.com  ·  Financial projections are estimates based on VaughnMartin ROI methodology  ·  Confidential — For Investor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VaughnMartin Readiness OS — Investor Pitch</dc:title>
  <dc:subject>PptxGenJS Presentation</dc:subject>
  <dc:creator>VaughnMartin</dc:creator>
  <cp:lastModifiedBy>VaughnMartin</cp:lastModifiedBy>
  <cp:revision>1</cp:revision>
  <dcterms:created xsi:type="dcterms:W3CDTF">2026-05-18T15:40:59Z</dcterms:created>
  <dcterms:modified xsi:type="dcterms:W3CDTF">2026-05-18T15:40:59Z</dcterms:modified>
</cp:coreProperties>
</file>