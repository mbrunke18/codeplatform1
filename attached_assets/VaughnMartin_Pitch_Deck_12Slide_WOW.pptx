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jpg"/><Relationship Id="rId4" Type="http://schemas.openxmlformats.org/officeDocument/2006/relationships/image" Target="../media/image1.jpg"/><Relationship Id="rId5" Type="http://schemas.openxmlformats.org/officeDocument/2006/relationships/image" Target="../media/image7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88952" cy="6350"/>
          </a:xfrm>
          <a:prstGeom prst="rect">
            <a:avLst/>
          </a:prstGeom>
          <a:solidFill>
            <a:srgbClr val="141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828800"/>
            <a:ext cx="12188952" cy="6350"/>
          </a:xfrm>
          <a:prstGeom prst="rect">
            <a:avLst/>
          </a:prstGeom>
          <a:solidFill>
            <a:srgbClr val="141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743200"/>
            <a:ext cx="12188952" cy="6350"/>
          </a:xfrm>
          <a:prstGeom prst="rect">
            <a:avLst/>
          </a:prstGeom>
          <a:solidFill>
            <a:srgbClr val="141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3657600"/>
            <a:ext cx="12188952" cy="6350"/>
          </a:xfrm>
          <a:prstGeom prst="rect">
            <a:avLst/>
          </a:prstGeom>
          <a:solidFill>
            <a:srgbClr val="141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572000"/>
            <a:ext cx="12188952" cy="6350"/>
          </a:xfrm>
          <a:prstGeom prst="rect">
            <a:avLst/>
          </a:prstGeom>
          <a:solidFill>
            <a:srgbClr val="141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88952" cy="6350"/>
          </a:xfrm>
          <a:prstGeom prst="rect">
            <a:avLst/>
          </a:prstGeom>
          <a:solidFill>
            <a:srgbClr val="141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00800"/>
            <a:ext cx="12188952" cy="6350"/>
          </a:xfrm>
          <a:prstGeom prst="rect">
            <a:avLst/>
          </a:prstGeom>
          <a:solidFill>
            <a:srgbClr val="141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591556" y="1188720"/>
            <a:ext cx="1005840" cy="1005840"/>
          </a:xfrm>
          <a:prstGeom prst="ellipse">
            <a:avLst/>
          </a:prstGeom>
          <a:solidFill>
            <a:srgbClr val="111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20156" y="1389888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9A84C"/>
                </a:solidFill>
                <a:latin typeface="Calibri"/>
              </a:rPr>
              <a:t>VM</a:t>
            </a:r>
          </a:p>
        </p:txBody>
      </p:sp>
      <p:sp>
        <p:nvSpPr>
          <p:cNvPr id="13" name="Oval 12"/>
          <p:cNvSpPr/>
          <p:nvPr/>
        </p:nvSpPr>
        <p:spPr>
          <a:xfrm>
            <a:off x="5591556" y="1188720"/>
            <a:ext cx="1005840" cy="1005840"/>
          </a:xfrm>
          <a:prstGeom prst="ellipse">
            <a:avLst/>
          </a:prstGeom>
          <a:noFill/>
          <a:ln w="1524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423160"/>
            <a:ext cx="103601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999EB8"/>
                </a:solidFill>
                <a:latin typeface="Calibri"/>
              </a:rPr>
              <a:t>VaughnMartin  Readiness 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62956" y="2944368"/>
            <a:ext cx="1463040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090672"/>
            <a:ext cx="103601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200" b="1" i="0">
                <a:solidFill>
                  <a:srgbClr val="FFFFFF"/>
                </a:solidFill>
                <a:latin typeface="Calibri"/>
              </a:rPr>
              <a:t>Signal Advantage</a:t>
            </a:r>
          </a:p>
          <a:p>
            <a:pPr algn="ctr">
              <a:spcAft>
                <a:spcPts val="600"/>
              </a:spcAft>
            </a:pPr>
            <a:r>
              <a:rPr sz="4200" b="1" i="0">
                <a:solidFill>
                  <a:srgbClr val="FFFFFF"/>
                </a:solidFill>
                <a:latin typeface="Calibri"/>
              </a:rPr>
              <a:t>Before Execution Advantage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434840"/>
            <a:ext cx="94457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C9A84C"/>
                </a:solidFill>
                <a:latin typeface="Georgia"/>
              </a:rPr>
              <a:t>See earlier.  Decide with authority.  Execute in 12 minutes.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60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6510528"/>
            <a:ext cx="54864" cy="34747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4592" y="654710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8A7332"/>
                </a:solidFill>
                <a:latin typeface="Calibri"/>
              </a:rPr>
              <a:t>VaughnMartin  ·  READINESS 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91672" y="654710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606580"/>
                </a:solidFill>
                <a:latin typeface="Calibri"/>
              </a:rPr>
              <a:t>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0" y="0"/>
            <a:ext cx="6885432" cy="6858000"/>
          </a:xfrm>
          <a:prstGeom prst="rect">
            <a:avLst/>
          </a:prstGeom>
          <a:solidFill>
            <a:srgbClr val="0D1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6032" y="502920"/>
            <a:ext cx="36576" cy="2743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7472" y="502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9A84C"/>
                </a:solidFill>
                <a:latin typeface="Calibri"/>
              </a:rPr>
              <a:t>THE PROBLEM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" y="822960"/>
            <a:ext cx="502920" cy="4114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" y="91440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Most organizations miss</a:t>
            </a:r>
          </a:p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the window before they align.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" y="246888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300" b="0" i="0">
                <a:solidFill>
                  <a:srgbClr val="CCCFD8"/>
                </a:solidFill>
                <a:latin typeface="Calibri"/>
              </a:rPr>
              <a:t>▶  Triggers are detected too late</a:t>
            </a:r>
          </a:p>
          <a:p>
            <a:pPr algn="l">
              <a:spcAft>
                <a:spcPts val="900"/>
              </a:spcAft>
            </a:pPr>
            <a:r>
              <a:rPr sz="1300" b="0" i="0">
                <a:solidFill>
                  <a:srgbClr val="CCCFD8"/>
                </a:solidFill>
                <a:latin typeface="Calibri"/>
              </a:rPr>
              <a:t>▶  Authority is unclear in the moment</a:t>
            </a:r>
          </a:p>
          <a:p>
            <a:pPr algn="l">
              <a:spcAft>
                <a:spcPts val="900"/>
              </a:spcAft>
            </a:pPr>
            <a:r>
              <a:rPr sz="1300" b="0" i="0">
                <a:solidFill>
                  <a:srgbClr val="CCCFD8"/>
                </a:solidFill>
                <a:latin typeface="Calibri"/>
              </a:rPr>
              <a:t>▶  Coordination starts after opportunity or risk is already moving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" y="429768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99EB8"/>
                </a:solidFill>
                <a:latin typeface="Georgia"/>
              </a:rPr>
              <a:t>"The window does not wait for the org chart."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822960"/>
            <a:ext cx="6336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8A7332"/>
                </a:solidFill>
                <a:latin typeface="Calibri"/>
              </a:rPr>
              <a:t>THE TYPICAL RESPONSE TIMELINE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2240280"/>
            <a:ext cx="5971032" cy="109728"/>
          </a:xfrm>
          <a:prstGeom prst="rect">
            <a:avLst/>
          </a:prstGeom>
          <a:solidFill>
            <a:srgbClr val="22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824728" y="2185416"/>
            <a:ext cx="237744" cy="237744"/>
          </a:xfrm>
          <a:prstGeom prst="ellipse">
            <a:avLst/>
          </a:prstGeom>
          <a:solidFill>
            <a:srgbClr val="2B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77840" y="1554480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B8A6E"/>
                </a:solidFill>
                <a:latin typeface="Calibri"/>
              </a:rPr>
              <a:t>T+0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487168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 i="0">
                <a:solidFill>
                  <a:srgbClr val="999EB8"/>
                </a:solidFill>
                <a:latin typeface="Calibri"/>
              </a:rPr>
              <a:t>SIGNAL</a:t>
            </a:r>
          </a:p>
          <a:p>
            <a:pPr algn="ctr">
              <a:spcAft>
                <a:spcPts val="200"/>
              </a:spcAft>
            </a:pPr>
            <a:r>
              <a:rPr sz="900" b="1" i="0">
                <a:solidFill>
                  <a:srgbClr val="999EB8"/>
                </a:solidFill>
                <a:latin typeface="Calibri"/>
              </a:rPr>
              <a:t>DETECTED</a:t>
            </a:r>
          </a:p>
        </p:txBody>
      </p:sp>
      <p:sp>
        <p:nvSpPr>
          <p:cNvPr id="16" name="Oval 15"/>
          <p:cNvSpPr/>
          <p:nvPr/>
        </p:nvSpPr>
        <p:spPr>
          <a:xfrm>
            <a:off x="8810244" y="2185416"/>
            <a:ext cx="237744" cy="237744"/>
          </a:xfrm>
          <a:prstGeom prst="ellipse">
            <a:avLst/>
          </a:prstGeom>
          <a:solidFill>
            <a:srgbClr val="C96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63356" y="1554480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96030"/>
                </a:solidFill>
                <a:latin typeface="Calibri"/>
              </a:rPr>
              <a:t>Days 1–14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1916" y="2487168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 i="0">
                <a:solidFill>
                  <a:srgbClr val="999EB8"/>
                </a:solidFill>
                <a:latin typeface="Calibri"/>
              </a:rPr>
              <a:t>ALIGNMENT</a:t>
            </a:r>
          </a:p>
          <a:p>
            <a:pPr algn="ctr">
              <a:spcAft>
                <a:spcPts val="200"/>
              </a:spcAft>
            </a:pPr>
            <a:r>
              <a:rPr sz="900" b="1" i="0">
                <a:solidFill>
                  <a:srgbClr val="999EB8"/>
                </a:solidFill>
                <a:latin typeface="Calibri"/>
              </a:rPr>
              <a:t>MEETINGS</a:t>
            </a:r>
          </a:p>
        </p:txBody>
      </p:sp>
      <p:sp>
        <p:nvSpPr>
          <p:cNvPr id="19" name="Oval 18"/>
          <p:cNvSpPr/>
          <p:nvPr/>
        </p:nvSpPr>
        <p:spPr>
          <a:xfrm>
            <a:off x="11795760" y="2185416"/>
            <a:ext cx="237744" cy="237744"/>
          </a:xfrm>
          <a:prstGeom prst="ellipse">
            <a:avLst/>
          </a:prstGeom>
          <a:solidFill>
            <a:srgbClr val="CC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548872" y="1554480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C4444"/>
                </a:solidFill>
                <a:latin typeface="Calibri"/>
              </a:rPr>
              <a:t>Day 30+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57432" y="2487168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 i="0">
                <a:solidFill>
                  <a:srgbClr val="999EB8"/>
                </a:solidFill>
                <a:latin typeface="Calibri"/>
              </a:rPr>
              <a:t>RESPONSE</a:t>
            </a:r>
          </a:p>
          <a:p>
            <a:pPr algn="ctr">
              <a:spcAft>
                <a:spcPts val="200"/>
              </a:spcAft>
            </a:pPr>
            <a:r>
              <a:rPr sz="900" b="1" i="0">
                <a:solidFill>
                  <a:srgbClr val="999EB8"/>
                </a:solidFill>
                <a:latin typeface="Calibri"/>
              </a:rPr>
              <a:t>BEGINS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97880" y="3246120"/>
            <a:ext cx="6062472" cy="1097280"/>
          </a:xfrm>
          <a:prstGeom prst="rect">
            <a:avLst/>
          </a:prstGeom>
          <a:solidFill>
            <a:srgbClr val="28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80760" y="3383280"/>
            <a:ext cx="58795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644"/>
                </a:solidFill>
                <a:latin typeface="Calibri"/>
              </a:rPr>
              <a:t>⚠  LOST WINDOW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80760" y="3703320"/>
            <a:ext cx="58795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AAAA"/>
                </a:solidFill>
                <a:latin typeface="Calibri"/>
              </a:rPr>
              <a:t>The trigger fired. The competitor acted.
Your organization was still aligning.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97880" y="4572000"/>
            <a:ext cx="6062472" cy="36576"/>
          </a:xfrm>
          <a:prstGeom prst="rect">
            <a:avLst/>
          </a:prstGeom>
          <a:solidFill>
            <a:srgbClr val="2B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97880" y="4645152"/>
            <a:ext cx="6062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2B8A6E"/>
                </a:solidFill>
                <a:latin typeface="Georgia"/>
              </a:rPr>
              <a:t>Readiness OS collapses mobilization to 12 minutes.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60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6510528"/>
            <a:ext cx="54864" cy="34747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64592" y="654710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8A7332"/>
                </a:solidFill>
                <a:latin typeface="Calibri"/>
              </a:rPr>
              <a:t>VaughnMartin  ·  READINESS 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91672" y="654710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606580"/>
                </a:solidFill>
                <a:latin typeface="Calibri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B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6032" y="502920"/>
            <a:ext cx="36576" cy="274320"/>
          </a:xfrm>
          <a:prstGeom prst="rect">
            <a:avLst/>
          </a:prstGeom>
          <a:solidFill>
            <a:srgbClr val="2B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5029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B8A6E"/>
                </a:solidFill>
                <a:latin typeface="Calibri"/>
              </a:rPr>
              <a:t>THE ADVANTAGE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032" y="822960"/>
            <a:ext cx="502920" cy="41148"/>
          </a:xfrm>
          <a:prstGeom prst="rect">
            <a:avLst/>
          </a:prstGeom>
          <a:solidFill>
            <a:srgbClr val="2B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932688"/>
            <a:ext cx="6703923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Earlier signal.</a:t>
            </a:r>
          </a:p>
          <a:p>
            <a:pPr algn="l">
              <a:spcAft>
                <a:spcPts val="4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Faster mobilization.</a:t>
            </a:r>
          </a:p>
          <a:p>
            <a:pPr algn="l">
              <a:spcAft>
                <a:spcPts val="4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Compounding edge.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" y="2834640"/>
            <a:ext cx="11676888" cy="640080"/>
          </a:xfrm>
          <a:prstGeom prst="rect">
            <a:avLst/>
          </a:prstGeom>
          <a:solidFill>
            <a:srgbClr val="0E1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926080"/>
            <a:ext cx="111831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9A84C"/>
                </a:solidFill>
                <a:latin typeface="Calibri"/>
              </a:rPr>
              <a:t>Signal Lead Time  +  Mobilization Compression  =  Compounding Advantage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" y="3611880"/>
            <a:ext cx="5591556" cy="2011680"/>
          </a:xfrm>
          <a:prstGeom prst="rect">
            <a:avLst/>
          </a:prstGeom>
          <a:solidFill>
            <a:srgbClr val="0C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6032" y="3611880"/>
            <a:ext cx="5591556" cy="45720"/>
          </a:xfrm>
          <a:prstGeom prst="rect">
            <a:avLst/>
          </a:prstGeom>
          <a:solidFill>
            <a:srgbClr val="2B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" y="3730752"/>
            <a:ext cx="53172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B8A6E"/>
                </a:solidFill>
                <a:latin typeface="Calibri"/>
              </a:rPr>
              <a:t>SIGNAL LEAD 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" y="4069080"/>
            <a:ext cx="5317236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99EB8"/>
                </a:solidFill>
                <a:latin typeface="Calibri"/>
              </a:rPr>
              <a:t>System-based monitoring across 248+ data points and 221 trigger patterns. Defined on your terms — not discovered after the fact.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1908" y="3611880"/>
            <a:ext cx="5591556" cy="2011680"/>
          </a:xfrm>
          <a:prstGeom prst="rect">
            <a:avLst/>
          </a:prstGeom>
          <a:solidFill>
            <a:srgbClr val="0C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1908" y="3611880"/>
            <a:ext cx="5591556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4788" y="3730752"/>
            <a:ext cx="53172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84C"/>
                </a:solidFill>
                <a:latin typeface="Calibri"/>
              </a:rPr>
              <a:t>MOBILIZATION COMPRESSION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4788" y="4069080"/>
            <a:ext cx="5317236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99EB8"/>
                </a:solidFill>
                <a:latin typeface="Calibri"/>
              </a:rPr>
              <a:t>170 Readiness Protocols pre-staged across 9 strategic domains. Execution architecture ready before the trigger fires.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5486400"/>
            <a:ext cx="12188952" cy="1024128"/>
          </a:xfrm>
          <a:prstGeom prst="rect">
            <a:avLst/>
          </a:prstGeom>
          <a:solidFill>
            <a:srgbClr val="060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5486400"/>
            <a:ext cx="12188952" cy="4114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0" y="5596128"/>
            <a:ext cx="304723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C9A84C"/>
                </a:solidFill>
                <a:latin typeface="Calibri"/>
              </a:rPr>
              <a:t>248+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0" y="6053328"/>
            <a:ext cx="304723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999EB8"/>
                </a:solidFill>
                <a:latin typeface="Calibri"/>
              </a:rPr>
              <a:t>data points monitored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38094" y="5623560"/>
            <a:ext cx="9144" cy="685800"/>
          </a:xfrm>
          <a:prstGeom prst="rect">
            <a:avLst/>
          </a:prstGeom>
          <a:solidFill>
            <a:srgbClr val="1E2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47238" y="5596128"/>
            <a:ext cx="304723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C9A84C"/>
                </a:solidFill>
                <a:latin typeface="Calibri"/>
              </a:rPr>
              <a:t>221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47238" y="6053328"/>
            <a:ext cx="304723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999EB8"/>
                </a:solidFill>
                <a:latin typeface="Calibri"/>
              </a:rPr>
              <a:t>trigger patterns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85332" y="5623560"/>
            <a:ext cx="9144" cy="685800"/>
          </a:xfrm>
          <a:prstGeom prst="rect">
            <a:avLst/>
          </a:prstGeom>
          <a:solidFill>
            <a:srgbClr val="1E2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94476" y="5596128"/>
            <a:ext cx="304723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C9A84C"/>
                </a:solidFill>
                <a:latin typeface="Calibri"/>
              </a:rPr>
              <a:t>170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4476" y="6053328"/>
            <a:ext cx="304723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999EB8"/>
                </a:solidFill>
                <a:latin typeface="Calibri"/>
              </a:rPr>
              <a:t>Readiness Protocols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32570" y="5623560"/>
            <a:ext cx="9144" cy="685800"/>
          </a:xfrm>
          <a:prstGeom prst="rect">
            <a:avLst/>
          </a:prstGeom>
          <a:solidFill>
            <a:srgbClr val="1E2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1714" y="5596128"/>
            <a:ext cx="304723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C9A84C"/>
                </a:solidFill>
                <a:latin typeface="Calibri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1714" y="6053328"/>
            <a:ext cx="304723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999EB8"/>
                </a:solidFill>
                <a:latin typeface="Calibri"/>
              </a:rPr>
              <a:t>strategic domains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60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0" y="6510528"/>
            <a:ext cx="54864" cy="34747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64592" y="654710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8A7332"/>
                </a:solidFill>
                <a:latin typeface="Calibri"/>
              </a:rPr>
              <a:t>VaughnMartin  ·  READINESS 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91672" y="654710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606580"/>
                </a:solidFill>
                <a:latin typeface="Calibri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6032" y="502920"/>
            <a:ext cx="36576" cy="2743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502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9A84C"/>
                </a:solidFill>
                <a:latin typeface="Calibri"/>
              </a:rPr>
              <a:t>THE PRODUCT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032" y="822960"/>
            <a:ext cx="502920" cy="4114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932688"/>
            <a:ext cx="1167688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Map  →  Monitor  →  Decide  →  Execute  →  Learn</a:t>
            </a:r>
          </a:p>
        </p:txBody>
      </p:sp>
      <p:sp>
        <p:nvSpPr>
          <p:cNvPr id="8" name="Rectangle 7"/>
          <p:cNvSpPr/>
          <p:nvPr/>
        </p:nvSpPr>
        <p:spPr>
          <a:xfrm>
            <a:off x="4997196" y="1572768"/>
            <a:ext cx="2194560" cy="4114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01168" y="1828800"/>
            <a:ext cx="2236622" cy="4389120"/>
          </a:xfrm>
          <a:prstGeom prst="rect">
            <a:avLst/>
          </a:prstGeom>
          <a:solidFill>
            <a:srgbClr val="0C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1168" y="1828800"/>
            <a:ext cx="2236622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72591" y="1993392"/>
            <a:ext cx="493776" cy="493776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91463" y="2075688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0F2E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" y="2606040"/>
            <a:ext cx="207203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9A84C"/>
                </a:solidFill>
                <a:latin typeface="Calibri"/>
              </a:rPr>
              <a:t>MAP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" y="2926080"/>
            <a:ext cx="207203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606580"/>
                </a:solidFill>
                <a:latin typeface="Calibri"/>
              </a:rPr>
              <a:t>SCENARIOS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" y="3246120"/>
            <a:ext cx="1870862" cy="2743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0896" y="3337560"/>
            <a:ext cx="207203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99EB8"/>
                </a:solidFill>
                <a:latin typeface="Calibri"/>
              </a:rPr>
              <a:t>Define every strategic situation your organization has faced, is facing, or is likely to face. Build the pre-staged response before pressure arrives.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47518" y="1828800"/>
            <a:ext cx="2236622" cy="4389120"/>
          </a:xfrm>
          <a:prstGeom prst="rect">
            <a:avLst/>
          </a:prstGeom>
          <a:solidFill>
            <a:srgbClr val="0C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47518" y="1828800"/>
            <a:ext cx="2236622" cy="45720"/>
          </a:xfrm>
          <a:prstGeom prst="rect">
            <a:avLst/>
          </a:prstGeom>
          <a:solidFill>
            <a:srgbClr val="2B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418941" y="1993392"/>
            <a:ext cx="493776" cy="493776"/>
          </a:xfrm>
          <a:prstGeom prst="ellipse">
            <a:avLst/>
          </a:prstGeom>
          <a:solidFill>
            <a:srgbClr val="2B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37813" y="2075688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0F2E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57246" y="2606040"/>
            <a:ext cx="207203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B8A6E"/>
                </a:solidFill>
                <a:latin typeface="Calibri"/>
              </a:rPr>
              <a:t>MONITOR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57246" y="2926080"/>
            <a:ext cx="207203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606580"/>
                </a:solidFill>
                <a:latin typeface="Calibri"/>
              </a:rPr>
              <a:t>TRIGGERS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30398" y="3246120"/>
            <a:ext cx="1870862" cy="27432"/>
          </a:xfrm>
          <a:prstGeom prst="rect">
            <a:avLst/>
          </a:prstGeom>
          <a:solidFill>
            <a:srgbClr val="2B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57246" y="3337560"/>
            <a:ext cx="207203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99EB8"/>
                </a:solidFill>
                <a:latin typeface="Calibri"/>
              </a:rPr>
              <a:t>System-based monitoring of customer-defined thresholds across 221 trigger patterns, 248+ data points, every 15 minutes.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93868" y="1828800"/>
            <a:ext cx="2236622" cy="4389120"/>
          </a:xfrm>
          <a:prstGeom prst="rect">
            <a:avLst/>
          </a:prstGeom>
          <a:solidFill>
            <a:srgbClr val="0C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893868" y="1828800"/>
            <a:ext cx="2236622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765292" y="1993392"/>
            <a:ext cx="493776" cy="493776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84164" y="2075688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0F2E"/>
                </a:solidFill>
                <a:latin typeface="Calibri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03596" y="2606040"/>
            <a:ext cx="207203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9A84C"/>
                </a:solidFill>
                <a:latin typeface="Calibri"/>
              </a:rPr>
              <a:t>DECIDE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03596" y="2926080"/>
            <a:ext cx="207203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606580"/>
                </a:solidFill>
                <a:latin typeface="Calibri"/>
              </a:rPr>
              <a:t>WITH AUTHORITY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76748" y="3246120"/>
            <a:ext cx="1870862" cy="2743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03596" y="3337560"/>
            <a:ext cx="207203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99EB8"/>
                </a:solidFill>
                <a:latin typeface="Calibri"/>
              </a:rPr>
              <a:t>Executive authorization at explicit decision points. AI monitors and surfaces the recommended Readiness Protocol. Executives decide.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40219" y="1828800"/>
            <a:ext cx="2236622" cy="4389120"/>
          </a:xfrm>
          <a:prstGeom prst="rect">
            <a:avLst/>
          </a:prstGeom>
          <a:solidFill>
            <a:srgbClr val="0C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240219" y="1828800"/>
            <a:ext cx="2236622" cy="45720"/>
          </a:xfrm>
          <a:prstGeom prst="rect">
            <a:avLst/>
          </a:prstGeom>
          <a:solidFill>
            <a:srgbClr val="2B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111642" y="1993392"/>
            <a:ext cx="493776" cy="493776"/>
          </a:xfrm>
          <a:prstGeom prst="ellipse">
            <a:avLst/>
          </a:prstGeom>
          <a:solidFill>
            <a:srgbClr val="2B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30514" y="2075688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0F2E"/>
                </a:solidFill>
                <a:latin typeface="Calibri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49947" y="2606040"/>
            <a:ext cx="207203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B8A6E"/>
                </a:solidFill>
                <a:latin typeface="Calibri"/>
              </a:rPr>
              <a:t>EXECUTE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49947" y="2926080"/>
            <a:ext cx="207203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606580"/>
                </a:solidFill>
                <a:latin typeface="Calibri"/>
              </a:rPr>
              <a:t>COORDINATED ACTION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23099" y="3246120"/>
            <a:ext cx="1870862" cy="27432"/>
          </a:xfrm>
          <a:prstGeom prst="rect">
            <a:avLst/>
          </a:prstGeom>
          <a:solidFill>
            <a:srgbClr val="2B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49947" y="3337560"/>
            <a:ext cx="207203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99EB8"/>
                </a:solidFill>
                <a:latin typeface="Calibri"/>
              </a:rPr>
              <a:t>Cross-functional plan deploys: roles assigned, budgets unlocked, internal and external comms staged — in minutes.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586569" y="1828800"/>
            <a:ext cx="2236622" cy="4389120"/>
          </a:xfrm>
          <a:prstGeom prst="rect">
            <a:avLst/>
          </a:prstGeom>
          <a:solidFill>
            <a:srgbClr val="0C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586569" y="1828800"/>
            <a:ext cx="2236622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457992" y="1993392"/>
            <a:ext cx="493776" cy="493776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576864" y="2075688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0F2E"/>
                </a:solidFill>
                <a:latin typeface="Calibri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96297" y="2606040"/>
            <a:ext cx="207203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9A84C"/>
                </a:solidFill>
                <a:latin typeface="Calibri"/>
              </a:rPr>
              <a:t>LEARN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96297" y="2926080"/>
            <a:ext cx="207203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606580"/>
                </a:solidFill>
                <a:latin typeface="Calibri"/>
              </a:rPr>
              <a:t>INTO FUTURE READINESS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769449" y="3246120"/>
            <a:ext cx="1870862" cy="2743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96297" y="3337560"/>
            <a:ext cx="207203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99EB8"/>
                </a:solidFill>
                <a:latin typeface="Calibri"/>
              </a:rPr>
              <a:t>Every activation improves the next. Signal patterns, decision latency, and outcomes feed forward into the protocol library.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60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0" y="6510528"/>
            <a:ext cx="54864" cy="34747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64592" y="654710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8A7332"/>
                </a:solidFill>
                <a:latin typeface="Calibri"/>
              </a:rPr>
              <a:t>VaughnMartin  ·  READINESS OS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091672" y="654710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606580"/>
                </a:solidFill>
                <a:latin typeface="Calibri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89120" y="0"/>
            <a:ext cx="7799832" cy="6858000"/>
          </a:xfrm>
          <a:prstGeom prst="rect">
            <a:avLst/>
          </a:prstGeom>
          <a:solidFill>
            <a:srgbClr val="0D1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B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6032" y="502920"/>
            <a:ext cx="36576" cy="274320"/>
          </a:xfrm>
          <a:prstGeom prst="rect">
            <a:avLst/>
          </a:prstGeom>
          <a:solidFill>
            <a:srgbClr val="2B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7472" y="5029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B8A6E"/>
                </a:solidFill>
                <a:latin typeface="Calibri"/>
              </a:rPr>
              <a:t>MISSION CONTROL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" y="822960"/>
            <a:ext cx="502920" cy="41148"/>
          </a:xfrm>
          <a:prstGeom prst="rect">
            <a:avLst/>
          </a:prstGeom>
          <a:solidFill>
            <a:srgbClr val="2B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" y="932688"/>
            <a:ext cx="3977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Where leadership sees</a:t>
            </a:r>
          </a:p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what is forming</a:t>
            </a:r>
          </a:p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and what to do now.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" y="2788920"/>
            <a:ext cx="4041648" cy="987552"/>
          </a:xfrm>
          <a:prstGeom prst="rect">
            <a:avLst/>
          </a:prstGeom>
          <a:solidFill>
            <a:srgbClr val="0C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6032" y="2788920"/>
            <a:ext cx="4041648" cy="36576"/>
          </a:xfrm>
          <a:prstGeom prst="rect">
            <a:avLst/>
          </a:prstGeom>
          <a:solidFill>
            <a:srgbClr val="2B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" y="2880360"/>
            <a:ext cx="3794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B8A6E"/>
                </a:solidFill>
                <a:latin typeface="Calibri"/>
              </a:rPr>
              <a:t>EMERGING SITUATION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" y="3154680"/>
            <a:ext cx="3794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EB8"/>
                </a:solidFill>
                <a:latin typeface="Calibri"/>
              </a:rPr>
              <a:t>Live signal detections scored against 221 trigger patterns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6032" y="3886200"/>
            <a:ext cx="4041648" cy="987552"/>
          </a:xfrm>
          <a:prstGeom prst="rect">
            <a:avLst/>
          </a:prstGeom>
          <a:solidFill>
            <a:srgbClr val="0C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56032" y="3886200"/>
            <a:ext cx="4041648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2336" y="3977640"/>
            <a:ext cx="3794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9A84C"/>
                </a:solidFill>
                <a:latin typeface="Calibri"/>
              </a:rPr>
              <a:t>DECISION WINDOW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6" y="4251960"/>
            <a:ext cx="3794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EB8"/>
                </a:solidFill>
                <a:latin typeface="Calibri"/>
              </a:rPr>
              <a:t>System-recommended Readiness Protocol surfaced with confidence score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6032" y="4983480"/>
            <a:ext cx="4041648" cy="987552"/>
          </a:xfrm>
          <a:prstGeom prst="rect">
            <a:avLst/>
          </a:prstGeom>
          <a:solidFill>
            <a:srgbClr val="0C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6032" y="4983480"/>
            <a:ext cx="4041648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2336" y="5074920"/>
            <a:ext cx="3794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RECOMMENDED PROTOCOL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" y="5349240"/>
            <a:ext cx="3794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EB8"/>
                </a:solidFill>
                <a:latin typeface="Calibri"/>
              </a:rPr>
              <a:t>One-click executive authorization. Pre-staged execution deploys immediately.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63440" y="411480"/>
            <a:ext cx="7434072" cy="320040"/>
          </a:xfrm>
          <a:prstGeom prst="rect">
            <a:avLst/>
          </a:prstGeom>
          <a:solidFill>
            <a:srgbClr val="1A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773168" y="512064"/>
            <a:ext cx="109728" cy="109728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956048" y="512064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138928" y="512064"/>
            <a:ext cx="109728" cy="109728"/>
          </a:xfrm>
          <a:prstGeom prst="ellipse">
            <a:avLst/>
          </a:prstGeom>
          <a:solidFill>
            <a:srgbClr val="28C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349240" y="475488"/>
            <a:ext cx="6611112" cy="182880"/>
          </a:xfrm>
          <a:prstGeom prst="rect">
            <a:avLst/>
          </a:prstGeom>
          <a:solidFill>
            <a:srgbClr val="282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13248" y="475488"/>
            <a:ext cx="65196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999EB8"/>
                </a:solidFill>
                <a:latin typeface="Calibri"/>
              </a:rPr>
              <a:t>vaughnmartin.com/command-tower</a:t>
            </a:r>
          </a:p>
        </p:txBody>
      </p:sp>
      <p:pic>
        <p:nvPicPr>
          <p:cNvPr id="27" name="Picture 26" descr="slide_mission_contro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731520"/>
            <a:ext cx="7434072" cy="5669280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60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510528"/>
            <a:ext cx="54864" cy="34747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64592" y="654710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8A7332"/>
                </a:solidFill>
                <a:latin typeface="Calibri"/>
              </a:rPr>
              <a:t>VaughnMartin  ·  READINESS 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91672" y="654710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606580"/>
                </a:solidFill>
                <a:latin typeface="Calibri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89120" y="0"/>
            <a:ext cx="7799832" cy="6858000"/>
          </a:xfrm>
          <a:prstGeom prst="rect">
            <a:avLst/>
          </a:prstGeom>
          <a:solidFill>
            <a:srgbClr val="0D1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6032" y="502920"/>
            <a:ext cx="36576" cy="2743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7472" y="5029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9A84C"/>
                </a:solidFill>
                <a:latin typeface="Calibri"/>
              </a:rPr>
              <a:t>TRIGGER ARCHITECTURE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" y="822960"/>
            <a:ext cx="502920" cy="4114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" y="932688"/>
            <a:ext cx="3977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Detection on your terms,</a:t>
            </a:r>
          </a:p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not after the fact.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" y="2331720"/>
            <a:ext cx="4041648" cy="1188720"/>
          </a:xfrm>
          <a:prstGeom prst="rect">
            <a:avLst/>
          </a:prstGeom>
          <a:solidFill>
            <a:srgbClr val="0C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6032" y="2331720"/>
            <a:ext cx="4041648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" y="2423160"/>
            <a:ext cx="3794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9A84C"/>
                </a:solidFill>
                <a:latin typeface="Calibri"/>
              </a:rPr>
              <a:t>Customer-defined thresholds + escalation logic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" y="2734056"/>
            <a:ext cx="3794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EB8"/>
                </a:solidFill>
                <a:latin typeface="Calibri"/>
              </a:rPr>
              <a:t>You define what constitutes a trigger for your organization — not a generic alert system.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6032" y="3657600"/>
            <a:ext cx="4041648" cy="1188720"/>
          </a:xfrm>
          <a:prstGeom prst="rect">
            <a:avLst/>
          </a:prstGeom>
          <a:solidFill>
            <a:srgbClr val="0C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56032" y="3657600"/>
            <a:ext cx="4041648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2336" y="3749040"/>
            <a:ext cx="3794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9A84C"/>
                </a:solidFill>
                <a:latin typeface="Calibri"/>
              </a:rPr>
              <a:t>Reduces missed and late detection risk by 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6" y="4059936"/>
            <a:ext cx="3794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EB8"/>
                </a:solidFill>
                <a:latin typeface="Calibri"/>
              </a:rPr>
              <a:t>Continuous monitoring every 15 minutes. 248+ data points. System-scored, not manual.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63440" y="411480"/>
            <a:ext cx="7434072" cy="320040"/>
          </a:xfrm>
          <a:prstGeom prst="rect">
            <a:avLst/>
          </a:prstGeom>
          <a:solidFill>
            <a:srgbClr val="1A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773168" y="512064"/>
            <a:ext cx="109728" cy="109728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956048" y="512064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138928" y="512064"/>
            <a:ext cx="109728" cy="109728"/>
          </a:xfrm>
          <a:prstGeom prst="ellipse">
            <a:avLst/>
          </a:prstGeom>
          <a:solidFill>
            <a:srgbClr val="28C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49240" y="475488"/>
            <a:ext cx="6611112" cy="182880"/>
          </a:xfrm>
          <a:prstGeom prst="rect">
            <a:avLst/>
          </a:prstGeom>
          <a:solidFill>
            <a:srgbClr val="282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13248" y="475488"/>
            <a:ext cx="65196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999EB8"/>
                </a:solidFill>
                <a:latin typeface="Calibri"/>
              </a:rPr>
              <a:t>vaughnmartin.com — Live Signal Monitoring</a:t>
            </a:r>
          </a:p>
        </p:txBody>
      </p:sp>
      <p:pic>
        <p:nvPicPr>
          <p:cNvPr id="23" name="Picture 22" descr="deck_signal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731520"/>
            <a:ext cx="7434072" cy="5669280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60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6510528"/>
            <a:ext cx="54864" cy="34747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4592" y="654710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8A7332"/>
                </a:solidFill>
                <a:latin typeface="Calibri"/>
              </a:rPr>
              <a:t>VaughnMartin  ·  READINESS 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91672" y="654710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606580"/>
                </a:solidFill>
                <a:latin typeface="Calibri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89120" y="0"/>
            <a:ext cx="7799832" cy="6858000"/>
          </a:xfrm>
          <a:prstGeom prst="rect">
            <a:avLst/>
          </a:prstGeom>
          <a:solidFill>
            <a:srgbClr val="0D1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6032" y="502920"/>
            <a:ext cx="36576" cy="2743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7472" y="5029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9A84C"/>
                </a:solidFill>
                <a:latin typeface="Calibri"/>
              </a:rPr>
              <a:t>DECISION + GOVERNANCE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" y="822960"/>
            <a:ext cx="502920" cy="4114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" y="932688"/>
            <a:ext cx="3977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AI monitors.</a:t>
            </a:r>
          </a:p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Executives authorize.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" y="2331720"/>
            <a:ext cx="4041648" cy="1188720"/>
          </a:xfrm>
          <a:prstGeom prst="rect">
            <a:avLst/>
          </a:prstGeom>
          <a:solidFill>
            <a:srgbClr val="0C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6032" y="2331720"/>
            <a:ext cx="4041648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" y="2423160"/>
            <a:ext cx="3794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9A84C"/>
                </a:solidFill>
                <a:latin typeface="Calibri"/>
              </a:rPr>
              <a:t>Human decision authority preserved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" y="2734056"/>
            <a:ext cx="3794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EB8"/>
                </a:solidFill>
                <a:latin typeface="Calibri"/>
              </a:rPr>
              <a:t>No Readiness Protocol activates without explicit executive sign-off. The preparation compresses mobilization; the decision remains human.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6032" y="3657600"/>
            <a:ext cx="4041648" cy="1188720"/>
          </a:xfrm>
          <a:prstGeom prst="rect">
            <a:avLst/>
          </a:prstGeom>
          <a:solidFill>
            <a:srgbClr val="0C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56032" y="3657600"/>
            <a:ext cx="4041648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2336" y="3749040"/>
            <a:ext cx="3794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9A84C"/>
                </a:solidFill>
                <a:latin typeface="Calibri"/>
              </a:rPr>
              <a:t>Traceable, auditable activation pathway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6" y="4059936"/>
            <a:ext cx="3794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EB8"/>
                </a:solidFill>
                <a:latin typeface="Calibri"/>
              </a:rPr>
              <a:t>Every authorization is logged with timestamp, decision-maker, and context. Board-ready audit trail from trigger to execution.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63440" y="411480"/>
            <a:ext cx="7434072" cy="320040"/>
          </a:xfrm>
          <a:prstGeom prst="rect">
            <a:avLst/>
          </a:prstGeom>
          <a:solidFill>
            <a:srgbClr val="1A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773168" y="512064"/>
            <a:ext cx="109728" cy="109728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956048" y="512064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138928" y="512064"/>
            <a:ext cx="109728" cy="109728"/>
          </a:xfrm>
          <a:prstGeom prst="ellipse">
            <a:avLst/>
          </a:prstGeom>
          <a:solidFill>
            <a:srgbClr val="28C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49240" y="475488"/>
            <a:ext cx="6611112" cy="182880"/>
          </a:xfrm>
          <a:prstGeom prst="rect">
            <a:avLst/>
          </a:prstGeom>
          <a:solidFill>
            <a:srgbClr val="282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13248" y="475488"/>
            <a:ext cx="65196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999EB8"/>
                </a:solidFill>
                <a:latin typeface="Calibri"/>
              </a:rPr>
              <a:t>vaughnmartin.com — Activation Console</a:t>
            </a:r>
          </a:p>
        </p:txBody>
      </p:sp>
      <p:pic>
        <p:nvPicPr>
          <p:cNvPr id="23" name="Picture 22" descr="deck_activa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731520"/>
            <a:ext cx="7434072" cy="5669280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60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6510528"/>
            <a:ext cx="54864" cy="34747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4592" y="654710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8A7332"/>
                </a:solidFill>
                <a:latin typeface="Calibri"/>
              </a:rPr>
              <a:t>VaughnMartin  ·  READINESS 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91672" y="654710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606580"/>
                </a:solidFill>
                <a:latin typeface="Calibri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89120" y="0"/>
            <a:ext cx="7799832" cy="6858000"/>
          </a:xfrm>
          <a:prstGeom prst="rect">
            <a:avLst/>
          </a:prstGeom>
          <a:solidFill>
            <a:srgbClr val="0D1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B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6032" y="502920"/>
            <a:ext cx="36576" cy="274320"/>
          </a:xfrm>
          <a:prstGeom prst="rect">
            <a:avLst/>
          </a:prstGeom>
          <a:solidFill>
            <a:srgbClr val="2B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7472" y="5029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B8A6E"/>
                </a:solidFill>
                <a:latin typeface="Calibri"/>
              </a:rPr>
              <a:t>EXECUTION ORCHESTRATION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" y="822960"/>
            <a:ext cx="502920" cy="41148"/>
          </a:xfrm>
          <a:prstGeom prst="rect">
            <a:avLst/>
          </a:prstGeom>
          <a:solidFill>
            <a:srgbClr val="2B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" y="932688"/>
            <a:ext cx="3977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From decision to</a:t>
            </a:r>
          </a:p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coordinated action</a:t>
            </a:r>
          </a:p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in minutes.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" y="2788920"/>
            <a:ext cx="1897380" cy="1152144"/>
          </a:xfrm>
          <a:prstGeom prst="rect">
            <a:avLst/>
          </a:prstGeom>
          <a:solidFill>
            <a:srgbClr val="0C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6032" y="2788920"/>
            <a:ext cx="1897380" cy="36576"/>
          </a:xfrm>
          <a:prstGeom prst="rect">
            <a:avLst/>
          </a:prstGeom>
          <a:solidFill>
            <a:srgbClr val="2B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862072"/>
            <a:ext cx="17876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B8A6E"/>
                </a:solidFill>
                <a:latin typeface="Calibri"/>
              </a:rPr>
              <a:t>ROLES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136392"/>
            <a:ext cx="17876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99EB8"/>
                </a:solidFill>
                <a:latin typeface="Calibri"/>
              </a:rPr>
              <a:t>Every stakeholder notified with pre-assigned ownership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22576" y="2788920"/>
            <a:ext cx="1897380" cy="1152144"/>
          </a:xfrm>
          <a:prstGeom prst="rect">
            <a:avLst/>
          </a:prstGeom>
          <a:solidFill>
            <a:srgbClr val="0C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22576" y="2788920"/>
            <a:ext cx="189738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32304" y="2862072"/>
            <a:ext cx="17876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9A84C"/>
                </a:solidFill>
                <a:latin typeface="Calibri"/>
              </a:rPr>
              <a:t>BUDGET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32304" y="3136392"/>
            <a:ext cx="17876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99EB8"/>
                </a:solidFill>
                <a:latin typeface="Calibri"/>
              </a:rPr>
              <a:t>Spending authority unlocked to the right role instantly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6032" y="4069080"/>
            <a:ext cx="1897380" cy="1152144"/>
          </a:xfrm>
          <a:prstGeom prst="rect">
            <a:avLst/>
          </a:prstGeom>
          <a:solidFill>
            <a:srgbClr val="0C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6032" y="4069080"/>
            <a:ext cx="1897380" cy="36576"/>
          </a:xfrm>
          <a:prstGeom prst="rect">
            <a:avLst/>
          </a:prstGeom>
          <a:solidFill>
            <a:srgbClr val="2B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4142232"/>
            <a:ext cx="17876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B8A6E"/>
                </a:solidFill>
                <a:latin typeface="Calibri"/>
              </a:rPr>
              <a:t>INTERNAL COMMS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416552"/>
            <a:ext cx="17876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99EB8"/>
                </a:solidFill>
                <a:latin typeface="Calibri"/>
              </a:rPr>
              <a:t>Leadership messaging staged and ready to deploy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22576" y="4069080"/>
            <a:ext cx="1897380" cy="1152144"/>
          </a:xfrm>
          <a:prstGeom prst="rect">
            <a:avLst/>
          </a:prstGeom>
          <a:solidFill>
            <a:srgbClr val="0C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322576" y="4069080"/>
            <a:ext cx="189738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432304" y="4142232"/>
            <a:ext cx="17876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9A84C"/>
                </a:solidFill>
                <a:latin typeface="Calibri"/>
              </a:rPr>
              <a:t>EXTERNAL COMMS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32304" y="4416552"/>
            <a:ext cx="17876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99EB8"/>
                </a:solidFill>
                <a:latin typeface="Calibri"/>
              </a:rPr>
              <a:t>Customer, partner, and media messaging pre-drafted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63440" y="411480"/>
            <a:ext cx="7434072" cy="320040"/>
          </a:xfrm>
          <a:prstGeom prst="rect">
            <a:avLst/>
          </a:prstGeom>
          <a:solidFill>
            <a:srgbClr val="1A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773168" y="512064"/>
            <a:ext cx="109728" cy="109728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956048" y="512064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138928" y="512064"/>
            <a:ext cx="109728" cy="109728"/>
          </a:xfrm>
          <a:prstGeom prst="ellipse">
            <a:avLst/>
          </a:prstGeom>
          <a:solidFill>
            <a:srgbClr val="28C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349240" y="475488"/>
            <a:ext cx="6611112" cy="182880"/>
          </a:xfrm>
          <a:prstGeom prst="rect">
            <a:avLst/>
          </a:prstGeom>
          <a:solidFill>
            <a:srgbClr val="282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13248" y="475488"/>
            <a:ext cx="65196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999EB8"/>
                </a:solidFill>
                <a:latin typeface="Calibri"/>
              </a:rPr>
              <a:t>vaughnmartin.com/12-minute-experience</a:t>
            </a:r>
          </a:p>
        </p:txBody>
      </p:sp>
      <p:pic>
        <p:nvPicPr>
          <p:cNvPr id="31" name="Picture 30" descr="slide_execu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731520"/>
            <a:ext cx="7434072" cy="5669280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60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0" y="6510528"/>
            <a:ext cx="54864" cy="34747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64592" y="654710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8A7332"/>
                </a:solidFill>
                <a:latin typeface="Calibri"/>
              </a:rPr>
              <a:t>VaughnMartin  ·  READINESS OS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91672" y="654710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606580"/>
                </a:solidFill>
                <a:latin typeface="Calibri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6032" y="502920"/>
            <a:ext cx="36576" cy="2743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502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9A84C"/>
                </a:solidFill>
                <a:latin typeface="Calibri"/>
              </a:rPr>
              <a:t>THE SCENARIO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032" y="822960"/>
            <a:ext cx="502920" cy="4114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932688"/>
            <a:ext cx="1167688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One trigger.  Two outcomes.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085332" y="1600200"/>
            <a:ext cx="18288" cy="4572000"/>
          </a:xfrm>
          <a:prstGeom prst="rect">
            <a:avLst/>
          </a:prstGeom>
          <a:solidFill>
            <a:srgbClr val="22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6032" y="1600200"/>
            <a:ext cx="5637276" cy="411480"/>
          </a:xfrm>
          <a:prstGeom prst="rect">
            <a:avLst/>
          </a:prstGeom>
          <a:solidFill>
            <a:srgbClr val="28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6032" y="1664208"/>
            <a:ext cx="56372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6644"/>
                </a:solidFill>
                <a:latin typeface="Calibri"/>
              </a:rPr>
              <a:t>WITHOUT READINESS 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95644" y="1600200"/>
            <a:ext cx="5637276" cy="411480"/>
          </a:xfrm>
          <a:prstGeom prst="rect">
            <a:avLst/>
          </a:prstGeom>
          <a:solidFill>
            <a:srgbClr val="082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5644" y="1664208"/>
            <a:ext cx="56372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B8A6E"/>
                </a:solidFill>
                <a:latin typeface="Calibri"/>
              </a:rPr>
              <a:t>WITH READINESS 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6032" y="2148840"/>
            <a:ext cx="5637276" cy="685800"/>
          </a:xfrm>
          <a:prstGeom prst="rect">
            <a:avLst/>
          </a:prstGeom>
          <a:solidFill>
            <a:srgbClr val="12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95644" y="2148840"/>
            <a:ext cx="5637276" cy="685800"/>
          </a:xfrm>
          <a:prstGeom prst="rect">
            <a:avLst/>
          </a:prstGeom>
          <a:solidFill>
            <a:srgbClr val="12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6032" y="222199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8A7332"/>
                </a:solidFill>
                <a:latin typeface="Calibri"/>
              </a:rPr>
              <a:t>T+0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2331720"/>
            <a:ext cx="44942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99EB8"/>
                </a:solidFill>
                <a:latin typeface="Calibri"/>
              </a:rPr>
              <a:t>Signal emerges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8796" y="2331720"/>
            <a:ext cx="54543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99EB8"/>
                </a:solidFill>
                <a:latin typeface="Calibri"/>
              </a:rPr>
              <a:t>Signal emerges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6032" y="2953512"/>
            <a:ext cx="5637276" cy="685800"/>
          </a:xfrm>
          <a:prstGeom prst="rect">
            <a:avLst/>
          </a:prstGeom>
          <a:solidFill>
            <a:srgbClr val="1E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95644" y="2953512"/>
            <a:ext cx="5637276" cy="685800"/>
          </a:xfrm>
          <a:prstGeom prst="rect">
            <a:avLst/>
          </a:prstGeom>
          <a:solidFill>
            <a:srgbClr val="081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6032" y="3026664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8A7332"/>
                </a:solidFill>
                <a:latin typeface="Calibri"/>
              </a:rPr>
              <a:t>T+12 min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3136392"/>
            <a:ext cx="44942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DBBBB"/>
                </a:solidFill>
                <a:latin typeface="Calibri"/>
              </a:rPr>
              <a:t>Still in the first meeting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68796" y="3136392"/>
            <a:ext cx="54543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B8A6E"/>
                </a:solidFill>
                <a:latin typeface="Calibri"/>
              </a:rPr>
              <a:t>Coordinated execution live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56032" y="3758184"/>
            <a:ext cx="5637276" cy="685800"/>
          </a:xfrm>
          <a:prstGeom prst="rect">
            <a:avLst/>
          </a:prstGeom>
          <a:solidFill>
            <a:srgbClr val="1E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95644" y="3758184"/>
            <a:ext cx="5637276" cy="685800"/>
          </a:xfrm>
          <a:prstGeom prst="rect">
            <a:avLst/>
          </a:prstGeom>
          <a:solidFill>
            <a:srgbClr val="081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6032" y="3831336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8A7332"/>
                </a:solidFill>
                <a:latin typeface="Calibri"/>
              </a:rPr>
              <a:t>T+Days 1–14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3941064"/>
            <a:ext cx="44942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DBBBB"/>
                </a:solidFill>
                <a:latin typeface="Calibri"/>
              </a:rPr>
              <a:t>Ownership alignment ongoing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68796" y="3941064"/>
            <a:ext cx="54543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B8A6E"/>
                </a:solidFill>
                <a:latin typeface="Calibri"/>
              </a:rPr>
              <a:t>Protocol full deployed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6032" y="4562856"/>
            <a:ext cx="5637276" cy="685800"/>
          </a:xfrm>
          <a:prstGeom prst="rect">
            <a:avLst/>
          </a:prstGeom>
          <a:solidFill>
            <a:srgbClr val="1E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95644" y="4562856"/>
            <a:ext cx="5637276" cy="685800"/>
          </a:xfrm>
          <a:prstGeom prst="rect">
            <a:avLst/>
          </a:prstGeom>
          <a:solidFill>
            <a:srgbClr val="081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56032" y="463600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8A7332"/>
                </a:solidFill>
                <a:latin typeface="Calibri"/>
              </a:rPr>
              <a:t>T+Day 30+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25880" y="4745736"/>
            <a:ext cx="44942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DBBBB"/>
                </a:solidFill>
                <a:latin typeface="Calibri"/>
              </a:rPr>
              <a:t>Response finally begins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68796" y="4745736"/>
            <a:ext cx="54543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B8A6E"/>
                </a:solidFill>
                <a:latin typeface="Calibri"/>
              </a:rPr>
              <a:t>Retrospective complete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5687568"/>
            <a:ext cx="12188952" cy="822960"/>
          </a:xfrm>
          <a:prstGeom prst="rect">
            <a:avLst/>
          </a:prstGeom>
          <a:solidFill>
            <a:srgbClr val="060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0" y="5687568"/>
            <a:ext cx="12188952" cy="4114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580644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1">
                <a:solidFill>
                  <a:srgbClr val="C9A84C"/>
                </a:solidFill>
                <a:latin typeface="Georgia"/>
              </a:rPr>
              <a:t>"The response is ready before the trigger fires."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60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6510528"/>
            <a:ext cx="54864" cy="34747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64592" y="654710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8A7332"/>
                </a:solidFill>
                <a:latin typeface="Calibri"/>
              </a:rPr>
              <a:t>VaughnMartin  ·  READINESS OS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91672" y="654710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606580"/>
                </a:solidFill>
                <a:latin typeface="Calibri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6032" y="502920"/>
            <a:ext cx="36576" cy="2743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502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9A84C"/>
                </a:solidFill>
                <a:latin typeface="Calibri"/>
              </a:rPr>
              <a:t>LIVE PRODUCTION — PROOF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032" y="822960"/>
            <a:ext cx="502920" cy="4114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932688"/>
            <a:ext cx="609447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Live production platform,</a:t>
            </a:r>
          </a:p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not concept slides.</a:t>
            </a:r>
          </a:p>
        </p:txBody>
      </p:sp>
      <p:sp>
        <p:nvSpPr>
          <p:cNvPr id="8" name="Oval 7"/>
          <p:cNvSpPr/>
          <p:nvPr/>
        </p:nvSpPr>
        <p:spPr>
          <a:xfrm>
            <a:off x="256032" y="2167128"/>
            <a:ext cx="256032" cy="256032"/>
          </a:xfrm>
          <a:prstGeom prst="ellipse">
            <a:avLst/>
          </a:prstGeom>
          <a:solidFill>
            <a:srgbClr val="2B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176" y="215798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0F2E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" y="2121408"/>
            <a:ext cx="501550996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FD8"/>
                </a:solidFill>
                <a:latin typeface="Calibri"/>
              </a:rPr>
              <a:t>Live onboarding flow</a:t>
            </a:r>
          </a:p>
        </p:txBody>
      </p:sp>
      <p:sp>
        <p:nvSpPr>
          <p:cNvPr id="11" name="Oval 10"/>
          <p:cNvSpPr/>
          <p:nvPr/>
        </p:nvSpPr>
        <p:spPr>
          <a:xfrm>
            <a:off x="256032" y="2569464"/>
            <a:ext cx="256032" cy="256032"/>
          </a:xfrm>
          <a:prstGeom prst="ellipse">
            <a:avLst/>
          </a:prstGeom>
          <a:solidFill>
            <a:srgbClr val="2B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5176" y="2560320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0F2E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" y="2523744"/>
            <a:ext cx="501550996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FD8"/>
                </a:solidFill>
                <a:latin typeface="Calibri"/>
              </a:rPr>
              <a:t>Live protocol activation path</a:t>
            </a:r>
          </a:p>
        </p:txBody>
      </p:sp>
      <p:sp>
        <p:nvSpPr>
          <p:cNvPr id="14" name="Oval 13"/>
          <p:cNvSpPr/>
          <p:nvPr/>
        </p:nvSpPr>
        <p:spPr>
          <a:xfrm>
            <a:off x="256032" y="2971800"/>
            <a:ext cx="256032" cy="256032"/>
          </a:xfrm>
          <a:prstGeom prst="ellipse">
            <a:avLst/>
          </a:prstGeom>
          <a:solidFill>
            <a:srgbClr val="2B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5176" y="2962656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0F2E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" y="2926080"/>
            <a:ext cx="501550996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FD8"/>
                </a:solidFill>
                <a:latin typeface="Calibri"/>
              </a:rPr>
              <a:t>Live executive decision materials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6032" y="3081528"/>
            <a:ext cx="2809494" cy="219456"/>
          </a:xfrm>
          <a:prstGeom prst="rect">
            <a:avLst/>
          </a:prstGeom>
          <a:solidFill>
            <a:srgbClr val="0C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6032" y="3090672"/>
            <a:ext cx="280949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8A7332"/>
                </a:solidFill>
                <a:latin typeface="Calibri"/>
              </a:rPr>
              <a:t>Onboarding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6032" y="3337560"/>
            <a:ext cx="2809494" cy="3200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lide_onboard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3369564"/>
            <a:ext cx="2809494" cy="2894076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3175254" y="3081528"/>
            <a:ext cx="2809494" cy="219456"/>
          </a:xfrm>
          <a:prstGeom prst="rect">
            <a:avLst/>
          </a:prstGeom>
          <a:solidFill>
            <a:srgbClr val="0C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75254" y="3090672"/>
            <a:ext cx="280949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8A7332"/>
                </a:solidFill>
                <a:latin typeface="Calibri"/>
              </a:rPr>
              <a:t>Protocol Library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75254" y="3337560"/>
            <a:ext cx="2809494" cy="3200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slide_protocol_librar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5254" y="3369564"/>
            <a:ext cx="2809494" cy="2894076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6094476" y="3081528"/>
            <a:ext cx="2809494" cy="219456"/>
          </a:xfrm>
          <a:prstGeom prst="rect">
            <a:avLst/>
          </a:prstGeom>
          <a:solidFill>
            <a:srgbClr val="0C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94476" y="3090672"/>
            <a:ext cx="280949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8A7332"/>
                </a:solidFill>
                <a:latin typeface="Calibri"/>
              </a:rPr>
              <a:t>Mission Control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94476" y="3337560"/>
            <a:ext cx="2809494" cy="3200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slide_mission_control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4476" y="3369564"/>
            <a:ext cx="2809494" cy="2894076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9013698" y="3081528"/>
            <a:ext cx="2809494" cy="219456"/>
          </a:xfrm>
          <a:prstGeom prst="rect">
            <a:avLst/>
          </a:prstGeom>
          <a:solidFill>
            <a:srgbClr val="0C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13698" y="3090672"/>
            <a:ext cx="280949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8A7332"/>
                </a:solidFill>
                <a:latin typeface="Calibri"/>
              </a:rPr>
              <a:t>Buyer Decision Packet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13698" y="3337560"/>
            <a:ext cx="2809494" cy="3200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slide_buyer_packet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13698" y="3369564"/>
            <a:ext cx="2809494" cy="2894076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60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0" y="6510528"/>
            <a:ext cx="54864" cy="34747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64592" y="654710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8A7332"/>
                </a:solidFill>
                <a:latin typeface="Calibri"/>
              </a:rPr>
              <a:t>VaughnMartin  ·  READINESS OS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91672" y="654710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606580"/>
                </a:solidFill>
                <a:latin typeface="Calibri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6032" y="502920"/>
            <a:ext cx="36576" cy="2743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5029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9A84C"/>
                </a:solidFill>
                <a:latin typeface="Calibri"/>
              </a:rPr>
              <a:t>COMMERCIAL MOTION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032" y="822960"/>
            <a:ext cx="502920" cy="4114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932688"/>
            <a:ext cx="8532266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Focused entry,</a:t>
            </a:r>
          </a:p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measurable proof,</a:t>
            </a:r>
          </a:p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scalable expansion.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" y="2743200"/>
            <a:ext cx="3764280" cy="3456432"/>
          </a:xfrm>
          <a:prstGeom prst="rect">
            <a:avLst/>
          </a:prstGeom>
          <a:solidFill>
            <a:srgbClr val="0C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6032" y="2743200"/>
            <a:ext cx="3764280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3192" y="2852928"/>
            <a:ext cx="353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84C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" y="3200400"/>
            <a:ext cx="3535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FOUNDING PARTNER</a:t>
            </a:r>
          </a:p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ENGAGEMENT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3192" y="3931920"/>
            <a:ext cx="3489960" cy="2743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3192" y="4069080"/>
            <a:ext cx="3535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EB8"/>
                </a:solidFill>
                <a:latin typeface="Calibri"/>
              </a:rPr>
              <a:t>Select Fortune 1000 enterprises in a structured 90-day validation partnership. Full platform access, onboarding support, and direct founder engagement.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48328" y="2743200"/>
            <a:ext cx="3764280" cy="3456432"/>
          </a:xfrm>
          <a:prstGeom prst="rect">
            <a:avLst/>
          </a:prstGeom>
          <a:solidFill>
            <a:srgbClr val="0C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48328" y="2743200"/>
            <a:ext cx="3764280" cy="45720"/>
          </a:xfrm>
          <a:prstGeom prst="rect">
            <a:avLst/>
          </a:prstGeom>
          <a:solidFill>
            <a:srgbClr val="2B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85488" y="2852928"/>
            <a:ext cx="353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B8A6E"/>
                </a:solidFill>
                <a:latin typeface="Calibr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85488" y="3200400"/>
            <a:ext cx="3535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OPERATIONAL</a:t>
            </a:r>
          </a:p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OUTCOME PROOF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85488" y="3931920"/>
            <a:ext cx="3489960" cy="27432"/>
          </a:xfrm>
          <a:prstGeom prst="rect">
            <a:avLst/>
          </a:prstGeom>
          <a:solidFill>
            <a:srgbClr val="2B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85488" y="4069080"/>
            <a:ext cx="3535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EB8"/>
                </a:solidFill>
                <a:latin typeface="Calibri"/>
              </a:rPr>
              <a:t>90-day success definition: one live trigger handled inside Readiness OS with measurable reduction in mobilization time versus baseline.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0624" y="2743200"/>
            <a:ext cx="3764280" cy="3456432"/>
          </a:xfrm>
          <a:prstGeom prst="rect">
            <a:avLst/>
          </a:prstGeom>
          <a:solidFill>
            <a:srgbClr val="0C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40624" y="2743200"/>
            <a:ext cx="3764280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77784" y="2852928"/>
            <a:ext cx="353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84C"/>
                </a:solidFill>
                <a:latin typeface="Calibri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77784" y="3200400"/>
            <a:ext cx="3535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ENTERPRISE</a:t>
            </a:r>
          </a:p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EXPANSION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77784" y="3931920"/>
            <a:ext cx="3489960" cy="2743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77784" y="4069080"/>
            <a:ext cx="3535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EB8"/>
                </a:solidFill>
                <a:latin typeface="Calibri"/>
              </a:rPr>
              <a:t>Proven ROI case drives expansion to additional domains, protocol packs, and organization-wide deployment. Predictable contract growth.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60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6510528"/>
            <a:ext cx="54864" cy="34747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64592" y="654710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8A7332"/>
                </a:solidFill>
                <a:latin typeface="Calibri"/>
              </a:rPr>
              <a:t>VaughnMartin  ·  READINESS 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91672" y="654710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606580"/>
                </a:solidFill>
                <a:latin typeface="Calibri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82996" y="548640"/>
            <a:ext cx="822960" cy="822960"/>
          </a:xfrm>
          <a:prstGeom prst="ellipse">
            <a:avLst/>
          </a:prstGeom>
          <a:solidFill>
            <a:srgbClr val="0E1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93308" y="713232"/>
            <a:ext cx="4023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C9A84C"/>
                </a:solidFill>
                <a:latin typeface="Calibri"/>
              </a:rPr>
              <a:t>VM</a:t>
            </a:r>
          </a:p>
        </p:txBody>
      </p:sp>
      <p:sp>
        <p:nvSpPr>
          <p:cNvPr id="7" name="Oval 6"/>
          <p:cNvSpPr/>
          <p:nvPr/>
        </p:nvSpPr>
        <p:spPr>
          <a:xfrm>
            <a:off x="5682996" y="548640"/>
            <a:ext cx="822960" cy="822960"/>
          </a:xfrm>
          <a:prstGeom prst="ellipse">
            <a:avLst/>
          </a:prstGeom>
          <a:noFill/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722876" y="1572768"/>
            <a:ext cx="36576" cy="2743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14316" y="157276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9A84C"/>
                </a:solidFill>
                <a:latin typeface="Calibri"/>
              </a:rPr>
              <a:t>ASK + CLOSE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828800"/>
            <a:ext cx="1072591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Partner with us to scale Readiness OS.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80076" y="2542032"/>
            <a:ext cx="1828800" cy="4114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97280" y="2724912"/>
            <a:ext cx="9994392" cy="822960"/>
          </a:xfrm>
          <a:prstGeom prst="rect">
            <a:avLst/>
          </a:prstGeom>
          <a:solidFill>
            <a:srgbClr val="0C1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2816352"/>
            <a:ext cx="962863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C9A84C"/>
                </a:solidFill>
                <a:latin typeface="Georgia"/>
              </a:rPr>
              <a:t>"If advantage belongs to organizations that see earlier and execute decisively, let's partner."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822191"/>
            <a:ext cx="4754880" cy="1554480"/>
          </a:xfrm>
          <a:prstGeom prst="rect">
            <a:avLst/>
          </a:prstGeom>
          <a:solidFill>
            <a:srgbClr val="0C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822191"/>
            <a:ext cx="4754880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931919"/>
            <a:ext cx="4434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C9A84C"/>
                </a:solidFill>
                <a:latin typeface="Calibri"/>
              </a:rPr>
              <a:t>FOUNDING PARTNERS +</a:t>
            </a:r>
          </a:p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C9A84C"/>
                </a:solidFill>
                <a:latin typeface="Calibri"/>
              </a:rPr>
              <a:t>ALIGNED INVESTORS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480559"/>
            <a:ext cx="4434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EB8"/>
                </a:solidFill>
                <a:latin typeface="Calibri"/>
              </a:rPr>
              <a:t>90-day validation partnership · Direct founder access · First-mover enterprise positioning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3822191"/>
            <a:ext cx="4754880" cy="1554480"/>
          </a:xfrm>
          <a:prstGeom prst="rect">
            <a:avLst/>
          </a:prstGeom>
          <a:solidFill>
            <a:srgbClr val="0C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3822191"/>
            <a:ext cx="4754880" cy="45720"/>
          </a:xfrm>
          <a:prstGeom prst="rect">
            <a:avLst/>
          </a:prstGeom>
          <a:solidFill>
            <a:srgbClr val="2B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3931919"/>
            <a:ext cx="4434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2B8A6E"/>
                </a:solidFill>
                <a:latin typeface="Calibri"/>
              </a:rPr>
              <a:t>IMMEDIATE NEXT STEP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480559"/>
            <a:ext cx="4434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EB8"/>
                </a:solidFill>
                <a:latin typeface="Calibri"/>
              </a:rPr>
              <a:t>Executive Scenario Session — we walk your specific trigger context through Readiness OS live.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57784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8A7332"/>
                </a:solidFill>
                <a:latin typeface="Calibri"/>
              </a:rPr>
              <a:t>vaughnmartin.com  ·  founding@vaughnmartin.com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60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6510528"/>
            <a:ext cx="54864" cy="34747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4592" y="654710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8A7332"/>
                </a:solidFill>
                <a:latin typeface="Calibri"/>
              </a:rPr>
              <a:t>VaughnMartin  ·  READINESS 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91672" y="654710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606580"/>
                </a:solidFill>
                <a:latin typeface="Calibri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