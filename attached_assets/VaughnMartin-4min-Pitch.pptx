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COVER  [0:00 – 0:20]  TARGET: 20 seconds</a:t>
            </a:r>
          </a:p>
          <a:p/>
          <a:p>
            <a:r>
              <a:t>"Readiness OS compresses the 30-day enterprise mobilization cycle to 12 minutes. Before I explain how — let me show you why that gap is the actual crisis."</a:t>
            </a:r>
          </a:p>
          <a:p/>
          <a:p>
            <a:r>
              <a:t>[Pause one beat on the numbers. Don't explain them. Let them land.]</a:t>
            </a:r>
          </a:p>
          <a:p/>
          <a:p>
            <a:r>
              <a:t>KEY NUMBERS TO POINT AT:</a:t>
            </a:r>
          </a:p>
          <a:p>
            <a:r>
              <a:t>  → 3,600× Execution Head Start (30 days vs. 12 minutes)</a:t>
            </a:r>
          </a:p>
          <a:p>
            <a:r>
              <a:t>  → 12 Minutes — trigger to war room open</a:t>
            </a:r>
          </a:p>
          <a:p>
            <a:r>
              <a:t>  → 170 Readiness Protocols — pre-staged</a:t>
            </a:r>
          </a:p>
          <a:p>
            <a:r>
              <a:t>  → 221 Strategic Triggers — mapped</a:t>
            </a:r>
          </a:p>
          <a:p/>
          <a:p>
            <a:r>
              <a:t>TRANSITION: "Every organization I've studied has the same failure mode..."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THE PROBLEM  [0:20 – 0:55]  TARGET: 35 seconds</a:t>
            </a:r>
          </a:p>
          <a:p/>
          <a:p>
            <a:r>
              <a:t>"When a strategic trigger fires — an activist investor files a 13D, a ransomware attack hits, a supply chain collapses — what happens next in most enterprises?"</a:t>
            </a:r>
          </a:p>
          <a:p/>
          <a:p>
            <a:r>
              <a:t>[Point to DETECT column]</a:t>
            </a:r>
          </a:p>
          <a:p>
            <a:r>
              <a:t>"First, two to four weeks figuring out who monitors signals. Who's in the room. What the threshold is."</a:t>
            </a:r>
          </a:p>
          <a:p/>
          <a:p>
            <a:r>
              <a:t>[Point to ALIGN column]  </a:t>
            </a:r>
          </a:p>
          <a:p>
            <a:r>
              <a:t>"Then another three to six weeks aligning on a plan. Getting approvals. Scheduling the meeting."</a:t>
            </a:r>
          </a:p>
          <a:p/>
          <a:p>
            <a:r>
              <a:t>[Point to EXECUTE column — RED]</a:t>
            </a:r>
          </a:p>
          <a:p>
            <a:r>
              <a:t>"By the time execution starts, the window is closed. The crisis wins. Not because the executives were slow. Because the OPERATING MODEL had no answer pre-staged."</a:t>
            </a:r>
          </a:p>
          <a:p/>
          <a:p>
            <a:r>
              <a:t>"Every solution in this market — Copilot, ChatGPT, strategy consultants — bolted AI onto this same broken model. Faster notes from the same slow meeting."</a:t>
            </a:r>
          </a:p>
          <a:p/>
          <a:p>
            <a:r>
              <a:t>"We didn't do that."</a:t>
            </a:r>
          </a:p>
          <a:p/>
          <a:p>
            <a:r>
              <a:t>TRANSITION: "We rebuilt the operating model itself."</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THE PLATFORM  [0:55 – 1:30]  TARGET: 35 seconds</a:t>
            </a:r>
          </a:p>
          <a:p/>
          <a:p>
            <a:r>
              <a:t>"Readiness OS is not a tool you pick up when the crisis hits. It is infrastructure that never stops running."</a:t>
            </a:r>
          </a:p>
          <a:p/>
          <a:p>
            <a:r>
              <a:t>[Run through layers quickly — point to each colored bar]</a:t>
            </a:r>
          </a:p>
          <a:p/>
          <a:p>
            <a:r>
              <a:t>"Layer 1: The system is always monitoring — 8 live intelligence sources, every 15 minutes, scored against 221 strategic triggers."</a:t>
            </a:r>
          </a:p>
          <a:p/>
          <a:p>
            <a:r>
              <a:t>"Layer 2: When signals cluster, the system classifies the trigger — using a proprietary algorithm with grouped data points and mandatory conditions. Not a single signal. An architecture."</a:t>
            </a:r>
          </a:p>
          <a:p/>
          <a:p>
            <a:r>
              <a:t>"Layer 3: Instantly — a pre-staged Readiness Protocol deploys. The war room is armed before anyone picks up the phone."</a:t>
            </a:r>
          </a:p>
          <a:p/>
          <a:p>
            <a:r>
              <a:t>"Layer 4: Tasks are auto-assigned, stakeholders are notified, and the executive authorizes. No action without sign-off. 12 minutes end to end."</a:t>
            </a:r>
          </a:p>
          <a:p/>
          <a:p>
            <a:r>
              <a:t>"Layer 5: Every activation teaches the system. Institutional memory compounds. The longer you are on the platform, the faster and more accurate the response."</a:t>
            </a:r>
          </a:p>
          <a:p/>
          <a:p>
            <a:r>
              <a:t>TRANSITION: "The number everyone asks about is the 3,600× head start. Let me show you what that actually looks like in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THE 3,600× HEAD START  [1:30 – 2:05]  TARGET: 35 seconds</a:t>
            </a:r>
          </a:p>
          <a:p/>
          <a:p>
            <a:r>
              <a:t>"Let me make the 3,600× concrete. This is not a marketing number."</a:t>
            </a:r>
          </a:p>
          <a:p/>
          <a:p>
            <a:r>
              <a:t>[Point to left side]</a:t>
            </a:r>
          </a:p>
          <a:p>
            <a:r>
              <a:t>"Without Readiness OS: Week one and two, the enterprise is figuring out who even monitors this type of signal. Week three and four, they're aligning stakeholders. Week five through eight, tasks are finally being assigned. Week nine — if the window is still open — execution begins. That's thirty days just to mobilize."</a:t>
            </a:r>
          </a:p>
          <a:p/>
          <a:p>
            <a:r>
              <a:t>[Point to right side — TEAL column]</a:t>
            </a:r>
          </a:p>
          <a:p>
            <a:r>
              <a:t>"With Readiness OS: At minute zero, the trigger group threshold is met. The system already knows. At minute two, Protocol 58 deploys automatically — every task pre-staged, every stakeholder pre-identified. At minute twelve, the executive authorizes, and the war room is open."</a:t>
            </a:r>
          </a:p>
          <a:p/>
          <a:p>
            <a:r>
              <a:t>"Thirty days versus twelve minutes. That is the 3,600× execution head start. And the executive makes every decision — the preparation compresses the mobilization, not the authority."</a:t>
            </a:r>
          </a:p>
          <a:p/>
          <a:p>
            <a:r>
              <a:t>TRANSITION: "But here's what separates us from every simulation tool — real crises don't arrive one at a time."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COMPOUND INTELLIGENCE  [2:05 – 2:30]  TARGET: 25 seconds</a:t>
            </a:r>
          </a:p>
          <a:p/>
          <a:p>
            <a:r>
              <a:t>"Here is what separates us from every other platform in this space."</a:t>
            </a:r>
          </a:p>
          <a:p/>
          <a:p>
            <a:r>
              <a:t>[Point to both boxes]</a:t>
            </a:r>
          </a:p>
          <a:p>
            <a:r>
              <a:t>"Real crises don't arrive one at a time. An activist investor files a 13D on the same day the DOJ opens an inquiry. Ransomware hits while a product recall is in progress. These aren't edge cases — they are the scenarios that destroy enterprises."</a:t>
            </a:r>
          </a:p>
          <a:p/>
          <a:p>
            <a:r>
              <a:t>"We have twelve Compound Protocol Engines that fire two protocols simultaneously — dual-track war room, no coordination delay, no one waiting for the other team to finish."</a:t>
            </a:r>
          </a:p>
          <a:p/>
          <a:p>
            <a:r>
              <a:t>[Pause]</a:t>
            </a:r>
          </a:p>
          <a:p>
            <a:r>
              <a:t>"No other enterprise platform does this natively. Not Copilot. Not any workflow tool. Not a strategy consultant on a retainer."</a:t>
            </a:r>
          </a:p>
          <a:p/>
          <a:p>
            <a:r>
              <a:t>TRANSITION: "And here is why customers don't leave — even after the crisis passes."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THE MOAT  [2:30 – 2:52]  TARGET: 22 seconds</a:t>
            </a:r>
          </a:p>
          <a:p/>
          <a:p>
            <a:r>
              <a:t>"Every activation compounds the lead. Here is why customers don't leave — even after the crisis has passed."</a:t>
            </a:r>
          </a:p>
          <a:p/>
          <a:p>
            <a:r>
              <a:t>[Point to Institutional Memory]</a:t>
            </a:r>
          </a:p>
          <a:p>
            <a:r>
              <a:t>"Every decision, every outcome, every pattern from every activation is captured in Retrospect™. That institutional memory is proprietary to the organization — learned from their crises, not ours. No competitor can replicate it."</a:t>
            </a:r>
          </a:p>
          <a:p/>
          <a:p>
            <a:r>
              <a:t>[Point to Executive Readiness Score]</a:t>
            </a:r>
          </a:p>
          <a:p>
            <a:r>
              <a:t>"The Readiness Score becomes a board-level KPI. Once a board is benchmarking it quarterly, the switching cost is structural. They don't leave because the score is theirs."</a:t>
            </a:r>
          </a:p>
          <a:p/>
          <a:p>
            <a:r>
              <a:t>[Point to Self-Improving]</a:t>
            </a:r>
          </a:p>
          <a:p>
            <a:r>
              <a:t>"And the system gets better automatically — every activation updates the protocol timing and trigger conditions. No other platform does this."</a:t>
            </a:r>
          </a:p>
          <a:p/>
          <a:p>
            <a:r>
              <a:t>[Short pause]</a:t>
            </a:r>
          </a:p>
          <a:p>
            <a:r>
              <a:t>"The longer you are on the platform, the harder it is to leave — and the wider the gap from every competitor grows."</a:t>
            </a:r>
          </a:p>
          <a:p/>
          <a:p>
            <a:r>
              <a:t>TRANSITION: "Now let me show you why the market timing is right now."</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MARKET + MICROSOFT  [2:52 – 3:10]  TARGET: 18 seconds</a:t>
            </a:r>
          </a:p>
          <a:p/>
          <a:p>
            <a:r>
              <a:t>"The market is 42 billion dollars — and no incumbent owns the orchestration layer. This category is brand new."</a:t>
            </a:r>
          </a:p>
          <a:p/>
          <a:p>
            <a:r>
              <a:t>[Point to Microsoft section]</a:t>
            </a:r>
          </a:p>
          <a:p>
            <a:r>
              <a:t>"Every enterprise already has Microsoft's AI stack — Copilot, Azure OpenAI, Teams, Entra. They have spent billions on intelligence. None of them have the operating model to execute on it at enterprise speed."</a:t>
            </a:r>
          </a:p>
          <a:p/>
          <a:p>
            <a:r>
              <a:t>"That is our opening line into every account: 'Your Microsoft investment is already in place. We're the operating model layer that makes it execute.'"</a:t>
            </a:r>
          </a:p>
          <a:p/>
          <a:p>
            <a:r>
              <a:t>"We don't compete with Copilot. We open the door Copilot already unlocked."</a:t>
            </a:r>
          </a:p>
          <a:p/>
          <a:p>
            <a:r>
              <a:t>TRANSITION: "And the product is not a roadmap — it's live right now."</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PROOF + BUSINESS MODEL  [3:10 – 3:38]  TARGET: 28 seconds</a:t>
            </a:r>
          </a:p>
          <a:p/>
          <a:p>
            <a:r>
              <a:t>"The product is live. You can run it during this meeting — no login, no demo call required."</a:t>
            </a:r>
          </a:p>
          <a:p/>
          <a:p>
            <a:r>
              <a:t>[Point to /12-minute-experience]</a:t>
            </a:r>
          </a:p>
          <a:p>
            <a:r>
              <a:t>"Go to slash 12-minute-experience right now. Seven scenarios. Full Activist Investor response — signal detected to executive authorization — in twelve minutes. On your phone, on your laptop, right now."</a:t>
            </a:r>
          </a:p>
          <a:p/>
          <a:p>
            <a:r>
              <a:t>"This is not a prototype. Not a roadmap. Twelve full scenarios demonstrable on demand."</a:t>
            </a:r>
          </a:p>
          <a:p/>
          <a:p>
            <a:r>
              <a:t>[Pivot to business model — right side]</a:t>
            </a:r>
          </a:p>
          <a:p>
            <a:r>
              <a:t>"The model is annual SaaS. Average ACV is a hundred and twenty thousand dollars. Target gross margin is ninety-two percent. Implementation under six months, payback in eighteen."</a:t>
            </a:r>
          </a:p>
          <a:p/>
          <a:p>
            <a:r>
              <a:t>"Three tiers — Core opens the account. Industry packs expand it. Enterprise seals multi-year. Land and expand built into the architecture."</a:t>
            </a:r>
          </a:p>
          <a:p/>
          <a:p>
            <a:r>
              <a:t>TRANSITION: "Which is exactly what the seed round funds."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THE ASK  [3:38 – 3:52]  TARGET: 14 seconds</a:t>
            </a:r>
          </a:p>
          <a:p/>
          <a:p>
            <a:r>
              <a:t>"We are raising seven hundred and fifty thousand dollars — eighteen months, three milestones."</a:t>
            </a:r>
          </a:p>
          <a:p/>
          <a:p>
            <a:r>
              <a:t>[Point to milestones quickly]</a:t>
            </a:r>
          </a:p>
          <a:p>
            <a:r>
              <a:t>"Milestone one: close three to five Founding Partners at a hundred and twenty to a hundred and eighty thousand ACV. Document the proof points."</a:t>
            </a:r>
          </a:p>
          <a:p/>
          <a:p>
            <a:r>
              <a:t>"Milestone two: enter Series A with real ARR contracted and the land-and-expand path proven through industry packs."</a:t>
            </a:r>
          </a:p>
          <a:p/>
          <a:p>
            <a:r>
              <a:t>"Milestone three: own the category name. The operating model layer above the Microsoft investment."</a:t>
            </a:r>
          </a:p>
          <a:p/>
          <a:p>
            <a:r>
              <a:t>"Sixty percent of the raise goes to product and engineering. Twenty-five to go-to-market. Fifteen to operations."</a:t>
            </a:r>
          </a:p>
          <a:p/>
          <a:p>
            <a:r>
              <a:t>TRANSITION: [Advance to close immediately]</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CLOSE  [3:52 – 4:00]  TARGET: 8 seconds</a:t>
            </a:r>
          </a:p>
          <a:p/>
          <a:p>
            <a:r>
              <a:t>[Pause. Let the room settle.]</a:t>
            </a:r>
          </a:p>
          <a:p/>
          <a:p>
            <a:r>
              <a:t>"Every organization that prepares for every situation it will face is no longer afraid of strategic triggers."</a:t>
            </a:r>
          </a:p>
          <a:p/>
          <a:p>
            <a:r>
              <a:t>[One more beat.]</a:t>
            </a:r>
          </a:p>
          <a:p/>
          <a:p>
            <a:r>
              <a:t>"It is fearless."</a:t>
            </a:r>
          </a:p>
          <a:p/>
          <a:p>
            <a:r>
              <a:t>[Leave the slide up. Do not advance. Wait for the question.]</a:t>
            </a:r>
          </a:p>
          <a:p/>
          <a:p>
            <a:r>
              <a:t>--- POST-PRESENTATION ---</a:t>
            </a:r>
          </a:p>
          <a:p>
            <a:r>
              <a:t>If they ask for a demo: "Run slash 12-minute-experience right now. No login. Pick Activist Investor."</a:t>
            </a:r>
          </a:p>
          <a:p>
            <a:r>
              <a:t>If they ask about competition: "Slide in the appendix of our full deck — or I'll answer it now."</a:t>
            </a:r>
          </a:p>
          <a:p>
            <a:r>
              <a:t>If they ask about revenue: "The Founding Partner Program is the revenue proof — three agreements at a hundred and twenty thousand validates the model before Series A."</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jpg"/><Relationship Id="rId4"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ver_clean.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6949440"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vm_logo_white.png"/>
          <p:cNvPicPr>
            <a:picLocks noChangeAspect="1"/>
          </p:cNvPicPr>
          <p:nvPr/>
        </p:nvPicPr>
        <p:blipFill>
          <a:blip r:embed="rId3"/>
          <a:stretch>
            <a:fillRect/>
          </a:stretch>
        </p:blipFill>
        <p:spPr>
          <a:xfrm>
            <a:off x="347472" y="402336"/>
            <a:ext cx="2212848" cy="566928"/>
          </a:xfrm>
          <a:prstGeom prst="rect">
            <a:avLst/>
          </a:prstGeom>
        </p:spPr>
      </p:pic>
      <p:sp>
        <p:nvSpPr>
          <p:cNvPr id="5" name="Rectangle 4"/>
          <p:cNvSpPr/>
          <p:nvPr/>
        </p:nvSpPr>
        <p:spPr>
          <a:xfrm>
            <a:off x="347472" y="1042415"/>
            <a:ext cx="5907024"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02336" y="1188720"/>
            <a:ext cx="8229600" cy="768096"/>
          </a:xfrm>
          <a:prstGeom prst="rect">
            <a:avLst/>
          </a:prstGeom>
          <a:noFill/>
        </p:spPr>
        <p:txBody>
          <a:bodyPr wrap="square">
            <a:spAutoFit/>
          </a:bodyPr>
          <a:lstStyle/>
          <a:p>
            <a:pPr algn="l"/>
            <a:r>
              <a:rPr sz="3600" b="1" i="0">
                <a:solidFill>
                  <a:srgbClr val="FFFFFF"/>
                </a:solidFill>
                <a:latin typeface="Georgia"/>
              </a:rPr>
              <a:t>The Response Is Ready</a:t>
            </a:r>
          </a:p>
        </p:txBody>
      </p:sp>
      <p:sp>
        <p:nvSpPr>
          <p:cNvPr id="7" name="TextBox 6"/>
          <p:cNvSpPr txBox="1"/>
          <p:nvPr/>
        </p:nvSpPr>
        <p:spPr>
          <a:xfrm>
            <a:off x="402336" y="1938528"/>
            <a:ext cx="8229600" cy="694944"/>
          </a:xfrm>
          <a:prstGeom prst="rect">
            <a:avLst/>
          </a:prstGeom>
          <a:noFill/>
        </p:spPr>
        <p:txBody>
          <a:bodyPr wrap="square">
            <a:spAutoFit/>
          </a:bodyPr>
          <a:lstStyle/>
          <a:p>
            <a:pPr algn="l"/>
            <a:r>
              <a:rPr sz="3600" b="1" i="1">
                <a:solidFill>
                  <a:srgbClr val="C9A84C"/>
                </a:solidFill>
                <a:latin typeface="Georgia"/>
              </a:rPr>
              <a:t>Before the Trigger Fires.</a:t>
            </a:r>
          </a:p>
        </p:txBody>
      </p:sp>
      <p:sp>
        <p:nvSpPr>
          <p:cNvPr id="8" name="TextBox 7"/>
          <p:cNvSpPr txBox="1"/>
          <p:nvPr/>
        </p:nvSpPr>
        <p:spPr>
          <a:xfrm>
            <a:off x="402336" y="2779776"/>
            <a:ext cx="6035040" cy="658368"/>
          </a:xfrm>
          <a:prstGeom prst="rect">
            <a:avLst/>
          </a:prstGeom>
          <a:noFill/>
        </p:spPr>
        <p:txBody>
          <a:bodyPr wrap="square">
            <a:spAutoFit/>
          </a:bodyPr>
          <a:lstStyle/>
          <a:p>
            <a:pPr algn="l"/>
            <a:r>
              <a:rPr sz="1300" b="0" i="0">
                <a:solidFill>
                  <a:srgbClr val="AAB4CC"/>
                </a:solidFill>
                <a:latin typeface="Calibri"/>
              </a:rPr>
              <a:t>Readiness OS compresses the 30-day enterprise mobilization cycle to 12 minutes.
Pre-staged. System-detected. Executive-authorized.</a:t>
            </a:r>
          </a:p>
        </p:txBody>
      </p:sp>
      <p:sp>
        <p:nvSpPr>
          <p:cNvPr id="9" name="Rectangle 8"/>
          <p:cNvSpPr/>
          <p:nvPr/>
        </p:nvSpPr>
        <p:spPr>
          <a:xfrm>
            <a:off x="402336" y="3675887"/>
            <a:ext cx="1847088" cy="877824"/>
          </a:xfrm>
          <a:prstGeom prst="rect">
            <a:avLst/>
          </a:prstGeom>
          <a:solidFill>
            <a:srgbClr val="040814"/>
          </a:solidFill>
          <a:ln w="63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3712463"/>
            <a:ext cx="1700784" cy="475488"/>
          </a:xfrm>
          <a:prstGeom prst="rect">
            <a:avLst/>
          </a:prstGeom>
          <a:noFill/>
        </p:spPr>
        <p:txBody>
          <a:bodyPr wrap="square">
            <a:spAutoFit/>
          </a:bodyPr>
          <a:lstStyle/>
          <a:p>
            <a:pPr algn="ctr"/>
            <a:r>
              <a:rPr sz="2400" b="1" i="0">
                <a:solidFill>
                  <a:srgbClr val="C9A84C"/>
                </a:solidFill>
                <a:latin typeface="Georgia"/>
              </a:rPr>
              <a:t>3,600×</a:t>
            </a:r>
          </a:p>
        </p:txBody>
      </p:sp>
      <p:sp>
        <p:nvSpPr>
          <p:cNvPr id="11" name="TextBox 10"/>
          <p:cNvSpPr txBox="1"/>
          <p:nvPr/>
        </p:nvSpPr>
        <p:spPr>
          <a:xfrm>
            <a:off x="475488" y="4187952"/>
            <a:ext cx="1700784" cy="329184"/>
          </a:xfrm>
          <a:prstGeom prst="rect">
            <a:avLst/>
          </a:prstGeom>
          <a:noFill/>
        </p:spPr>
        <p:txBody>
          <a:bodyPr wrap="square">
            <a:spAutoFit/>
          </a:bodyPr>
          <a:lstStyle/>
          <a:p>
            <a:pPr algn="ctr"/>
            <a:r>
              <a:rPr sz="700" b="1" i="0">
                <a:solidFill>
                  <a:srgbClr val="AAB4CC"/>
                </a:solidFill>
                <a:latin typeface="Calibri"/>
              </a:rPr>
              <a:t>EXECUTION
HEAD START</a:t>
            </a:r>
          </a:p>
        </p:txBody>
      </p:sp>
      <p:sp>
        <p:nvSpPr>
          <p:cNvPr id="12" name="Rectangle 11"/>
          <p:cNvSpPr/>
          <p:nvPr/>
        </p:nvSpPr>
        <p:spPr>
          <a:xfrm>
            <a:off x="2432304" y="3675887"/>
            <a:ext cx="1847088" cy="877824"/>
          </a:xfrm>
          <a:prstGeom prst="rect">
            <a:avLst/>
          </a:prstGeom>
          <a:solidFill>
            <a:srgbClr val="040814"/>
          </a:solidFill>
          <a:ln w="635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05456" y="3712463"/>
            <a:ext cx="1700784" cy="475488"/>
          </a:xfrm>
          <a:prstGeom prst="rect">
            <a:avLst/>
          </a:prstGeom>
          <a:noFill/>
        </p:spPr>
        <p:txBody>
          <a:bodyPr wrap="square">
            <a:spAutoFit/>
          </a:bodyPr>
          <a:lstStyle/>
          <a:p>
            <a:pPr algn="ctr"/>
            <a:r>
              <a:rPr sz="2400" b="1" i="0">
                <a:solidFill>
                  <a:srgbClr val="2B8A6E"/>
                </a:solidFill>
                <a:latin typeface="Georgia"/>
              </a:rPr>
              <a:t>12 MIN</a:t>
            </a:r>
          </a:p>
        </p:txBody>
      </p:sp>
      <p:sp>
        <p:nvSpPr>
          <p:cNvPr id="14" name="TextBox 13"/>
          <p:cNvSpPr txBox="1"/>
          <p:nvPr/>
        </p:nvSpPr>
        <p:spPr>
          <a:xfrm>
            <a:off x="2505456" y="4187952"/>
            <a:ext cx="1700784" cy="329184"/>
          </a:xfrm>
          <a:prstGeom prst="rect">
            <a:avLst/>
          </a:prstGeom>
          <a:noFill/>
        </p:spPr>
        <p:txBody>
          <a:bodyPr wrap="square">
            <a:spAutoFit/>
          </a:bodyPr>
          <a:lstStyle/>
          <a:p>
            <a:pPr algn="ctr"/>
            <a:r>
              <a:rPr sz="700" b="1" i="0">
                <a:solidFill>
                  <a:srgbClr val="AAB4CC"/>
                </a:solidFill>
                <a:latin typeface="Calibri"/>
              </a:rPr>
              <a:t>TRIGGER TO
WAR ROOM</a:t>
            </a:r>
          </a:p>
        </p:txBody>
      </p:sp>
      <p:sp>
        <p:nvSpPr>
          <p:cNvPr id="15" name="Rectangle 14"/>
          <p:cNvSpPr/>
          <p:nvPr/>
        </p:nvSpPr>
        <p:spPr>
          <a:xfrm>
            <a:off x="402336" y="4700016"/>
            <a:ext cx="1847088" cy="877824"/>
          </a:xfrm>
          <a:prstGeom prst="rect">
            <a:avLst/>
          </a:prstGeom>
          <a:solidFill>
            <a:srgbClr val="040814"/>
          </a:solidFill>
          <a:ln w="63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 y="4736592"/>
            <a:ext cx="1700784" cy="475488"/>
          </a:xfrm>
          <a:prstGeom prst="rect">
            <a:avLst/>
          </a:prstGeom>
          <a:noFill/>
        </p:spPr>
        <p:txBody>
          <a:bodyPr wrap="square">
            <a:spAutoFit/>
          </a:bodyPr>
          <a:lstStyle/>
          <a:p>
            <a:pPr algn="ctr"/>
            <a:r>
              <a:rPr sz="2400" b="1" i="0">
                <a:solidFill>
                  <a:srgbClr val="C9A84C"/>
                </a:solidFill>
                <a:latin typeface="Georgia"/>
              </a:rPr>
              <a:t>170</a:t>
            </a:r>
          </a:p>
        </p:txBody>
      </p:sp>
      <p:sp>
        <p:nvSpPr>
          <p:cNvPr id="17" name="TextBox 16"/>
          <p:cNvSpPr txBox="1"/>
          <p:nvPr/>
        </p:nvSpPr>
        <p:spPr>
          <a:xfrm>
            <a:off x="475488" y="5212079"/>
            <a:ext cx="1700784" cy="329184"/>
          </a:xfrm>
          <a:prstGeom prst="rect">
            <a:avLst/>
          </a:prstGeom>
          <a:noFill/>
        </p:spPr>
        <p:txBody>
          <a:bodyPr wrap="square">
            <a:spAutoFit/>
          </a:bodyPr>
          <a:lstStyle/>
          <a:p>
            <a:pPr algn="ctr"/>
            <a:r>
              <a:rPr sz="700" b="1" i="0">
                <a:solidFill>
                  <a:srgbClr val="AAB4CC"/>
                </a:solidFill>
                <a:latin typeface="Calibri"/>
              </a:rPr>
              <a:t>READINESS
PROTOCOLS</a:t>
            </a:r>
          </a:p>
        </p:txBody>
      </p:sp>
      <p:sp>
        <p:nvSpPr>
          <p:cNvPr id="18" name="Rectangle 17"/>
          <p:cNvSpPr/>
          <p:nvPr/>
        </p:nvSpPr>
        <p:spPr>
          <a:xfrm>
            <a:off x="2432304" y="4700016"/>
            <a:ext cx="1847088" cy="877824"/>
          </a:xfrm>
          <a:prstGeom prst="rect">
            <a:avLst/>
          </a:prstGeom>
          <a:solidFill>
            <a:srgbClr val="040814"/>
          </a:solidFill>
          <a:ln w="635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05456" y="4736592"/>
            <a:ext cx="1700784" cy="475488"/>
          </a:xfrm>
          <a:prstGeom prst="rect">
            <a:avLst/>
          </a:prstGeom>
          <a:noFill/>
        </p:spPr>
        <p:txBody>
          <a:bodyPr wrap="square">
            <a:spAutoFit/>
          </a:bodyPr>
          <a:lstStyle/>
          <a:p>
            <a:pPr algn="ctr"/>
            <a:r>
              <a:rPr sz="2400" b="1" i="0">
                <a:solidFill>
                  <a:srgbClr val="2B8A6E"/>
                </a:solidFill>
                <a:latin typeface="Georgia"/>
              </a:rPr>
              <a:t>221</a:t>
            </a:r>
          </a:p>
        </p:txBody>
      </p:sp>
      <p:sp>
        <p:nvSpPr>
          <p:cNvPr id="20" name="TextBox 19"/>
          <p:cNvSpPr txBox="1"/>
          <p:nvPr/>
        </p:nvSpPr>
        <p:spPr>
          <a:xfrm>
            <a:off x="2505456" y="5212079"/>
            <a:ext cx="1700784" cy="329184"/>
          </a:xfrm>
          <a:prstGeom prst="rect">
            <a:avLst/>
          </a:prstGeom>
          <a:noFill/>
        </p:spPr>
        <p:txBody>
          <a:bodyPr wrap="square">
            <a:spAutoFit/>
          </a:bodyPr>
          <a:lstStyle/>
          <a:p>
            <a:pPr algn="ctr"/>
            <a:r>
              <a:rPr sz="700" b="1" i="0">
                <a:solidFill>
                  <a:srgbClr val="AAB4CC"/>
                </a:solidFill>
                <a:latin typeface="Calibri"/>
              </a:rPr>
              <a:t>STRATEGIC
TRIGGERS</a:t>
            </a:r>
          </a:p>
        </p:txBody>
      </p:sp>
      <p:sp>
        <p:nvSpPr>
          <p:cNvPr id="21" name="Rectangle 20"/>
          <p:cNvSpPr/>
          <p:nvPr/>
        </p:nvSpPr>
        <p:spPr>
          <a:xfrm>
            <a:off x="402336" y="5687568"/>
            <a:ext cx="2834640" cy="40233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 y="5742432"/>
            <a:ext cx="2724912" cy="274320"/>
          </a:xfrm>
          <a:prstGeom prst="rect">
            <a:avLst/>
          </a:prstGeom>
          <a:noFill/>
        </p:spPr>
        <p:txBody>
          <a:bodyPr wrap="square">
            <a:spAutoFit/>
          </a:bodyPr>
          <a:lstStyle/>
          <a:p>
            <a:pPr algn="ctr"/>
            <a:r>
              <a:rPr sz="850" b="1" i="0">
                <a:solidFill>
                  <a:srgbClr val="0A0F2E"/>
                </a:solidFill>
                <a:latin typeface="Calibri"/>
              </a:rPr>
              <a:t>SCHEDULE A CONVERSATION</a:t>
            </a:r>
          </a:p>
        </p:txBody>
      </p:sp>
      <p:pic>
        <p:nvPicPr>
          <p:cNvPr id="23" name="Picture 22" descr="vm_seal_nobg.png"/>
          <p:cNvPicPr>
            <a:picLocks noChangeAspect="1"/>
          </p:cNvPicPr>
          <p:nvPr/>
        </p:nvPicPr>
        <p:blipFill>
          <a:blip r:embed="rId4"/>
          <a:stretch>
            <a:fillRect/>
          </a:stretch>
        </p:blipFill>
        <p:spPr>
          <a:xfrm>
            <a:off x="7059168" y="512064"/>
            <a:ext cx="4828032" cy="4828032"/>
          </a:xfrm>
          <a:prstGeom prst="rect">
            <a:avLst/>
          </a:prstGeom>
        </p:spPr>
      </p:pic>
      <p:sp>
        <p:nvSpPr>
          <p:cNvPr id="24" name="Rectangle 23"/>
          <p:cNvSpPr/>
          <p:nvPr/>
        </p:nvSpPr>
        <p:spPr>
          <a:xfrm>
            <a:off x="0" y="6455664"/>
            <a:ext cx="12188952"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vm_logo_white.png"/>
          <p:cNvPicPr>
            <a:picLocks noChangeAspect="1"/>
          </p:cNvPicPr>
          <p:nvPr/>
        </p:nvPicPr>
        <p:blipFill>
          <a:blip r:embed="rId3"/>
          <a:stretch>
            <a:fillRect/>
          </a:stretch>
        </p:blipFill>
        <p:spPr>
          <a:xfrm>
            <a:off x="274320" y="6528816"/>
            <a:ext cx="1005840" cy="256032"/>
          </a:xfrm>
          <a:prstGeom prst="rect">
            <a:avLst/>
          </a:prstGeom>
        </p:spPr>
      </p:pic>
      <p:sp>
        <p:nvSpPr>
          <p:cNvPr id="26" name="TextBox 25"/>
          <p:cNvSpPr txBox="1"/>
          <p:nvPr/>
        </p:nvSpPr>
        <p:spPr>
          <a:xfrm>
            <a:off x="11155680" y="6528816"/>
            <a:ext cx="822960" cy="256032"/>
          </a:xfrm>
          <a:prstGeom prst="rect">
            <a:avLst/>
          </a:prstGeom>
          <a:noFill/>
        </p:spPr>
        <p:txBody>
          <a:bodyPr wrap="square">
            <a:spAutoFit/>
          </a:bodyPr>
          <a:lstStyle/>
          <a:p>
            <a:pPr algn="r"/>
            <a:r>
              <a:rPr sz="700" b="0" i="0">
                <a:solidFill>
                  <a:srgbClr val="AAB4CC"/>
                </a:solidFill>
                <a:latin typeface="Calibri"/>
              </a:rPr>
              <a:t>01  /  10</a:t>
            </a:r>
          </a:p>
        </p:txBody>
      </p:sp>
      <p:sp>
        <p:nvSpPr>
          <p:cNvPr id="27" name="Rectangle 26"/>
          <p:cNvSpPr/>
          <p:nvPr/>
        </p:nvSpPr>
        <p:spPr>
          <a:xfrm>
            <a:off x="11338560" y="256032"/>
            <a:ext cx="676656" cy="256032"/>
          </a:xfrm>
          <a:prstGeom prst="rect">
            <a:avLst/>
          </a:prstGeom>
          <a:solidFill>
            <a:srgbClr val="040814"/>
          </a:solidFill>
          <a:ln w="508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338560" y="256032"/>
            <a:ext cx="676656" cy="256032"/>
          </a:xfrm>
          <a:prstGeom prst="rect">
            <a:avLst/>
          </a:prstGeom>
          <a:noFill/>
        </p:spPr>
        <p:txBody>
          <a:bodyPr wrap="square">
            <a:spAutoFit/>
          </a:bodyPr>
          <a:lstStyle/>
          <a:p>
            <a:pPr algn="ctr"/>
            <a:r>
              <a:rPr sz="800" b="1" i="0">
                <a:solidFill>
                  <a:srgbClr val="C9A84C"/>
                </a:solidFill>
                <a:latin typeface="Calibri"/>
              </a:rPr>
              <a:t>0:20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ver_clean.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2188952" cy="228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m_logo_white.png"/>
          <p:cNvPicPr>
            <a:picLocks noChangeAspect="1"/>
          </p:cNvPicPr>
          <p:nvPr/>
        </p:nvPicPr>
        <p:blipFill>
          <a:blip r:embed="rId3"/>
          <a:stretch>
            <a:fillRect/>
          </a:stretch>
        </p:blipFill>
        <p:spPr>
          <a:xfrm>
            <a:off x="274320" y="237744"/>
            <a:ext cx="1664208" cy="420624"/>
          </a:xfrm>
          <a:prstGeom prst="rect">
            <a:avLst/>
          </a:prstGeom>
        </p:spPr>
      </p:pic>
      <p:sp>
        <p:nvSpPr>
          <p:cNvPr id="6" name="Rectangle 5"/>
          <p:cNvSpPr/>
          <p:nvPr/>
        </p:nvSpPr>
        <p:spPr>
          <a:xfrm>
            <a:off x="0" y="6455664"/>
            <a:ext cx="12188952"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m_logo_white.png"/>
          <p:cNvPicPr>
            <a:picLocks noChangeAspect="1"/>
          </p:cNvPicPr>
          <p:nvPr/>
        </p:nvPicPr>
        <p:blipFill>
          <a:blip r:embed="rId3"/>
          <a:stretch>
            <a:fillRect/>
          </a:stretch>
        </p:blipFill>
        <p:spPr>
          <a:xfrm>
            <a:off x="274320" y="6528816"/>
            <a:ext cx="1005840" cy="256032"/>
          </a:xfrm>
          <a:prstGeom prst="rect">
            <a:avLst/>
          </a:prstGeom>
        </p:spPr>
      </p:pic>
      <p:sp>
        <p:nvSpPr>
          <p:cNvPr id="8" name="TextBox 7"/>
          <p:cNvSpPr txBox="1"/>
          <p:nvPr/>
        </p:nvSpPr>
        <p:spPr>
          <a:xfrm>
            <a:off x="11155680" y="6528816"/>
            <a:ext cx="822960" cy="256032"/>
          </a:xfrm>
          <a:prstGeom prst="rect">
            <a:avLst/>
          </a:prstGeom>
          <a:noFill/>
        </p:spPr>
        <p:txBody>
          <a:bodyPr wrap="square">
            <a:spAutoFit/>
          </a:bodyPr>
          <a:lstStyle/>
          <a:p>
            <a:pPr algn="r"/>
            <a:r>
              <a:rPr sz="700" b="0" i="0">
                <a:solidFill>
                  <a:srgbClr val="AAB4CC"/>
                </a:solidFill>
                <a:latin typeface="Calibri"/>
              </a:rPr>
              <a:t>02  /  10</a:t>
            </a:r>
          </a:p>
        </p:txBody>
      </p:sp>
      <p:sp>
        <p:nvSpPr>
          <p:cNvPr id="9" name="Rectangle 8"/>
          <p:cNvSpPr/>
          <p:nvPr/>
        </p:nvSpPr>
        <p:spPr>
          <a:xfrm>
            <a:off x="11338560" y="256032"/>
            <a:ext cx="676656" cy="256032"/>
          </a:xfrm>
          <a:prstGeom prst="rect">
            <a:avLst/>
          </a:prstGeom>
          <a:solidFill>
            <a:srgbClr val="040814"/>
          </a:solidFill>
          <a:ln w="508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338560" y="256032"/>
            <a:ext cx="676656" cy="256032"/>
          </a:xfrm>
          <a:prstGeom prst="rect">
            <a:avLst/>
          </a:prstGeom>
          <a:noFill/>
        </p:spPr>
        <p:txBody>
          <a:bodyPr wrap="square">
            <a:spAutoFit/>
          </a:bodyPr>
          <a:lstStyle/>
          <a:p>
            <a:pPr algn="ctr"/>
            <a:r>
              <a:rPr sz="800" b="1" i="0">
                <a:solidFill>
                  <a:srgbClr val="C9A84C"/>
                </a:solidFill>
                <a:latin typeface="Calibri"/>
              </a:rPr>
              <a:t>0:55</a:t>
            </a:r>
          </a:p>
        </p:txBody>
      </p:sp>
      <p:sp>
        <p:nvSpPr>
          <p:cNvPr id="11" name="TextBox 10"/>
          <p:cNvSpPr txBox="1"/>
          <p:nvPr/>
        </p:nvSpPr>
        <p:spPr>
          <a:xfrm>
            <a:off x="438912" y="347472"/>
            <a:ext cx="10972800" cy="201168"/>
          </a:xfrm>
          <a:prstGeom prst="rect">
            <a:avLst/>
          </a:prstGeom>
          <a:noFill/>
        </p:spPr>
        <p:txBody>
          <a:bodyPr wrap="square">
            <a:spAutoFit/>
          </a:bodyPr>
          <a:lstStyle/>
          <a:p>
            <a:pPr algn="l"/>
            <a:r>
              <a:rPr sz="750" b="1" i="0">
                <a:solidFill>
                  <a:srgbClr val="C9A84C"/>
                </a:solidFill>
                <a:latin typeface="Calibri"/>
              </a:rPr>
              <a:t>── THE PROBLEM ──</a:t>
            </a:r>
          </a:p>
        </p:txBody>
      </p:sp>
      <p:sp>
        <p:nvSpPr>
          <p:cNvPr id="12" name="TextBox 11"/>
          <p:cNvSpPr txBox="1"/>
          <p:nvPr/>
        </p:nvSpPr>
        <p:spPr>
          <a:xfrm>
            <a:off x="438912" y="603504"/>
            <a:ext cx="11320272" cy="694944"/>
          </a:xfrm>
          <a:prstGeom prst="rect">
            <a:avLst/>
          </a:prstGeom>
          <a:noFill/>
        </p:spPr>
        <p:txBody>
          <a:bodyPr wrap="square">
            <a:spAutoFit/>
          </a:bodyPr>
          <a:lstStyle/>
          <a:p>
            <a:pPr algn="l"/>
            <a:r>
              <a:rPr sz="3600" b="1" i="0">
                <a:solidFill>
                  <a:srgbClr val="FFFFFF"/>
                </a:solidFill>
                <a:latin typeface="Georgia"/>
              </a:rPr>
              <a:t>The Mobilization Delay</a:t>
            </a:r>
          </a:p>
        </p:txBody>
      </p:sp>
      <p:sp>
        <p:nvSpPr>
          <p:cNvPr id="13" name="TextBox 12"/>
          <p:cNvSpPr txBox="1"/>
          <p:nvPr/>
        </p:nvSpPr>
        <p:spPr>
          <a:xfrm>
            <a:off x="438912" y="1261872"/>
            <a:ext cx="11320272" cy="566928"/>
          </a:xfrm>
          <a:prstGeom prst="rect">
            <a:avLst/>
          </a:prstGeom>
          <a:noFill/>
        </p:spPr>
        <p:txBody>
          <a:bodyPr wrap="square">
            <a:spAutoFit/>
          </a:bodyPr>
          <a:lstStyle/>
          <a:p>
            <a:pPr algn="l"/>
            <a:r>
              <a:rPr sz="3000" b="1" i="1">
                <a:solidFill>
                  <a:srgbClr val="C9A84C"/>
                </a:solidFill>
                <a:latin typeface="Georgia"/>
              </a:rPr>
              <a:t>IS the Crisis.</a:t>
            </a:r>
          </a:p>
        </p:txBody>
      </p:sp>
      <p:sp>
        <p:nvSpPr>
          <p:cNvPr id="14" name="Rectangle 13"/>
          <p:cNvSpPr/>
          <p:nvPr/>
        </p:nvSpPr>
        <p:spPr>
          <a:xfrm>
            <a:off x="438912" y="1975104"/>
            <a:ext cx="3675887" cy="3108960"/>
          </a:xfrm>
          <a:prstGeom prst="rect">
            <a:avLst/>
          </a:prstGeom>
          <a:solidFill>
            <a:srgbClr val="070B24"/>
          </a:solidFill>
          <a:ln w="9525">
            <a:solidFill>
              <a:srgbClr val="1A2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066543"/>
            <a:ext cx="3419856" cy="256032"/>
          </a:xfrm>
          <a:prstGeom prst="rect">
            <a:avLst/>
          </a:prstGeom>
          <a:noFill/>
        </p:spPr>
        <p:txBody>
          <a:bodyPr wrap="square">
            <a:spAutoFit/>
          </a:bodyPr>
          <a:lstStyle/>
          <a:p>
            <a:pPr algn="l"/>
            <a:r>
              <a:rPr sz="850" b="1" i="0">
                <a:solidFill>
                  <a:srgbClr val="C9A84C"/>
                </a:solidFill>
                <a:latin typeface="Calibri"/>
              </a:rPr>
              <a:t>DETECT</a:t>
            </a:r>
          </a:p>
        </p:txBody>
      </p:sp>
      <p:sp>
        <p:nvSpPr>
          <p:cNvPr id="16" name="TextBox 15"/>
          <p:cNvSpPr txBox="1"/>
          <p:nvPr/>
        </p:nvSpPr>
        <p:spPr>
          <a:xfrm>
            <a:off x="566928" y="2340864"/>
            <a:ext cx="3419856" cy="658368"/>
          </a:xfrm>
          <a:prstGeom prst="rect">
            <a:avLst/>
          </a:prstGeom>
          <a:noFill/>
        </p:spPr>
        <p:txBody>
          <a:bodyPr wrap="square">
            <a:spAutoFit/>
          </a:bodyPr>
          <a:lstStyle/>
          <a:p>
            <a:pPr algn="l"/>
            <a:r>
              <a:rPr sz="3400" b="1" i="0">
                <a:solidFill>
                  <a:srgbClr val="FFFFFF"/>
                </a:solidFill>
                <a:latin typeface="Georgia"/>
              </a:rPr>
              <a:t>2–4 WEEKS</a:t>
            </a:r>
          </a:p>
        </p:txBody>
      </p:sp>
      <p:sp>
        <p:nvSpPr>
          <p:cNvPr id="17" name="TextBox 16"/>
          <p:cNvSpPr txBox="1"/>
          <p:nvPr/>
        </p:nvSpPr>
        <p:spPr>
          <a:xfrm>
            <a:off x="566928" y="3054096"/>
            <a:ext cx="3419856" cy="987552"/>
          </a:xfrm>
          <a:prstGeom prst="rect">
            <a:avLst/>
          </a:prstGeom>
          <a:noFill/>
        </p:spPr>
        <p:txBody>
          <a:bodyPr wrap="square">
            <a:spAutoFit/>
          </a:bodyPr>
          <a:lstStyle/>
          <a:p>
            <a:pPr algn="l"/>
            <a:r>
              <a:rPr sz="1050" b="0" i="0">
                <a:solidFill>
                  <a:srgbClr val="AAB4CC"/>
                </a:solidFill>
                <a:latin typeface="Calibri"/>
              </a:rPr>
              <a:t>Who monitors the signals?
Who decides which ones matter?
Who sets the threshold?</a:t>
            </a:r>
          </a:p>
        </p:txBody>
      </p:sp>
      <p:sp>
        <p:nvSpPr>
          <p:cNvPr id="18" name="Rectangle 17"/>
          <p:cNvSpPr/>
          <p:nvPr/>
        </p:nvSpPr>
        <p:spPr>
          <a:xfrm>
            <a:off x="4297679" y="1975104"/>
            <a:ext cx="3675887" cy="3108960"/>
          </a:xfrm>
          <a:prstGeom prst="rect">
            <a:avLst/>
          </a:prstGeom>
          <a:solidFill>
            <a:srgbClr val="070B24"/>
          </a:solidFill>
          <a:ln w="9525">
            <a:solidFill>
              <a:srgbClr val="1A2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25695" y="2066543"/>
            <a:ext cx="3419856" cy="256032"/>
          </a:xfrm>
          <a:prstGeom prst="rect">
            <a:avLst/>
          </a:prstGeom>
          <a:noFill/>
        </p:spPr>
        <p:txBody>
          <a:bodyPr wrap="square">
            <a:spAutoFit/>
          </a:bodyPr>
          <a:lstStyle/>
          <a:p>
            <a:pPr algn="l"/>
            <a:r>
              <a:rPr sz="850" b="1" i="0">
                <a:solidFill>
                  <a:srgbClr val="C9A84C"/>
                </a:solidFill>
                <a:latin typeface="Calibri"/>
              </a:rPr>
              <a:t>ALIGN</a:t>
            </a:r>
          </a:p>
        </p:txBody>
      </p:sp>
      <p:sp>
        <p:nvSpPr>
          <p:cNvPr id="20" name="TextBox 19"/>
          <p:cNvSpPr txBox="1"/>
          <p:nvPr/>
        </p:nvSpPr>
        <p:spPr>
          <a:xfrm>
            <a:off x="4425695" y="2340864"/>
            <a:ext cx="3419856" cy="658368"/>
          </a:xfrm>
          <a:prstGeom prst="rect">
            <a:avLst/>
          </a:prstGeom>
          <a:noFill/>
        </p:spPr>
        <p:txBody>
          <a:bodyPr wrap="square">
            <a:spAutoFit/>
          </a:bodyPr>
          <a:lstStyle/>
          <a:p>
            <a:pPr algn="l"/>
            <a:r>
              <a:rPr sz="3400" b="1" i="0">
                <a:solidFill>
                  <a:srgbClr val="FFFFFF"/>
                </a:solidFill>
                <a:latin typeface="Georgia"/>
              </a:rPr>
              <a:t>3–6 WEEKS</a:t>
            </a:r>
          </a:p>
        </p:txBody>
      </p:sp>
      <p:sp>
        <p:nvSpPr>
          <p:cNvPr id="21" name="TextBox 20"/>
          <p:cNvSpPr txBox="1"/>
          <p:nvPr/>
        </p:nvSpPr>
        <p:spPr>
          <a:xfrm>
            <a:off x="4425695" y="3054096"/>
            <a:ext cx="3419856" cy="987552"/>
          </a:xfrm>
          <a:prstGeom prst="rect">
            <a:avLst/>
          </a:prstGeom>
          <a:noFill/>
        </p:spPr>
        <p:txBody>
          <a:bodyPr wrap="square">
            <a:spAutoFit/>
          </a:bodyPr>
          <a:lstStyle/>
          <a:p>
            <a:pPr algn="l"/>
            <a:r>
              <a:rPr sz="1050" b="0" i="0">
                <a:solidFill>
                  <a:srgbClr val="AAB4CC"/>
                </a:solidFill>
                <a:latin typeface="Calibri"/>
              </a:rPr>
              <a:t>Who needs to be in the room?
What is the plan?
Who approves the first action?</a:t>
            </a:r>
          </a:p>
        </p:txBody>
      </p:sp>
      <p:sp>
        <p:nvSpPr>
          <p:cNvPr id="22" name="Rectangle 21"/>
          <p:cNvSpPr/>
          <p:nvPr/>
        </p:nvSpPr>
        <p:spPr>
          <a:xfrm>
            <a:off x="8156448" y="1975104"/>
            <a:ext cx="3675887" cy="3108960"/>
          </a:xfrm>
          <a:prstGeom prst="rect">
            <a:avLst/>
          </a:prstGeom>
          <a:solidFill>
            <a:srgbClr val="070B24"/>
          </a:solidFill>
          <a:ln w="19050">
            <a:solidFill>
              <a:srgbClr val="C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84464" y="2066543"/>
            <a:ext cx="3419856" cy="256032"/>
          </a:xfrm>
          <a:prstGeom prst="rect">
            <a:avLst/>
          </a:prstGeom>
          <a:noFill/>
        </p:spPr>
        <p:txBody>
          <a:bodyPr wrap="square">
            <a:spAutoFit/>
          </a:bodyPr>
          <a:lstStyle/>
          <a:p>
            <a:pPr algn="l"/>
            <a:r>
              <a:rPr sz="850" b="1" i="0">
                <a:solidFill>
                  <a:srgbClr val="C03030"/>
                </a:solidFill>
                <a:latin typeface="Calibri"/>
              </a:rPr>
              <a:t>EXECUTE</a:t>
            </a:r>
          </a:p>
        </p:txBody>
      </p:sp>
      <p:sp>
        <p:nvSpPr>
          <p:cNvPr id="24" name="TextBox 23"/>
          <p:cNvSpPr txBox="1"/>
          <p:nvPr/>
        </p:nvSpPr>
        <p:spPr>
          <a:xfrm>
            <a:off x="8284464" y="2340864"/>
            <a:ext cx="3419856" cy="658368"/>
          </a:xfrm>
          <a:prstGeom prst="rect">
            <a:avLst/>
          </a:prstGeom>
          <a:noFill/>
        </p:spPr>
        <p:txBody>
          <a:bodyPr wrap="square">
            <a:spAutoFit/>
          </a:bodyPr>
          <a:lstStyle/>
          <a:p>
            <a:pPr algn="l"/>
            <a:r>
              <a:rPr sz="3400" b="1" i="0">
                <a:solidFill>
                  <a:srgbClr val="C03030"/>
                </a:solidFill>
                <a:latin typeface="Georgia"/>
              </a:rPr>
              <a:t>CRISIS WINS</a:t>
            </a:r>
          </a:p>
        </p:txBody>
      </p:sp>
      <p:sp>
        <p:nvSpPr>
          <p:cNvPr id="25" name="TextBox 24"/>
          <p:cNvSpPr txBox="1"/>
          <p:nvPr/>
        </p:nvSpPr>
        <p:spPr>
          <a:xfrm>
            <a:off x="8284464" y="3054096"/>
            <a:ext cx="3419856" cy="987552"/>
          </a:xfrm>
          <a:prstGeom prst="rect">
            <a:avLst/>
          </a:prstGeom>
          <a:noFill/>
        </p:spPr>
        <p:txBody>
          <a:bodyPr wrap="square">
            <a:spAutoFit/>
          </a:bodyPr>
          <a:lstStyle/>
          <a:p>
            <a:pPr algn="l"/>
            <a:r>
              <a:rPr sz="1050" b="0" i="0">
                <a:solidFill>
                  <a:srgbClr val="AAB4CC"/>
                </a:solidFill>
                <a:latin typeface="Calibri"/>
              </a:rPr>
              <a:t>By this point, the window is closed.
The opportunity is gone.
The damage is done.</a:t>
            </a:r>
          </a:p>
        </p:txBody>
      </p:sp>
      <p:sp>
        <p:nvSpPr>
          <p:cNvPr id="26" name="Rectangle 25"/>
          <p:cNvSpPr/>
          <p:nvPr/>
        </p:nvSpPr>
        <p:spPr>
          <a:xfrm>
            <a:off x="438912" y="5230368"/>
            <a:ext cx="11320272" cy="694944"/>
          </a:xfrm>
          <a:prstGeom prst="rect">
            <a:avLst/>
          </a:prstGeom>
          <a:solidFill>
            <a:srgbClr val="0A1A1A"/>
          </a:solidFill>
          <a:ln w="1270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321808"/>
            <a:ext cx="10972800" cy="530352"/>
          </a:xfrm>
          <a:prstGeom prst="rect">
            <a:avLst/>
          </a:prstGeom>
          <a:noFill/>
        </p:spPr>
        <p:txBody>
          <a:bodyPr wrap="square">
            <a:spAutoFit/>
          </a:bodyPr>
          <a:lstStyle/>
          <a:p>
            <a:pPr algn="l"/>
            <a:r>
              <a:rPr sz="1050" b="0" i="1">
                <a:solidFill>
                  <a:srgbClr val="FFFFFF"/>
                </a:solidFill>
                <a:latin typeface="Georgia"/>
              </a:rPr>
              <a:t>"Every vendor bolted AI onto this broken model. Faster spreadsheets. Smarter summaries. Better notes from the same slow meeting.
VaughnMartin rebuilds from first principles — because the constraint was never intelligence. It was the operating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ver_clean.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2188952" cy="228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m_logo_white.png"/>
          <p:cNvPicPr>
            <a:picLocks noChangeAspect="1"/>
          </p:cNvPicPr>
          <p:nvPr/>
        </p:nvPicPr>
        <p:blipFill>
          <a:blip r:embed="rId3"/>
          <a:stretch>
            <a:fillRect/>
          </a:stretch>
        </p:blipFill>
        <p:spPr>
          <a:xfrm>
            <a:off x="274320" y="237744"/>
            <a:ext cx="1664208" cy="420624"/>
          </a:xfrm>
          <a:prstGeom prst="rect">
            <a:avLst/>
          </a:prstGeom>
        </p:spPr>
      </p:pic>
      <p:sp>
        <p:nvSpPr>
          <p:cNvPr id="6" name="Rectangle 5"/>
          <p:cNvSpPr/>
          <p:nvPr/>
        </p:nvSpPr>
        <p:spPr>
          <a:xfrm>
            <a:off x="0" y="6455664"/>
            <a:ext cx="12188952"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m_logo_white.png"/>
          <p:cNvPicPr>
            <a:picLocks noChangeAspect="1"/>
          </p:cNvPicPr>
          <p:nvPr/>
        </p:nvPicPr>
        <p:blipFill>
          <a:blip r:embed="rId3"/>
          <a:stretch>
            <a:fillRect/>
          </a:stretch>
        </p:blipFill>
        <p:spPr>
          <a:xfrm>
            <a:off x="274320" y="6528816"/>
            <a:ext cx="1005840" cy="256032"/>
          </a:xfrm>
          <a:prstGeom prst="rect">
            <a:avLst/>
          </a:prstGeom>
        </p:spPr>
      </p:pic>
      <p:sp>
        <p:nvSpPr>
          <p:cNvPr id="8" name="TextBox 7"/>
          <p:cNvSpPr txBox="1"/>
          <p:nvPr/>
        </p:nvSpPr>
        <p:spPr>
          <a:xfrm>
            <a:off x="11155680" y="6528816"/>
            <a:ext cx="822960" cy="256032"/>
          </a:xfrm>
          <a:prstGeom prst="rect">
            <a:avLst/>
          </a:prstGeom>
          <a:noFill/>
        </p:spPr>
        <p:txBody>
          <a:bodyPr wrap="square">
            <a:spAutoFit/>
          </a:bodyPr>
          <a:lstStyle/>
          <a:p>
            <a:pPr algn="r"/>
            <a:r>
              <a:rPr sz="700" b="0" i="0">
                <a:solidFill>
                  <a:srgbClr val="AAB4CC"/>
                </a:solidFill>
                <a:latin typeface="Calibri"/>
              </a:rPr>
              <a:t>03  /  10</a:t>
            </a:r>
          </a:p>
        </p:txBody>
      </p:sp>
      <p:sp>
        <p:nvSpPr>
          <p:cNvPr id="9" name="Rectangle 8"/>
          <p:cNvSpPr/>
          <p:nvPr/>
        </p:nvSpPr>
        <p:spPr>
          <a:xfrm>
            <a:off x="11338560" y="256032"/>
            <a:ext cx="676656" cy="256032"/>
          </a:xfrm>
          <a:prstGeom prst="rect">
            <a:avLst/>
          </a:prstGeom>
          <a:solidFill>
            <a:srgbClr val="040814"/>
          </a:solidFill>
          <a:ln w="508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338560" y="256032"/>
            <a:ext cx="676656" cy="256032"/>
          </a:xfrm>
          <a:prstGeom prst="rect">
            <a:avLst/>
          </a:prstGeom>
          <a:noFill/>
        </p:spPr>
        <p:txBody>
          <a:bodyPr wrap="square">
            <a:spAutoFit/>
          </a:bodyPr>
          <a:lstStyle/>
          <a:p>
            <a:pPr algn="ctr"/>
            <a:r>
              <a:rPr sz="800" b="1" i="0">
                <a:solidFill>
                  <a:srgbClr val="C9A84C"/>
                </a:solidFill>
                <a:latin typeface="Calibri"/>
              </a:rPr>
              <a:t>1:30</a:t>
            </a:r>
          </a:p>
        </p:txBody>
      </p:sp>
      <p:sp>
        <p:nvSpPr>
          <p:cNvPr id="11" name="TextBox 10"/>
          <p:cNvSpPr txBox="1"/>
          <p:nvPr/>
        </p:nvSpPr>
        <p:spPr>
          <a:xfrm>
            <a:off x="438912" y="347472"/>
            <a:ext cx="10972800" cy="201168"/>
          </a:xfrm>
          <a:prstGeom prst="rect">
            <a:avLst/>
          </a:prstGeom>
          <a:noFill/>
        </p:spPr>
        <p:txBody>
          <a:bodyPr wrap="square">
            <a:spAutoFit/>
          </a:bodyPr>
          <a:lstStyle/>
          <a:p>
            <a:pPr algn="l"/>
            <a:r>
              <a:rPr sz="750" b="1" i="0">
                <a:solidFill>
                  <a:srgbClr val="C9A84C"/>
                </a:solidFill>
                <a:latin typeface="Calibri"/>
              </a:rPr>
              <a:t>── THE PLATFORM — 5-LAYER OPERATING NERVOUS SYSTEM ──</a:t>
            </a:r>
          </a:p>
        </p:txBody>
      </p:sp>
      <p:sp>
        <p:nvSpPr>
          <p:cNvPr id="12" name="TextBox 11"/>
          <p:cNvSpPr txBox="1"/>
          <p:nvPr/>
        </p:nvSpPr>
        <p:spPr>
          <a:xfrm>
            <a:off x="438912" y="603504"/>
            <a:ext cx="11320272" cy="658368"/>
          </a:xfrm>
          <a:prstGeom prst="rect">
            <a:avLst/>
          </a:prstGeom>
          <a:noFill/>
        </p:spPr>
        <p:txBody>
          <a:bodyPr wrap="square">
            <a:spAutoFit/>
          </a:bodyPr>
          <a:lstStyle/>
          <a:p>
            <a:pPr algn="l"/>
            <a:r>
              <a:rPr sz="3600" b="1" i="0">
                <a:solidFill>
                  <a:srgbClr val="FFFFFF"/>
                </a:solidFill>
                <a:latin typeface="Georgia"/>
              </a:rPr>
              <a:t>Not a Tool.</a:t>
            </a:r>
          </a:p>
        </p:txBody>
      </p:sp>
      <p:sp>
        <p:nvSpPr>
          <p:cNvPr id="13" name="TextBox 12"/>
          <p:cNvSpPr txBox="1"/>
          <p:nvPr/>
        </p:nvSpPr>
        <p:spPr>
          <a:xfrm>
            <a:off x="438912" y="1243584"/>
            <a:ext cx="11320272" cy="493776"/>
          </a:xfrm>
          <a:prstGeom prst="rect">
            <a:avLst/>
          </a:prstGeom>
          <a:noFill/>
        </p:spPr>
        <p:txBody>
          <a:bodyPr wrap="square">
            <a:spAutoFit/>
          </a:bodyPr>
          <a:lstStyle/>
          <a:p>
            <a:pPr algn="l"/>
            <a:r>
              <a:rPr sz="2200" b="0" i="1">
                <a:solidFill>
                  <a:srgbClr val="C9A84C"/>
                </a:solidFill>
                <a:latin typeface="Georgia"/>
              </a:rPr>
              <a:t>An always-on operating nervous system for the enterprise.</a:t>
            </a:r>
          </a:p>
        </p:txBody>
      </p:sp>
      <p:sp>
        <p:nvSpPr>
          <p:cNvPr id="14" name="Rectangle 13"/>
          <p:cNvSpPr/>
          <p:nvPr/>
        </p:nvSpPr>
        <p:spPr>
          <a:xfrm>
            <a:off x="438912" y="1975104"/>
            <a:ext cx="11320272" cy="768096"/>
          </a:xfrm>
          <a:prstGeom prst="rect">
            <a:avLst/>
          </a:prstGeom>
          <a:solidFill>
            <a:srgbClr val="070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 y="1975104"/>
            <a:ext cx="109728" cy="768096"/>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139696"/>
            <a:ext cx="457200" cy="438912"/>
          </a:xfrm>
          <a:prstGeom prst="rect">
            <a:avLst/>
          </a:prstGeom>
          <a:noFill/>
        </p:spPr>
        <p:txBody>
          <a:bodyPr wrap="square">
            <a:spAutoFit/>
          </a:bodyPr>
          <a:lstStyle/>
          <a:p>
            <a:pPr algn="l"/>
            <a:r>
              <a:rPr sz="2000" b="1" i="0">
                <a:solidFill>
                  <a:srgbClr val="C9A84C"/>
                </a:solidFill>
                <a:latin typeface="Georgia"/>
              </a:rPr>
              <a:t>1</a:t>
            </a:r>
          </a:p>
        </p:txBody>
      </p:sp>
      <p:sp>
        <p:nvSpPr>
          <p:cNvPr id="17" name="Rectangle 16"/>
          <p:cNvSpPr/>
          <p:nvPr/>
        </p:nvSpPr>
        <p:spPr>
          <a:xfrm>
            <a:off x="1170432" y="2084832"/>
            <a:ext cx="16459" cy="548640"/>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98448" y="2048256"/>
            <a:ext cx="1280160" cy="256032"/>
          </a:xfrm>
          <a:prstGeom prst="rect">
            <a:avLst/>
          </a:prstGeom>
          <a:noFill/>
        </p:spPr>
        <p:txBody>
          <a:bodyPr wrap="square">
            <a:spAutoFit/>
          </a:bodyPr>
          <a:lstStyle/>
          <a:p>
            <a:pPr algn="l"/>
            <a:r>
              <a:rPr sz="850" b="1" i="0">
                <a:solidFill>
                  <a:srgbClr val="2B8A6E"/>
                </a:solidFill>
                <a:latin typeface="Calibri"/>
              </a:rPr>
              <a:t>DETECT</a:t>
            </a:r>
          </a:p>
        </p:txBody>
      </p:sp>
      <p:sp>
        <p:nvSpPr>
          <p:cNvPr id="19" name="TextBox 18"/>
          <p:cNvSpPr txBox="1"/>
          <p:nvPr/>
        </p:nvSpPr>
        <p:spPr>
          <a:xfrm>
            <a:off x="1298448" y="2359152"/>
            <a:ext cx="9966960" cy="310896"/>
          </a:xfrm>
          <a:prstGeom prst="rect">
            <a:avLst/>
          </a:prstGeom>
          <a:noFill/>
        </p:spPr>
        <p:txBody>
          <a:bodyPr wrap="square">
            <a:spAutoFit/>
          </a:bodyPr>
          <a:lstStyle/>
          <a:p>
            <a:pPr algn="l"/>
            <a:r>
              <a:rPr sz="1000" b="0" i="0">
                <a:solidFill>
                  <a:srgbClr val="AAB4CC"/>
                </a:solidFill>
                <a:latin typeface="Calibri"/>
              </a:rPr>
              <a:t>Live signal intelligence — 8 sources, 221 triggers, 15-min cycles</a:t>
            </a:r>
          </a:p>
        </p:txBody>
      </p:sp>
      <p:sp>
        <p:nvSpPr>
          <p:cNvPr id="20" name="Rectangle 19"/>
          <p:cNvSpPr/>
          <p:nvPr/>
        </p:nvSpPr>
        <p:spPr>
          <a:xfrm>
            <a:off x="438912" y="2798064"/>
            <a:ext cx="11320272" cy="768096"/>
          </a:xfrm>
          <a:prstGeom prst="rect">
            <a:avLst/>
          </a:prstGeom>
          <a:solidFill>
            <a:srgbClr val="0F1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8912" y="2798064"/>
            <a:ext cx="109728" cy="7680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2962656"/>
            <a:ext cx="457200" cy="438912"/>
          </a:xfrm>
          <a:prstGeom prst="rect">
            <a:avLst/>
          </a:prstGeom>
          <a:noFill/>
        </p:spPr>
        <p:txBody>
          <a:bodyPr wrap="square">
            <a:spAutoFit/>
          </a:bodyPr>
          <a:lstStyle/>
          <a:p>
            <a:pPr algn="l"/>
            <a:r>
              <a:rPr sz="2000" b="1" i="0">
                <a:solidFill>
                  <a:srgbClr val="C9A84C"/>
                </a:solidFill>
                <a:latin typeface="Georgia"/>
              </a:rPr>
              <a:t>2</a:t>
            </a:r>
          </a:p>
        </p:txBody>
      </p:sp>
      <p:sp>
        <p:nvSpPr>
          <p:cNvPr id="23" name="Rectangle 22"/>
          <p:cNvSpPr/>
          <p:nvPr/>
        </p:nvSpPr>
        <p:spPr>
          <a:xfrm>
            <a:off x="1170432" y="2907792"/>
            <a:ext cx="16459" cy="5486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98448" y="2871216"/>
            <a:ext cx="1280160" cy="256032"/>
          </a:xfrm>
          <a:prstGeom prst="rect">
            <a:avLst/>
          </a:prstGeom>
          <a:noFill/>
        </p:spPr>
        <p:txBody>
          <a:bodyPr wrap="square">
            <a:spAutoFit/>
          </a:bodyPr>
          <a:lstStyle/>
          <a:p>
            <a:pPr algn="l"/>
            <a:r>
              <a:rPr sz="850" b="1" i="0">
                <a:solidFill>
                  <a:srgbClr val="C9A84C"/>
                </a:solidFill>
                <a:latin typeface="Calibri"/>
              </a:rPr>
              <a:t>IDENTIFY</a:t>
            </a:r>
          </a:p>
        </p:txBody>
      </p:sp>
      <p:sp>
        <p:nvSpPr>
          <p:cNvPr id="25" name="TextBox 24"/>
          <p:cNvSpPr txBox="1"/>
          <p:nvPr/>
        </p:nvSpPr>
        <p:spPr>
          <a:xfrm>
            <a:off x="1298448" y="3182112"/>
            <a:ext cx="9966960" cy="310896"/>
          </a:xfrm>
          <a:prstGeom prst="rect">
            <a:avLst/>
          </a:prstGeom>
          <a:noFill/>
        </p:spPr>
        <p:txBody>
          <a:bodyPr wrap="square">
            <a:spAutoFit/>
          </a:bodyPr>
          <a:lstStyle/>
          <a:p>
            <a:pPr algn="l"/>
            <a:r>
              <a:rPr sz="1000" b="0" i="0">
                <a:solidFill>
                  <a:srgbClr val="AAB4CC"/>
                </a:solidFill>
                <a:latin typeface="Calibri"/>
              </a:rPr>
              <a:t>Trigger classification — grouped data points, mandatory conditions, group threshold</a:t>
            </a:r>
          </a:p>
        </p:txBody>
      </p:sp>
      <p:sp>
        <p:nvSpPr>
          <p:cNvPr id="26" name="Rectangle 25"/>
          <p:cNvSpPr/>
          <p:nvPr/>
        </p:nvSpPr>
        <p:spPr>
          <a:xfrm>
            <a:off x="438912" y="3621024"/>
            <a:ext cx="11320272" cy="768096"/>
          </a:xfrm>
          <a:prstGeom prst="rect">
            <a:avLst/>
          </a:prstGeom>
          <a:solidFill>
            <a:srgbClr val="070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8912" y="3621024"/>
            <a:ext cx="109728"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785615"/>
            <a:ext cx="457200" cy="438912"/>
          </a:xfrm>
          <a:prstGeom prst="rect">
            <a:avLst/>
          </a:prstGeom>
          <a:noFill/>
        </p:spPr>
        <p:txBody>
          <a:bodyPr wrap="square">
            <a:spAutoFit/>
          </a:bodyPr>
          <a:lstStyle/>
          <a:p>
            <a:pPr algn="l"/>
            <a:r>
              <a:rPr sz="2000" b="1" i="0">
                <a:solidFill>
                  <a:srgbClr val="C9A84C"/>
                </a:solidFill>
                <a:latin typeface="Georgia"/>
              </a:rPr>
              <a:t>3</a:t>
            </a:r>
          </a:p>
        </p:txBody>
      </p:sp>
      <p:sp>
        <p:nvSpPr>
          <p:cNvPr id="29" name="Rectangle 28"/>
          <p:cNvSpPr/>
          <p:nvPr/>
        </p:nvSpPr>
        <p:spPr>
          <a:xfrm>
            <a:off x="1170432" y="3730752"/>
            <a:ext cx="16459"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98448" y="3694176"/>
            <a:ext cx="1280160" cy="256032"/>
          </a:xfrm>
          <a:prstGeom prst="rect">
            <a:avLst/>
          </a:prstGeom>
          <a:noFill/>
        </p:spPr>
        <p:txBody>
          <a:bodyPr wrap="square">
            <a:spAutoFit/>
          </a:bodyPr>
          <a:lstStyle/>
          <a:p>
            <a:pPr algn="l"/>
            <a:r>
              <a:rPr sz="850" b="1" i="0">
                <a:solidFill>
                  <a:srgbClr val="FFFFFF"/>
                </a:solidFill>
                <a:latin typeface="Calibri"/>
              </a:rPr>
              <a:t>STAGE</a:t>
            </a:r>
          </a:p>
        </p:txBody>
      </p:sp>
      <p:sp>
        <p:nvSpPr>
          <p:cNvPr id="31" name="TextBox 30"/>
          <p:cNvSpPr txBox="1"/>
          <p:nvPr/>
        </p:nvSpPr>
        <p:spPr>
          <a:xfrm>
            <a:off x="1298448" y="4005072"/>
            <a:ext cx="9966960" cy="310896"/>
          </a:xfrm>
          <a:prstGeom prst="rect">
            <a:avLst/>
          </a:prstGeom>
          <a:noFill/>
        </p:spPr>
        <p:txBody>
          <a:bodyPr wrap="square">
            <a:spAutoFit/>
          </a:bodyPr>
          <a:lstStyle/>
          <a:p>
            <a:pPr algn="l"/>
            <a:r>
              <a:rPr sz="1000" b="0" i="0">
                <a:solidFill>
                  <a:srgbClr val="AAB4CC"/>
                </a:solidFill>
                <a:latin typeface="Calibri"/>
              </a:rPr>
              <a:t>170 Readiness Protocols pre-staged — zero mobilization delay when the trigger fires</a:t>
            </a:r>
          </a:p>
        </p:txBody>
      </p:sp>
      <p:sp>
        <p:nvSpPr>
          <p:cNvPr id="32" name="Rectangle 31"/>
          <p:cNvSpPr/>
          <p:nvPr/>
        </p:nvSpPr>
        <p:spPr>
          <a:xfrm>
            <a:off x="438912" y="4443984"/>
            <a:ext cx="11320272" cy="768096"/>
          </a:xfrm>
          <a:prstGeom prst="rect">
            <a:avLst/>
          </a:prstGeom>
          <a:solidFill>
            <a:srgbClr val="0F1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8912" y="4443984"/>
            <a:ext cx="109728" cy="7680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4608576"/>
            <a:ext cx="457200" cy="438912"/>
          </a:xfrm>
          <a:prstGeom prst="rect">
            <a:avLst/>
          </a:prstGeom>
          <a:noFill/>
        </p:spPr>
        <p:txBody>
          <a:bodyPr wrap="square">
            <a:spAutoFit/>
          </a:bodyPr>
          <a:lstStyle/>
          <a:p>
            <a:pPr algn="l"/>
            <a:r>
              <a:rPr sz="2000" b="1" i="0">
                <a:solidFill>
                  <a:srgbClr val="C9A84C"/>
                </a:solidFill>
                <a:latin typeface="Georgia"/>
              </a:rPr>
              <a:t>4</a:t>
            </a:r>
          </a:p>
        </p:txBody>
      </p:sp>
      <p:sp>
        <p:nvSpPr>
          <p:cNvPr id="35" name="Rectangle 34"/>
          <p:cNvSpPr/>
          <p:nvPr/>
        </p:nvSpPr>
        <p:spPr>
          <a:xfrm>
            <a:off x="1170432" y="4553712"/>
            <a:ext cx="16459" cy="5486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98448" y="4517136"/>
            <a:ext cx="1280160" cy="256032"/>
          </a:xfrm>
          <a:prstGeom prst="rect">
            <a:avLst/>
          </a:prstGeom>
          <a:noFill/>
        </p:spPr>
        <p:txBody>
          <a:bodyPr wrap="square">
            <a:spAutoFit/>
          </a:bodyPr>
          <a:lstStyle/>
          <a:p>
            <a:pPr algn="l"/>
            <a:r>
              <a:rPr sz="850" b="1" i="0">
                <a:solidFill>
                  <a:srgbClr val="C9A84C"/>
                </a:solidFill>
                <a:latin typeface="Calibri"/>
              </a:rPr>
              <a:t>EXECUTE</a:t>
            </a:r>
          </a:p>
        </p:txBody>
      </p:sp>
      <p:sp>
        <p:nvSpPr>
          <p:cNvPr id="37" name="TextBox 36"/>
          <p:cNvSpPr txBox="1"/>
          <p:nvPr/>
        </p:nvSpPr>
        <p:spPr>
          <a:xfrm>
            <a:off x="1298448" y="4828032"/>
            <a:ext cx="9966960" cy="310896"/>
          </a:xfrm>
          <a:prstGeom prst="rect">
            <a:avLst/>
          </a:prstGeom>
          <a:noFill/>
        </p:spPr>
        <p:txBody>
          <a:bodyPr wrap="square">
            <a:spAutoFit/>
          </a:bodyPr>
          <a:lstStyle/>
          <a:p>
            <a:pPr algn="l"/>
            <a:r>
              <a:rPr sz="1000" b="0" i="0">
                <a:solidFill>
                  <a:srgbClr val="AAB4CC"/>
                </a:solidFill>
                <a:latin typeface="Calibri"/>
              </a:rPr>
              <a:t>Tasks auto-assigned → executive authorizes → war room opens → 12 minutes complete</a:t>
            </a:r>
          </a:p>
        </p:txBody>
      </p:sp>
      <p:sp>
        <p:nvSpPr>
          <p:cNvPr id="38" name="Rectangle 37"/>
          <p:cNvSpPr/>
          <p:nvPr/>
        </p:nvSpPr>
        <p:spPr>
          <a:xfrm>
            <a:off x="438912" y="5266944"/>
            <a:ext cx="11320272" cy="768096"/>
          </a:xfrm>
          <a:prstGeom prst="rect">
            <a:avLst/>
          </a:prstGeom>
          <a:solidFill>
            <a:srgbClr val="070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38912" y="5266944"/>
            <a:ext cx="109728" cy="768096"/>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5431536"/>
            <a:ext cx="457200" cy="438912"/>
          </a:xfrm>
          <a:prstGeom prst="rect">
            <a:avLst/>
          </a:prstGeom>
          <a:noFill/>
        </p:spPr>
        <p:txBody>
          <a:bodyPr wrap="square">
            <a:spAutoFit/>
          </a:bodyPr>
          <a:lstStyle/>
          <a:p>
            <a:pPr algn="l"/>
            <a:r>
              <a:rPr sz="2000" b="1" i="0">
                <a:solidFill>
                  <a:srgbClr val="C9A84C"/>
                </a:solidFill>
                <a:latin typeface="Georgia"/>
              </a:rPr>
              <a:t>5</a:t>
            </a:r>
          </a:p>
        </p:txBody>
      </p:sp>
      <p:sp>
        <p:nvSpPr>
          <p:cNvPr id="41" name="Rectangle 40"/>
          <p:cNvSpPr/>
          <p:nvPr/>
        </p:nvSpPr>
        <p:spPr>
          <a:xfrm>
            <a:off x="1170432" y="5376672"/>
            <a:ext cx="16459" cy="548640"/>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98448" y="5340096"/>
            <a:ext cx="1280160" cy="256032"/>
          </a:xfrm>
          <a:prstGeom prst="rect">
            <a:avLst/>
          </a:prstGeom>
          <a:noFill/>
        </p:spPr>
        <p:txBody>
          <a:bodyPr wrap="square">
            <a:spAutoFit/>
          </a:bodyPr>
          <a:lstStyle/>
          <a:p>
            <a:pPr algn="l"/>
            <a:r>
              <a:rPr sz="850" b="1" i="0">
                <a:solidFill>
                  <a:srgbClr val="2B8A6E"/>
                </a:solidFill>
                <a:latin typeface="Calibri"/>
              </a:rPr>
              <a:t>ADVANCE</a:t>
            </a:r>
          </a:p>
        </p:txBody>
      </p:sp>
      <p:sp>
        <p:nvSpPr>
          <p:cNvPr id="43" name="TextBox 42"/>
          <p:cNvSpPr txBox="1"/>
          <p:nvPr/>
        </p:nvSpPr>
        <p:spPr>
          <a:xfrm>
            <a:off x="1298448" y="5650992"/>
            <a:ext cx="9966960" cy="310896"/>
          </a:xfrm>
          <a:prstGeom prst="rect">
            <a:avLst/>
          </a:prstGeom>
          <a:noFill/>
        </p:spPr>
        <p:txBody>
          <a:bodyPr wrap="square">
            <a:spAutoFit/>
          </a:bodyPr>
          <a:lstStyle/>
          <a:p>
            <a:pPr algn="l"/>
            <a:r>
              <a:rPr sz="1000" b="0" i="0">
                <a:solidFill>
                  <a:srgbClr val="AAB4CC"/>
                </a:solidFill>
                <a:latin typeface="Calibri"/>
              </a:rPr>
              <a:t>Institutional memory — every activation improves the protocol, compounds the lead</a:t>
            </a:r>
          </a:p>
        </p:txBody>
      </p:sp>
      <p:sp>
        <p:nvSpPr>
          <p:cNvPr id="44" name="Rectangle 43"/>
          <p:cNvSpPr/>
          <p:nvPr/>
        </p:nvSpPr>
        <p:spPr>
          <a:xfrm>
            <a:off x="438912" y="6126480"/>
            <a:ext cx="11320272" cy="146304"/>
          </a:xfrm>
          <a:prstGeom prst="rect">
            <a:avLst/>
          </a:prstGeom>
          <a:solidFill>
            <a:srgbClr val="04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1792" y="6144768"/>
            <a:ext cx="10972800" cy="128016"/>
          </a:xfrm>
          <a:prstGeom prst="rect">
            <a:avLst/>
          </a:prstGeom>
          <a:noFill/>
        </p:spPr>
        <p:txBody>
          <a:bodyPr wrap="square">
            <a:spAutoFit/>
          </a:bodyPr>
          <a:lstStyle/>
          <a:p>
            <a:pPr algn="ctr"/>
            <a:r>
              <a:rPr sz="950" b="1" i="1">
                <a:solidFill>
                  <a:srgbClr val="C9A84C"/>
                </a:solidFill>
                <a:latin typeface="Calibri"/>
              </a:rPr>
              <a:t>The response is pre-staged before the trigger fires. Preparation → Readiness → Fearless.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ver_clean.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2188952" cy="228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m_logo_white.png"/>
          <p:cNvPicPr>
            <a:picLocks noChangeAspect="1"/>
          </p:cNvPicPr>
          <p:nvPr/>
        </p:nvPicPr>
        <p:blipFill>
          <a:blip r:embed="rId3"/>
          <a:stretch>
            <a:fillRect/>
          </a:stretch>
        </p:blipFill>
        <p:spPr>
          <a:xfrm>
            <a:off x="274320" y="237744"/>
            <a:ext cx="1664208" cy="420624"/>
          </a:xfrm>
          <a:prstGeom prst="rect">
            <a:avLst/>
          </a:prstGeom>
        </p:spPr>
      </p:pic>
      <p:sp>
        <p:nvSpPr>
          <p:cNvPr id="6" name="Rectangle 5"/>
          <p:cNvSpPr/>
          <p:nvPr/>
        </p:nvSpPr>
        <p:spPr>
          <a:xfrm>
            <a:off x="0" y="6455664"/>
            <a:ext cx="12188952"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m_logo_white.png"/>
          <p:cNvPicPr>
            <a:picLocks noChangeAspect="1"/>
          </p:cNvPicPr>
          <p:nvPr/>
        </p:nvPicPr>
        <p:blipFill>
          <a:blip r:embed="rId3"/>
          <a:stretch>
            <a:fillRect/>
          </a:stretch>
        </p:blipFill>
        <p:spPr>
          <a:xfrm>
            <a:off x="274320" y="6528816"/>
            <a:ext cx="1005840" cy="256032"/>
          </a:xfrm>
          <a:prstGeom prst="rect">
            <a:avLst/>
          </a:prstGeom>
        </p:spPr>
      </p:pic>
      <p:sp>
        <p:nvSpPr>
          <p:cNvPr id="8" name="TextBox 7"/>
          <p:cNvSpPr txBox="1"/>
          <p:nvPr/>
        </p:nvSpPr>
        <p:spPr>
          <a:xfrm>
            <a:off x="11155680" y="6528816"/>
            <a:ext cx="822960" cy="256032"/>
          </a:xfrm>
          <a:prstGeom prst="rect">
            <a:avLst/>
          </a:prstGeom>
          <a:noFill/>
        </p:spPr>
        <p:txBody>
          <a:bodyPr wrap="square">
            <a:spAutoFit/>
          </a:bodyPr>
          <a:lstStyle/>
          <a:p>
            <a:pPr algn="r"/>
            <a:r>
              <a:rPr sz="700" b="0" i="0">
                <a:solidFill>
                  <a:srgbClr val="AAB4CC"/>
                </a:solidFill>
                <a:latin typeface="Calibri"/>
              </a:rPr>
              <a:t>04  /  10</a:t>
            </a:r>
          </a:p>
        </p:txBody>
      </p:sp>
      <p:sp>
        <p:nvSpPr>
          <p:cNvPr id="9" name="Rectangle 8"/>
          <p:cNvSpPr/>
          <p:nvPr/>
        </p:nvSpPr>
        <p:spPr>
          <a:xfrm>
            <a:off x="11338560" y="256032"/>
            <a:ext cx="676656" cy="256032"/>
          </a:xfrm>
          <a:prstGeom prst="rect">
            <a:avLst/>
          </a:prstGeom>
          <a:solidFill>
            <a:srgbClr val="040814"/>
          </a:solidFill>
          <a:ln w="508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338560" y="256032"/>
            <a:ext cx="676656" cy="256032"/>
          </a:xfrm>
          <a:prstGeom prst="rect">
            <a:avLst/>
          </a:prstGeom>
          <a:noFill/>
        </p:spPr>
        <p:txBody>
          <a:bodyPr wrap="square">
            <a:spAutoFit/>
          </a:bodyPr>
          <a:lstStyle/>
          <a:p>
            <a:pPr algn="ctr"/>
            <a:r>
              <a:rPr sz="800" b="1" i="0">
                <a:solidFill>
                  <a:srgbClr val="C9A84C"/>
                </a:solidFill>
                <a:latin typeface="Calibri"/>
              </a:rPr>
              <a:t>2:05</a:t>
            </a:r>
          </a:p>
        </p:txBody>
      </p:sp>
      <p:sp>
        <p:nvSpPr>
          <p:cNvPr id="11" name="TextBox 10"/>
          <p:cNvSpPr txBox="1"/>
          <p:nvPr/>
        </p:nvSpPr>
        <p:spPr>
          <a:xfrm>
            <a:off x="438912" y="347472"/>
            <a:ext cx="10972800" cy="201168"/>
          </a:xfrm>
          <a:prstGeom prst="rect">
            <a:avLst/>
          </a:prstGeom>
          <a:noFill/>
        </p:spPr>
        <p:txBody>
          <a:bodyPr wrap="square">
            <a:spAutoFit/>
          </a:bodyPr>
          <a:lstStyle/>
          <a:p>
            <a:pPr algn="l"/>
            <a:r>
              <a:rPr sz="750" b="1" i="0">
                <a:solidFill>
                  <a:srgbClr val="C9A84C"/>
                </a:solidFill>
                <a:latin typeface="Calibri"/>
              </a:rPr>
              <a:t>── THE 3,600× EXECUTION HEAD START ──</a:t>
            </a:r>
          </a:p>
        </p:txBody>
      </p:sp>
      <p:sp>
        <p:nvSpPr>
          <p:cNvPr id="12" name="TextBox 11"/>
          <p:cNvSpPr txBox="1"/>
          <p:nvPr/>
        </p:nvSpPr>
        <p:spPr>
          <a:xfrm>
            <a:off x="438912" y="566928"/>
            <a:ext cx="5486400" cy="731520"/>
          </a:xfrm>
          <a:prstGeom prst="rect">
            <a:avLst/>
          </a:prstGeom>
          <a:noFill/>
        </p:spPr>
        <p:txBody>
          <a:bodyPr wrap="square">
            <a:spAutoFit/>
          </a:bodyPr>
          <a:lstStyle/>
          <a:p>
            <a:pPr algn="l"/>
            <a:r>
              <a:rPr sz="4400" b="1" i="0">
                <a:solidFill>
                  <a:srgbClr val="882222"/>
                </a:solidFill>
                <a:latin typeface="Georgia"/>
              </a:rPr>
              <a:t>30 Days</a:t>
            </a:r>
          </a:p>
        </p:txBody>
      </p:sp>
      <p:sp>
        <p:nvSpPr>
          <p:cNvPr id="13" name="TextBox 12"/>
          <p:cNvSpPr txBox="1"/>
          <p:nvPr/>
        </p:nvSpPr>
        <p:spPr>
          <a:xfrm>
            <a:off x="438912" y="1280160"/>
            <a:ext cx="5486400" cy="457200"/>
          </a:xfrm>
          <a:prstGeom prst="rect">
            <a:avLst/>
          </a:prstGeom>
          <a:noFill/>
        </p:spPr>
        <p:txBody>
          <a:bodyPr wrap="square">
            <a:spAutoFit/>
          </a:bodyPr>
          <a:lstStyle/>
          <a:p>
            <a:pPr algn="l"/>
            <a:r>
              <a:rPr sz="2000" b="0" i="1">
                <a:solidFill>
                  <a:srgbClr val="AAB4CC"/>
                </a:solidFill>
                <a:latin typeface="Georgia"/>
              </a:rPr>
              <a:t>compressed to</a:t>
            </a:r>
          </a:p>
        </p:txBody>
      </p:sp>
      <p:sp>
        <p:nvSpPr>
          <p:cNvPr id="14" name="TextBox 13"/>
          <p:cNvSpPr txBox="1"/>
          <p:nvPr/>
        </p:nvSpPr>
        <p:spPr>
          <a:xfrm>
            <a:off x="438912" y="1682496"/>
            <a:ext cx="5486400" cy="676656"/>
          </a:xfrm>
          <a:prstGeom prst="rect">
            <a:avLst/>
          </a:prstGeom>
          <a:noFill/>
        </p:spPr>
        <p:txBody>
          <a:bodyPr wrap="square">
            <a:spAutoFit/>
          </a:bodyPr>
          <a:lstStyle/>
          <a:p>
            <a:pPr algn="l"/>
            <a:r>
              <a:rPr sz="4400" b="1" i="0">
                <a:solidFill>
                  <a:srgbClr val="C9A84C"/>
                </a:solidFill>
                <a:latin typeface="Georgia"/>
              </a:rPr>
              <a:t>12 Minutes.</a:t>
            </a:r>
          </a:p>
        </p:txBody>
      </p:sp>
      <p:sp>
        <p:nvSpPr>
          <p:cNvPr id="15" name="TextBox 14"/>
          <p:cNvSpPr txBox="1"/>
          <p:nvPr/>
        </p:nvSpPr>
        <p:spPr>
          <a:xfrm>
            <a:off x="438912" y="2487168"/>
            <a:ext cx="5577840" cy="237744"/>
          </a:xfrm>
          <a:prstGeom prst="rect">
            <a:avLst/>
          </a:prstGeom>
          <a:noFill/>
        </p:spPr>
        <p:txBody>
          <a:bodyPr wrap="square">
            <a:spAutoFit/>
          </a:bodyPr>
          <a:lstStyle/>
          <a:p>
            <a:pPr algn="l"/>
            <a:r>
              <a:rPr sz="800" b="1" i="0">
                <a:solidFill>
                  <a:srgbClr val="AA3333"/>
                </a:solidFill>
                <a:latin typeface="Calibri"/>
              </a:rPr>
              <a:t>WITHOUT READINESS OS</a:t>
            </a:r>
          </a:p>
        </p:txBody>
      </p:sp>
      <p:sp>
        <p:nvSpPr>
          <p:cNvPr id="16" name="Rectangle 15"/>
          <p:cNvSpPr/>
          <p:nvPr/>
        </p:nvSpPr>
        <p:spPr>
          <a:xfrm>
            <a:off x="438912" y="2761488"/>
            <a:ext cx="5577840" cy="658368"/>
          </a:xfrm>
          <a:prstGeom prst="rect">
            <a:avLst/>
          </a:prstGeom>
          <a:solidFill>
            <a:srgbClr val="120606"/>
          </a:solidFill>
          <a:ln w="6350">
            <a:solidFill>
              <a:srgbClr val="552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2834640"/>
            <a:ext cx="1097280" cy="219456"/>
          </a:xfrm>
          <a:prstGeom prst="rect">
            <a:avLst/>
          </a:prstGeom>
          <a:noFill/>
        </p:spPr>
        <p:txBody>
          <a:bodyPr wrap="square">
            <a:spAutoFit/>
          </a:bodyPr>
          <a:lstStyle/>
          <a:p>
            <a:pPr algn="l"/>
            <a:r>
              <a:rPr sz="900" b="1" i="0">
                <a:solidFill>
                  <a:srgbClr val="CC5555"/>
                </a:solidFill>
                <a:latin typeface="Calibri"/>
              </a:rPr>
              <a:t>Week 1–2</a:t>
            </a:r>
          </a:p>
        </p:txBody>
      </p:sp>
      <p:sp>
        <p:nvSpPr>
          <p:cNvPr id="18" name="TextBox 17"/>
          <p:cNvSpPr txBox="1"/>
          <p:nvPr/>
        </p:nvSpPr>
        <p:spPr>
          <a:xfrm>
            <a:off x="1737360" y="2852928"/>
            <a:ext cx="4133087" cy="475488"/>
          </a:xfrm>
          <a:prstGeom prst="rect">
            <a:avLst/>
          </a:prstGeom>
          <a:noFill/>
        </p:spPr>
        <p:txBody>
          <a:bodyPr wrap="square">
            <a:spAutoFit/>
          </a:bodyPr>
          <a:lstStyle/>
          <a:p>
            <a:pPr algn="l"/>
            <a:r>
              <a:rPr sz="950" b="0" i="0">
                <a:solidFill>
                  <a:srgbClr val="AAB4CC"/>
                </a:solidFill>
                <a:latin typeface="Calibri"/>
              </a:rPr>
              <a:t>Identify who monitors this type of signal. Escalate.</a:t>
            </a:r>
          </a:p>
        </p:txBody>
      </p:sp>
      <p:sp>
        <p:nvSpPr>
          <p:cNvPr id="19" name="Rectangle 18"/>
          <p:cNvSpPr/>
          <p:nvPr/>
        </p:nvSpPr>
        <p:spPr>
          <a:xfrm>
            <a:off x="438912" y="3493008"/>
            <a:ext cx="5577840" cy="658368"/>
          </a:xfrm>
          <a:prstGeom prst="rect">
            <a:avLst/>
          </a:prstGeom>
          <a:solidFill>
            <a:srgbClr val="120606"/>
          </a:solidFill>
          <a:ln w="6350">
            <a:solidFill>
              <a:srgbClr val="552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566160"/>
            <a:ext cx="1097280" cy="219456"/>
          </a:xfrm>
          <a:prstGeom prst="rect">
            <a:avLst/>
          </a:prstGeom>
          <a:noFill/>
        </p:spPr>
        <p:txBody>
          <a:bodyPr wrap="square">
            <a:spAutoFit/>
          </a:bodyPr>
          <a:lstStyle/>
          <a:p>
            <a:pPr algn="l"/>
            <a:r>
              <a:rPr sz="900" b="1" i="0">
                <a:solidFill>
                  <a:srgbClr val="CC5555"/>
                </a:solidFill>
                <a:latin typeface="Calibri"/>
              </a:rPr>
              <a:t>Week 3–4</a:t>
            </a:r>
          </a:p>
        </p:txBody>
      </p:sp>
      <p:sp>
        <p:nvSpPr>
          <p:cNvPr id="21" name="TextBox 20"/>
          <p:cNvSpPr txBox="1"/>
          <p:nvPr/>
        </p:nvSpPr>
        <p:spPr>
          <a:xfrm>
            <a:off x="1737360" y="3584448"/>
            <a:ext cx="4133087" cy="475488"/>
          </a:xfrm>
          <a:prstGeom prst="rect">
            <a:avLst/>
          </a:prstGeom>
          <a:noFill/>
        </p:spPr>
        <p:txBody>
          <a:bodyPr wrap="square">
            <a:spAutoFit/>
          </a:bodyPr>
          <a:lstStyle/>
          <a:p>
            <a:pPr algn="l"/>
            <a:r>
              <a:rPr sz="950" b="0" i="0">
                <a:solidFill>
                  <a:srgbClr val="AAB4CC"/>
                </a:solidFill>
                <a:latin typeface="Calibri"/>
              </a:rPr>
              <a:t>Align stakeholders. Schedule the meeting. Agree on a plan.</a:t>
            </a:r>
          </a:p>
        </p:txBody>
      </p:sp>
      <p:sp>
        <p:nvSpPr>
          <p:cNvPr id="22" name="Rectangle 21"/>
          <p:cNvSpPr/>
          <p:nvPr/>
        </p:nvSpPr>
        <p:spPr>
          <a:xfrm>
            <a:off x="438912" y="4224528"/>
            <a:ext cx="5577840" cy="658368"/>
          </a:xfrm>
          <a:prstGeom prst="rect">
            <a:avLst/>
          </a:prstGeom>
          <a:solidFill>
            <a:srgbClr val="120606"/>
          </a:solidFill>
          <a:ln w="6350">
            <a:solidFill>
              <a:srgbClr val="552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297680"/>
            <a:ext cx="1097280" cy="219456"/>
          </a:xfrm>
          <a:prstGeom prst="rect">
            <a:avLst/>
          </a:prstGeom>
          <a:noFill/>
        </p:spPr>
        <p:txBody>
          <a:bodyPr wrap="square">
            <a:spAutoFit/>
          </a:bodyPr>
          <a:lstStyle/>
          <a:p>
            <a:pPr algn="l"/>
            <a:r>
              <a:rPr sz="900" b="1" i="0">
                <a:solidFill>
                  <a:srgbClr val="CC5555"/>
                </a:solidFill>
                <a:latin typeface="Calibri"/>
              </a:rPr>
              <a:t>Week 5–8</a:t>
            </a:r>
          </a:p>
        </p:txBody>
      </p:sp>
      <p:sp>
        <p:nvSpPr>
          <p:cNvPr id="24" name="TextBox 23"/>
          <p:cNvSpPr txBox="1"/>
          <p:nvPr/>
        </p:nvSpPr>
        <p:spPr>
          <a:xfrm>
            <a:off x="1737360" y="4315968"/>
            <a:ext cx="4133087" cy="475488"/>
          </a:xfrm>
          <a:prstGeom prst="rect">
            <a:avLst/>
          </a:prstGeom>
          <a:noFill/>
        </p:spPr>
        <p:txBody>
          <a:bodyPr wrap="square">
            <a:spAutoFit/>
          </a:bodyPr>
          <a:lstStyle/>
          <a:p>
            <a:pPr algn="l"/>
            <a:r>
              <a:rPr sz="950" b="0" i="0">
                <a:solidFill>
                  <a:srgbClr val="AAB4CC"/>
                </a:solidFill>
                <a:latin typeface="Calibri"/>
              </a:rPr>
              <a:t>Assign tasks. Get approvals. Begin mobilization.</a:t>
            </a:r>
          </a:p>
        </p:txBody>
      </p:sp>
      <p:sp>
        <p:nvSpPr>
          <p:cNvPr id="25" name="Rectangle 24"/>
          <p:cNvSpPr/>
          <p:nvPr/>
        </p:nvSpPr>
        <p:spPr>
          <a:xfrm>
            <a:off x="438912" y="4956048"/>
            <a:ext cx="5577840" cy="658368"/>
          </a:xfrm>
          <a:prstGeom prst="rect">
            <a:avLst/>
          </a:prstGeom>
          <a:solidFill>
            <a:srgbClr val="120606"/>
          </a:solidFill>
          <a:ln w="6350">
            <a:solidFill>
              <a:srgbClr val="552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5029200"/>
            <a:ext cx="1097280" cy="219456"/>
          </a:xfrm>
          <a:prstGeom prst="rect">
            <a:avLst/>
          </a:prstGeom>
          <a:noFill/>
        </p:spPr>
        <p:txBody>
          <a:bodyPr wrap="square">
            <a:spAutoFit/>
          </a:bodyPr>
          <a:lstStyle/>
          <a:p>
            <a:pPr algn="l"/>
            <a:r>
              <a:rPr sz="900" b="1" i="0">
                <a:solidFill>
                  <a:srgbClr val="CC5555"/>
                </a:solidFill>
                <a:latin typeface="Calibri"/>
              </a:rPr>
              <a:t>Week 9+</a:t>
            </a:r>
          </a:p>
        </p:txBody>
      </p:sp>
      <p:sp>
        <p:nvSpPr>
          <p:cNvPr id="27" name="TextBox 26"/>
          <p:cNvSpPr txBox="1"/>
          <p:nvPr/>
        </p:nvSpPr>
        <p:spPr>
          <a:xfrm>
            <a:off x="1737360" y="5047488"/>
            <a:ext cx="4133087" cy="475488"/>
          </a:xfrm>
          <a:prstGeom prst="rect">
            <a:avLst/>
          </a:prstGeom>
          <a:noFill/>
        </p:spPr>
        <p:txBody>
          <a:bodyPr wrap="square">
            <a:spAutoFit/>
          </a:bodyPr>
          <a:lstStyle/>
          <a:p>
            <a:pPr algn="l"/>
            <a:r>
              <a:rPr sz="950" b="0" i="0">
                <a:solidFill>
                  <a:srgbClr val="AAB4CC"/>
                </a:solidFill>
                <a:latin typeface="Calibri"/>
              </a:rPr>
              <a:t>Execution begins — if the window is still open.</a:t>
            </a:r>
          </a:p>
        </p:txBody>
      </p:sp>
      <p:sp>
        <p:nvSpPr>
          <p:cNvPr id="28" name="Rectangle 27"/>
          <p:cNvSpPr/>
          <p:nvPr/>
        </p:nvSpPr>
        <p:spPr>
          <a:xfrm>
            <a:off x="6181344" y="2377440"/>
            <a:ext cx="16459" cy="376732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2487168"/>
            <a:ext cx="5669280" cy="237744"/>
          </a:xfrm>
          <a:prstGeom prst="rect">
            <a:avLst/>
          </a:prstGeom>
          <a:noFill/>
        </p:spPr>
        <p:txBody>
          <a:bodyPr wrap="square">
            <a:spAutoFit/>
          </a:bodyPr>
          <a:lstStyle/>
          <a:p>
            <a:pPr algn="l"/>
            <a:r>
              <a:rPr sz="800" b="1" i="0">
                <a:solidFill>
                  <a:srgbClr val="2B8A6E"/>
                </a:solidFill>
                <a:latin typeface="Calibri"/>
              </a:rPr>
              <a:t>WITH READINESS OS</a:t>
            </a:r>
          </a:p>
        </p:txBody>
      </p:sp>
      <p:sp>
        <p:nvSpPr>
          <p:cNvPr id="30" name="Rectangle 29"/>
          <p:cNvSpPr/>
          <p:nvPr/>
        </p:nvSpPr>
        <p:spPr>
          <a:xfrm>
            <a:off x="6309360" y="2761488"/>
            <a:ext cx="5669280" cy="658368"/>
          </a:xfrm>
          <a:prstGeom prst="rect">
            <a:avLst/>
          </a:prstGeom>
          <a:solidFill>
            <a:srgbClr val="041408"/>
          </a:solidFill>
          <a:ln w="635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45936" y="2834640"/>
            <a:ext cx="658368" cy="219456"/>
          </a:xfrm>
          <a:prstGeom prst="rect">
            <a:avLst/>
          </a:prstGeom>
          <a:noFill/>
        </p:spPr>
        <p:txBody>
          <a:bodyPr wrap="square">
            <a:spAutoFit/>
          </a:bodyPr>
          <a:lstStyle/>
          <a:p>
            <a:pPr algn="l"/>
            <a:r>
              <a:rPr sz="900" b="1" i="0">
                <a:solidFill>
                  <a:srgbClr val="2B8A6E"/>
                </a:solidFill>
                <a:latin typeface="Calibri"/>
              </a:rPr>
              <a:t>0:00</a:t>
            </a:r>
          </a:p>
        </p:txBody>
      </p:sp>
      <p:sp>
        <p:nvSpPr>
          <p:cNvPr id="32" name="TextBox 31"/>
          <p:cNvSpPr txBox="1"/>
          <p:nvPr/>
        </p:nvSpPr>
        <p:spPr>
          <a:xfrm>
            <a:off x="7077456" y="2852928"/>
            <a:ext cx="4754880" cy="475488"/>
          </a:xfrm>
          <a:prstGeom prst="rect">
            <a:avLst/>
          </a:prstGeom>
          <a:noFill/>
        </p:spPr>
        <p:txBody>
          <a:bodyPr wrap="square">
            <a:spAutoFit/>
          </a:bodyPr>
          <a:lstStyle/>
          <a:p>
            <a:pPr algn="l"/>
            <a:r>
              <a:rPr sz="950" b="0" i="0">
                <a:solidFill>
                  <a:srgbClr val="AAB4CC"/>
                </a:solidFill>
                <a:latin typeface="Calibri"/>
              </a:rPr>
              <a:t>Trigger group threshold met — system detects activation condition</a:t>
            </a:r>
          </a:p>
        </p:txBody>
      </p:sp>
      <p:sp>
        <p:nvSpPr>
          <p:cNvPr id="33" name="Rectangle 32"/>
          <p:cNvSpPr/>
          <p:nvPr/>
        </p:nvSpPr>
        <p:spPr>
          <a:xfrm>
            <a:off x="6309360" y="3493008"/>
            <a:ext cx="5669280" cy="658368"/>
          </a:xfrm>
          <a:prstGeom prst="rect">
            <a:avLst/>
          </a:prstGeom>
          <a:solidFill>
            <a:srgbClr val="041408"/>
          </a:solidFill>
          <a:ln w="635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45936" y="3566160"/>
            <a:ext cx="658368" cy="219456"/>
          </a:xfrm>
          <a:prstGeom prst="rect">
            <a:avLst/>
          </a:prstGeom>
          <a:noFill/>
        </p:spPr>
        <p:txBody>
          <a:bodyPr wrap="square">
            <a:spAutoFit/>
          </a:bodyPr>
          <a:lstStyle/>
          <a:p>
            <a:pPr algn="l"/>
            <a:r>
              <a:rPr sz="900" b="1" i="0">
                <a:solidFill>
                  <a:srgbClr val="2B8A6E"/>
                </a:solidFill>
                <a:latin typeface="Calibri"/>
              </a:rPr>
              <a:t>0:02</a:t>
            </a:r>
          </a:p>
        </p:txBody>
      </p:sp>
      <p:sp>
        <p:nvSpPr>
          <p:cNvPr id="35" name="TextBox 34"/>
          <p:cNvSpPr txBox="1"/>
          <p:nvPr/>
        </p:nvSpPr>
        <p:spPr>
          <a:xfrm>
            <a:off x="7077456" y="3584448"/>
            <a:ext cx="4754880" cy="475488"/>
          </a:xfrm>
          <a:prstGeom prst="rect">
            <a:avLst/>
          </a:prstGeom>
          <a:noFill/>
        </p:spPr>
        <p:txBody>
          <a:bodyPr wrap="square">
            <a:spAutoFit/>
          </a:bodyPr>
          <a:lstStyle/>
          <a:p>
            <a:pPr algn="l"/>
            <a:r>
              <a:rPr sz="950" b="0" i="0">
                <a:solidFill>
                  <a:srgbClr val="AAB4CC"/>
                </a:solidFill>
                <a:latin typeface="Calibri"/>
              </a:rPr>
              <a:t>Protocol #58 deploys automatically — all tasks pre-staged and assigned</a:t>
            </a:r>
          </a:p>
        </p:txBody>
      </p:sp>
      <p:sp>
        <p:nvSpPr>
          <p:cNvPr id="36" name="Rectangle 35"/>
          <p:cNvSpPr/>
          <p:nvPr/>
        </p:nvSpPr>
        <p:spPr>
          <a:xfrm>
            <a:off x="6309360" y="4224528"/>
            <a:ext cx="5669280" cy="658368"/>
          </a:xfrm>
          <a:prstGeom prst="rect">
            <a:avLst/>
          </a:prstGeom>
          <a:solidFill>
            <a:srgbClr val="041408"/>
          </a:solidFill>
          <a:ln w="635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45936" y="4297680"/>
            <a:ext cx="658368" cy="219456"/>
          </a:xfrm>
          <a:prstGeom prst="rect">
            <a:avLst/>
          </a:prstGeom>
          <a:noFill/>
        </p:spPr>
        <p:txBody>
          <a:bodyPr wrap="square">
            <a:spAutoFit/>
          </a:bodyPr>
          <a:lstStyle/>
          <a:p>
            <a:pPr algn="l"/>
            <a:r>
              <a:rPr sz="900" b="1" i="0">
                <a:solidFill>
                  <a:srgbClr val="2B8A6E"/>
                </a:solidFill>
                <a:latin typeface="Calibri"/>
              </a:rPr>
              <a:t>0:06</a:t>
            </a:r>
          </a:p>
        </p:txBody>
      </p:sp>
      <p:sp>
        <p:nvSpPr>
          <p:cNvPr id="38" name="TextBox 37"/>
          <p:cNvSpPr txBox="1"/>
          <p:nvPr/>
        </p:nvSpPr>
        <p:spPr>
          <a:xfrm>
            <a:off x="7077456" y="4315968"/>
            <a:ext cx="4754880" cy="475488"/>
          </a:xfrm>
          <a:prstGeom prst="rect">
            <a:avLst/>
          </a:prstGeom>
          <a:noFill/>
        </p:spPr>
        <p:txBody>
          <a:bodyPr wrap="square">
            <a:spAutoFit/>
          </a:bodyPr>
          <a:lstStyle/>
          <a:p>
            <a:pPr algn="l"/>
            <a:r>
              <a:rPr sz="950" b="0" i="0">
                <a:solidFill>
                  <a:srgbClr val="AAB4CC"/>
                </a:solidFill>
                <a:latin typeface="Calibri"/>
              </a:rPr>
              <a:t>Stakeholders notified — war room armed — briefing pre-generated</a:t>
            </a:r>
          </a:p>
        </p:txBody>
      </p:sp>
      <p:sp>
        <p:nvSpPr>
          <p:cNvPr id="39" name="Rectangle 38"/>
          <p:cNvSpPr/>
          <p:nvPr/>
        </p:nvSpPr>
        <p:spPr>
          <a:xfrm>
            <a:off x="6309360" y="4956048"/>
            <a:ext cx="5669280" cy="658368"/>
          </a:xfrm>
          <a:prstGeom prst="rect">
            <a:avLst/>
          </a:prstGeom>
          <a:solidFill>
            <a:srgbClr val="041408"/>
          </a:solidFill>
          <a:ln w="635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45936" y="5029200"/>
            <a:ext cx="658368" cy="219456"/>
          </a:xfrm>
          <a:prstGeom prst="rect">
            <a:avLst/>
          </a:prstGeom>
          <a:noFill/>
        </p:spPr>
        <p:txBody>
          <a:bodyPr wrap="square">
            <a:spAutoFit/>
          </a:bodyPr>
          <a:lstStyle/>
          <a:p>
            <a:pPr algn="l"/>
            <a:r>
              <a:rPr sz="900" b="1" i="0">
                <a:solidFill>
                  <a:srgbClr val="2B8A6E"/>
                </a:solidFill>
                <a:latin typeface="Calibri"/>
              </a:rPr>
              <a:t>0:12</a:t>
            </a:r>
          </a:p>
        </p:txBody>
      </p:sp>
      <p:sp>
        <p:nvSpPr>
          <p:cNvPr id="41" name="TextBox 40"/>
          <p:cNvSpPr txBox="1"/>
          <p:nvPr/>
        </p:nvSpPr>
        <p:spPr>
          <a:xfrm>
            <a:off x="7077456" y="5047488"/>
            <a:ext cx="4754880" cy="475488"/>
          </a:xfrm>
          <a:prstGeom prst="rect">
            <a:avLst/>
          </a:prstGeom>
          <a:noFill/>
        </p:spPr>
        <p:txBody>
          <a:bodyPr wrap="square">
            <a:spAutoFit/>
          </a:bodyPr>
          <a:lstStyle/>
          <a:p>
            <a:pPr algn="l"/>
            <a:r>
              <a:rPr sz="950" b="0" i="0">
                <a:solidFill>
                  <a:srgbClr val="AAB4CC"/>
                </a:solidFill>
                <a:latin typeface="Calibri"/>
              </a:rPr>
              <a:t>Executive authorizes — war room opens — execution is live</a:t>
            </a:r>
          </a:p>
        </p:txBody>
      </p:sp>
      <p:sp>
        <p:nvSpPr>
          <p:cNvPr id="42" name="Rectangle 41"/>
          <p:cNvSpPr/>
          <p:nvPr/>
        </p:nvSpPr>
        <p:spPr>
          <a:xfrm>
            <a:off x="438912" y="5724144"/>
            <a:ext cx="11320272" cy="548640"/>
          </a:xfrm>
          <a:prstGeom prst="rect">
            <a:avLst/>
          </a:prstGeom>
          <a:solidFill>
            <a:srgbClr val="061606"/>
          </a:solidFill>
          <a:ln w="1270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1792" y="5833872"/>
            <a:ext cx="10972800" cy="329184"/>
          </a:xfrm>
          <a:prstGeom prst="rect">
            <a:avLst/>
          </a:prstGeom>
          <a:noFill/>
        </p:spPr>
        <p:txBody>
          <a:bodyPr wrap="square">
            <a:spAutoFit/>
          </a:bodyPr>
          <a:lstStyle/>
          <a:p>
            <a:pPr algn="ctr"/>
            <a:r>
              <a:rPr sz="1050" b="1" i="1">
                <a:solidFill>
                  <a:srgbClr val="2B8A6E"/>
                </a:solidFill>
                <a:latin typeface="Calibri"/>
              </a:rPr>
              <a:t>The response is ready before the trigger fires.  ·  3,600× Execution Head Start  ·  Executive authority preserved at every step.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ver_clean.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2188952" cy="228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m_logo_white.png"/>
          <p:cNvPicPr>
            <a:picLocks noChangeAspect="1"/>
          </p:cNvPicPr>
          <p:nvPr/>
        </p:nvPicPr>
        <p:blipFill>
          <a:blip r:embed="rId3"/>
          <a:stretch>
            <a:fillRect/>
          </a:stretch>
        </p:blipFill>
        <p:spPr>
          <a:xfrm>
            <a:off x="274320" y="237744"/>
            <a:ext cx="1664208" cy="420624"/>
          </a:xfrm>
          <a:prstGeom prst="rect">
            <a:avLst/>
          </a:prstGeom>
        </p:spPr>
      </p:pic>
      <p:sp>
        <p:nvSpPr>
          <p:cNvPr id="6" name="Rectangle 5"/>
          <p:cNvSpPr/>
          <p:nvPr/>
        </p:nvSpPr>
        <p:spPr>
          <a:xfrm>
            <a:off x="0" y="6455664"/>
            <a:ext cx="12188952"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m_logo_white.png"/>
          <p:cNvPicPr>
            <a:picLocks noChangeAspect="1"/>
          </p:cNvPicPr>
          <p:nvPr/>
        </p:nvPicPr>
        <p:blipFill>
          <a:blip r:embed="rId3"/>
          <a:stretch>
            <a:fillRect/>
          </a:stretch>
        </p:blipFill>
        <p:spPr>
          <a:xfrm>
            <a:off x="274320" y="6528816"/>
            <a:ext cx="1005840" cy="256032"/>
          </a:xfrm>
          <a:prstGeom prst="rect">
            <a:avLst/>
          </a:prstGeom>
        </p:spPr>
      </p:pic>
      <p:sp>
        <p:nvSpPr>
          <p:cNvPr id="8" name="TextBox 7"/>
          <p:cNvSpPr txBox="1"/>
          <p:nvPr/>
        </p:nvSpPr>
        <p:spPr>
          <a:xfrm>
            <a:off x="11155680" y="6528816"/>
            <a:ext cx="822960" cy="256032"/>
          </a:xfrm>
          <a:prstGeom prst="rect">
            <a:avLst/>
          </a:prstGeom>
          <a:noFill/>
        </p:spPr>
        <p:txBody>
          <a:bodyPr wrap="square">
            <a:spAutoFit/>
          </a:bodyPr>
          <a:lstStyle/>
          <a:p>
            <a:pPr algn="r"/>
            <a:r>
              <a:rPr sz="700" b="0" i="0">
                <a:solidFill>
                  <a:srgbClr val="AAB4CC"/>
                </a:solidFill>
                <a:latin typeface="Calibri"/>
              </a:rPr>
              <a:t>05  /  10</a:t>
            </a:r>
          </a:p>
        </p:txBody>
      </p:sp>
      <p:sp>
        <p:nvSpPr>
          <p:cNvPr id="9" name="Rectangle 8"/>
          <p:cNvSpPr/>
          <p:nvPr/>
        </p:nvSpPr>
        <p:spPr>
          <a:xfrm>
            <a:off x="11338560" y="256032"/>
            <a:ext cx="676656" cy="256032"/>
          </a:xfrm>
          <a:prstGeom prst="rect">
            <a:avLst/>
          </a:prstGeom>
          <a:solidFill>
            <a:srgbClr val="040814"/>
          </a:solidFill>
          <a:ln w="508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338560" y="256032"/>
            <a:ext cx="676656" cy="256032"/>
          </a:xfrm>
          <a:prstGeom prst="rect">
            <a:avLst/>
          </a:prstGeom>
          <a:noFill/>
        </p:spPr>
        <p:txBody>
          <a:bodyPr wrap="square">
            <a:spAutoFit/>
          </a:bodyPr>
          <a:lstStyle/>
          <a:p>
            <a:pPr algn="ctr"/>
            <a:r>
              <a:rPr sz="800" b="1" i="0">
                <a:solidFill>
                  <a:srgbClr val="C9A84C"/>
                </a:solidFill>
                <a:latin typeface="Calibri"/>
              </a:rPr>
              <a:t>2:30</a:t>
            </a:r>
          </a:p>
        </p:txBody>
      </p:sp>
      <p:sp>
        <p:nvSpPr>
          <p:cNvPr id="11" name="TextBox 10"/>
          <p:cNvSpPr txBox="1"/>
          <p:nvPr/>
        </p:nvSpPr>
        <p:spPr>
          <a:xfrm>
            <a:off x="438912" y="347472"/>
            <a:ext cx="10972800" cy="201168"/>
          </a:xfrm>
          <a:prstGeom prst="rect">
            <a:avLst/>
          </a:prstGeom>
          <a:noFill/>
        </p:spPr>
        <p:txBody>
          <a:bodyPr wrap="square">
            <a:spAutoFit/>
          </a:bodyPr>
          <a:lstStyle/>
          <a:p>
            <a:pPr algn="l"/>
            <a:r>
              <a:rPr sz="750" b="1" i="0">
                <a:solidFill>
                  <a:srgbClr val="C9A84C"/>
                </a:solidFill>
                <a:latin typeface="Calibri"/>
              </a:rPr>
              <a:t>── COMPOUND INTELLIGENCE — THE DIFFERENTIATOR ──</a:t>
            </a:r>
          </a:p>
        </p:txBody>
      </p:sp>
      <p:sp>
        <p:nvSpPr>
          <p:cNvPr id="12" name="TextBox 11"/>
          <p:cNvSpPr txBox="1"/>
          <p:nvPr/>
        </p:nvSpPr>
        <p:spPr>
          <a:xfrm>
            <a:off x="438912" y="566928"/>
            <a:ext cx="11320272" cy="658368"/>
          </a:xfrm>
          <a:prstGeom prst="rect">
            <a:avLst/>
          </a:prstGeom>
          <a:noFill/>
        </p:spPr>
        <p:txBody>
          <a:bodyPr wrap="square">
            <a:spAutoFit/>
          </a:bodyPr>
          <a:lstStyle/>
          <a:p>
            <a:pPr algn="l"/>
            <a:r>
              <a:rPr sz="3600" b="1" i="0">
                <a:solidFill>
                  <a:srgbClr val="FFFFFF"/>
                </a:solidFill>
                <a:latin typeface="Georgia"/>
              </a:rPr>
              <a:t>Real Crises Arrive</a:t>
            </a:r>
          </a:p>
        </p:txBody>
      </p:sp>
      <p:sp>
        <p:nvSpPr>
          <p:cNvPr id="13" name="TextBox 12"/>
          <p:cNvSpPr txBox="1"/>
          <p:nvPr/>
        </p:nvSpPr>
        <p:spPr>
          <a:xfrm>
            <a:off x="438912" y="1207008"/>
            <a:ext cx="11320272" cy="585216"/>
          </a:xfrm>
          <a:prstGeom prst="rect">
            <a:avLst/>
          </a:prstGeom>
          <a:noFill/>
        </p:spPr>
        <p:txBody>
          <a:bodyPr wrap="square">
            <a:spAutoFit/>
          </a:bodyPr>
          <a:lstStyle/>
          <a:p>
            <a:pPr algn="l"/>
            <a:r>
              <a:rPr sz="3200" b="1" i="1">
                <a:solidFill>
                  <a:srgbClr val="C9A84C"/>
                </a:solidFill>
                <a:latin typeface="Georgia"/>
              </a:rPr>
              <a:t>Two at a Time.</a:t>
            </a:r>
          </a:p>
        </p:txBody>
      </p:sp>
      <p:sp>
        <p:nvSpPr>
          <p:cNvPr id="14" name="TextBox 13"/>
          <p:cNvSpPr txBox="1"/>
          <p:nvPr/>
        </p:nvSpPr>
        <p:spPr>
          <a:xfrm>
            <a:off x="438912" y="1865376"/>
            <a:ext cx="11320272" cy="365760"/>
          </a:xfrm>
          <a:prstGeom prst="rect">
            <a:avLst/>
          </a:prstGeom>
          <a:noFill/>
        </p:spPr>
        <p:txBody>
          <a:bodyPr wrap="square">
            <a:spAutoFit/>
          </a:bodyPr>
          <a:lstStyle/>
          <a:p>
            <a:pPr algn="l"/>
            <a:r>
              <a:rPr sz="1200" b="0" i="0">
                <a:solidFill>
                  <a:srgbClr val="AAB4CC"/>
                </a:solidFill>
                <a:latin typeface="Calibri"/>
              </a:rPr>
              <a:t>12 Compound Protocol Engines activate two playbooks simultaneously. No other platform does this natively.</a:t>
            </a:r>
          </a:p>
        </p:txBody>
      </p:sp>
      <p:sp>
        <p:nvSpPr>
          <p:cNvPr id="15" name="Rectangle 14"/>
          <p:cNvSpPr/>
          <p:nvPr/>
        </p:nvSpPr>
        <p:spPr>
          <a:xfrm>
            <a:off x="438912" y="2359152"/>
            <a:ext cx="5632704" cy="3730752"/>
          </a:xfrm>
          <a:prstGeom prst="rect">
            <a:avLst/>
          </a:prstGeom>
          <a:solidFill>
            <a:srgbClr val="070B24"/>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8912" y="2359152"/>
            <a:ext cx="5632704" cy="32918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2414016"/>
            <a:ext cx="5376672" cy="219456"/>
          </a:xfrm>
          <a:prstGeom prst="rect">
            <a:avLst/>
          </a:prstGeom>
          <a:noFill/>
        </p:spPr>
        <p:txBody>
          <a:bodyPr wrap="square">
            <a:spAutoFit/>
          </a:bodyPr>
          <a:lstStyle/>
          <a:p>
            <a:pPr algn="ctr"/>
            <a:r>
              <a:rPr sz="800" b="1" i="0">
                <a:solidFill>
                  <a:srgbClr val="0A0F2E"/>
                </a:solidFill>
                <a:latin typeface="Calibri"/>
              </a:rPr>
              <a:t>ACTIVIST INVESTOR  +  REGULATORY INQUIRY</a:t>
            </a:r>
          </a:p>
        </p:txBody>
      </p:sp>
      <p:sp>
        <p:nvSpPr>
          <p:cNvPr id="18" name="TextBox 17"/>
          <p:cNvSpPr txBox="1"/>
          <p:nvPr/>
        </p:nvSpPr>
        <p:spPr>
          <a:xfrm>
            <a:off x="566928" y="2761488"/>
            <a:ext cx="5376672" cy="237744"/>
          </a:xfrm>
          <a:prstGeom prst="rect">
            <a:avLst/>
          </a:prstGeom>
          <a:noFill/>
        </p:spPr>
        <p:txBody>
          <a:bodyPr wrap="square">
            <a:spAutoFit/>
          </a:bodyPr>
          <a:lstStyle/>
          <a:p>
            <a:pPr algn="l"/>
            <a:r>
              <a:rPr sz="900" b="0" i="0">
                <a:solidFill>
                  <a:srgbClr val="AAB4CC"/>
                </a:solidFill>
                <a:latin typeface="Calibri"/>
              </a:rPr>
              <a:t>Protocol #58 + Protocol #34  ·  10 tasks  ·  dual-track war room</a:t>
            </a:r>
          </a:p>
        </p:txBody>
      </p:sp>
      <p:sp>
        <p:nvSpPr>
          <p:cNvPr id="19" name="TextBox 18"/>
          <p:cNvSpPr txBox="1"/>
          <p:nvPr/>
        </p:nvSpPr>
        <p:spPr>
          <a:xfrm>
            <a:off x="566928" y="3035808"/>
            <a:ext cx="5376672" cy="201168"/>
          </a:xfrm>
          <a:prstGeom prst="rect">
            <a:avLst/>
          </a:prstGeom>
          <a:noFill/>
        </p:spPr>
        <p:txBody>
          <a:bodyPr wrap="square">
            <a:spAutoFit/>
          </a:bodyPr>
          <a:lstStyle/>
          <a:p>
            <a:pPr algn="l"/>
            <a:r>
              <a:rPr sz="750" b="1" i="0">
                <a:solidFill>
                  <a:srgbClr val="C9A84C"/>
                </a:solidFill>
                <a:latin typeface="Calibri"/>
              </a:rPr>
              <a:t>2 PROTOCOLS  ·  SIMULTANEOUS</a:t>
            </a:r>
          </a:p>
        </p:txBody>
      </p:sp>
      <p:sp>
        <p:nvSpPr>
          <p:cNvPr id="20" name="TextBox 19"/>
          <p:cNvSpPr txBox="1"/>
          <p:nvPr/>
        </p:nvSpPr>
        <p:spPr>
          <a:xfrm>
            <a:off x="566928" y="3291840"/>
            <a:ext cx="5376672" cy="365760"/>
          </a:xfrm>
          <a:prstGeom prst="rect">
            <a:avLst/>
          </a:prstGeom>
          <a:noFill/>
        </p:spPr>
        <p:txBody>
          <a:bodyPr wrap="square">
            <a:spAutoFit/>
          </a:bodyPr>
          <a:lstStyle/>
          <a:p>
            <a:pPr algn="l"/>
            <a:r>
              <a:rPr sz="950" b="0" i="0">
                <a:solidFill>
                  <a:srgbClr val="FFFFFF"/>
                </a:solidFill>
                <a:latin typeface="Calibri"/>
              </a:rPr>
              <a:t>✓  Shareholder communication pre-staged and ready</a:t>
            </a:r>
          </a:p>
        </p:txBody>
      </p:sp>
      <p:sp>
        <p:nvSpPr>
          <p:cNvPr id="21" name="TextBox 20"/>
          <p:cNvSpPr txBox="1"/>
          <p:nvPr/>
        </p:nvSpPr>
        <p:spPr>
          <a:xfrm>
            <a:off x="566928" y="3730752"/>
            <a:ext cx="5376672" cy="365760"/>
          </a:xfrm>
          <a:prstGeom prst="rect">
            <a:avLst/>
          </a:prstGeom>
          <a:noFill/>
        </p:spPr>
        <p:txBody>
          <a:bodyPr wrap="square">
            <a:spAutoFit/>
          </a:bodyPr>
          <a:lstStyle/>
          <a:p>
            <a:pPr algn="l"/>
            <a:r>
              <a:rPr sz="950" b="0" i="0">
                <a:solidFill>
                  <a:srgbClr val="FFFFFF"/>
                </a:solidFill>
                <a:latin typeface="Calibri"/>
              </a:rPr>
              <a:t>✓  Legal response pre-drafted — awaiting executive sign-off</a:t>
            </a:r>
          </a:p>
        </p:txBody>
      </p:sp>
      <p:sp>
        <p:nvSpPr>
          <p:cNvPr id="22" name="TextBox 21"/>
          <p:cNvSpPr txBox="1"/>
          <p:nvPr/>
        </p:nvSpPr>
        <p:spPr>
          <a:xfrm>
            <a:off x="566928" y="4169664"/>
            <a:ext cx="5376672" cy="365760"/>
          </a:xfrm>
          <a:prstGeom prst="rect">
            <a:avLst/>
          </a:prstGeom>
          <a:noFill/>
        </p:spPr>
        <p:txBody>
          <a:bodyPr wrap="square">
            <a:spAutoFit/>
          </a:bodyPr>
          <a:lstStyle/>
          <a:p>
            <a:pPr algn="l"/>
            <a:r>
              <a:rPr sz="950" b="0" i="0">
                <a:solidFill>
                  <a:srgbClr val="FFFFFF"/>
                </a:solidFill>
                <a:latin typeface="Calibri"/>
              </a:rPr>
              <a:t>✓  Board briefing auto-generated in real time</a:t>
            </a:r>
          </a:p>
        </p:txBody>
      </p:sp>
      <p:sp>
        <p:nvSpPr>
          <p:cNvPr id="23" name="TextBox 22"/>
          <p:cNvSpPr txBox="1"/>
          <p:nvPr/>
        </p:nvSpPr>
        <p:spPr>
          <a:xfrm>
            <a:off x="566928" y="4608576"/>
            <a:ext cx="5376672" cy="365760"/>
          </a:xfrm>
          <a:prstGeom prst="rect">
            <a:avLst/>
          </a:prstGeom>
          <a:noFill/>
        </p:spPr>
        <p:txBody>
          <a:bodyPr wrap="square">
            <a:spAutoFit/>
          </a:bodyPr>
          <a:lstStyle/>
          <a:p>
            <a:pPr algn="l"/>
            <a:r>
              <a:rPr sz="950" b="0" i="0">
                <a:solidFill>
                  <a:srgbClr val="FFFFFF"/>
                </a:solidFill>
                <a:latin typeface="Calibri"/>
              </a:rPr>
              <a:t>✓  Regulatory timeline tracked live by system</a:t>
            </a:r>
          </a:p>
        </p:txBody>
      </p:sp>
      <p:sp>
        <p:nvSpPr>
          <p:cNvPr id="24" name="TextBox 23"/>
          <p:cNvSpPr txBox="1"/>
          <p:nvPr/>
        </p:nvSpPr>
        <p:spPr>
          <a:xfrm>
            <a:off x="566928" y="5047488"/>
            <a:ext cx="5376672" cy="365760"/>
          </a:xfrm>
          <a:prstGeom prst="rect">
            <a:avLst/>
          </a:prstGeom>
          <a:noFill/>
        </p:spPr>
        <p:txBody>
          <a:bodyPr wrap="square">
            <a:spAutoFit/>
          </a:bodyPr>
          <a:lstStyle/>
          <a:p>
            <a:pPr algn="l"/>
            <a:r>
              <a:rPr sz="950" b="0" i="0">
                <a:solidFill>
                  <a:srgbClr val="FFFFFF"/>
                </a:solidFill>
                <a:latin typeface="Calibri"/>
              </a:rPr>
              <a:t>✓  Media holding statement armed and waiting</a:t>
            </a:r>
          </a:p>
        </p:txBody>
      </p:sp>
      <p:sp>
        <p:nvSpPr>
          <p:cNvPr id="25" name="Rectangle 24"/>
          <p:cNvSpPr/>
          <p:nvPr/>
        </p:nvSpPr>
        <p:spPr>
          <a:xfrm>
            <a:off x="6419088" y="2359152"/>
            <a:ext cx="5632704" cy="3730752"/>
          </a:xfrm>
          <a:prstGeom prst="rect">
            <a:avLst/>
          </a:prstGeom>
          <a:solidFill>
            <a:srgbClr val="070B24"/>
          </a:solidFill>
          <a:ln w="1270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19088" y="2359152"/>
            <a:ext cx="5632704" cy="329184"/>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47103" y="2414016"/>
            <a:ext cx="5376672" cy="219456"/>
          </a:xfrm>
          <a:prstGeom prst="rect">
            <a:avLst/>
          </a:prstGeom>
          <a:noFill/>
        </p:spPr>
        <p:txBody>
          <a:bodyPr wrap="square">
            <a:spAutoFit/>
          </a:bodyPr>
          <a:lstStyle/>
          <a:p>
            <a:pPr algn="ctr"/>
            <a:r>
              <a:rPr sz="800" b="1" i="0">
                <a:solidFill>
                  <a:srgbClr val="FFFFFF"/>
                </a:solidFill>
                <a:latin typeface="Calibri"/>
              </a:rPr>
              <a:t>RANSOMWARE  +  MEDIA CRISIS</a:t>
            </a:r>
          </a:p>
        </p:txBody>
      </p:sp>
      <p:sp>
        <p:nvSpPr>
          <p:cNvPr id="28" name="TextBox 27"/>
          <p:cNvSpPr txBox="1"/>
          <p:nvPr/>
        </p:nvSpPr>
        <p:spPr>
          <a:xfrm>
            <a:off x="6547103" y="2761488"/>
            <a:ext cx="5376672" cy="237744"/>
          </a:xfrm>
          <a:prstGeom prst="rect">
            <a:avLst/>
          </a:prstGeom>
          <a:noFill/>
        </p:spPr>
        <p:txBody>
          <a:bodyPr wrap="square">
            <a:spAutoFit/>
          </a:bodyPr>
          <a:lstStyle/>
          <a:p>
            <a:pPr algn="l"/>
            <a:r>
              <a:rPr sz="900" b="0" i="0">
                <a:solidFill>
                  <a:srgbClr val="AAB4CC"/>
                </a:solidFill>
                <a:latin typeface="Calibri"/>
              </a:rPr>
              <a:t>Protocol #12 + Protocol #67  ·  IT containment + comms run simultaneously</a:t>
            </a:r>
          </a:p>
        </p:txBody>
      </p:sp>
      <p:sp>
        <p:nvSpPr>
          <p:cNvPr id="29" name="TextBox 28"/>
          <p:cNvSpPr txBox="1"/>
          <p:nvPr/>
        </p:nvSpPr>
        <p:spPr>
          <a:xfrm>
            <a:off x="6547103" y="3035808"/>
            <a:ext cx="5376672" cy="201168"/>
          </a:xfrm>
          <a:prstGeom prst="rect">
            <a:avLst/>
          </a:prstGeom>
          <a:noFill/>
        </p:spPr>
        <p:txBody>
          <a:bodyPr wrap="square">
            <a:spAutoFit/>
          </a:bodyPr>
          <a:lstStyle/>
          <a:p>
            <a:pPr algn="l"/>
            <a:r>
              <a:rPr sz="750" b="1" i="0">
                <a:solidFill>
                  <a:srgbClr val="2B8A6E"/>
                </a:solidFill>
                <a:latin typeface="Calibri"/>
              </a:rPr>
              <a:t>2 PROTOCOLS  ·  SIMULTANEOUS</a:t>
            </a:r>
          </a:p>
        </p:txBody>
      </p:sp>
      <p:sp>
        <p:nvSpPr>
          <p:cNvPr id="30" name="TextBox 29"/>
          <p:cNvSpPr txBox="1"/>
          <p:nvPr/>
        </p:nvSpPr>
        <p:spPr>
          <a:xfrm>
            <a:off x="6547103" y="3291840"/>
            <a:ext cx="5376672" cy="365760"/>
          </a:xfrm>
          <a:prstGeom prst="rect">
            <a:avLst/>
          </a:prstGeom>
          <a:noFill/>
        </p:spPr>
        <p:txBody>
          <a:bodyPr wrap="square">
            <a:spAutoFit/>
          </a:bodyPr>
          <a:lstStyle/>
          <a:p>
            <a:pPr algn="l"/>
            <a:r>
              <a:rPr sz="950" b="0" i="0">
                <a:solidFill>
                  <a:srgbClr val="FFFFFF"/>
                </a:solidFill>
                <a:latin typeface="Calibri"/>
              </a:rPr>
              <a:t>✓  IT isolation protocol activated — no coordination delay</a:t>
            </a:r>
          </a:p>
        </p:txBody>
      </p:sp>
      <p:sp>
        <p:nvSpPr>
          <p:cNvPr id="31" name="TextBox 30"/>
          <p:cNvSpPr txBox="1"/>
          <p:nvPr/>
        </p:nvSpPr>
        <p:spPr>
          <a:xfrm>
            <a:off x="6547103" y="3730752"/>
            <a:ext cx="5376672" cy="365760"/>
          </a:xfrm>
          <a:prstGeom prst="rect">
            <a:avLst/>
          </a:prstGeom>
          <a:noFill/>
        </p:spPr>
        <p:txBody>
          <a:bodyPr wrap="square">
            <a:spAutoFit/>
          </a:bodyPr>
          <a:lstStyle/>
          <a:p>
            <a:pPr algn="l"/>
            <a:r>
              <a:rPr sz="950" b="0" i="0">
                <a:solidFill>
                  <a:srgbClr val="FFFFFF"/>
                </a:solidFill>
                <a:latin typeface="Calibri"/>
              </a:rPr>
              <a:t>✓  Customer notification pre-staged — exec approves in 1 click</a:t>
            </a:r>
          </a:p>
        </p:txBody>
      </p:sp>
      <p:sp>
        <p:nvSpPr>
          <p:cNvPr id="32" name="TextBox 31"/>
          <p:cNvSpPr txBox="1"/>
          <p:nvPr/>
        </p:nvSpPr>
        <p:spPr>
          <a:xfrm>
            <a:off x="6547103" y="4169664"/>
            <a:ext cx="5376672" cy="365760"/>
          </a:xfrm>
          <a:prstGeom prst="rect">
            <a:avLst/>
          </a:prstGeom>
          <a:noFill/>
        </p:spPr>
        <p:txBody>
          <a:bodyPr wrap="square">
            <a:spAutoFit/>
          </a:bodyPr>
          <a:lstStyle/>
          <a:p>
            <a:pPr algn="l"/>
            <a:r>
              <a:rPr sz="950" b="0" i="0">
                <a:solidFill>
                  <a:srgbClr val="FFFFFF"/>
                </a:solidFill>
                <a:latin typeface="Calibri"/>
              </a:rPr>
              <a:t>✓  Board report auto-drafted and ready</a:t>
            </a:r>
          </a:p>
        </p:txBody>
      </p:sp>
      <p:sp>
        <p:nvSpPr>
          <p:cNvPr id="33" name="TextBox 32"/>
          <p:cNvSpPr txBox="1"/>
          <p:nvPr/>
        </p:nvSpPr>
        <p:spPr>
          <a:xfrm>
            <a:off x="6547103" y="4608576"/>
            <a:ext cx="5376672" cy="365760"/>
          </a:xfrm>
          <a:prstGeom prst="rect">
            <a:avLst/>
          </a:prstGeom>
          <a:noFill/>
        </p:spPr>
        <p:txBody>
          <a:bodyPr wrap="square">
            <a:spAutoFit/>
          </a:bodyPr>
          <a:lstStyle/>
          <a:p>
            <a:pPr algn="l"/>
            <a:r>
              <a:rPr sz="950" b="0" i="0">
                <a:solidFill>
                  <a:srgbClr val="FFFFFF"/>
                </a:solidFill>
                <a:latin typeface="Calibri"/>
              </a:rPr>
              <a:t>✓  Media statement armed — release on executive authorization</a:t>
            </a:r>
          </a:p>
        </p:txBody>
      </p:sp>
      <p:sp>
        <p:nvSpPr>
          <p:cNvPr id="34" name="TextBox 33"/>
          <p:cNvSpPr txBox="1"/>
          <p:nvPr/>
        </p:nvSpPr>
        <p:spPr>
          <a:xfrm>
            <a:off x="6547103" y="5047488"/>
            <a:ext cx="5376672" cy="365760"/>
          </a:xfrm>
          <a:prstGeom prst="rect">
            <a:avLst/>
          </a:prstGeom>
          <a:noFill/>
        </p:spPr>
        <p:txBody>
          <a:bodyPr wrap="square">
            <a:spAutoFit/>
          </a:bodyPr>
          <a:lstStyle/>
          <a:p>
            <a:pPr algn="l"/>
            <a:r>
              <a:rPr sz="950" b="0" i="0">
                <a:solidFill>
                  <a:srgbClr val="FFFFFF"/>
                </a:solidFill>
                <a:latin typeface="Calibri"/>
              </a:rPr>
              <a:t>✓  Regulatory disclosure pre-staged — filed on schedule</a:t>
            </a:r>
          </a:p>
        </p:txBody>
      </p:sp>
      <p:sp>
        <p:nvSpPr>
          <p:cNvPr id="35" name="Rectangle 34"/>
          <p:cNvSpPr/>
          <p:nvPr/>
        </p:nvSpPr>
        <p:spPr>
          <a:xfrm>
            <a:off x="6254496" y="2286000"/>
            <a:ext cx="16459" cy="3840480"/>
          </a:xfrm>
          <a:prstGeom prst="rect">
            <a:avLst/>
          </a:prstGeom>
          <a:solidFill>
            <a:srgbClr val="1A2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ver_clean.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2188952" cy="228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m_logo_white.png"/>
          <p:cNvPicPr>
            <a:picLocks noChangeAspect="1"/>
          </p:cNvPicPr>
          <p:nvPr/>
        </p:nvPicPr>
        <p:blipFill>
          <a:blip r:embed="rId3"/>
          <a:stretch>
            <a:fillRect/>
          </a:stretch>
        </p:blipFill>
        <p:spPr>
          <a:xfrm>
            <a:off x="274320" y="237744"/>
            <a:ext cx="1664208" cy="420624"/>
          </a:xfrm>
          <a:prstGeom prst="rect">
            <a:avLst/>
          </a:prstGeom>
        </p:spPr>
      </p:pic>
      <p:sp>
        <p:nvSpPr>
          <p:cNvPr id="6" name="Rectangle 5"/>
          <p:cNvSpPr/>
          <p:nvPr/>
        </p:nvSpPr>
        <p:spPr>
          <a:xfrm>
            <a:off x="0" y="6455664"/>
            <a:ext cx="12188952"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m_logo_white.png"/>
          <p:cNvPicPr>
            <a:picLocks noChangeAspect="1"/>
          </p:cNvPicPr>
          <p:nvPr/>
        </p:nvPicPr>
        <p:blipFill>
          <a:blip r:embed="rId3"/>
          <a:stretch>
            <a:fillRect/>
          </a:stretch>
        </p:blipFill>
        <p:spPr>
          <a:xfrm>
            <a:off x="274320" y="6528816"/>
            <a:ext cx="1005840" cy="256032"/>
          </a:xfrm>
          <a:prstGeom prst="rect">
            <a:avLst/>
          </a:prstGeom>
        </p:spPr>
      </p:pic>
      <p:sp>
        <p:nvSpPr>
          <p:cNvPr id="8" name="TextBox 7"/>
          <p:cNvSpPr txBox="1"/>
          <p:nvPr/>
        </p:nvSpPr>
        <p:spPr>
          <a:xfrm>
            <a:off x="11155680" y="6528816"/>
            <a:ext cx="822960" cy="256032"/>
          </a:xfrm>
          <a:prstGeom prst="rect">
            <a:avLst/>
          </a:prstGeom>
          <a:noFill/>
        </p:spPr>
        <p:txBody>
          <a:bodyPr wrap="square">
            <a:spAutoFit/>
          </a:bodyPr>
          <a:lstStyle/>
          <a:p>
            <a:pPr algn="r"/>
            <a:r>
              <a:rPr sz="700" b="0" i="0">
                <a:solidFill>
                  <a:srgbClr val="AAB4CC"/>
                </a:solidFill>
                <a:latin typeface="Calibri"/>
              </a:rPr>
              <a:t>06  /  10</a:t>
            </a:r>
          </a:p>
        </p:txBody>
      </p:sp>
      <p:sp>
        <p:nvSpPr>
          <p:cNvPr id="9" name="Rectangle 8"/>
          <p:cNvSpPr/>
          <p:nvPr/>
        </p:nvSpPr>
        <p:spPr>
          <a:xfrm>
            <a:off x="11338560" y="256032"/>
            <a:ext cx="676656" cy="256032"/>
          </a:xfrm>
          <a:prstGeom prst="rect">
            <a:avLst/>
          </a:prstGeom>
          <a:solidFill>
            <a:srgbClr val="040814"/>
          </a:solidFill>
          <a:ln w="508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338560" y="256032"/>
            <a:ext cx="676656" cy="256032"/>
          </a:xfrm>
          <a:prstGeom prst="rect">
            <a:avLst/>
          </a:prstGeom>
          <a:noFill/>
        </p:spPr>
        <p:txBody>
          <a:bodyPr wrap="square">
            <a:spAutoFit/>
          </a:bodyPr>
          <a:lstStyle/>
          <a:p>
            <a:pPr algn="ctr"/>
            <a:r>
              <a:rPr sz="800" b="1" i="0">
                <a:solidFill>
                  <a:srgbClr val="C9A84C"/>
                </a:solidFill>
                <a:latin typeface="Calibri"/>
              </a:rPr>
              <a:t>2:52</a:t>
            </a:r>
          </a:p>
        </p:txBody>
      </p:sp>
      <p:sp>
        <p:nvSpPr>
          <p:cNvPr id="11" name="TextBox 10"/>
          <p:cNvSpPr txBox="1"/>
          <p:nvPr/>
        </p:nvSpPr>
        <p:spPr>
          <a:xfrm>
            <a:off x="438912" y="347472"/>
            <a:ext cx="10972800" cy="201168"/>
          </a:xfrm>
          <a:prstGeom prst="rect">
            <a:avLst/>
          </a:prstGeom>
          <a:noFill/>
        </p:spPr>
        <p:txBody>
          <a:bodyPr wrap="square">
            <a:spAutoFit/>
          </a:bodyPr>
          <a:lstStyle/>
          <a:p>
            <a:pPr algn="l"/>
            <a:r>
              <a:rPr sz="750" b="1" i="0">
                <a:solidFill>
                  <a:srgbClr val="C9A84C"/>
                </a:solidFill>
                <a:latin typeface="Calibri"/>
              </a:rPr>
              <a:t>── THE COMPOUNDING MOAT — WHY CUSTOMERS DO NOT LEAVE ──</a:t>
            </a:r>
          </a:p>
        </p:txBody>
      </p:sp>
      <p:sp>
        <p:nvSpPr>
          <p:cNvPr id="12" name="TextBox 11"/>
          <p:cNvSpPr txBox="1"/>
          <p:nvPr/>
        </p:nvSpPr>
        <p:spPr>
          <a:xfrm>
            <a:off x="438912" y="566928"/>
            <a:ext cx="11320272" cy="658368"/>
          </a:xfrm>
          <a:prstGeom prst="rect">
            <a:avLst/>
          </a:prstGeom>
          <a:noFill/>
        </p:spPr>
        <p:txBody>
          <a:bodyPr wrap="square">
            <a:spAutoFit/>
          </a:bodyPr>
          <a:lstStyle/>
          <a:p>
            <a:pPr algn="l"/>
            <a:r>
              <a:rPr sz="3400" b="1" i="0">
                <a:solidFill>
                  <a:srgbClr val="FFFFFF"/>
                </a:solidFill>
                <a:latin typeface="Georgia"/>
              </a:rPr>
              <a:t>Every Activation Makes</a:t>
            </a:r>
          </a:p>
        </p:txBody>
      </p:sp>
      <p:sp>
        <p:nvSpPr>
          <p:cNvPr id="13" name="TextBox 12"/>
          <p:cNvSpPr txBox="1"/>
          <p:nvPr/>
        </p:nvSpPr>
        <p:spPr>
          <a:xfrm>
            <a:off x="438912" y="1207008"/>
            <a:ext cx="11320272" cy="530352"/>
          </a:xfrm>
          <a:prstGeom prst="rect">
            <a:avLst/>
          </a:prstGeom>
          <a:noFill/>
        </p:spPr>
        <p:txBody>
          <a:bodyPr wrap="square">
            <a:spAutoFit/>
          </a:bodyPr>
          <a:lstStyle/>
          <a:p>
            <a:pPr algn="l"/>
            <a:r>
              <a:rPr sz="2600" b="1" i="1">
                <a:solidFill>
                  <a:srgbClr val="C9A84C"/>
                </a:solidFill>
                <a:latin typeface="Georgia"/>
              </a:rPr>
              <a:t>the Enterprise Smarter. Permanently.</a:t>
            </a:r>
          </a:p>
        </p:txBody>
      </p:sp>
      <p:sp>
        <p:nvSpPr>
          <p:cNvPr id="14" name="Rectangle 13"/>
          <p:cNvSpPr/>
          <p:nvPr/>
        </p:nvSpPr>
        <p:spPr>
          <a:xfrm>
            <a:off x="438912" y="1956816"/>
            <a:ext cx="5596128" cy="1938528"/>
          </a:xfrm>
          <a:prstGeom prst="rect">
            <a:avLst/>
          </a:prstGeom>
          <a:solidFill>
            <a:srgbClr val="070B24"/>
          </a:solidFill>
          <a:ln w="9525">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048256"/>
            <a:ext cx="5340096" cy="237744"/>
          </a:xfrm>
          <a:prstGeom prst="rect">
            <a:avLst/>
          </a:prstGeom>
          <a:noFill/>
        </p:spPr>
        <p:txBody>
          <a:bodyPr wrap="square">
            <a:spAutoFit/>
          </a:bodyPr>
          <a:lstStyle/>
          <a:p>
            <a:pPr algn="l"/>
            <a:r>
              <a:rPr sz="850" b="1" i="0">
                <a:solidFill>
                  <a:srgbClr val="C9A84C"/>
                </a:solidFill>
                <a:latin typeface="Calibri"/>
              </a:rPr>
              <a:t>INSTITUTIONAL MEMORY</a:t>
            </a:r>
          </a:p>
        </p:txBody>
      </p:sp>
      <p:sp>
        <p:nvSpPr>
          <p:cNvPr id="16" name="TextBox 15"/>
          <p:cNvSpPr txBox="1"/>
          <p:nvPr/>
        </p:nvSpPr>
        <p:spPr>
          <a:xfrm>
            <a:off x="566928" y="2340864"/>
            <a:ext cx="5340096" cy="914400"/>
          </a:xfrm>
          <a:prstGeom prst="rect">
            <a:avLst/>
          </a:prstGeom>
          <a:noFill/>
        </p:spPr>
        <p:txBody>
          <a:bodyPr wrap="square">
            <a:spAutoFit/>
          </a:bodyPr>
          <a:lstStyle/>
          <a:p>
            <a:pPr algn="l"/>
            <a:r>
              <a:rPr sz="900" b="0" i="0">
                <a:solidFill>
                  <a:srgbClr val="AAB4CC"/>
                </a:solidFill>
                <a:latin typeface="Calibri"/>
              </a:rPr>
              <a:t>Retrospect™ captures every decision, outcome, and pattern from every activation — building a proprietary playbook dataset from your specific crises. No competitor can replicate it. No consultant can take it when they leave.</a:t>
            </a:r>
          </a:p>
        </p:txBody>
      </p:sp>
      <p:sp>
        <p:nvSpPr>
          <p:cNvPr id="17" name="Rectangle 16"/>
          <p:cNvSpPr/>
          <p:nvPr/>
        </p:nvSpPr>
        <p:spPr>
          <a:xfrm>
            <a:off x="438912" y="3474720"/>
            <a:ext cx="5596128" cy="420624"/>
          </a:xfrm>
          <a:prstGeom prst="rect">
            <a:avLst/>
          </a:prstGeom>
          <a:solidFill>
            <a:srgbClr val="04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3529584"/>
            <a:ext cx="5340096" cy="274320"/>
          </a:xfrm>
          <a:prstGeom prst="rect">
            <a:avLst/>
          </a:prstGeom>
          <a:noFill/>
        </p:spPr>
        <p:txBody>
          <a:bodyPr wrap="square">
            <a:spAutoFit/>
          </a:bodyPr>
          <a:lstStyle/>
          <a:p>
            <a:pPr algn="l"/>
            <a:r>
              <a:rPr sz="850" b="0" i="1">
                <a:solidFill>
                  <a:srgbClr val="AAB4CC"/>
                </a:solidFill>
                <a:latin typeface="Calibri"/>
              </a:rPr>
              <a:t>→  67% avg improvement in execution time over 6 months (simulation-validated)</a:t>
            </a:r>
          </a:p>
        </p:txBody>
      </p:sp>
      <p:sp>
        <p:nvSpPr>
          <p:cNvPr id="19" name="Rectangle 18"/>
          <p:cNvSpPr/>
          <p:nvPr/>
        </p:nvSpPr>
        <p:spPr>
          <a:xfrm>
            <a:off x="6345936" y="1956816"/>
            <a:ext cx="5596128" cy="1938528"/>
          </a:xfrm>
          <a:prstGeom prst="rect">
            <a:avLst/>
          </a:prstGeom>
          <a:solidFill>
            <a:srgbClr val="070B24"/>
          </a:solidFill>
          <a:ln w="9525">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1" y="2048256"/>
            <a:ext cx="5340096" cy="237744"/>
          </a:xfrm>
          <a:prstGeom prst="rect">
            <a:avLst/>
          </a:prstGeom>
          <a:noFill/>
        </p:spPr>
        <p:txBody>
          <a:bodyPr wrap="square">
            <a:spAutoFit/>
          </a:bodyPr>
          <a:lstStyle/>
          <a:p>
            <a:pPr algn="l"/>
            <a:r>
              <a:rPr sz="850" b="1" i="0">
                <a:solidFill>
                  <a:srgbClr val="2B8A6E"/>
                </a:solidFill>
                <a:latin typeface="Calibri"/>
              </a:rPr>
              <a:t>EXECUTIVE READINESS SCORE</a:t>
            </a:r>
          </a:p>
        </p:txBody>
      </p:sp>
      <p:sp>
        <p:nvSpPr>
          <p:cNvPr id="21" name="TextBox 20"/>
          <p:cNvSpPr txBox="1"/>
          <p:nvPr/>
        </p:nvSpPr>
        <p:spPr>
          <a:xfrm>
            <a:off x="6473951" y="2340864"/>
            <a:ext cx="5340096" cy="914400"/>
          </a:xfrm>
          <a:prstGeom prst="rect">
            <a:avLst/>
          </a:prstGeom>
          <a:noFill/>
        </p:spPr>
        <p:txBody>
          <a:bodyPr wrap="square">
            <a:spAutoFit/>
          </a:bodyPr>
          <a:lstStyle/>
          <a:p>
            <a:pPr algn="l"/>
            <a:r>
              <a:rPr sz="900" b="0" i="0">
                <a:solidFill>
                  <a:srgbClr val="AAB4CC"/>
                </a:solidFill>
                <a:latin typeface="Calibri"/>
              </a:rPr>
              <a:t>0–100 board-level KPI continuously recalculated. Once a board adopts this number — benchmarking it quarterly, reporting it in governance — the switching cost becomes structural. Boards require it. CFOs track it.</a:t>
            </a:r>
          </a:p>
        </p:txBody>
      </p:sp>
      <p:sp>
        <p:nvSpPr>
          <p:cNvPr id="22" name="Rectangle 21"/>
          <p:cNvSpPr/>
          <p:nvPr/>
        </p:nvSpPr>
        <p:spPr>
          <a:xfrm>
            <a:off x="6345936" y="3474720"/>
            <a:ext cx="5596128" cy="420624"/>
          </a:xfrm>
          <a:prstGeom prst="rect">
            <a:avLst/>
          </a:prstGeom>
          <a:solidFill>
            <a:srgbClr val="04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1" y="3529584"/>
            <a:ext cx="5340096" cy="274320"/>
          </a:xfrm>
          <a:prstGeom prst="rect">
            <a:avLst/>
          </a:prstGeom>
          <a:noFill/>
        </p:spPr>
        <p:txBody>
          <a:bodyPr wrap="square">
            <a:spAutoFit/>
          </a:bodyPr>
          <a:lstStyle/>
          <a:p>
            <a:pPr algn="l"/>
            <a:r>
              <a:rPr sz="850" b="0" i="1">
                <a:solidFill>
                  <a:srgbClr val="2B8A6E"/>
                </a:solidFill>
                <a:latin typeface="Calibri"/>
              </a:rPr>
              <a:t>→  New enterprise metric that did not exist before Readiness OS</a:t>
            </a:r>
          </a:p>
        </p:txBody>
      </p:sp>
      <p:sp>
        <p:nvSpPr>
          <p:cNvPr id="24" name="Rectangle 23"/>
          <p:cNvSpPr/>
          <p:nvPr/>
        </p:nvSpPr>
        <p:spPr>
          <a:xfrm>
            <a:off x="438912" y="4041648"/>
            <a:ext cx="5596128" cy="1938528"/>
          </a:xfrm>
          <a:prstGeom prst="rect">
            <a:avLst/>
          </a:prstGeom>
          <a:solidFill>
            <a:srgbClr val="070B24"/>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4133087"/>
            <a:ext cx="5340096" cy="237744"/>
          </a:xfrm>
          <a:prstGeom prst="rect">
            <a:avLst/>
          </a:prstGeom>
          <a:noFill/>
        </p:spPr>
        <p:txBody>
          <a:bodyPr wrap="square">
            <a:spAutoFit/>
          </a:bodyPr>
          <a:lstStyle/>
          <a:p>
            <a:pPr algn="l"/>
            <a:r>
              <a:rPr sz="850" b="1" i="0">
                <a:solidFill>
                  <a:srgbClr val="FFFFFF"/>
                </a:solidFill>
                <a:latin typeface="Calibri"/>
              </a:rPr>
              <a:t>SELF-IMPROVING PROTOCOLS</a:t>
            </a:r>
          </a:p>
        </p:txBody>
      </p:sp>
      <p:sp>
        <p:nvSpPr>
          <p:cNvPr id="26" name="TextBox 25"/>
          <p:cNvSpPr txBox="1"/>
          <p:nvPr/>
        </p:nvSpPr>
        <p:spPr>
          <a:xfrm>
            <a:off x="566928" y="4425696"/>
            <a:ext cx="5340096" cy="914400"/>
          </a:xfrm>
          <a:prstGeom prst="rect">
            <a:avLst/>
          </a:prstGeom>
          <a:noFill/>
        </p:spPr>
        <p:txBody>
          <a:bodyPr wrap="square">
            <a:spAutoFit/>
          </a:bodyPr>
          <a:lstStyle/>
          <a:p>
            <a:pPr algn="l"/>
            <a:r>
              <a:rPr sz="900" b="0" i="0">
                <a:solidFill>
                  <a:srgbClr val="AAB4CC"/>
                </a:solidFill>
                <a:latin typeface="Calibri"/>
              </a:rPr>
              <a:t>Every activation is classified: Optimization, Mixed-Signal, or Recovery. The system updates trigger conditions and protocol timing from real performance data. It gets faster and more accurate with every use — automatically.</a:t>
            </a:r>
          </a:p>
        </p:txBody>
      </p:sp>
      <p:sp>
        <p:nvSpPr>
          <p:cNvPr id="27" name="Rectangle 26"/>
          <p:cNvSpPr/>
          <p:nvPr/>
        </p:nvSpPr>
        <p:spPr>
          <a:xfrm>
            <a:off x="438912" y="5559552"/>
            <a:ext cx="5596128" cy="420624"/>
          </a:xfrm>
          <a:prstGeom prst="rect">
            <a:avLst/>
          </a:prstGeom>
          <a:solidFill>
            <a:srgbClr val="04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5614416"/>
            <a:ext cx="5340096" cy="274320"/>
          </a:xfrm>
          <a:prstGeom prst="rect">
            <a:avLst/>
          </a:prstGeom>
          <a:noFill/>
        </p:spPr>
        <p:txBody>
          <a:bodyPr wrap="square">
            <a:spAutoFit/>
          </a:bodyPr>
          <a:lstStyle/>
          <a:p>
            <a:pPr algn="l"/>
            <a:r>
              <a:rPr sz="850" b="0" i="1">
                <a:solidFill>
                  <a:srgbClr val="FFFFFF"/>
                </a:solidFill>
                <a:latin typeface="Calibri"/>
              </a:rPr>
              <a:t>→  No other platform does this — compounds in value indefinitely</a:t>
            </a:r>
          </a:p>
        </p:txBody>
      </p:sp>
      <p:sp>
        <p:nvSpPr>
          <p:cNvPr id="29" name="Rectangle 28"/>
          <p:cNvSpPr/>
          <p:nvPr/>
        </p:nvSpPr>
        <p:spPr>
          <a:xfrm>
            <a:off x="6345936" y="4041648"/>
            <a:ext cx="5596128" cy="1938528"/>
          </a:xfrm>
          <a:prstGeom prst="rect">
            <a:avLst/>
          </a:prstGeom>
          <a:solidFill>
            <a:srgbClr val="070B24"/>
          </a:solidFill>
          <a:ln w="9525">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73951" y="4133087"/>
            <a:ext cx="5340096" cy="237744"/>
          </a:xfrm>
          <a:prstGeom prst="rect">
            <a:avLst/>
          </a:prstGeom>
          <a:noFill/>
        </p:spPr>
        <p:txBody>
          <a:bodyPr wrap="square">
            <a:spAutoFit/>
          </a:bodyPr>
          <a:lstStyle/>
          <a:p>
            <a:pPr algn="l"/>
            <a:r>
              <a:rPr sz="850" b="1" i="0">
                <a:solidFill>
                  <a:srgbClr val="C9A84C"/>
                </a:solidFill>
                <a:latin typeface="Calibri"/>
              </a:rPr>
              <a:t>BOARD-READY GOVERNANCE</a:t>
            </a:r>
          </a:p>
        </p:txBody>
      </p:sp>
      <p:sp>
        <p:nvSpPr>
          <p:cNvPr id="31" name="TextBox 30"/>
          <p:cNvSpPr txBox="1"/>
          <p:nvPr/>
        </p:nvSpPr>
        <p:spPr>
          <a:xfrm>
            <a:off x="6473951" y="4425696"/>
            <a:ext cx="5340096" cy="914400"/>
          </a:xfrm>
          <a:prstGeom prst="rect">
            <a:avLst/>
          </a:prstGeom>
          <a:noFill/>
        </p:spPr>
        <p:txBody>
          <a:bodyPr wrap="square">
            <a:spAutoFit/>
          </a:bodyPr>
          <a:lstStyle/>
          <a:p>
            <a:pPr algn="l"/>
            <a:r>
              <a:rPr sz="900" b="0" i="0">
                <a:solidFill>
                  <a:srgbClr val="AAB4CC"/>
                </a:solidFill>
                <a:latin typeface="Calibri"/>
              </a:rPr>
              <a:t>Auto-generated when each war room closes: elapsed time, decisions made, outcome classification, next steps. Governance documentation as a byproduct of execution. Zero manual work.</a:t>
            </a:r>
          </a:p>
        </p:txBody>
      </p:sp>
      <p:sp>
        <p:nvSpPr>
          <p:cNvPr id="32" name="Rectangle 31"/>
          <p:cNvSpPr/>
          <p:nvPr/>
        </p:nvSpPr>
        <p:spPr>
          <a:xfrm>
            <a:off x="6345936" y="5559552"/>
            <a:ext cx="5596128" cy="420624"/>
          </a:xfrm>
          <a:prstGeom prst="rect">
            <a:avLst/>
          </a:prstGeom>
          <a:solidFill>
            <a:srgbClr val="04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73951" y="5614416"/>
            <a:ext cx="5340096" cy="274320"/>
          </a:xfrm>
          <a:prstGeom prst="rect">
            <a:avLst/>
          </a:prstGeom>
          <a:noFill/>
        </p:spPr>
        <p:txBody>
          <a:bodyPr wrap="square">
            <a:spAutoFit/>
          </a:bodyPr>
          <a:lstStyle/>
          <a:p>
            <a:pPr algn="l"/>
            <a:r>
              <a:rPr sz="850" b="0" i="1">
                <a:solidFill>
                  <a:srgbClr val="C9A84C"/>
                </a:solidFill>
                <a:latin typeface="Calibri"/>
              </a:rPr>
              <a:t>→  Procurement requirement met automatically on every activation</a:t>
            </a:r>
          </a:p>
        </p:txBody>
      </p:sp>
      <p:sp>
        <p:nvSpPr>
          <p:cNvPr id="34" name="Rectangle 33"/>
          <p:cNvSpPr/>
          <p:nvPr/>
        </p:nvSpPr>
        <p:spPr>
          <a:xfrm>
            <a:off x="5980176" y="1901952"/>
            <a:ext cx="16459" cy="4297680"/>
          </a:xfrm>
          <a:prstGeom prst="rect">
            <a:avLst/>
          </a:prstGeom>
          <a:solidFill>
            <a:srgbClr val="1A2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ver_clean.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2188952" cy="228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m_logo_white.png"/>
          <p:cNvPicPr>
            <a:picLocks noChangeAspect="1"/>
          </p:cNvPicPr>
          <p:nvPr/>
        </p:nvPicPr>
        <p:blipFill>
          <a:blip r:embed="rId3"/>
          <a:stretch>
            <a:fillRect/>
          </a:stretch>
        </p:blipFill>
        <p:spPr>
          <a:xfrm>
            <a:off x="274320" y="237744"/>
            <a:ext cx="1664208" cy="420624"/>
          </a:xfrm>
          <a:prstGeom prst="rect">
            <a:avLst/>
          </a:prstGeom>
        </p:spPr>
      </p:pic>
      <p:sp>
        <p:nvSpPr>
          <p:cNvPr id="6" name="Rectangle 5"/>
          <p:cNvSpPr/>
          <p:nvPr/>
        </p:nvSpPr>
        <p:spPr>
          <a:xfrm>
            <a:off x="0" y="6455664"/>
            <a:ext cx="12188952"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m_logo_white.png"/>
          <p:cNvPicPr>
            <a:picLocks noChangeAspect="1"/>
          </p:cNvPicPr>
          <p:nvPr/>
        </p:nvPicPr>
        <p:blipFill>
          <a:blip r:embed="rId3"/>
          <a:stretch>
            <a:fillRect/>
          </a:stretch>
        </p:blipFill>
        <p:spPr>
          <a:xfrm>
            <a:off x="274320" y="6528816"/>
            <a:ext cx="1005840" cy="256032"/>
          </a:xfrm>
          <a:prstGeom prst="rect">
            <a:avLst/>
          </a:prstGeom>
        </p:spPr>
      </p:pic>
      <p:sp>
        <p:nvSpPr>
          <p:cNvPr id="8" name="TextBox 7"/>
          <p:cNvSpPr txBox="1"/>
          <p:nvPr/>
        </p:nvSpPr>
        <p:spPr>
          <a:xfrm>
            <a:off x="11155680" y="6528816"/>
            <a:ext cx="822960" cy="256032"/>
          </a:xfrm>
          <a:prstGeom prst="rect">
            <a:avLst/>
          </a:prstGeom>
          <a:noFill/>
        </p:spPr>
        <p:txBody>
          <a:bodyPr wrap="square">
            <a:spAutoFit/>
          </a:bodyPr>
          <a:lstStyle/>
          <a:p>
            <a:pPr algn="r"/>
            <a:r>
              <a:rPr sz="700" b="0" i="0">
                <a:solidFill>
                  <a:srgbClr val="AAB4CC"/>
                </a:solidFill>
                <a:latin typeface="Calibri"/>
              </a:rPr>
              <a:t>07  /  10</a:t>
            </a:r>
          </a:p>
        </p:txBody>
      </p:sp>
      <p:sp>
        <p:nvSpPr>
          <p:cNvPr id="9" name="Rectangle 8"/>
          <p:cNvSpPr/>
          <p:nvPr/>
        </p:nvSpPr>
        <p:spPr>
          <a:xfrm>
            <a:off x="11338560" y="256032"/>
            <a:ext cx="676656" cy="256032"/>
          </a:xfrm>
          <a:prstGeom prst="rect">
            <a:avLst/>
          </a:prstGeom>
          <a:solidFill>
            <a:srgbClr val="040814"/>
          </a:solidFill>
          <a:ln w="508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338560" y="256032"/>
            <a:ext cx="676656" cy="256032"/>
          </a:xfrm>
          <a:prstGeom prst="rect">
            <a:avLst/>
          </a:prstGeom>
          <a:noFill/>
        </p:spPr>
        <p:txBody>
          <a:bodyPr wrap="square">
            <a:spAutoFit/>
          </a:bodyPr>
          <a:lstStyle/>
          <a:p>
            <a:pPr algn="ctr"/>
            <a:r>
              <a:rPr sz="800" b="1" i="0">
                <a:solidFill>
                  <a:srgbClr val="C9A84C"/>
                </a:solidFill>
                <a:latin typeface="Calibri"/>
              </a:rPr>
              <a:t>3:10</a:t>
            </a:r>
          </a:p>
        </p:txBody>
      </p:sp>
      <p:sp>
        <p:nvSpPr>
          <p:cNvPr id="11" name="TextBox 10"/>
          <p:cNvSpPr txBox="1"/>
          <p:nvPr/>
        </p:nvSpPr>
        <p:spPr>
          <a:xfrm>
            <a:off x="438912" y="347472"/>
            <a:ext cx="10972800" cy="201168"/>
          </a:xfrm>
          <a:prstGeom prst="rect">
            <a:avLst/>
          </a:prstGeom>
          <a:noFill/>
        </p:spPr>
        <p:txBody>
          <a:bodyPr wrap="square">
            <a:spAutoFit/>
          </a:bodyPr>
          <a:lstStyle/>
          <a:p>
            <a:pPr algn="l"/>
            <a:r>
              <a:rPr sz="750" b="1" i="0">
                <a:solidFill>
                  <a:srgbClr val="C9A84C"/>
                </a:solidFill>
                <a:latin typeface="Calibri"/>
              </a:rPr>
              <a:t>── MARKET · MICROSOFT · WHY NOW ──</a:t>
            </a:r>
          </a:p>
        </p:txBody>
      </p:sp>
      <p:sp>
        <p:nvSpPr>
          <p:cNvPr id="12" name="TextBox 11"/>
          <p:cNvSpPr txBox="1"/>
          <p:nvPr/>
        </p:nvSpPr>
        <p:spPr>
          <a:xfrm>
            <a:off x="438912" y="566928"/>
            <a:ext cx="6400800" cy="658368"/>
          </a:xfrm>
          <a:prstGeom prst="rect">
            <a:avLst/>
          </a:prstGeom>
          <a:noFill/>
        </p:spPr>
        <p:txBody>
          <a:bodyPr wrap="square">
            <a:spAutoFit/>
          </a:bodyPr>
          <a:lstStyle/>
          <a:p>
            <a:pPr algn="l"/>
            <a:r>
              <a:rPr sz="4200" b="1" i="0">
                <a:solidFill>
                  <a:srgbClr val="C9A84C"/>
                </a:solidFill>
                <a:latin typeface="Georgia"/>
              </a:rPr>
              <a:t>$42B Market.</a:t>
            </a:r>
          </a:p>
        </p:txBody>
      </p:sp>
      <p:sp>
        <p:nvSpPr>
          <p:cNvPr id="13" name="TextBox 12"/>
          <p:cNvSpPr txBox="1"/>
          <p:nvPr/>
        </p:nvSpPr>
        <p:spPr>
          <a:xfrm>
            <a:off x="438912" y="1207008"/>
            <a:ext cx="6400800" cy="530352"/>
          </a:xfrm>
          <a:prstGeom prst="rect">
            <a:avLst/>
          </a:prstGeom>
          <a:noFill/>
        </p:spPr>
        <p:txBody>
          <a:bodyPr wrap="square">
            <a:spAutoFit/>
          </a:bodyPr>
          <a:lstStyle/>
          <a:p>
            <a:pPr algn="l"/>
            <a:r>
              <a:rPr sz="2600" b="1" i="1">
                <a:solidFill>
                  <a:srgbClr val="FFFFFF"/>
                </a:solidFill>
                <a:latin typeface="Georgia"/>
              </a:rPr>
              <a:t>No Incumbent. Right Now.</a:t>
            </a:r>
          </a:p>
        </p:txBody>
      </p:sp>
      <p:sp>
        <p:nvSpPr>
          <p:cNvPr id="14" name="Rectangle 13"/>
          <p:cNvSpPr/>
          <p:nvPr/>
        </p:nvSpPr>
        <p:spPr>
          <a:xfrm>
            <a:off x="438912" y="2029968"/>
            <a:ext cx="5303520" cy="1225296"/>
          </a:xfrm>
          <a:prstGeom prst="rect">
            <a:avLst/>
          </a:prstGeom>
          <a:solidFill>
            <a:srgbClr val="070B24"/>
          </a:solidFill>
          <a:ln w="9525">
            <a:solidFill>
              <a:srgbClr val="AAB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121408"/>
            <a:ext cx="1920240" cy="658368"/>
          </a:xfrm>
          <a:prstGeom prst="rect">
            <a:avLst/>
          </a:prstGeom>
          <a:noFill/>
        </p:spPr>
        <p:txBody>
          <a:bodyPr wrap="square">
            <a:spAutoFit/>
          </a:bodyPr>
          <a:lstStyle/>
          <a:p>
            <a:pPr algn="l"/>
            <a:r>
              <a:rPr sz="3400" b="1" i="0">
                <a:solidFill>
                  <a:srgbClr val="AAB4CC"/>
                </a:solidFill>
                <a:latin typeface="Georgia"/>
              </a:rPr>
              <a:t>$42B</a:t>
            </a:r>
          </a:p>
        </p:txBody>
      </p:sp>
      <p:sp>
        <p:nvSpPr>
          <p:cNvPr id="16" name="TextBox 15"/>
          <p:cNvSpPr txBox="1"/>
          <p:nvPr/>
        </p:nvSpPr>
        <p:spPr>
          <a:xfrm>
            <a:off x="2542032" y="2212848"/>
            <a:ext cx="3017520" cy="731520"/>
          </a:xfrm>
          <a:prstGeom prst="rect">
            <a:avLst/>
          </a:prstGeom>
          <a:noFill/>
        </p:spPr>
        <p:txBody>
          <a:bodyPr wrap="square">
            <a:spAutoFit/>
          </a:bodyPr>
          <a:lstStyle/>
          <a:p>
            <a:pPr algn="l"/>
            <a:r>
              <a:rPr sz="1000" b="0" i="0">
                <a:solidFill>
                  <a:srgbClr val="AAB4CC"/>
                </a:solidFill>
                <a:latin typeface="Calibri"/>
              </a:rPr>
              <a:t>TAM — Enterprise Operating
Infrastructure Market</a:t>
            </a:r>
          </a:p>
        </p:txBody>
      </p:sp>
      <p:sp>
        <p:nvSpPr>
          <p:cNvPr id="17" name="Rectangle 16"/>
          <p:cNvSpPr/>
          <p:nvPr/>
        </p:nvSpPr>
        <p:spPr>
          <a:xfrm>
            <a:off x="438912" y="3383280"/>
            <a:ext cx="5303520" cy="1225296"/>
          </a:xfrm>
          <a:prstGeom prst="rect">
            <a:avLst/>
          </a:prstGeom>
          <a:solidFill>
            <a:srgbClr val="070B24"/>
          </a:solidFill>
          <a:ln w="9525">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3474720"/>
            <a:ext cx="1920240" cy="658368"/>
          </a:xfrm>
          <a:prstGeom prst="rect">
            <a:avLst/>
          </a:prstGeom>
          <a:noFill/>
        </p:spPr>
        <p:txBody>
          <a:bodyPr wrap="square">
            <a:spAutoFit/>
          </a:bodyPr>
          <a:lstStyle/>
          <a:p>
            <a:pPr algn="l"/>
            <a:r>
              <a:rPr sz="3400" b="1" i="0">
                <a:solidFill>
                  <a:srgbClr val="C9A84C"/>
                </a:solidFill>
                <a:latin typeface="Georgia"/>
              </a:rPr>
              <a:t>$4.8B</a:t>
            </a:r>
          </a:p>
        </p:txBody>
      </p:sp>
      <p:sp>
        <p:nvSpPr>
          <p:cNvPr id="19" name="TextBox 18"/>
          <p:cNvSpPr txBox="1"/>
          <p:nvPr/>
        </p:nvSpPr>
        <p:spPr>
          <a:xfrm>
            <a:off x="2542032" y="3566160"/>
            <a:ext cx="3017520" cy="731520"/>
          </a:xfrm>
          <a:prstGeom prst="rect">
            <a:avLst/>
          </a:prstGeom>
          <a:noFill/>
        </p:spPr>
        <p:txBody>
          <a:bodyPr wrap="square">
            <a:spAutoFit/>
          </a:bodyPr>
          <a:lstStyle/>
          <a:p>
            <a:pPr algn="l"/>
            <a:r>
              <a:rPr sz="1000" b="0" i="0">
                <a:solidFill>
                  <a:srgbClr val="AAB4CC"/>
                </a:solidFill>
                <a:latin typeface="Calibri"/>
              </a:rPr>
              <a:t>SAM — Mid-Market + Enterprise
Readiness Platforms</a:t>
            </a:r>
          </a:p>
        </p:txBody>
      </p:sp>
      <p:sp>
        <p:nvSpPr>
          <p:cNvPr id="20" name="Rectangle 19"/>
          <p:cNvSpPr/>
          <p:nvPr/>
        </p:nvSpPr>
        <p:spPr>
          <a:xfrm>
            <a:off x="438912" y="4736592"/>
            <a:ext cx="5303520" cy="1225296"/>
          </a:xfrm>
          <a:prstGeom prst="rect">
            <a:avLst/>
          </a:prstGeom>
          <a:solidFill>
            <a:srgbClr val="070B24"/>
          </a:solidFill>
          <a:ln w="9525">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828031"/>
            <a:ext cx="1920240" cy="658368"/>
          </a:xfrm>
          <a:prstGeom prst="rect">
            <a:avLst/>
          </a:prstGeom>
          <a:noFill/>
        </p:spPr>
        <p:txBody>
          <a:bodyPr wrap="square">
            <a:spAutoFit/>
          </a:bodyPr>
          <a:lstStyle/>
          <a:p>
            <a:pPr algn="l"/>
            <a:r>
              <a:rPr sz="3400" b="1" i="0">
                <a:solidFill>
                  <a:srgbClr val="2B8A6E"/>
                </a:solidFill>
                <a:latin typeface="Georgia"/>
              </a:rPr>
              <a:t>$180M</a:t>
            </a:r>
          </a:p>
        </p:txBody>
      </p:sp>
      <p:sp>
        <p:nvSpPr>
          <p:cNvPr id="22" name="TextBox 21"/>
          <p:cNvSpPr txBox="1"/>
          <p:nvPr/>
        </p:nvSpPr>
        <p:spPr>
          <a:xfrm>
            <a:off x="2542032" y="4919472"/>
            <a:ext cx="3017520" cy="731520"/>
          </a:xfrm>
          <a:prstGeom prst="rect">
            <a:avLst/>
          </a:prstGeom>
          <a:noFill/>
        </p:spPr>
        <p:txBody>
          <a:bodyPr wrap="square">
            <a:spAutoFit/>
          </a:bodyPr>
          <a:lstStyle/>
          <a:p>
            <a:pPr algn="l"/>
            <a:r>
              <a:rPr sz="1000" b="0" i="0">
                <a:solidFill>
                  <a:srgbClr val="AAB4CC"/>
                </a:solidFill>
                <a:latin typeface="Calibri"/>
              </a:rPr>
              <a:t>SOM — Initial Founding Partner
Cohort + Pipeline</a:t>
            </a:r>
          </a:p>
        </p:txBody>
      </p:sp>
      <p:sp>
        <p:nvSpPr>
          <p:cNvPr id="23" name="Rectangle 22"/>
          <p:cNvSpPr/>
          <p:nvPr/>
        </p:nvSpPr>
        <p:spPr>
          <a:xfrm>
            <a:off x="5925312" y="1920240"/>
            <a:ext cx="16459" cy="4389120"/>
          </a:xfrm>
          <a:prstGeom prst="rect">
            <a:avLst/>
          </a:prstGeom>
          <a:solidFill>
            <a:srgbClr val="1A2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53328" y="1938528"/>
            <a:ext cx="5925312" cy="219456"/>
          </a:xfrm>
          <a:prstGeom prst="rect">
            <a:avLst/>
          </a:prstGeom>
          <a:noFill/>
        </p:spPr>
        <p:txBody>
          <a:bodyPr wrap="square">
            <a:spAutoFit/>
          </a:bodyPr>
          <a:lstStyle/>
          <a:p>
            <a:pPr algn="l"/>
            <a:r>
              <a:rPr sz="750" b="1" i="0">
                <a:solidFill>
                  <a:srgbClr val="C9A84C"/>
                </a:solidFill>
                <a:latin typeface="Calibri"/>
              </a:rPr>
              <a:t>── THE MICROSOFT UNLOCK ──</a:t>
            </a:r>
          </a:p>
        </p:txBody>
      </p:sp>
      <p:sp>
        <p:nvSpPr>
          <p:cNvPr id="25" name="TextBox 24"/>
          <p:cNvSpPr txBox="1"/>
          <p:nvPr/>
        </p:nvSpPr>
        <p:spPr>
          <a:xfrm>
            <a:off x="6053328" y="2231136"/>
            <a:ext cx="5888736" cy="658368"/>
          </a:xfrm>
          <a:prstGeom prst="rect">
            <a:avLst/>
          </a:prstGeom>
          <a:noFill/>
        </p:spPr>
        <p:txBody>
          <a:bodyPr wrap="square">
            <a:spAutoFit/>
          </a:bodyPr>
          <a:lstStyle/>
          <a:p>
            <a:pPr algn="l"/>
            <a:r>
              <a:rPr sz="1400" b="1" i="1">
                <a:solidFill>
                  <a:srgbClr val="FFFFFF"/>
                </a:solidFill>
                <a:latin typeface="Georgia"/>
              </a:rPr>
              <a:t>"Every enterprise has Microsoft's AI stack.
None have the operating model to use it."</a:t>
            </a:r>
          </a:p>
        </p:txBody>
      </p:sp>
      <p:sp>
        <p:nvSpPr>
          <p:cNvPr id="26" name="TextBox 25"/>
          <p:cNvSpPr txBox="1"/>
          <p:nvPr/>
        </p:nvSpPr>
        <p:spPr>
          <a:xfrm>
            <a:off x="6053328" y="3017520"/>
            <a:ext cx="5888736" cy="237744"/>
          </a:xfrm>
          <a:prstGeom prst="rect">
            <a:avLst/>
          </a:prstGeom>
          <a:noFill/>
        </p:spPr>
        <p:txBody>
          <a:bodyPr wrap="square">
            <a:spAutoFit/>
          </a:bodyPr>
          <a:lstStyle/>
          <a:p>
            <a:pPr algn="l"/>
            <a:r>
              <a:rPr sz="900" b="1" i="0">
                <a:solidFill>
                  <a:srgbClr val="C9A84C"/>
                </a:solidFill>
                <a:latin typeface="Calibri"/>
              </a:rPr>
              <a:t>◆  NOT COMPETING</a:t>
            </a:r>
          </a:p>
        </p:txBody>
      </p:sp>
      <p:sp>
        <p:nvSpPr>
          <p:cNvPr id="27" name="TextBox 26"/>
          <p:cNvSpPr txBox="1"/>
          <p:nvPr/>
        </p:nvSpPr>
        <p:spPr>
          <a:xfrm>
            <a:off x="6199632" y="3310127"/>
            <a:ext cx="5742432" cy="676656"/>
          </a:xfrm>
          <a:prstGeom prst="rect">
            <a:avLst/>
          </a:prstGeom>
          <a:noFill/>
        </p:spPr>
        <p:txBody>
          <a:bodyPr wrap="square">
            <a:spAutoFit/>
          </a:bodyPr>
          <a:lstStyle/>
          <a:p>
            <a:pPr algn="l"/>
            <a:r>
              <a:rPr sz="950" b="0" i="0">
                <a:solidFill>
                  <a:srgbClr val="AAB4CC"/>
                </a:solidFill>
                <a:latin typeface="Calibri"/>
              </a:rPr>
              <a:t>We complete Microsoft Copilot — the orchestration layer above the investment. We open every enterprise door without competing with the tool on their desktop.</a:t>
            </a:r>
          </a:p>
        </p:txBody>
      </p:sp>
      <p:sp>
        <p:nvSpPr>
          <p:cNvPr id="28" name="Rectangle 27"/>
          <p:cNvSpPr/>
          <p:nvPr/>
        </p:nvSpPr>
        <p:spPr>
          <a:xfrm>
            <a:off x="6053328" y="3986783"/>
            <a:ext cx="5888736" cy="10972"/>
          </a:xfrm>
          <a:prstGeom prst="rect">
            <a:avLst/>
          </a:prstGeom>
          <a:solidFill>
            <a:srgbClr val="1A2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53328" y="4096511"/>
            <a:ext cx="5888736" cy="237744"/>
          </a:xfrm>
          <a:prstGeom prst="rect">
            <a:avLst/>
          </a:prstGeom>
          <a:noFill/>
        </p:spPr>
        <p:txBody>
          <a:bodyPr wrap="square">
            <a:spAutoFit/>
          </a:bodyPr>
          <a:lstStyle/>
          <a:p>
            <a:pPr algn="l"/>
            <a:r>
              <a:rPr sz="900" b="1" i="0">
                <a:solidFill>
                  <a:srgbClr val="2B8A6E"/>
                </a:solidFill>
                <a:latin typeface="Calibri"/>
              </a:rPr>
              <a:t>◆  WHY NOW</a:t>
            </a:r>
          </a:p>
        </p:txBody>
      </p:sp>
      <p:sp>
        <p:nvSpPr>
          <p:cNvPr id="30" name="TextBox 29"/>
          <p:cNvSpPr txBox="1"/>
          <p:nvPr/>
        </p:nvSpPr>
        <p:spPr>
          <a:xfrm>
            <a:off x="6199632" y="4389120"/>
            <a:ext cx="5742432" cy="676656"/>
          </a:xfrm>
          <a:prstGeom prst="rect">
            <a:avLst/>
          </a:prstGeom>
          <a:noFill/>
        </p:spPr>
        <p:txBody>
          <a:bodyPr wrap="square">
            <a:spAutoFit/>
          </a:bodyPr>
          <a:lstStyle/>
          <a:p>
            <a:pPr algn="l"/>
            <a:r>
              <a:rPr sz="950" b="0" i="0">
                <a:solidFill>
                  <a:srgbClr val="AAB4CC"/>
                </a:solidFill>
                <a:latin typeface="Calibri"/>
              </a:rPr>
              <a:t>Every Azure AI and Copilot deployment created demand for the execution layer above it. No established incumbent owns this orchestration position. The window is open now.</a:t>
            </a:r>
          </a:p>
        </p:txBody>
      </p:sp>
      <p:sp>
        <p:nvSpPr>
          <p:cNvPr id="31" name="Rectangle 30"/>
          <p:cNvSpPr/>
          <p:nvPr/>
        </p:nvSpPr>
        <p:spPr>
          <a:xfrm>
            <a:off x="6053328" y="5065775"/>
            <a:ext cx="5888736" cy="10972"/>
          </a:xfrm>
          <a:prstGeom prst="rect">
            <a:avLst/>
          </a:prstGeom>
          <a:solidFill>
            <a:srgbClr val="1A2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53328" y="5175504"/>
            <a:ext cx="5888736" cy="237744"/>
          </a:xfrm>
          <a:prstGeom prst="rect">
            <a:avLst/>
          </a:prstGeom>
          <a:noFill/>
        </p:spPr>
        <p:txBody>
          <a:bodyPr wrap="square">
            <a:spAutoFit/>
          </a:bodyPr>
          <a:lstStyle/>
          <a:p>
            <a:pPr algn="l"/>
            <a:r>
              <a:rPr sz="900" b="1" i="0">
                <a:solidFill>
                  <a:srgbClr val="C9A84C"/>
                </a:solidFill>
                <a:latin typeface="Calibri"/>
              </a:rPr>
              <a:t>◆  THE DOOR</a:t>
            </a:r>
          </a:p>
        </p:txBody>
      </p:sp>
      <p:sp>
        <p:nvSpPr>
          <p:cNvPr id="33" name="TextBox 32"/>
          <p:cNvSpPr txBox="1"/>
          <p:nvPr/>
        </p:nvSpPr>
        <p:spPr>
          <a:xfrm>
            <a:off x="6199632" y="5468112"/>
            <a:ext cx="5742432" cy="676656"/>
          </a:xfrm>
          <a:prstGeom prst="rect">
            <a:avLst/>
          </a:prstGeom>
          <a:noFill/>
        </p:spPr>
        <p:txBody>
          <a:bodyPr wrap="square">
            <a:spAutoFit/>
          </a:bodyPr>
          <a:lstStyle/>
          <a:p>
            <a:pPr algn="l"/>
            <a:r>
              <a:rPr sz="950" b="0" i="0">
                <a:solidFill>
                  <a:srgbClr val="AAB4CC"/>
                </a:solidFill>
                <a:latin typeface="Calibri"/>
              </a:rPr>
              <a:t>"Your Microsoft investment is already in place. Readiness OS is the operating model layer that makes it execute at enterprise speed."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ver_clean.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2188952" cy="228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m_logo_white.png"/>
          <p:cNvPicPr>
            <a:picLocks noChangeAspect="1"/>
          </p:cNvPicPr>
          <p:nvPr/>
        </p:nvPicPr>
        <p:blipFill>
          <a:blip r:embed="rId3"/>
          <a:stretch>
            <a:fillRect/>
          </a:stretch>
        </p:blipFill>
        <p:spPr>
          <a:xfrm>
            <a:off x="274320" y="237744"/>
            <a:ext cx="1664208" cy="420624"/>
          </a:xfrm>
          <a:prstGeom prst="rect">
            <a:avLst/>
          </a:prstGeom>
        </p:spPr>
      </p:pic>
      <p:sp>
        <p:nvSpPr>
          <p:cNvPr id="6" name="Rectangle 5"/>
          <p:cNvSpPr/>
          <p:nvPr/>
        </p:nvSpPr>
        <p:spPr>
          <a:xfrm>
            <a:off x="0" y="6455664"/>
            <a:ext cx="12188952"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m_logo_white.png"/>
          <p:cNvPicPr>
            <a:picLocks noChangeAspect="1"/>
          </p:cNvPicPr>
          <p:nvPr/>
        </p:nvPicPr>
        <p:blipFill>
          <a:blip r:embed="rId3"/>
          <a:stretch>
            <a:fillRect/>
          </a:stretch>
        </p:blipFill>
        <p:spPr>
          <a:xfrm>
            <a:off x="274320" y="6528816"/>
            <a:ext cx="1005840" cy="256032"/>
          </a:xfrm>
          <a:prstGeom prst="rect">
            <a:avLst/>
          </a:prstGeom>
        </p:spPr>
      </p:pic>
      <p:sp>
        <p:nvSpPr>
          <p:cNvPr id="8" name="TextBox 7"/>
          <p:cNvSpPr txBox="1"/>
          <p:nvPr/>
        </p:nvSpPr>
        <p:spPr>
          <a:xfrm>
            <a:off x="11155680" y="6528816"/>
            <a:ext cx="822960" cy="256032"/>
          </a:xfrm>
          <a:prstGeom prst="rect">
            <a:avLst/>
          </a:prstGeom>
          <a:noFill/>
        </p:spPr>
        <p:txBody>
          <a:bodyPr wrap="square">
            <a:spAutoFit/>
          </a:bodyPr>
          <a:lstStyle/>
          <a:p>
            <a:pPr algn="r"/>
            <a:r>
              <a:rPr sz="700" b="0" i="0">
                <a:solidFill>
                  <a:srgbClr val="AAB4CC"/>
                </a:solidFill>
                <a:latin typeface="Calibri"/>
              </a:rPr>
              <a:t>08  /  10</a:t>
            </a:r>
          </a:p>
        </p:txBody>
      </p:sp>
      <p:sp>
        <p:nvSpPr>
          <p:cNvPr id="9" name="Rectangle 8"/>
          <p:cNvSpPr/>
          <p:nvPr/>
        </p:nvSpPr>
        <p:spPr>
          <a:xfrm>
            <a:off x="11338560" y="256032"/>
            <a:ext cx="676656" cy="256032"/>
          </a:xfrm>
          <a:prstGeom prst="rect">
            <a:avLst/>
          </a:prstGeom>
          <a:solidFill>
            <a:srgbClr val="040814"/>
          </a:solidFill>
          <a:ln w="508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338560" y="256032"/>
            <a:ext cx="676656" cy="256032"/>
          </a:xfrm>
          <a:prstGeom prst="rect">
            <a:avLst/>
          </a:prstGeom>
          <a:noFill/>
        </p:spPr>
        <p:txBody>
          <a:bodyPr wrap="square">
            <a:spAutoFit/>
          </a:bodyPr>
          <a:lstStyle/>
          <a:p>
            <a:pPr algn="ctr"/>
            <a:r>
              <a:rPr sz="800" b="1" i="0">
                <a:solidFill>
                  <a:srgbClr val="C9A84C"/>
                </a:solidFill>
                <a:latin typeface="Calibri"/>
              </a:rPr>
              <a:t>3:38</a:t>
            </a:r>
          </a:p>
        </p:txBody>
      </p:sp>
      <p:sp>
        <p:nvSpPr>
          <p:cNvPr id="11" name="TextBox 10"/>
          <p:cNvSpPr txBox="1"/>
          <p:nvPr/>
        </p:nvSpPr>
        <p:spPr>
          <a:xfrm>
            <a:off x="438912" y="347472"/>
            <a:ext cx="10972800" cy="201168"/>
          </a:xfrm>
          <a:prstGeom prst="rect">
            <a:avLst/>
          </a:prstGeom>
          <a:noFill/>
        </p:spPr>
        <p:txBody>
          <a:bodyPr wrap="square">
            <a:spAutoFit/>
          </a:bodyPr>
          <a:lstStyle/>
          <a:p>
            <a:pPr algn="l"/>
            <a:r>
              <a:rPr sz="750" b="1" i="0">
                <a:solidFill>
                  <a:srgbClr val="C9A84C"/>
                </a:solidFill>
                <a:latin typeface="Calibri"/>
              </a:rPr>
              <a:t>── PROOF + BUSINESS MODEL ──</a:t>
            </a:r>
          </a:p>
        </p:txBody>
      </p:sp>
      <p:sp>
        <p:nvSpPr>
          <p:cNvPr id="12" name="TextBox 11"/>
          <p:cNvSpPr txBox="1"/>
          <p:nvPr/>
        </p:nvSpPr>
        <p:spPr>
          <a:xfrm>
            <a:off x="438912" y="566928"/>
            <a:ext cx="6400800" cy="640080"/>
          </a:xfrm>
          <a:prstGeom prst="rect">
            <a:avLst/>
          </a:prstGeom>
          <a:noFill/>
        </p:spPr>
        <p:txBody>
          <a:bodyPr wrap="square">
            <a:spAutoFit/>
          </a:bodyPr>
          <a:lstStyle/>
          <a:p>
            <a:pPr algn="l"/>
            <a:r>
              <a:rPr sz="3600" b="1" i="0">
                <a:solidFill>
                  <a:srgbClr val="FFFFFF"/>
                </a:solidFill>
                <a:latin typeface="Georgia"/>
              </a:rPr>
              <a:t>The Product Is Live.</a:t>
            </a:r>
          </a:p>
        </p:txBody>
      </p:sp>
      <p:sp>
        <p:nvSpPr>
          <p:cNvPr id="13" name="TextBox 12"/>
          <p:cNvSpPr txBox="1"/>
          <p:nvPr/>
        </p:nvSpPr>
        <p:spPr>
          <a:xfrm>
            <a:off x="438912" y="1188720"/>
            <a:ext cx="6400800" cy="493776"/>
          </a:xfrm>
          <a:prstGeom prst="rect">
            <a:avLst/>
          </a:prstGeom>
          <a:noFill/>
        </p:spPr>
        <p:txBody>
          <a:bodyPr wrap="square">
            <a:spAutoFit/>
          </a:bodyPr>
          <a:lstStyle/>
          <a:p>
            <a:pPr algn="l"/>
            <a:r>
              <a:rPr sz="2400" b="1" i="1">
                <a:solidFill>
                  <a:srgbClr val="C9A84C"/>
                </a:solidFill>
                <a:latin typeface="Georgia"/>
              </a:rPr>
              <a:t>Run it right now. No login.</a:t>
            </a:r>
          </a:p>
        </p:txBody>
      </p:sp>
      <p:sp>
        <p:nvSpPr>
          <p:cNvPr id="14" name="Rectangle 13"/>
          <p:cNvSpPr/>
          <p:nvPr/>
        </p:nvSpPr>
        <p:spPr>
          <a:xfrm>
            <a:off x="438912" y="1901952"/>
            <a:ext cx="5541264" cy="1280160"/>
          </a:xfrm>
          <a:prstGeom prst="rect">
            <a:avLst/>
          </a:prstGeom>
          <a:solidFill>
            <a:srgbClr val="070B24"/>
          </a:solidFill>
          <a:ln w="9525">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1993392"/>
            <a:ext cx="5303520" cy="237744"/>
          </a:xfrm>
          <a:prstGeom prst="rect">
            <a:avLst/>
          </a:prstGeom>
          <a:noFill/>
        </p:spPr>
        <p:txBody>
          <a:bodyPr wrap="square">
            <a:spAutoFit/>
          </a:bodyPr>
          <a:lstStyle/>
          <a:p>
            <a:pPr algn="l"/>
            <a:r>
              <a:rPr sz="1000" b="1" i="1">
                <a:solidFill>
                  <a:srgbClr val="2B8A6E"/>
                </a:solidFill>
                <a:latin typeface="Calibri"/>
              </a:rPr>
              <a:t>/12-minute-experience</a:t>
            </a:r>
          </a:p>
        </p:txBody>
      </p:sp>
      <p:sp>
        <p:nvSpPr>
          <p:cNvPr id="16" name="TextBox 15"/>
          <p:cNvSpPr txBox="1"/>
          <p:nvPr/>
        </p:nvSpPr>
        <p:spPr>
          <a:xfrm>
            <a:off x="566928" y="2286000"/>
            <a:ext cx="5303520" cy="786384"/>
          </a:xfrm>
          <a:prstGeom prst="rect">
            <a:avLst/>
          </a:prstGeom>
          <a:noFill/>
        </p:spPr>
        <p:txBody>
          <a:bodyPr wrap="square">
            <a:spAutoFit/>
          </a:bodyPr>
          <a:lstStyle/>
          <a:p>
            <a:pPr algn="l"/>
            <a:r>
              <a:rPr sz="950" b="0" i="0">
                <a:solidFill>
                  <a:srgbClr val="AAB4CC"/>
                </a:solidFill>
                <a:latin typeface="Calibri"/>
              </a:rPr>
              <a:t>7 live scenarios, no login, no demo call. Run a full Activist Investor or Ransomware response from signal to war room in 12 minutes — during this meeting.</a:t>
            </a:r>
          </a:p>
        </p:txBody>
      </p:sp>
      <p:sp>
        <p:nvSpPr>
          <p:cNvPr id="17" name="Rectangle 16"/>
          <p:cNvSpPr/>
          <p:nvPr/>
        </p:nvSpPr>
        <p:spPr>
          <a:xfrm>
            <a:off x="438912" y="3291840"/>
            <a:ext cx="5541264" cy="1280160"/>
          </a:xfrm>
          <a:prstGeom prst="rect">
            <a:avLst/>
          </a:prstGeom>
          <a:solidFill>
            <a:srgbClr val="070B24"/>
          </a:solidFill>
          <a:ln w="9525">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3383280"/>
            <a:ext cx="5303520" cy="237744"/>
          </a:xfrm>
          <a:prstGeom prst="rect">
            <a:avLst/>
          </a:prstGeom>
          <a:noFill/>
        </p:spPr>
        <p:txBody>
          <a:bodyPr wrap="square">
            <a:spAutoFit/>
          </a:bodyPr>
          <a:lstStyle/>
          <a:p>
            <a:pPr algn="l"/>
            <a:r>
              <a:rPr sz="1000" b="1" i="1">
                <a:solidFill>
                  <a:srgbClr val="C9A84C"/>
                </a:solidFill>
                <a:latin typeface="Calibri"/>
              </a:rPr>
              <a:t>/demo-hub</a:t>
            </a:r>
          </a:p>
        </p:txBody>
      </p:sp>
      <p:sp>
        <p:nvSpPr>
          <p:cNvPr id="19" name="TextBox 18"/>
          <p:cNvSpPr txBox="1"/>
          <p:nvPr/>
        </p:nvSpPr>
        <p:spPr>
          <a:xfrm>
            <a:off x="566928" y="3675888"/>
            <a:ext cx="5303520" cy="786384"/>
          </a:xfrm>
          <a:prstGeom prst="rect">
            <a:avLst/>
          </a:prstGeom>
          <a:noFill/>
        </p:spPr>
        <p:txBody>
          <a:bodyPr wrap="square">
            <a:spAutoFit/>
          </a:bodyPr>
          <a:lstStyle/>
          <a:p>
            <a:pPr algn="l"/>
            <a:r>
              <a:rPr sz="950" b="0" i="0">
                <a:solidFill>
                  <a:srgbClr val="AAB4CC"/>
                </a:solidFill>
                <a:latin typeface="Calibri"/>
              </a:rPr>
              <a:t>12 full scenario simulations across all 3 domains. Every industry. CEO, COO, Risk Head walkthroughs. Demonstrable on demand, right now.</a:t>
            </a:r>
          </a:p>
        </p:txBody>
      </p:sp>
      <p:sp>
        <p:nvSpPr>
          <p:cNvPr id="20" name="Rectangle 19"/>
          <p:cNvSpPr/>
          <p:nvPr/>
        </p:nvSpPr>
        <p:spPr>
          <a:xfrm>
            <a:off x="438912" y="4681728"/>
            <a:ext cx="5541264" cy="1280160"/>
          </a:xfrm>
          <a:prstGeom prst="rect">
            <a:avLst/>
          </a:prstGeom>
          <a:solidFill>
            <a:srgbClr val="070B24"/>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773168"/>
            <a:ext cx="5303520" cy="237744"/>
          </a:xfrm>
          <a:prstGeom prst="rect">
            <a:avLst/>
          </a:prstGeom>
          <a:noFill/>
        </p:spPr>
        <p:txBody>
          <a:bodyPr wrap="square">
            <a:spAutoFit/>
          </a:bodyPr>
          <a:lstStyle/>
          <a:p>
            <a:pPr algn="l"/>
            <a:r>
              <a:rPr sz="1000" b="1" i="1">
                <a:solidFill>
                  <a:srgbClr val="FFFFFF"/>
                </a:solidFill>
                <a:latin typeface="Calibri"/>
              </a:rPr>
              <a:t>/master-demo</a:t>
            </a:r>
          </a:p>
        </p:txBody>
      </p:sp>
      <p:sp>
        <p:nvSpPr>
          <p:cNvPr id="22" name="TextBox 21"/>
          <p:cNvSpPr txBox="1"/>
          <p:nvPr/>
        </p:nvSpPr>
        <p:spPr>
          <a:xfrm>
            <a:off x="566928" y="5065776"/>
            <a:ext cx="5303520" cy="786384"/>
          </a:xfrm>
          <a:prstGeom prst="rect">
            <a:avLst/>
          </a:prstGeom>
          <a:noFill/>
        </p:spPr>
        <p:txBody>
          <a:bodyPr wrap="square">
            <a:spAutoFit/>
          </a:bodyPr>
          <a:lstStyle/>
          <a:p>
            <a:pPr algn="l"/>
            <a:r>
              <a:rPr sz="950" b="0" i="0">
                <a:solidFill>
                  <a:srgbClr val="AAB4CC"/>
                </a:solidFill>
                <a:latin typeface="Calibri"/>
              </a:rPr>
              <a:t>Complete 7-phase Activist Investor walkthrough — signal detection through post-activation debrief. Every platform layer in one sequence.</a:t>
            </a:r>
          </a:p>
        </p:txBody>
      </p:sp>
      <p:sp>
        <p:nvSpPr>
          <p:cNvPr id="23" name="Rectangle 22"/>
          <p:cNvSpPr/>
          <p:nvPr/>
        </p:nvSpPr>
        <p:spPr>
          <a:xfrm>
            <a:off x="6144768" y="1828800"/>
            <a:ext cx="16459" cy="4462272"/>
          </a:xfrm>
          <a:prstGeom prst="rect">
            <a:avLst/>
          </a:prstGeom>
          <a:solidFill>
            <a:srgbClr val="1A2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72784" y="1847088"/>
            <a:ext cx="5705856" cy="219456"/>
          </a:xfrm>
          <a:prstGeom prst="rect">
            <a:avLst/>
          </a:prstGeom>
          <a:noFill/>
        </p:spPr>
        <p:txBody>
          <a:bodyPr wrap="square">
            <a:spAutoFit/>
          </a:bodyPr>
          <a:lstStyle/>
          <a:p>
            <a:pPr algn="l"/>
            <a:r>
              <a:rPr sz="750" b="1" i="0">
                <a:solidFill>
                  <a:srgbClr val="C9A84C"/>
                </a:solidFill>
                <a:latin typeface="Calibri"/>
              </a:rPr>
              <a:t>── BUSINESS MODEL ──</a:t>
            </a:r>
          </a:p>
        </p:txBody>
      </p:sp>
      <p:sp>
        <p:nvSpPr>
          <p:cNvPr id="25" name="Rectangle 24"/>
          <p:cNvSpPr/>
          <p:nvPr/>
        </p:nvSpPr>
        <p:spPr>
          <a:xfrm>
            <a:off x="6272784" y="2139696"/>
            <a:ext cx="2670048" cy="694944"/>
          </a:xfrm>
          <a:prstGeom prst="rect">
            <a:avLst/>
          </a:prstGeom>
          <a:solidFill>
            <a:srgbClr val="070B24"/>
          </a:solidFill>
          <a:ln w="63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176272"/>
            <a:ext cx="2487168" cy="384048"/>
          </a:xfrm>
          <a:prstGeom prst="rect">
            <a:avLst/>
          </a:prstGeom>
          <a:noFill/>
        </p:spPr>
        <p:txBody>
          <a:bodyPr wrap="square">
            <a:spAutoFit/>
          </a:bodyPr>
          <a:lstStyle/>
          <a:p>
            <a:pPr algn="ctr"/>
            <a:r>
              <a:rPr sz="2600" b="1" i="0">
                <a:solidFill>
                  <a:srgbClr val="C9A84C"/>
                </a:solidFill>
                <a:latin typeface="Georgia"/>
              </a:rPr>
              <a:t>$120K</a:t>
            </a:r>
          </a:p>
        </p:txBody>
      </p:sp>
      <p:sp>
        <p:nvSpPr>
          <p:cNvPr id="27" name="TextBox 26"/>
          <p:cNvSpPr txBox="1"/>
          <p:nvPr/>
        </p:nvSpPr>
        <p:spPr>
          <a:xfrm>
            <a:off x="6364224" y="2596896"/>
            <a:ext cx="2487168" cy="201168"/>
          </a:xfrm>
          <a:prstGeom prst="rect">
            <a:avLst/>
          </a:prstGeom>
          <a:noFill/>
        </p:spPr>
        <p:txBody>
          <a:bodyPr wrap="square">
            <a:spAutoFit/>
          </a:bodyPr>
          <a:lstStyle/>
          <a:p>
            <a:pPr algn="ctr"/>
            <a:r>
              <a:rPr sz="800" b="1" i="0">
                <a:solidFill>
                  <a:srgbClr val="AAB4CC"/>
                </a:solidFill>
                <a:latin typeface="Calibri"/>
              </a:rPr>
              <a:t>Average ACV</a:t>
            </a:r>
          </a:p>
        </p:txBody>
      </p:sp>
      <p:sp>
        <p:nvSpPr>
          <p:cNvPr id="28" name="Rectangle 27"/>
          <p:cNvSpPr/>
          <p:nvPr/>
        </p:nvSpPr>
        <p:spPr>
          <a:xfrm>
            <a:off x="9125712" y="2139696"/>
            <a:ext cx="2670048" cy="694944"/>
          </a:xfrm>
          <a:prstGeom prst="rect">
            <a:avLst/>
          </a:prstGeom>
          <a:solidFill>
            <a:srgbClr val="070B24"/>
          </a:solidFill>
          <a:ln w="635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17152" y="2176272"/>
            <a:ext cx="2487168" cy="384048"/>
          </a:xfrm>
          <a:prstGeom prst="rect">
            <a:avLst/>
          </a:prstGeom>
          <a:noFill/>
        </p:spPr>
        <p:txBody>
          <a:bodyPr wrap="square">
            <a:spAutoFit/>
          </a:bodyPr>
          <a:lstStyle/>
          <a:p>
            <a:pPr algn="ctr"/>
            <a:r>
              <a:rPr sz="2600" b="1" i="0">
                <a:solidFill>
                  <a:srgbClr val="2B8A6E"/>
                </a:solidFill>
                <a:latin typeface="Georgia"/>
              </a:rPr>
              <a:t>92%</a:t>
            </a:r>
          </a:p>
        </p:txBody>
      </p:sp>
      <p:sp>
        <p:nvSpPr>
          <p:cNvPr id="30" name="TextBox 29"/>
          <p:cNvSpPr txBox="1"/>
          <p:nvPr/>
        </p:nvSpPr>
        <p:spPr>
          <a:xfrm>
            <a:off x="9217152" y="2596896"/>
            <a:ext cx="2487168" cy="201168"/>
          </a:xfrm>
          <a:prstGeom prst="rect">
            <a:avLst/>
          </a:prstGeom>
          <a:noFill/>
        </p:spPr>
        <p:txBody>
          <a:bodyPr wrap="square">
            <a:spAutoFit/>
          </a:bodyPr>
          <a:lstStyle/>
          <a:p>
            <a:pPr algn="ctr"/>
            <a:r>
              <a:rPr sz="800" b="1" i="0">
                <a:solidFill>
                  <a:srgbClr val="CCD2DF"/>
                </a:solidFill>
                <a:latin typeface="Calibri"/>
              </a:rPr>
              <a:t>Target Gross Margin</a:t>
            </a:r>
          </a:p>
        </p:txBody>
      </p:sp>
      <p:sp>
        <p:nvSpPr>
          <p:cNvPr id="31" name="Rectangle 30"/>
          <p:cNvSpPr/>
          <p:nvPr/>
        </p:nvSpPr>
        <p:spPr>
          <a:xfrm>
            <a:off x="6272784" y="2926079"/>
            <a:ext cx="2670048" cy="694944"/>
          </a:xfrm>
          <a:prstGeom prst="rect">
            <a:avLst/>
          </a:prstGeom>
          <a:solidFill>
            <a:srgbClr val="070B24"/>
          </a:solidFill>
          <a:ln w="6350">
            <a:solidFill>
              <a:srgbClr val="AAB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64224" y="2962656"/>
            <a:ext cx="2487168" cy="384048"/>
          </a:xfrm>
          <a:prstGeom prst="rect">
            <a:avLst/>
          </a:prstGeom>
          <a:noFill/>
        </p:spPr>
        <p:txBody>
          <a:bodyPr wrap="square">
            <a:spAutoFit/>
          </a:bodyPr>
          <a:lstStyle/>
          <a:p>
            <a:pPr algn="ctr"/>
            <a:r>
              <a:rPr sz="2600" b="1" i="0">
                <a:solidFill>
                  <a:srgbClr val="2B8A6E"/>
                </a:solidFill>
                <a:latin typeface="Georgia"/>
              </a:rPr>
              <a:t>2–4 Weeks</a:t>
            </a:r>
          </a:p>
        </p:txBody>
      </p:sp>
      <p:sp>
        <p:nvSpPr>
          <p:cNvPr id="33" name="TextBox 32"/>
          <p:cNvSpPr txBox="1"/>
          <p:nvPr/>
        </p:nvSpPr>
        <p:spPr>
          <a:xfrm>
            <a:off x="6364224" y="3383279"/>
            <a:ext cx="2487168" cy="201168"/>
          </a:xfrm>
          <a:prstGeom prst="rect">
            <a:avLst/>
          </a:prstGeom>
          <a:noFill/>
        </p:spPr>
        <p:txBody>
          <a:bodyPr wrap="square">
            <a:spAutoFit/>
          </a:bodyPr>
          <a:lstStyle/>
          <a:p>
            <a:pPr algn="ctr"/>
            <a:r>
              <a:rPr sz="800" b="1" i="0">
                <a:solidFill>
                  <a:srgbClr val="AAB4CC"/>
                </a:solidFill>
                <a:latin typeface="Calibri"/>
              </a:rPr>
              <a:t>First Results</a:t>
            </a:r>
          </a:p>
        </p:txBody>
      </p:sp>
      <p:sp>
        <p:nvSpPr>
          <p:cNvPr id="34" name="Rectangle 33"/>
          <p:cNvSpPr/>
          <p:nvPr/>
        </p:nvSpPr>
        <p:spPr>
          <a:xfrm>
            <a:off x="9125712" y="2926079"/>
            <a:ext cx="2670048" cy="694944"/>
          </a:xfrm>
          <a:prstGeom prst="rect">
            <a:avLst/>
          </a:prstGeom>
          <a:solidFill>
            <a:srgbClr val="070B24"/>
          </a:solidFill>
          <a:ln w="6350">
            <a:solidFill>
              <a:srgbClr val="AAB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17152" y="2962656"/>
            <a:ext cx="2487168" cy="384048"/>
          </a:xfrm>
          <a:prstGeom prst="rect">
            <a:avLst/>
          </a:prstGeom>
          <a:noFill/>
        </p:spPr>
        <p:txBody>
          <a:bodyPr wrap="square">
            <a:spAutoFit/>
          </a:bodyPr>
          <a:lstStyle/>
          <a:p>
            <a:pPr algn="ctr"/>
            <a:r>
              <a:rPr sz="2600" b="1" i="0">
                <a:solidFill>
                  <a:srgbClr val="2B8A6E"/>
                </a:solidFill>
                <a:latin typeface="Georgia"/>
              </a:rPr>
              <a:t>&lt; 6 mo</a:t>
            </a:r>
          </a:p>
        </p:txBody>
      </p:sp>
      <p:sp>
        <p:nvSpPr>
          <p:cNvPr id="36" name="TextBox 35"/>
          <p:cNvSpPr txBox="1"/>
          <p:nvPr/>
        </p:nvSpPr>
        <p:spPr>
          <a:xfrm>
            <a:off x="9217152" y="3383279"/>
            <a:ext cx="2487168" cy="201168"/>
          </a:xfrm>
          <a:prstGeom prst="rect">
            <a:avLst/>
          </a:prstGeom>
          <a:noFill/>
        </p:spPr>
        <p:txBody>
          <a:bodyPr wrap="square">
            <a:spAutoFit/>
          </a:bodyPr>
          <a:lstStyle/>
          <a:p>
            <a:pPr algn="ctr"/>
            <a:r>
              <a:rPr sz="800" b="1" i="0">
                <a:solidFill>
                  <a:srgbClr val="AAB4CC"/>
                </a:solidFill>
                <a:latin typeface="Calibri"/>
              </a:rPr>
              <a:t>Payback Period</a:t>
            </a:r>
          </a:p>
        </p:txBody>
      </p:sp>
      <p:sp>
        <p:nvSpPr>
          <p:cNvPr id="37" name="TextBox 36"/>
          <p:cNvSpPr txBox="1"/>
          <p:nvPr/>
        </p:nvSpPr>
        <p:spPr>
          <a:xfrm>
            <a:off x="6272784" y="3822191"/>
            <a:ext cx="5705856" cy="219456"/>
          </a:xfrm>
          <a:prstGeom prst="rect">
            <a:avLst/>
          </a:prstGeom>
          <a:noFill/>
        </p:spPr>
        <p:txBody>
          <a:bodyPr wrap="square">
            <a:spAutoFit/>
          </a:bodyPr>
          <a:lstStyle/>
          <a:p>
            <a:pPr algn="l"/>
            <a:r>
              <a:rPr sz="750" b="1" i="0">
                <a:solidFill>
                  <a:srgbClr val="C9A84C"/>
                </a:solidFill>
                <a:latin typeface="Calibri"/>
              </a:rPr>
              <a:t>── THREE-TIER MODEL ──</a:t>
            </a:r>
          </a:p>
        </p:txBody>
      </p:sp>
      <p:sp>
        <p:nvSpPr>
          <p:cNvPr id="38" name="Rectangle 37"/>
          <p:cNvSpPr/>
          <p:nvPr/>
        </p:nvSpPr>
        <p:spPr>
          <a:xfrm>
            <a:off x="6272784" y="4078224"/>
            <a:ext cx="5705856" cy="621792"/>
          </a:xfrm>
          <a:prstGeom prst="rect">
            <a:avLst/>
          </a:prstGeom>
          <a:solidFill>
            <a:srgbClr val="070B24"/>
          </a:solidFill>
          <a:ln w="5080">
            <a:solidFill>
              <a:srgbClr val="AAB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82512" y="4133087"/>
            <a:ext cx="2231136" cy="201168"/>
          </a:xfrm>
          <a:prstGeom prst="rect">
            <a:avLst/>
          </a:prstGeom>
          <a:noFill/>
        </p:spPr>
        <p:txBody>
          <a:bodyPr wrap="square">
            <a:spAutoFit/>
          </a:bodyPr>
          <a:lstStyle/>
          <a:p>
            <a:pPr algn="l"/>
            <a:r>
              <a:rPr sz="850" b="1" i="0">
                <a:solidFill>
                  <a:srgbClr val="AAB4CC"/>
                </a:solidFill>
                <a:latin typeface="Calibri"/>
              </a:rPr>
              <a:t>READINESS CORE</a:t>
            </a:r>
          </a:p>
        </p:txBody>
      </p:sp>
      <p:sp>
        <p:nvSpPr>
          <p:cNvPr id="40" name="TextBox 39"/>
          <p:cNvSpPr txBox="1"/>
          <p:nvPr/>
        </p:nvSpPr>
        <p:spPr>
          <a:xfrm>
            <a:off x="6382512" y="4352544"/>
            <a:ext cx="2231136" cy="274320"/>
          </a:xfrm>
          <a:prstGeom prst="rect">
            <a:avLst/>
          </a:prstGeom>
          <a:noFill/>
        </p:spPr>
        <p:txBody>
          <a:bodyPr wrap="square">
            <a:spAutoFit/>
          </a:bodyPr>
          <a:lstStyle/>
          <a:p>
            <a:pPr algn="l"/>
            <a:r>
              <a:rPr sz="1100" b="1" i="0">
                <a:solidFill>
                  <a:srgbClr val="FFFFFF"/>
                </a:solidFill>
                <a:latin typeface="Georgia"/>
              </a:rPr>
              <a:t>$75K–$120K/yr</a:t>
            </a:r>
          </a:p>
        </p:txBody>
      </p:sp>
      <p:sp>
        <p:nvSpPr>
          <p:cNvPr id="41" name="TextBox 40"/>
          <p:cNvSpPr txBox="1"/>
          <p:nvPr/>
        </p:nvSpPr>
        <p:spPr>
          <a:xfrm>
            <a:off x="8686800" y="4224528"/>
            <a:ext cx="3127248" cy="329184"/>
          </a:xfrm>
          <a:prstGeom prst="rect">
            <a:avLst/>
          </a:prstGeom>
          <a:noFill/>
        </p:spPr>
        <p:txBody>
          <a:bodyPr wrap="square">
            <a:spAutoFit/>
          </a:bodyPr>
          <a:lstStyle/>
          <a:p>
            <a:pPr algn="l"/>
            <a:r>
              <a:rPr sz="850" b="0" i="0">
                <a:solidFill>
                  <a:srgbClr val="AAB4CC"/>
                </a:solidFill>
                <a:latin typeface="Calibri"/>
              </a:rPr>
              <a:t>170 protocols · signal detection · war room</a:t>
            </a:r>
          </a:p>
        </p:txBody>
      </p:sp>
      <p:sp>
        <p:nvSpPr>
          <p:cNvPr id="42" name="Rectangle 41"/>
          <p:cNvSpPr/>
          <p:nvPr/>
        </p:nvSpPr>
        <p:spPr>
          <a:xfrm>
            <a:off x="6272784" y="4773168"/>
            <a:ext cx="5705856" cy="621792"/>
          </a:xfrm>
          <a:prstGeom prst="rect">
            <a:avLst/>
          </a:prstGeom>
          <a:solidFill>
            <a:srgbClr val="0F1840"/>
          </a:solidFill>
          <a:ln w="9525">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82512" y="4828031"/>
            <a:ext cx="2231136" cy="201168"/>
          </a:xfrm>
          <a:prstGeom prst="rect">
            <a:avLst/>
          </a:prstGeom>
          <a:noFill/>
        </p:spPr>
        <p:txBody>
          <a:bodyPr wrap="square">
            <a:spAutoFit/>
          </a:bodyPr>
          <a:lstStyle/>
          <a:p>
            <a:pPr algn="l"/>
            <a:r>
              <a:rPr sz="850" b="1" i="0">
                <a:solidFill>
                  <a:srgbClr val="C9A84C"/>
                </a:solidFill>
                <a:latin typeface="Calibri"/>
              </a:rPr>
              <a:t>FOUNDING PARTNER</a:t>
            </a:r>
          </a:p>
        </p:txBody>
      </p:sp>
      <p:sp>
        <p:nvSpPr>
          <p:cNvPr id="44" name="TextBox 43"/>
          <p:cNvSpPr txBox="1"/>
          <p:nvPr/>
        </p:nvSpPr>
        <p:spPr>
          <a:xfrm>
            <a:off x="6382512" y="5047488"/>
            <a:ext cx="2231136" cy="274320"/>
          </a:xfrm>
          <a:prstGeom prst="rect">
            <a:avLst/>
          </a:prstGeom>
          <a:noFill/>
        </p:spPr>
        <p:txBody>
          <a:bodyPr wrap="square">
            <a:spAutoFit/>
          </a:bodyPr>
          <a:lstStyle/>
          <a:p>
            <a:pPr algn="l"/>
            <a:r>
              <a:rPr sz="1100" b="1" i="0">
                <a:solidFill>
                  <a:srgbClr val="FFFFFF"/>
                </a:solidFill>
                <a:latin typeface="Georgia"/>
              </a:rPr>
              <a:t>$120K–$180K/yr</a:t>
            </a:r>
          </a:p>
        </p:txBody>
      </p:sp>
      <p:sp>
        <p:nvSpPr>
          <p:cNvPr id="45" name="TextBox 44"/>
          <p:cNvSpPr txBox="1"/>
          <p:nvPr/>
        </p:nvSpPr>
        <p:spPr>
          <a:xfrm>
            <a:off x="8686800" y="4919472"/>
            <a:ext cx="3127248" cy="329184"/>
          </a:xfrm>
          <a:prstGeom prst="rect">
            <a:avLst/>
          </a:prstGeom>
          <a:noFill/>
        </p:spPr>
        <p:txBody>
          <a:bodyPr wrap="square">
            <a:spAutoFit/>
          </a:bodyPr>
          <a:lstStyle/>
          <a:p>
            <a:pPr algn="l"/>
            <a:r>
              <a:rPr sz="850" b="0" i="0">
                <a:solidFill>
                  <a:srgbClr val="AAB4CC"/>
                </a:solidFill>
                <a:latin typeface="Calibri"/>
              </a:rPr>
              <a:t>+ Custom builder · compound engines</a:t>
            </a:r>
          </a:p>
        </p:txBody>
      </p:sp>
      <p:sp>
        <p:nvSpPr>
          <p:cNvPr id="46" name="Rectangle 45"/>
          <p:cNvSpPr/>
          <p:nvPr/>
        </p:nvSpPr>
        <p:spPr>
          <a:xfrm>
            <a:off x="6272784" y="5468112"/>
            <a:ext cx="5705856" cy="621792"/>
          </a:xfrm>
          <a:prstGeom prst="rect">
            <a:avLst/>
          </a:prstGeom>
          <a:solidFill>
            <a:srgbClr val="070B24"/>
          </a:solidFill>
          <a:ln w="508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82512" y="5522976"/>
            <a:ext cx="2231136" cy="201168"/>
          </a:xfrm>
          <a:prstGeom prst="rect">
            <a:avLst/>
          </a:prstGeom>
          <a:noFill/>
        </p:spPr>
        <p:txBody>
          <a:bodyPr wrap="square">
            <a:spAutoFit/>
          </a:bodyPr>
          <a:lstStyle/>
          <a:p>
            <a:pPr algn="l"/>
            <a:r>
              <a:rPr sz="850" b="1" i="0">
                <a:solidFill>
                  <a:srgbClr val="2B8A6E"/>
                </a:solidFill>
                <a:latin typeface="Calibri"/>
              </a:rPr>
              <a:t>ENTERPRISE</a:t>
            </a:r>
          </a:p>
        </p:txBody>
      </p:sp>
      <p:sp>
        <p:nvSpPr>
          <p:cNvPr id="48" name="TextBox 47"/>
          <p:cNvSpPr txBox="1"/>
          <p:nvPr/>
        </p:nvSpPr>
        <p:spPr>
          <a:xfrm>
            <a:off x="6382512" y="5742432"/>
            <a:ext cx="2231136" cy="274320"/>
          </a:xfrm>
          <a:prstGeom prst="rect">
            <a:avLst/>
          </a:prstGeom>
          <a:noFill/>
        </p:spPr>
        <p:txBody>
          <a:bodyPr wrap="square">
            <a:spAutoFit/>
          </a:bodyPr>
          <a:lstStyle/>
          <a:p>
            <a:pPr algn="l"/>
            <a:r>
              <a:rPr sz="1100" b="1" i="0">
                <a:solidFill>
                  <a:srgbClr val="FFFFFF"/>
                </a:solidFill>
                <a:latin typeface="Georgia"/>
              </a:rPr>
              <a:t>$180K–$240K/yr</a:t>
            </a:r>
          </a:p>
        </p:txBody>
      </p:sp>
      <p:sp>
        <p:nvSpPr>
          <p:cNvPr id="49" name="TextBox 48"/>
          <p:cNvSpPr txBox="1"/>
          <p:nvPr/>
        </p:nvSpPr>
        <p:spPr>
          <a:xfrm>
            <a:off x="8686800" y="5614416"/>
            <a:ext cx="3127248" cy="329184"/>
          </a:xfrm>
          <a:prstGeom prst="rect">
            <a:avLst/>
          </a:prstGeom>
          <a:noFill/>
        </p:spPr>
        <p:txBody>
          <a:bodyPr wrap="square">
            <a:spAutoFit/>
          </a:bodyPr>
          <a:lstStyle/>
          <a:p>
            <a:pPr algn="l"/>
            <a:r>
              <a:rPr sz="850" b="0" i="0">
                <a:solidFill>
                  <a:srgbClr val="AAB4CC"/>
                </a:solidFill>
                <a:latin typeface="Calibri"/>
              </a:rPr>
              <a:t>+ Industry packs · multi-org · board suite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ver_clean.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2188952" cy="228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m_logo_white.png"/>
          <p:cNvPicPr>
            <a:picLocks noChangeAspect="1"/>
          </p:cNvPicPr>
          <p:nvPr/>
        </p:nvPicPr>
        <p:blipFill>
          <a:blip r:embed="rId3"/>
          <a:stretch>
            <a:fillRect/>
          </a:stretch>
        </p:blipFill>
        <p:spPr>
          <a:xfrm>
            <a:off x="274320" y="237744"/>
            <a:ext cx="1664208" cy="420624"/>
          </a:xfrm>
          <a:prstGeom prst="rect">
            <a:avLst/>
          </a:prstGeom>
        </p:spPr>
      </p:pic>
      <p:sp>
        <p:nvSpPr>
          <p:cNvPr id="6" name="Rectangle 5"/>
          <p:cNvSpPr/>
          <p:nvPr/>
        </p:nvSpPr>
        <p:spPr>
          <a:xfrm>
            <a:off x="0" y="6455664"/>
            <a:ext cx="12188952"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m_logo_white.png"/>
          <p:cNvPicPr>
            <a:picLocks noChangeAspect="1"/>
          </p:cNvPicPr>
          <p:nvPr/>
        </p:nvPicPr>
        <p:blipFill>
          <a:blip r:embed="rId3"/>
          <a:stretch>
            <a:fillRect/>
          </a:stretch>
        </p:blipFill>
        <p:spPr>
          <a:xfrm>
            <a:off x="274320" y="6528816"/>
            <a:ext cx="1005840" cy="256032"/>
          </a:xfrm>
          <a:prstGeom prst="rect">
            <a:avLst/>
          </a:prstGeom>
        </p:spPr>
      </p:pic>
      <p:sp>
        <p:nvSpPr>
          <p:cNvPr id="8" name="TextBox 7"/>
          <p:cNvSpPr txBox="1"/>
          <p:nvPr/>
        </p:nvSpPr>
        <p:spPr>
          <a:xfrm>
            <a:off x="11155680" y="6528816"/>
            <a:ext cx="822960" cy="256032"/>
          </a:xfrm>
          <a:prstGeom prst="rect">
            <a:avLst/>
          </a:prstGeom>
          <a:noFill/>
        </p:spPr>
        <p:txBody>
          <a:bodyPr wrap="square">
            <a:spAutoFit/>
          </a:bodyPr>
          <a:lstStyle/>
          <a:p>
            <a:pPr algn="r"/>
            <a:r>
              <a:rPr sz="700" b="0" i="0">
                <a:solidFill>
                  <a:srgbClr val="AAB4CC"/>
                </a:solidFill>
                <a:latin typeface="Calibri"/>
              </a:rPr>
              <a:t>09  /  10</a:t>
            </a:r>
          </a:p>
        </p:txBody>
      </p:sp>
      <p:sp>
        <p:nvSpPr>
          <p:cNvPr id="9" name="Rectangle 8"/>
          <p:cNvSpPr/>
          <p:nvPr/>
        </p:nvSpPr>
        <p:spPr>
          <a:xfrm>
            <a:off x="11338560" y="256032"/>
            <a:ext cx="676656" cy="256032"/>
          </a:xfrm>
          <a:prstGeom prst="rect">
            <a:avLst/>
          </a:prstGeom>
          <a:solidFill>
            <a:srgbClr val="040814"/>
          </a:solidFill>
          <a:ln w="508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338560" y="256032"/>
            <a:ext cx="676656" cy="256032"/>
          </a:xfrm>
          <a:prstGeom prst="rect">
            <a:avLst/>
          </a:prstGeom>
          <a:noFill/>
        </p:spPr>
        <p:txBody>
          <a:bodyPr wrap="square">
            <a:spAutoFit/>
          </a:bodyPr>
          <a:lstStyle/>
          <a:p>
            <a:pPr algn="ctr"/>
            <a:r>
              <a:rPr sz="800" b="1" i="0">
                <a:solidFill>
                  <a:srgbClr val="C9A84C"/>
                </a:solidFill>
                <a:latin typeface="Calibri"/>
              </a:rPr>
              <a:t>3:52</a:t>
            </a:r>
          </a:p>
        </p:txBody>
      </p:sp>
      <p:sp>
        <p:nvSpPr>
          <p:cNvPr id="11" name="TextBox 10"/>
          <p:cNvSpPr txBox="1"/>
          <p:nvPr/>
        </p:nvSpPr>
        <p:spPr>
          <a:xfrm>
            <a:off x="438912" y="347472"/>
            <a:ext cx="10972800" cy="201168"/>
          </a:xfrm>
          <a:prstGeom prst="rect">
            <a:avLst/>
          </a:prstGeom>
          <a:noFill/>
        </p:spPr>
        <p:txBody>
          <a:bodyPr wrap="square">
            <a:spAutoFit/>
          </a:bodyPr>
          <a:lstStyle/>
          <a:p>
            <a:pPr algn="l"/>
            <a:r>
              <a:rPr sz="750" b="1" i="0">
                <a:solidFill>
                  <a:srgbClr val="C9A84C"/>
                </a:solidFill>
                <a:latin typeface="Calibri"/>
              </a:rPr>
              <a:t>── THE ASK — FOUNDING PARTNER PROGRAM ──</a:t>
            </a:r>
          </a:p>
        </p:txBody>
      </p:sp>
      <p:sp>
        <p:nvSpPr>
          <p:cNvPr id="12" name="TextBox 11"/>
          <p:cNvSpPr txBox="1"/>
          <p:nvPr/>
        </p:nvSpPr>
        <p:spPr>
          <a:xfrm>
            <a:off x="438912" y="566928"/>
            <a:ext cx="5852160" cy="768096"/>
          </a:xfrm>
          <a:prstGeom prst="rect">
            <a:avLst/>
          </a:prstGeom>
          <a:noFill/>
        </p:spPr>
        <p:txBody>
          <a:bodyPr wrap="square">
            <a:spAutoFit/>
          </a:bodyPr>
          <a:lstStyle/>
          <a:p>
            <a:pPr algn="l"/>
            <a:r>
              <a:rPr sz="4600" b="1" i="0">
                <a:solidFill>
                  <a:srgbClr val="C9A84C"/>
                </a:solidFill>
                <a:latin typeface="Georgia"/>
              </a:rPr>
              <a:t>$750,000 Seed.</a:t>
            </a:r>
          </a:p>
        </p:txBody>
      </p:sp>
      <p:sp>
        <p:nvSpPr>
          <p:cNvPr id="13" name="TextBox 12"/>
          <p:cNvSpPr txBox="1"/>
          <p:nvPr/>
        </p:nvSpPr>
        <p:spPr>
          <a:xfrm>
            <a:off x="438912" y="1335024"/>
            <a:ext cx="8229600" cy="475488"/>
          </a:xfrm>
          <a:prstGeom prst="rect">
            <a:avLst/>
          </a:prstGeom>
          <a:noFill/>
        </p:spPr>
        <p:txBody>
          <a:bodyPr wrap="square">
            <a:spAutoFit/>
          </a:bodyPr>
          <a:lstStyle/>
          <a:p>
            <a:pPr algn="l"/>
            <a:r>
              <a:rPr sz="1800" b="0" i="1">
                <a:solidFill>
                  <a:srgbClr val="AAB4CC"/>
                </a:solidFill>
                <a:latin typeface="Georgia"/>
              </a:rPr>
              <a:t>18 months. 3 milestones. Series A positioned on real ARR.</a:t>
            </a:r>
          </a:p>
        </p:txBody>
      </p:sp>
      <p:sp>
        <p:nvSpPr>
          <p:cNvPr id="14" name="Rectangle 13"/>
          <p:cNvSpPr/>
          <p:nvPr/>
        </p:nvSpPr>
        <p:spPr>
          <a:xfrm>
            <a:off x="438912" y="1993392"/>
            <a:ext cx="11320272" cy="1261872"/>
          </a:xfrm>
          <a:prstGeom prst="rect">
            <a:avLst/>
          </a:prstGeom>
          <a:solidFill>
            <a:srgbClr val="070B24"/>
          </a:solidFill>
          <a:ln w="9525">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12064" y="2176272"/>
            <a:ext cx="804672" cy="804672"/>
          </a:xfrm>
          <a:prstGeom prst="ellipse">
            <a:avLst/>
          </a:prstGeom>
          <a:solidFill>
            <a:srgbClr val="040814"/>
          </a:solidFill>
          <a:ln w="190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 y="2231136"/>
            <a:ext cx="804672" cy="548640"/>
          </a:xfrm>
          <a:prstGeom prst="rect">
            <a:avLst/>
          </a:prstGeom>
          <a:noFill/>
        </p:spPr>
        <p:txBody>
          <a:bodyPr wrap="square">
            <a:spAutoFit/>
          </a:bodyPr>
          <a:lstStyle/>
          <a:p>
            <a:pPr algn="ctr"/>
            <a:r>
              <a:rPr sz="2400" b="1" i="0">
                <a:solidFill>
                  <a:srgbClr val="C9A84C"/>
                </a:solidFill>
                <a:latin typeface="Georgia"/>
              </a:rPr>
              <a:t>01</a:t>
            </a:r>
          </a:p>
        </p:txBody>
      </p:sp>
      <p:sp>
        <p:nvSpPr>
          <p:cNvPr id="17" name="TextBox 16"/>
          <p:cNvSpPr txBox="1"/>
          <p:nvPr/>
        </p:nvSpPr>
        <p:spPr>
          <a:xfrm>
            <a:off x="1463040" y="2084832"/>
            <a:ext cx="10021824" cy="274320"/>
          </a:xfrm>
          <a:prstGeom prst="rect">
            <a:avLst/>
          </a:prstGeom>
          <a:noFill/>
        </p:spPr>
        <p:txBody>
          <a:bodyPr wrap="square">
            <a:spAutoFit/>
          </a:bodyPr>
          <a:lstStyle/>
          <a:p>
            <a:pPr algn="l"/>
            <a:r>
              <a:rPr sz="1100" b="1" i="0">
                <a:solidFill>
                  <a:srgbClr val="FFFFFF"/>
                </a:solidFill>
                <a:latin typeface="Calibri"/>
              </a:rPr>
              <a:t>3–5 Founding Partner Agreements Closed</a:t>
            </a:r>
          </a:p>
        </p:txBody>
      </p:sp>
      <p:sp>
        <p:nvSpPr>
          <p:cNvPr id="18" name="TextBox 17"/>
          <p:cNvSpPr txBox="1"/>
          <p:nvPr/>
        </p:nvSpPr>
        <p:spPr>
          <a:xfrm>
            <a:off x="1463040" y="2414016"/>
            <a:ext cx="10021824" cy="694944"/>
          </a:xfrm>
          <a:prstGeom prst="rect">
            <a:avLst/>
          </a:prstGeom>
          <a:noFill/>
        </p:spPr>
        <p:txBody>
          <a:bodyPr wrap="square">
            <a:spAutoFit/>
          </a:bodyPr>
          <a:lstStyle/>
          <a:p>
            <a:pPr algn="l"/>
            <a:r>
              <a:rPr sz="950" b="0" i="0">
                <a:solidFill>
                  <a:srgbClr val="AAB4CC"/>
                </a:solidFill>
                <a:latin typeface="Calibri"/>
              </a:rPr>
              <a:t>Validate enterprise willingness-to-pay at $120K–$180K ACV. Document 2 full activation proof points with real measurable outcomes. The 12-Minute Test Drive converts prospects before the first sales call.</a:t>
            </a:r>
          </a:p>
        </p:txBody>
      </p:sp>
      <p:sp>
        <p:nvSpPr>
          <p:cNvPr id="19" name="Rectangle 18"/>
          <p:cNvSpPr/>
          <p:nvPr/>
        </p:nvSpPr>
        <p:spPr>
          <a:xfrm>
            <a:off x="438912" y="3364992"/>
            <a:ext cx="11320272" cy="1261872"/>
          </a:xfrm>
          <a:prstGeom prst="rect">
            <a:avLst/>
          </a:prstGeom>
          <a:solidFill>
            <a:srgbClr val="070B24"/>
          </a:solidFill>
          <a:ln w="9525">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12064" y="3547872"/>
            <a:ext cx="804672" cy="804672"/>
          </a:xfrm>
          <a:prstGeom prst="ellipse">
            <a:avLst/>
          </a:prstGeom>
          <a:solidFill>
            <a:srgbClr val="040814"/>
          </a:solidFill>
          <a:ln w="1905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4" y="3602736"/>
            <a:ext cx="804672" cy="548640"/>
          </a:xfrm>
          <a:prstGeom prst="rect">
            <a:avLst/>
          </a:prstGeom>
          <a:noFill/>
        </p:spPr>
        <p:txBody>
          <a:bodyPr wrap="square">
            <a:spAutoFit/>
          </a:bodyPr>
          <a:lstStyle/>
          <a:p>
            <a:pPr algn="ctr"/>
            <a:r>
              <a:rPr sz="2400" b="1" i="0">
                <a:solidFill>
                  <a:srgbClr val="2B8A6E"/>
                </a:solidFill>
                <a:latin typeface="Georgia"/>
              </a:rPr>
              <a:t>02</a:t>
            </a:r>
          </a:p>
        </p:txBody>
      </p:sp>
      <p:sp>
        <p:nvSpPr>
          <p:cNvPr id="22" name="TextBox 21"/>
          <p:cNvSpPr txBox="1"/>
          <p:nvPr/>
        </p:nvSpPr>
        <p:spPr>
          <a:xfrm>
            <a:off x="1463040" y="3456432"/>
            <a:ext cx="10021824" cy="274320"/>
          </a:xfrm>
          <a:prstGeom prst="rect">
            <a:avLst/>
          </a:prstGeom>
          <a:noFill/>
        </p:spPr>
        <p:txBody>
          <a:bodyPr wrap="square">
            <a:spAutoFit/>
          </a:bodyPr>
          <a:lstStyle/>
          <a:p>
            <a:pPr algn="l"/>
            <a:r>
              <a:rPr sz="1100" b="1" i="0">
                <a:solidFill>
                  <a:srgbClr val="FFFFFF"/>
                </a:solidFill>
                <a:latin typeface="Calibri"/>
              </a:rPr>
              <a:t>Series A Positioned on Real ARR</a:t>
            </a:r>
          </a:p>
        </p:txBody>
      </p:sp>
      <p:sp>
        <p:nvSpPr>
          <p:cNvPr id="23" name="TextBox 22"/>
          <p:cNvSpPr txBox="1"/>
          <p:nvPr/>
        </p:nvSpPr>
        <p:spPr>
          <a:xfrm>
            <a:off x="1463040" y="3785616"/>
            <a:ext cx="10021824" cy="694944"/>
          </a:xfrm>
          <a:prstGeom prst="rect">
            <a:avLst/>
          </a:prstGeom>
          <a:noFill/>
        </p:spPr>
        <p:txBody>
          <a:bodyPr wrap="square">
            <a:spAutoFit/>
          </a:bodyPr>
          <a:lstStyle/>
          <a:p>
            <a:pPr algn="l"/>
            <a:r>
              <a:rPr sz="950" b="0" i="0">
                <a:solidFill>
                  <a:srgbClr val="AAB4CC"/>
                </a:solidFill>
                <a:latin typeface="Calibri"/>
              </a:rPr>
              <a:t>$625K+ ARR contracted. Two enterprise proof points documented. Land-and-expand path through industry packs active. Institutional memory data visible as a competitive moat. Series A process begins.</a:t>
            </a:r>
          </a:p>
        </p:txBody>
      </p:sp>
      <p:sp>
        <p:nvSpPr>
          <p:cNvPr id="24" name="Rectangle 23"/>
          <p:cNvSpPr/>
          <p:nvPr/>
        </p:nvSpPr>
        <p:spPr>
          <a:xfrm>
            <a:off x="438912" y="4736592"/>
            <a:ext cx="11320272" cy="1261872"/>
          </a:xfrm>
          <a:prstGeom prst="rect">
            <a:avLst/>
          </a:prstGeom>
          <a:solidFill>
            <a:srgbClr val="070B24"/>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12064" y="4919472"/>
            <a:ext cx="804672" cy="804672"/>
          </a:xfrm>
          <a:prstGeom prst="ellipse">
            <a:avLst/>
          </a:prstGeom>
          <a:solidFill>
            <a:srgbClr val="040814"/>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2064" y="4974336"/>
            <a:ext cx="804672" cy="548640"/>
          </a:xfrm>
          <a:prstGeom prst="rect">
            <a:avLst/>
          </a:prstGeom>
          <a:noFill/>
        </p:spPr>
        <p:txBody>
          <a:bodyPr wrap="square">
            <a:spAutoFit/>
          </a:bodyPr>
          <a:lstStyle/>
          <a:p>
            <a:pPr algn="ctr"/>
            <a:r>
              <a:rPr sz="2400" b="1" i="0">
                <a:solidFill>
                  <a:srgbClr val="FFFFFF"/>
                </a:solidFill>
                <a:latin typeface="Georgia"/>
              </a:rPr>
              <a:t>03</a:t>
            </a:r>
          </a:p>
        </p:txBody>
      </p:sp>
      <p:sp>
        <p:nvSpPr>
          <p:cNvPr id="27" name="TextBox 26"/>
          <p:cNvSpPr txBox="1"/>
          <p:nvPr/>
        </p:nvSpPr>
        <p:spPr>
          <a:xfrm>
            <a:off x="1463040" y="4828031"/>
            <a:ext cx="10021824" cy="274320"/>
          </a:xfrm>
          <a:prstGeom prst="rect">
            <a:avLst/>
          </a:prstGeom>
          <a:noFill/>
        </p:spPr>
        <p:txBody>
          <a:bodyPr wrap="square">
            <a:spAutoFit/>
          </a:bodyPr>
          <a:lstStyle/>
          <a:p>
            <a:pPr algn="l"/>
            <a:r>
              <a:rPr sz="1100" b="1" i="0">
                <a:solidFill>
                  <a:srgbClr val="FFFFFF"/>
                </a:solidFill>
                <a:latin typeface="Calibri"/>
              </a:rPr>
              <a:t>Category Defined — Operating Model Layer</a:t>
            </a:r>
          </a:p>
        </p:txBody>
      </p:sp>
      <p:sp>
        <p:nvSpPr>
          <p:cNvPr id="28" name="TextBox 27"/>
          <p:cNvSpPr txBox="1"/>
          <p:nvPr/>
        </p:nvSpPr>
        <p:spPr>
          <a:xfrm>
            <a:off x="1463040" y="5157216"/>
            <a:ext cx="10021824" cy="694944"/>
          </a:xfrm>
          <a:prstGeom prst="rect">
            <a:avLst/>
          </a:prstGeom>
          <a:noFill/>
        </p:spPr>
        <p:txBody>
          <a:bodyPr wrap="square">
            <a:spAutoFit/>
          </a:bodyPr>
          <a:lstStyle/>
          <a:p>
            <a:pPr algn="l"/>
            <a:r>
              <a:rPr sz="950" b="0" i="0">
                <a:solidFill>
                  <a:srgbClr val="AAB4CC"/>
                </a:solidFill>
                <a:latin typeface="Calibri"/>
              </a:rPr>
              <a:t>Analyst community engaged. Microsoft partnership conversations initiated. Board-level Readiness Score becoming a standard enterprise KPI. The category name is ours to define.</a:t>
            </a:r>
          </a:p>
        </p:txBody>
      </p:sp>
      <p:sp>
        <p:nvSpPr>
          <p:cNvPr id="29" name="TextBox 28"/>
          <p:cNvSpPr txBox="1"/>
          <p:nvPr/>
        </p:nvSpPr>
        <p:spPr>
          <a:xfrm>
            <a:off x="438912" y="6163056"/>
            <a:ext cx="11320272" cy="201168"/>
          </a:xfrm>
          <a:prstGeom prst="rect">
            <a:avLst/>
          </a:prstGeom>
          <a:noFill/>
        </p:spPr>
        <p:txBody>
          <a:bodyPr wrap="square">
            <a:spAutoFit/>
          </a:bodyPr>
          <a:lstStyle/>
          <a:p>
            <a:pPr algn="ctr"/>
            <a:r>
              <a:rPr sz="900" b="0" i="0">
                <a:solidFill>
                  <a:srgbClr val="AAB4CC"/>
                </a:solidFill>
                <a:latin typeface="Calibri"/>
              </a:rPr>
              <a:t>USE OF FUNDS:  40% Go-to-Market  ·  35% Engineering  ·  15% Operations  ·  10% Reserves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ver_clean.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7498079"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vm_logo_white.png"/>
          <p:cNvPicPr>
            <a:picLocks noChangeAspect="1"/>
          </p:cNvPicPr>
          <p:nvPr/>
        </p:nvPicPr>
        <p:blipFill>
          <a:blip r:embed="rId3"/>
          <a:stretch>
            <a:fillRect/>
          </a:stretch>
        </p:blipFill>
        <p:spPr>
          <a:xfrm>
            <a:off x="347472" y="402336"/>
            <a:ext cx="2212848" cy="566928"/>
          </a:xfrm>
          <a:prstGeom prst="rect">
            <a:avLst/>
          </a:prstGeom>
        </p:spPr>
      </p:pic>
      <p:sp>
        <p:nvSpPr>
          <p:cNvPr id="5" name="Rectangle 4"/>
          <p:cNvSpPr/>
          <p:nvPr/>
        </p:nvSpPr>
        <p:spPr>
          <a:xfrm>
            <a:off x="347472" y="1042415"/>
            <a:ext cx="5907024"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02336" y="1133856"/>
            <a:ext cx="8229600" cy="237744"/>
          </a:xfrm>
          <a:prstGeom prst="rect">
            <a:avLst/>
          </a:prstGeom>
          <a:noFill/>
        </p:spPr>
        <p:txBody>
          <a:bodyPr wrap="square">
            <a:spAutoFit/>
          </a:bodyPr>
          <a:lstStyle/>
          <a:p>
            <a:pPr algn="l"/>
            <a:r>
              <a:rPr sz="850" b="1" i="0">
                <a:solidFill>
                  <a:srgbClr val="AAB4CC"/>
                </a:solidFill>
                <a:latin typeface="Calibri"/>
              </a:rPr>
              <a:t>PREPARATION  →  READINESS  →  FEARLESS</a:t>
            </a:r>
          </a:p>
        </p:txBody>
      </p:sp>
      <p:sp>
        <p:nvSpPr>
          <p:cNvPr id="7" name="TextBox 6"/>
          <p:cNvSpPr txBox="1"/>
          <p:nvPr/>
        </p:nvSpPr>
        <p:spPr>
          <a:xfrm>
            <a:off x="402336" y="1463040"/>
            <a:ext cx="8229600" cy="768096"/>
          </a:xfrm>
          <a:prstGeom prst="rect">
            <a:avLst/>
          </a:prstGeom>
          <a:noFill/>
        </p:spPr>
        <p:txBody>
          <a:bodyPr wrap="square">
            <a:spAutoFit/>
          </a:bodyPr>
          <a:lstStyle/>
          <a:p>
            <a:pPr algn="l"/>
            <a:r>
              <a:rPr sz="3800" b="1" i="0">
                <a:solidFill>
                  <a:srgbClr val="FFFFFF"/>
                </a:solidFill>
                <a:latin typeface="Georgia"/>
              </a:rPr>
              <a:t>"The response is ready</a:t>
            </a:r>
          </a:p>
        </p:txBody>
      </p:sp>
      <p:sp>
        <p:nvSpPr>
          <p:cNvPr id="8" name="TextBox 7"/>
          <p:cNvSpPr txBox="1"/>
          <p:nvPr/>
        </p:nvSpPr>
        <p:spPr>
          <a:xfrm>
            <a:off x="402336" y="2212848"/>
            <a:ext cx="8229600" cy="694944"/>
          </a:xfrm>
          <a:prstGeom prst="rect">
            <a:avLst/>
          </a:prstGeom>
          <a:noFill/>
        </p:spPr>
        <p:txBody>
          <a:bodyPr wrap="square">
            <a:spAutoFit/>
          </a:bodyPr>
          <a:lstStyle/>
          <a:p>
            <a:pPr algn="l"/>
            <a:r>
              <a:rPr sz="3400" b="1" i="1">
                <a:solidFill>
                  <a:srgbClr val="C9A84C"/>
                </a:solidFill>
                <a:latin typeface="Georgia"/>
              </a:rPr>
              <a:t>before the trigger fires."</a:t>
            </a:r>
          </a:p>
        </p:txBody>
      </p:sp>
      <p:sp>
        <p:nvSpPr>
          <p:cNvPr id="9" name="TextBox 8"/>
          <p:cNvSpPr txBox="1"/>
          <p:nvPr/>
        </p:nvSpPr>
        <p:spPr>
          <a:xfrm>
            <a:off x="402336" y="3054096"/>
            <a:ext cx="6583680" cy="658368"/>
          </a:xfrm>
          <a:prstGeom prst="rect">
            <a:avLst/>
          </a:prstGeom>
          <a:noFill/>
        </p:spPr>
        <p:txBody>
          <a:bodyPr wrap="square">
            <a:spAutoFit/>
          </a:bodyPr>
          <a:lstStyle/>
          <a:p>
            <a:pPr algn="l"/>
            <a:r>
              <a:rPr sz="1300" b="0" i="0">
                <a:solidFill>
                  <a:srgbClr val="AAB4CC"/>
                </a:solidFill>
                <a:latin typeface="Calibri"/>
              </a:rPr>
              <a:t>Every organization that prepares for every situation it will face
is no longer afraid of strategic triggers. It is fearless.</a:t>
            </a:r>
          </a:p>
        </p:txBody>
      </p:sp>
      <p:sp>
        <p:nvSpPr>
          <p:cNvPr id="10" name="TextBox 9"/>
          <p:cNvSpPr txBox="1"/>
          <p:nvPr/>
        </p:nvSpPr>
        <p:spPr>
          <a:xfrm>
            <a:off x="402336" y="3913632"/>
            <a:ext cx="6400800" cy="420624"/>
          </a:xfrm>
          <a:prstGeom prst="rect">
            <a:avLst/>
          </a:prstGeom>
          <a:noFill/>
        </p:spPr>
        <p:txBody>
          <a:bodyPr wrap="square">
            <a:spAutoFit/>
          </a:bodyPr>
          <a:lstStyle/>
          <a:p>
            <a:pPr algn="l"/>
            <a:r>
              <a:rPr sz="1400" b="0" i="0">
                <a:solidFill>
                  <a:srgbClr val="FFFFFF"/>
                </a:solidFill>
                <a:latin typeface="Georgia"/>
              </a:rPr>
              <a:t>The protocols are staged.</a:t>
            </a:r>
          </a:p>
        </p:txBody>
      </p:sp>
      <p:sp>
        <p:nvSpPr>
          <p:cNvPr id="11" name="TextBox 10"/>
          <p:cNvSpPr txBox="1"/>
          <p:nvPr/>
        </p:nvSpPr>
        <p:spPr>
          <a:xfrm>
            <a:off x="402336" y="4407408"/>
            <a:ext cx="6400800" cy="420624"/>
          </a:xfrm>
          <a:prstGeom prst="rect">
            <a:avLst/>
          </a:prstGeom>
          <a:noFill/>
        </p:spPr>
        <p:txBody>
          <a:bodyPr wrap="square">
            <a:spAutoFit/>
          </a:bodyPr>
          <a:lstStyle/>
          <a:p>
            <a:pPr algn="l"/>
            <a:r>
              <a:rPr sz="1400" b="0" i="0">
                <a:solidFill>
                  <a:srgbClr val="FFFFFF"/>
                </a:solidFill>
                <a:latin typeface="Georgia"/>
              </a:rPr>
              <a:t>The system is armed.</a:t>
            </a:r>
          </a:p>
        </p:txBody>
      </p:sp>
      <p:sp>
        <p:nvSpPr>
          <p:cNvPr id="12" name="TextBox 11"/>
          <p:cNvSpPr txBox="1"/>
          <p:nvPr/>
        </p:nvSpPr>
        <p:spPr>
          <a:xfrm>
            <a:off x="402336" y="4901184"/>
            <a:ext cx="6400800" cy="420624"/>
          </a:xfrm>
          <a:prstGeom prst="rect">
            <a:avLst/>
          </a:prstGeom>
          <a:noFill/>
        </p:spPr>
        <p:txBody>
          <a:bodyPr wrap="square">
            <a:spAutoFit/>
          </a:bodyPr>
          <a:lstStyle/>
          <a:p>
            <a:pPr algn="l"/>
            <a:r>
              <a:rPr sz="1400" b="0" i="1">
                <a:solidFill>
                  <a:srgbClr val="C9A84C"/>
                </a:solidFill>
                <a:latin typeface="Georgia"/>
              </a:rPr>
              <a:t>Which enterprises get there first?</a:t>
            </a:r>
          </a:p>
        </p:txBody>
      </p:sp>
      <p:sp>
        <p:nvSpPr>
          <p:cNvPr id="13" name="Rectangle 12"/>
          <p:cNvSpPr/>
          <p:nvPr/>
        </p:nvSpPr>
        <p:spPr>
          <a:xfrm>
            <a:off x="402336" y="5376672"/>
            <a:ext cx="3291840" cy="457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6" y="5449824"/>
            <a:ext cx="3127248" cy="310896"/>
          </a:xfrm>
          <a:prstGeom prst="rect">
            <a:avLst/>
          </a:prstGeom>
          <a:noFill/>
        </p:spPr>
        <p:txBody>
          <a:bodyPr wrap="square">
            <a:spAutoFit/>
          </a:bodyPr>
          <a:lstStyle/>
          <a:p>
            <a:pPr algn="ctr"/>
            <a:r>
              <a:rPr sz="850" b="1" i="0">
                <a:solidFill>
                  <a:srgbClr val="0A0F2E"/>
                </a:solidFill>
                <a:latin typeface="Calibri"/>
              </a:rPr>
              <a:t>SCHEDULE A CONVERSATION</a:t>
            </a:r>
          </a:p>
        </p:txBody>
      </p:sp>
      <p:pic>
        <p:nvPicPr>
          <p:cNvPr id="15" name="Picture 14" descr="vm_seal_nobg.png"/>
          <p:cNvPicPr>
            <a:picLocks noChangeAspect="1"/>
          </p:cNvPicPr>
          <p:nvPr/>
        </p:nvPicPr>
        <p:blipFill>
          <a:blip r:embed="rId4"/>
          <a:stretch>
            <a:fillRect/>
          </a:stretch>
        </p:blipFill>
        <p:spPr>
          <a:xfrm>
            <a:off x="7571231" y="457200"/>
            <a:ext cx="4389120" cy="4389120"/>
          </a:xfrm>
          <a:prstGeom prst="rect">
            <a:avLst/>
          </a:prstGeom>
        </p:spPr>
      </p:pic>
      <p:sp>
        <p:nvSpPr>
          <p:cNvPr id="16" name="Rectangle 15"/>
          <p:cNvSpPr/>
          <p:nvPr/>
        </p:nvSpPr>
        <p:spPr>
          <a:xfrm>
            <a:off x="0" y="6455664"/>
            <a:ext cx="12188952"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vm_logo_white.png"/>
          <p:cNvPicPr>
            <a:picLocks noChangeAspect="1"/>
          </p:cNvPicPr>
          <p:nvPr/>
        </p:nvPicPr>
        <p:blipFill>
          <a:blip r:embed="rId3"/>
          <a:stretch>
            <a:fillRect/>
          </a:stretch>
        </p:blipFill>
        <p:spPr>
          <a:xfrm>
            <a:off x="274320" y="6528816"/>
            <a:ext cx="1005840" cy="256032"/>
          </a:xfrm>
          <a:prstGeom prst="rect">
            <a:avLst/>
          </a:prstGeom>
        </p:spPr>
      </p:pic>
      <p:sp>
        <p:nvSpPr>
          <p:cNvPr id="18" name="TextBox 17"/>
          <p:cNvSpPr txBox="1"/>
          <p:nvPr/>
        </p:nvSpPr>
        <p:spPr>
          <a:xfrm>
            <a:off x="11155680" y="6528816"/>
            <a:ext cx="822960" cy="256032"/>
          </a:xfrm>
          <a:prstGeom prst="rect">
            <a:avLst/>
          </a:prstGeom>
          <a:noFill/>
        </p:spPr>
        <p:txBody>
          <a:bodyPr wrap="square">
            <a:spAutoFit/>
          </a:bodyPr>
          <a:lstStyle/>
          <a:p>
            <a:pPr algn="r"/>
            <a:r>
              <a:rPr sz="700" b="0" i="0">
                <a:solidFill>
                  <a:srgbClr val="AAB4CC"/>
                </a:solidFill>
                <a:latin typeface="Calibri"/>
              </a:rPr>
              <a:t>10  /  10</a:t>
            </a:r>
          </a:p>
        </p:txBody>
      </p:sp>
      <p:sp>
        <p:nvSpPr>
          <p:cNvPr id="19" name="Rectangle 18"/>
          <p:cNvSpPr/>
          <p:nvPr/>
        </p:nvSpPr>
        <p:spPr>
          <a:xfrm>
            <a:off x="11338560" y="256032"/>
            <a:ext cx="676656" cy="256032"/>
          </a:xfrm>
          <a:prstGeom prst="rect">
            <a:avLst/>
          </a:prstGeom>
          <a:solidFill>
            <a:srgbClr val="040814"/>
          </a:solidFill>
          <a:ln w="508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338560" y="256032"/>
            <a:ext cx="676656" cy="256032"/>
          </a:xfrm>
          <a:prstGeom prst="rect">
            <a:avLst/>
          </a:prstGeom>
          <a:noFill/>
        </p:spPr>
        <p:txBody>
          <a:bodyPr wrap="square">
            <a:spAutoFit/>
          </a:bodyPr>
          <a:lstStyle/>
          <a:p>
            <a:pPr algn="ctr"/>
            <a:r>
              <a:rPr sz="800" b="1" i="0">
                <a:solidFill>
                  <a:srgbClr val="C9A84C"/>
                </a:solidFill>
                <a:latin typeface="Calibri"/>
              </a:rPr>
              <a:t>4:00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F2E"/>
        </a:solidFill>
        <a:effectLst/>
      </p:bgPr>
    </p:bg>
    <p:spTree>
      <p:nvGrpSpPr>
        <p:cNvPr id="1" name=""/>
        <p:cNvGrpSpPr/>
        <p:nvPr/>
      </p:nvGrpSpPr>
      <p:grpSpPr/>
      <p:pic>
        <p:nvPicPr>
          <p:cNvPr id="36" name="Picture 35" descr="image.jpg"/>
          <p:cNvPicPr>
            <a:picLocks noChangeAspect="1"/>
          </p:cNvPicPr>
          <p:nvPr/>
        </p:nvPicPr>
        <p:blipFill>
          <a:blip r:embed="rId2"/>
          <a:stretch>
            <a:fillRect/>
          </a:stretch>
        </p:blipFill>
        <p:spPr>
          <a:xfrm>
            <a:off x="0" y="0"/>
            <a:ext cx="12188952" cy="6858000"/>
          </a:xfrm>
          <a:prstGeom prst="rect">
            <a:avLst/>
          </a:prstGeom>
        </p:spPr>
      </p:pic>
      <p:sp>
        <p:nvSpPr>
          <p:cNvPr id="2" name="Rectangle 1"/>
          <p:cNvSpPr/>
          <p:nvPr/>
        </p:nvSpPr>
        <p:spPr>
          <a:xfrm>
            <a:off x="0" y="502920"/>
            <a:ext cx="12188952" cy="25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5486400" cy="320040"/>
          </a:xfrm>
          <a:prstGeom prst="rect">
            <a:avLst/>
          </a:prstGeom>
          <a:noFill/>
        </p:spPr>
        <p:txBody>
          <a:bodyPr wrap="none">
            <a:spAutoFit/>
          </a:bodyPr>
          <a:lstStyle/>
          <a:p>
            <a:pPr algn="l"/>
            <a:r>
              <a:rPr sz="800" b="1">
                <a:solidFill>
                  <a:srgbClr val="C9A84C"/>
                </a:solidFill>
                <a:latin typeface="Calibri"/>
              </a:rPr>
              <a:t>APPENDIX  ·  IF ASKED</a:t>
            </a:r>
          </a:p>
        </p:txBody>
      </p:sp>
      <p:sp>
        <p:nvSpPr>
          <p:cNvPr id="4" name="TextBox 3"/>
          <p:cNvSpPr txBox="1"/>
          <p:nvPr/>
        </p:nvSpPr>
        <p:spPr>
          <a:xfrm>
            <a:off x="502920" y="658368"/>
            <a:ext cx="10058400" cy="640080"/>
          </a:xfrm>
          <a:prstGeom prst="rect">
            <a:avLst/>
          </a:prstGeom>
          <a:noFill/>
        </p:spPr>
        <p:txBody>
          <a:bodyPr wrap="none">
            <a:spAutoFit/>
          </a:bodyPr>
          <a:lstStyle/>
          <a:p>
            <a:pPr algn="l"/>
            <a:r>
              <a:rPr sz="3400" b="1">
                <a:solidFill>
                  <a:srgbClr val="FFFFFF"/>
                </a:solidFill>
                <a:latin typeface="Georgia"/>
              </a:rPr>
              <a:t>Data &amp; Privacy</a:t>
            </a:r>
          </a:p>
        </p:txBody>
      </p:sp>
      <p:sp>
        <p:nvSpPr>
          <p:cNvPr id="5" name="TextBox 4"/>
          <p:cNvSpPr txBox="1"/>
          <p:nvPr/>
        </p:nvSpPr>
        <p:spPr>
          <a:xfrm>
            <a:off x="502920" y="1261872"/>
            <a:ext cx="10058400" cy="320040"/>
          </a:xfrm>
          <a:prstGeom prst="rect">
            <a:avLst/>
          </a:prstGeom>
          <a:noFill/>
        </p:spPr>
        <p:txBody>
          <a:bodyPr wrap="none">
            <a:spAutoFit/>
          </a:bodyPr>
          <a:lstStyle/>
          <a:p>
            <a:r>
              <a:rPr sz="1200">
                <a:solidFill>
                  <a:srgbClr val="CCD2DF"/>
                </a:solidFill>
                <a:latin typeface="Calibri"/>
              </a:rPr>
              <a:t>Architecture built for enterprise trust — key facts for any procurement or investor conversation</a:t>
            </a:r>
          </a:p>
        </p:txBody>
      </p:sp>
      <p:sp>
        <p:nvSpPr>
          <p:cNvPr id="6" name="Rectangle 5"/>
          <p:cNvSpPr/>
          <p:nvPr/>
        </p:nvSpPr>
        <p:spPr>
          <a:xfrm>
            <a:off x="502920" y="1664208"/>
            <a:ext cx="1097280" cy="1905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828800"/>
            <a:ext cx="5303520" cy="868680"/>
          </a:xfrm>
          <a:prstGeom prst="rect">
            <a:avLst/>
          </a:prstGeom>
          <a:solidFill>
            <a:srgbClr val="10173A"/>
          </a:solidFill>
          <a:ln w="6350">
            <a:solidFill>
              <a:srgbClr val="1E2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828800"/>
            <a:ext cx="38100" cy="868680"/>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9920" y="1901952"/>
            <a:ext cx="5125720" cy="256032"/>
          </a:xfrm>
          <a:prstGeom prst="rect">
            <a:avLst/>
          </a:prstGeom>
          <a:noFill/>
        </p:spPr>
        <p:txBody>
          <a:bodyPr wrap="none">
            <a:spAutoFit/>
          </a:bodyPr>
          <a:lstStyle/>
          <a:p>
            <a:r>
              <a:rPr sz="800" b="1">
                <a:solidFill>
                  <a:srgbClr val="2B8A6E"/>
                </a:solidFill>
                <a:latin typeface="Calibri"/>
              </a:rPr>
              <a:t>DATA OWNERSHIP</a:t>
            </a:r>
          </a:p>
        </p:txBody>
      </p:sp>
      <p:sp>
        <p:nvSpPr>
          <p:cNvPr id="10" name="TextBox 9"/>
          <p:cNvSpPr txBox="1"/>
          <p:nvPr/>
        </p:nvSpPr>
        <p:spPr>
          <a:xfrm>
            <a:off x="629920" y="2121408"/>
            <a:ext cx="5125720" cy="530352"/>
          </a:xfrm>
          <a:prstGeom prst="rect">
            <a:avLst/>
          </a:prstGeom>
          <a:noFill/>
        </p:spPr>
        <p:txBody>
          <a:bodyPr wrap="square">
            <a:spAutoFit/>
          </a:bodyPr>
          <a:lstStyle/>
          <a:p>
            <a:r>
              <a:rPr sz="950">
                <a:solidFill>
                  <a:srgbClr val="CCD2DF"/>
                </a:solidFill>
                <a:latin typeface="Calibri"/>
              </a:rPr>
              <a:t>Customer data is exclusively owned by the customer. VaughnMartin cannot access it without explicit consent.</a:t>
            </a:r>
          </a:p>
        </p:txBody>
      </p:sp>
      <p:sp>
        <p:nvSpPr>
          <p:cNvPr id="11" name="Rectangle 10"/>
          <p:cNvSpPr/>
          <p:nvPr/>
        </p:nvSpPr>
        <p:spPr>
          <a:xfrm>
            <a:off x="6217920" y="1828800"/>
            <a:ext cx="5303520" cy="868680"/>
          </a:xfrm>
          <a:prstGeom prst="rect">
            <a:avLst/>
          </a:prstGeom>
          <a:solidFill>
            <a:srgbClr val="10173A"/>
          </a:solidFill>
          <a:ln w="6350">
            <a:solidFill>
              <a:srgbClr val="1E2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828800"/>
            <a:ext cx="38100" cy="868680"/>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4920" y="1901952"/>
            <a:ext cx="5125720" cy="256032"/>
          </a:xfrm>
          <a:prstGeom prst="rect">
            <a:avLst/>
          </a:prstGeom>
          <a:noFill/>
        </p:spPr>
        <p:txBody>
          <a:bodyPr wrap="none">
            <a:spAutoFit/>
          </a:bodyPr>
          <a:lstStyle/>
          <a:p>
            <a:r>
              <a:rPr sz="800" b="1">
                <a:solidFill>
                  <a:srgbClr val="2B8A6E"/>
                </a:solidFill>
                <a:latin typeface="Calibri"/>
              </a:rPr>
              <a:t>TENANT ISOLATION</a:t>
            </a:r>
          </a:p>
        </p:txBody>
      </p:sp>
      <p:sp>
        <p:nvSpPr>
          <p:cNvPr id="14" name="TextBox 13"/>
          <p:cNvSpPr txBox="1"/>
          <p:nvPr/>
        </p:nvSpPr>
        <p:spPr>
          <a:xfrm>
            <a:off x="6344920" y="2121408"/>
            <a:ext cx="5125720" cy="530352"/>
          </a:xfrm>
          <a:prstGeom prst="rect">
            <a:avLst/>
          </a:prstGeom>
          <a:noFill/>
        </p:spPr>
        <p:txBody>
          <a:bodyPr wrap="square">
            <a:spAutoFit/>
          </a:bodyPr>
          <a:lstStyle/>
          <a:p>
            <a:r>
              <a:rPr sz="950">
                <a:solidFill>
                  <a:srgbClr val="CCD2DF"/>
                </a:solidFill>
                <a:latin typeface="Calibri"/>
              </a:rPr>
              <a:t>Every query is organization-scoped at the database layer — cross-tenant reads are architecturally prevented.</a:t>
            </a:r>
          </a:p>
        </p:txBody>
      </p:sp>
      <p:sp>
        <p:nvSpPr>
          <p:cNvPr id="15" name="Rectangle 14"/>
          <p:cNvSpPr/>
          <p:nvPr/>
        </p:nvSpPr>
        <p:spPr>
          <a:xfrm>
            <a:off x="502920" y="2798064"/>
            <a:ext cx="5303520" cy="868680"/>
          </a:xfrm>
          <a:prstGeom prst="rect">
            <a:avLst/>
          </a:prstGeom>
          <a:solidFill>
            <a:srgbClr val="10173A"/>
          </a:solidFill>
          <a:ln w="6350">
            <a:solidFill>
              <a:srgbClr val="1E2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2798064"/>
            <a:ext cx="38100" cy="868680"/>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920" y="2871216"/>
            <a:ext cx="5125720" cy="256032"/>
          </a:xfrm>
          <a:prstGeom prst="rect">
            <a:avLst/>
          </a:prstGeom>
          <a:noFill/>
        </p:spPr>
        <p:txBody>
          <a:bodyPr wrap="none">
            <a:spAutoFit/>
          </a:bodyPr>
          <a:lstStyle/>
          <a:p>
            <a:r>
              <a:rPr sz="800" b="1">
                <a:solidFill>
                  <a:srgbClr val="2B8A6E"/>
                </a:solidFill>
                <a:latin typeface="Calibri"/>
              </a:rPr>
              <a:t>ENCRYPTION</a:t>
            </a:r>
          </a:p>
        </p:txBody>
      </p:sp>
      <p:sp>
        <p:nvSpPr>
          <p:cNvPr id="18" name="TextBox 17"/>
          <p:cNvSpPr txBox="1"/>
          <p:nvPr/>
        </p:nvSpPr>
        <p:spPr>
          <a:xfrm>
            <a:off x="629920" y="3090672"/>
            <a:ext cx="5125720" cy="530352"/>
          </a:xfrm>
          <a:prstGeom prst="rect">
            <a:avLst/>
          </a:prstGeom>
          <a:noFill/>
        </p:spPr>
        <p:txBody>
          <a:bodyPr wrap="square">
            <a:spAutoFit/>
          </a:bodyPr>
          <a:lstStyle/>
          <a:p>
            <a:r>
              <a:rPr sz="950">
                <a:solidFill>
                  <a:srgbClr val="CCD2DF"/>
                </a:solidFill>
                <a:latin typeface="Calibri"/>
              </a:rPr>
              <a:t>TLS encrypted in transit. Encrypted at rest via Neon PostgreSQL (SOC 2 Type II certified infrastructure).</a:t>
            </a:r>
          </a:p>
        </p:txBody>
      </p:sp>
      <p:sp>
        <p:nvSpPr>
          <p:cNvPr id="19" name="Rectangle 18"/>
          <p:cNvSpPr/>
          <p:nvPr/>
        </p:nvSpPr>
        <p:spPr>
          <a:xfrm>
            <a:off x="6217920" y="2798064"/>
            <a:ext cx="5303520" cy="868680"/>
          </a:xfrm>
          <a:prstGeom prst="rect">
            <a:avLst/>
          </a:prstGeom>
          <a:solidFill>
            <a:srgbClr val="10173A"/>
          </a:solidFill>
          <a:ln w="6350">
            <a:solidFill>
              <a:srgbClr val="1E2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2798064"/>
            <a:ext cx="38100" cy="868680"/>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4920" y="2871216"/>
            <a:ext cx="5125720" cy="256032"/>
          </a:xfrm>
          <a:prstGeom prst="rect">
            <a:avLst/>
          </a:prstGeom>
          <a:noFill/>
        </p:spPr>
        <p:txBody>
          <a:bodyPr wrap="none">
            <a:spAutoFit/>
          </a:bodyPr>
          <a:lstStyle/>
          <a:p>
            <a:r>
              <a:rPr sz="800" b="1">
                <a:solidFill>
                  <a:srgbClr val="2B8A6E"/>
                </a:solidFill>
                <a:latin typeface="Calibri"/>
              </a:rPr>
              <a:t>AI &amp; MODEL SAFETY</a:t>
            </a:r>
          </a:p>
        </p:txBody>
      </p:sp>
      <p:sp>
        <p:nvSpPr>
          <p:cNvPr id="22" name="TextBox 21"/>
          <p:cNvSpPr txBox="1"/>
          <p:nvPr/>
        </p:nvSpPr>
        <p:spPr>
          <a:xfrm>
            <a:off x="6344920" y="3090672"/>
            <a:ext cx="5125720" cy="530352"/>
          </a:xfrm>
          <a:prstGeom prst="rect">
            <a:avLst/>
          </a:prstGeom>
          <a:noFill/>
        </p:spPr>
        <p:txBody>
          <a:bodyPr wrap="square">
            <a:spAutoFit/>
          </a:bodyPr>
          <a:lstStyle/>
          <a:p>
            <a:r>
              <a:rPr sz="950">
                <a:solidFill>
                  <a:srgbClr val="CCD2DF"/>
                </a:solidFill>
                <a:latin typeface="Calibri"/>
              </a:rPr>
              <a:t>All AI processing runs through Azure OpenAI under enterprise data processing agreements — your data does not train the models. AI analysis is sandboxed and cannot directly modify org data.</a:t>
            </a:r>
          </a:p>
        </p:txBody>
      </p:sp>
      <p:sp>
        <p:nvSpPr>
          <p:cNvPr id="23" name="Rectangle 22"/>
          <p:cNvSpPr/>
          <p:nvPr/>
        </p:nvSpPr>
        <p:spPr>
          <a:xfrm>
            <a:off x="502920" y="3767328"/>
            <a:ext cx="5303520" cy="868680"/>
          </a:xfrm>
          <a:prstGeom prst="rect">
            <a:avLst/>
          </a:prstGeom>
          <a:solidFill>
            <a:srgbClr val="10173A"/>
          </a:solidFill>
          <a:ln w="6350">
            <a:solidFill>
              <a:srgbClr val="1E2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3767328"/>
            <a:ext cx="38100" cy="868680"/>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9920" y="3840480"/>
            <a:ext cx="5125720" cy="256032"/>
          </a:xfrm>
          <a:prstGeom prst="rect">
            <a:avLst/>
          </a:prstGeom>
          <a:noFill/>
        </p:spPr>
        <p:txBody>
          <a:bodyPr wrap="none">
            <a:spAutoFit/>
          </a:bodyPr>
          <a:lstStyle/>
          <a:p>
            <a:r>
              <a:rPr sz="800" b="1">
                <a:solidFill>
                  <a:srgbClr val="2B8A6E"/>
                </a:solidFill>
                <a:latin typeface="Calibri"/>
              </a:rPr>
              <a:t>GDPR ALIGNMENT</a:t>
            </a:r>
          </a:p>
        </p:txBody>
      </p:sp>
      <p:sp>
        <p:nvSpPr>
          <p:cNvPr id="26" name="TextBox 25"/>
          <p:cNvSpPr txBox="1"/>
          <p:nvPr/>
        </p:nvSpPr>
        <p:spPr>
          <a:xfrm>
            <a:off x="629920" y="4059936"/>
            <a:ext cx="5125720" cy="530352"/>
          </a:xfrm>
          <a:prstGeom prst="rect">
            <a:avLst/>
          </a:prstGeom>
          <a:noFill/>
        </p:spPr>
        <p:txBody>
          <a:bodyPr wrap="square">
            <a:spAutoFit/>
          </a:bodyPr>
          <a:lstStyle/>
          <a:p>
            <a:r>
              <a:rPr sz="950">
                <a:solidFill>
                  <a:srgbClr val="CCD2DF"/>
                </a:solidFill>
                <a:latin typeface="Calibri"/>
              </a:rPr>
              <a:t>Consent-based access, customer-controlled data deletion, and configurable retention policies are built in.</a:t>
            </a:r>
          </a:p>
        </p:txBody>
      </p:sp>
      <p:sp>
        <p:nvSpPr>
          <p:cNvPr id="27" name="Rectangle 26"/>
          <p:cNvSpPr/>
          <p:nvPr/>
        </p:nvSpPr>
        <p:spPr>
          <a:xfrm>
            <a:off x="6217920" y="3767328"/>
            <a:ext cx="5303520" cy="868680"/>
          </a:xfrm>
          <a:prstGeom prst="rect">
            <a:avLst/>
          </a:prstGeom>
          <a:solidFill>
            <a:srgbClr val="10173A"/>
          </a:solidFill>
          <a:ln w="6350">
            <a:solidFill>
              <a:srgbClr val="1E2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3767328"/>
            <a:ext cx="38100" cy="868680"/>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44920" y="3840480"/>
            <a:ext cx="5125720" cy="256032"/>
          </a:xfrm>
          <a:prstGeom prst="rect">
            <a:avLst/>
          </a:prstGeom>
          <a:noFill/>
        </p:spPr>
        <p:txBody>
          <a:bodyPr wrap="none">
            <a:spAutoFit/>
          </a:bodyPr>
          <a:lstStyle/>
          <a:p>
            <a:r>
              <a:rPr sz="800" b="1">
                <a:solidFill>
                  <a:srgbClr val="2B8A6E"/>
                </a:solidFill>
                <a:latin typeface="Calibri"/>
              </a:rPr>
              <a:t>SOC 2 ROADMAP</a:t>
            </a:r>
          </a:p>
        </p:txBody>
      </p:sp>
      <p:sp>
        <p:nvSpPr>
          <p:cNvPr id="30" name="TextBox 29"/>
          <p:cNvSpPr txBox="1"/>
          <p:nvPr/>
        </p:nvSpPr>
        <p:spPr>
          <a:xfrm>
            <a:off x="6344920" y="4059936"/>
            <a:ext cx="5125720" cy="530352"/>
          </a:xfrm>
          <a:prstGeom prst="rect">
            <a:avLst/>
          </a:prstGeom>
          <a:noFill/>
        </p:spPr>
        <p:txBody>
          <a:bodyPr wrap="square">
            <a:spAutoFit/>
          </a:bodyPr>
          <a:lstStyle/>
          <a:p>
            <a:r>
              <a:rPr sz="950">
                <a:solidFill>
                  <a:srgbClr val="CCD2DF"/>
                </a:solidFill>
                <a:latin typeface="Calibri"/>
              </a:rPr>
              <a:t>Database infrastructure is SOC 2 Type II certified today. Platform-level audit is on the GA roadmap. Architecture documentation available on request.</a:t>
            </a:r>
          </a:p>
        </p:txBody>
      </p:sp>
      <p:sp>
        <p:nvSpPr>
          <p:cNvPr id="31" name="TextBox 30"/>
          <p:cNvSpPr txBox="1"/>
          <p:nvPr/>
        </p:nvSpPr>
        <p:spPr>
          <a:xfrm>
            <a:off x="502920" y="6327648"/>
            <a:ext cx="10972800" cy="292608"/>
          </a:xfrm>
          <a:prstGeom prst="rect">
            <a:avLst/>
          </a:prstGeom>
          <a:noFill/>
        </p:spPr>
        <p:txBody>
          <a:bodyPr wrap="none">
            <a:spAutoFit/>
          </a:bodyPr>
          <a:lstStyle/>
          <a:p>
            <a:pPr algn="ctr"/>
            <a:r>
              <a:rPr sz="850">
                <a:solidFill>
                  <a:srgbClr val="C9A84C"/>
                </a:solidFill>
                <a:latin typeface="Calibri"/>
              </a:rPr>
              <a:t>Full procurement-ready security overview available at /security-compliance  ·  Architecture documentation available on request</a:t>
            </a:r>
          </a:p>
        </p:txBody>
      </p:sp>
      <p:sp>
        <p:nvSpPr>
          <p:cNvPr id="32" name="Rectangle 31"/>
          <p:cNvSpPr/>
          <p:nvPr/>
        </p:nvSpPr>
        <p:spPr>
          <a:xfrm>
            <a:off x="502920" y="4773168"/>
            <a:ext cx="11183112" cy="1298448"/>
          </a:xfrm>
          <a:prstGeom prst="rect">
            <a:avLst/>
          </a:prstGeom>
          <a:solidFill>
            <a:srgbClr val="10173A"/>
          </a:solidFill>
          <a:ln w="6350">
            <a:solidFill>
              <a:srgbClr val="1E2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4773168"/>
            <a:ext cx="38100" cy="129844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5320" y="4901184"/>
            <a:ext cx="10878312" cy="256032"/>
          </a:xfrm>
          <a:prstGeom prst="rect">
            <a:avLst/>
          </a:prstGeom>
          <a:noFill/>
        </p:spPr>
        <p:txBody>
          <a:bodyPr wrap="none">
            <a:spAutoFit/>
          </a:bodyPr>
          <a:lstStyle/>
          <a:p>
            <a:r>
              <a:rPr sz="800" b="1">
                <a:solidFill>
                  <a:srgbClr val="C9A84C"/>
                </a:solidFill>
                <a:latin typeface="Calibri"/>
              </a:rPr>
              <a:t>ACCESS CONTROL</a:t>
            </a:r>
          </a:p>
        </p:txBody>
      </p:sp>
      <p:sp>
        <p:nvSpPr>
          <p:cNvPr id="35" name="TextBox 34"/>
          <p:cNvSpPr txBox="1"/>
          <p:nvPr/>
        </p:nvSpPr>
        <p:spPr>
          <a:xfrm>
            <a:off x="655320" y="5138928"/>
            <a:ext cx="10878312" cy="749808"/>
          </a:xfrm>
          <a:prstGeom prst="rect">
            <a:avLst/>
          </a:prstGeom>
          <a:noFill/>
        </p:spPr>
        <p:txBody>
          <a:bodyPr wrap="square">
            <a:spAutoFit/>
          </a:bodyPr>
          <a:lstStyle/>
          <a:p>
            <a:r>
              <a:rPr sz="950">
                <a:solidFill>
                  <a:srgbClr val="CCD2DF"/>
                </a:solidFill>
                <a:latin typeface="Calibri"/>
              </a:rPr>
              <a:t>Role-Based Access Control enforced at every route — platform admin, executive, and operator roles with fail-closed error handling. Email allowlist gates all logins; open by default, restrictive once any address is added. No Readiness Protocol activates without executive sign-off — every action requires a named human authorization. Audit log captures every decision, activation, and ownership acknowledgment with timestamped attribution.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F2E"/>
        </a:solidFill>
        <a:effectLst/>
      </p:bgPr>
    </p:bg>
    <p:spTree>
      <p:nvGrpSpPr>
        <p:cNvPr id="1" name=""/>
        <p:cNvGrpSpPr/>
        <p:nvPr/>
      </p:nvGrpSpPr>
      <p:grpSpPr/>
      <p:pic>
        <p:nvPicPr>
          <p:cNvPr id="18" name="Picture 17" descr="image.jpg"/>
          <p:cNvPicPr>
            <a:picLocks noChangeAspect="1"/>
          </p:cNvPicPr>
          <p:nvPr/>
        </p:nvPicPr>
        <p:blipFill>
          <a:blip r:embed="rId4"/>
          <a:stretch>
            <a:fillRect/>
          </a:stretch>
        </p:blipFill>
        <p:spPr>
          <a:xfrm>
            <a:off x="0" y="0"/>
            <a:ext cx="12188952" cy="6858000"/>
          </a:xfrm>
          <a:prstGeom prst="rect">
            <a:avLst/>
          </a:prstGeom>
        </p:spPr>
      </p:pic>
      <p:sp>
        <p:nvSpPr>
          <p:cNvPr id="2" name="Rectangle 1"/>
          <p:cNvSpPr/>
          <p:nvPr/>
        </p:nvSpPr>
        <p:spPr>
          <a:xfrm>
            <a:off x="0" y="502920"/>
            <a:ext cx="12188952" cy="25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9144000" cy="320040"/>
          </a:xfrm>
          <a:prstGeom prst="rect">
            <a:avLst/>
          </a:prstGeom>
          <a:noFill/>
        </p:spPr>
        <p:txBody>
          <a:bodyPr wrap="square">
            <a:spAutoFit/>
          </a:bodyPr>
          <a:lstStyle/>
          <a:p>
            <a:pPr algn="l"/>
            <a:r>
              <a:rPr sz="800" b="1">
                <a:solidFill>
                  <a:srgbClr val="C9A84C"/>
                </a:solidFill>
                <a:latin typeface="Calibri"/>
              </a:rPr>
              <a:t>APPENDIX  ·  LIVE PRODUCT — SIGNAL INTELLIGENCE &amp; EXECUTION</a:t>
            </a:r>
          </a:p>
        </p:txBody>
      </p:sp>
      <p:sp>
        <p:nvSpPr>
          <p:cNvPr id="4" name="TextBox 3"/>
          <p:cNvSpPr txBox="1"/>
          <p:nvPr/>
        </p:nvSpPr>
        <p:spPr>
          <a:xfrm>
            <a:off x="502920" y="621792"/>
            <a:ext cx="10972800" cy="548640"/>
          </a:xfrm>
          <a:prstGeom prst="rect">
            <a:avLst/>
          </a:prstGeom>
          <a:noFill/>
        </p:spPr>
        <p:txBody>
          <a:bodyPr wrap="square">
            <a:spAutoFit/>
          </a:bodyPr>
          <a:lstStyle/>
          <a:p>
            <a:pPr algn="l"/>
            <a:r>
              <a:rPr sz="2800" b="1">
                <a:solidFill>
                  <a:srgbClr val="FFFFFF"/>
                </a:solidFill>
                <a:latin typeface="Georgia"/>
              </a:rPr>
              <a:t>The System Is Always On.</a:t>
            </a:r>
          </a:p>
        </p:txBody>
      </p:sp>
      <p:sp>
        <p:nvSpPr>
          <p:cNvPr id="5" name="TextBox 4"/>
          <p:cNvSpPr txBox="1"/>
          <p:nvPr/>
        </p:nvSpPr>
        <p:spPr>
          <a:xfrm>
            <a:off x="502920" y="1170432"/>
            <a:ext cx="10058400" cy="320040"/>
          </a:xfrm>
          <a:prstGeom prst="rect">
            <a:avLst/>
          </a:prstGeom>
          <a:noFill/>
        </p:spPr>
        <p:txBody>
          <a:bodyPr wrap="square">
            <a:spAutoFit/>
          </a:bodyPr>
          <a:lstStyle/>
          <a:p>
            <a:pPr algn="l"/>
            <a:r>
              <a:rPr sz="1100" b="0">
                <a:solidFill>
                  <a:srgbClr val="CCD2DF"/>
                </a:solidFill>
                <a:latin typeface="Calibri"/>
              </a:rPr>
              <a:t>Live signal monitoring → trigger detection → protocol staged → war room open. All in 12 minutes.</a:t>
            </a:r>
          </a:p>
        </p:txBody>
      </p:sp>
      <p:sp>
        <p:nvSpPr>
          <p:cNvPr id="6" name="Rectangle 5"/>
          <p:cNvSpPr/>
          <p:nvPr/>
        </p:nvSpPr>
        <p:spPr>
          <a:xfrm>
            <a:off x="502920" y="1536192"/>
            <a:ext cx="1280160" cy="1905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55648"/>
            <a:ext cx="5532120" cy="4709160"/>
          </a:xfrm>
          <a:prstGeom prst="rect">
            <a:avLst/>
          </a:prstGeom>
          <a:solidFill>
            <a:srgbClr val="10173A"/>
          </a:solidFill>
          <a:ln w="9525">
            <a:solidFill>
              <a:srgbClr val="1E2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55648"/>
            <a:ext cx="5532120" cy="3175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q_command_tower.jpg"/>
          <p:cNvPicPr>
            <a:picLocks noChangeAspect="1"/>
          </p:cNvPicPr>
          <p:nvPr/>
        </p:nvPicPr>
        <p:blipFill>
          <a:blip r:embed="rId2"/>
          <a:stretch>
            <a:fillRect/>
          </a:stretch>
        </p:blipFill>
        <p:spPr>
          <a:xfrm>
            <a:off x="557784" y="1847088"/>
            <a:ext cx="5422392" cy="3730752"/>
          </a:xfrm>
          <a:prstGeom prst="rect">
            <a:avLst/>
          </a:prstGeom>
        </p:spPr>
      </p:pic>
      <p:sp>
        <p:nvSpPr>
          <p:cNvPr id="10" name="TextBox 9"/>
          <p:cNvSpPr txBox="1"/>
          <p:nvPr/>
        </p:nvSpPr>
        <p:spPr>
          <a:xfrm>
            <a:off x="640080" y="5650992"/>
            <a:ext cx="5257800" cy="292608"/>
          </a:xfrm>
          <a:prstGeom prst="rect">
            <a:avLst/>
          </a:prstGeom>
          <a:noFill/>
        </p:spPr>
        <p:txBody>
          <a:bodyPr wrap="square">
            <a:spAutoFit/>
          </a:bodyPr>
          <a:lstStyle/>
          <a:p>
            <a:pPr algn="l"/>
            <a:r>
              <a:rPr sz="1000" b="1">
                <a:solidFill>
                  <a:srgbClr val="FFFFFF"/>
                </a:solidFill>
                <a:latin typeface="Calibri"/>
              </a:rPr>
              <a:t>COMMAND TOWER — LIVE SIGNAL FEED</a:t>
            </a:r>
          </a:p>
        </p:txBody>
      </p:sp>
      <p:sp>
        <p:nvSpPr>
          <p:cNvPr id="11" name="TextBox 10"/>
          <p:cNvSpPr txBox="1"/>
          <p:nvPr/>
        </p:nvSpPr>
        <p:spPr>
          <a:xfrm>
            <a:off x="640080" y="5907024"/>
            <a:ext cx="5257800" cy="402336"/>
          </a:xfrm>
          <a:prstGeom prst="rect">
            <a:avLst/>
          </a:prstGeom>
          <a:noFill/>
        </p:spPr>
        <p:txBody>
          <a:bodyPr wrap="square">
            <a:spAutoFit/>
          </a:bodyPr>
          <a:lstStyle/>
          <a:p>
            <a:pPr algn="l"/>
            <a:r>
              <a:rPr sz="850" b="0">
                <a:solidFill>
                  <a:srgbClr val="CCD2DF"/>
                </a:solidFill>
                <a:latin typeface="Calibri"/>
              </a:rPr>
              <a:t>221 strategic triggers monitored continuously across 8 intelligence sources. Signal groups scored in real time — threshold met means the protocol is already staged.</a:t>
            </a:r>
          </a:p>
        </p:txBody>
      </p:sp>
      <p:sp>
        <p:nvSpPr>
          <p:cNvPr id="12" name="Rectangle 11"/>
          <p:cNvSpPr/>
          <p:nvPr/>
        </p:nvSpPr>
        <p:spPr>
          <a:xfrm>
            <a:off x="6199632" y="1755648"/>
            <a:ext cx="5532120" cy="4709160"/>
          </a:xfrm>
          <a:prstGeom prst="rect">
            <a:avLst/>
          </a:prstGeom>
          <a:solidFill>
            <a:srgbClr val="10173A"/>
          </a:solidFill>
          <a:ln w="9525">
            <a:solidFill>
              <a:srgbClr val="1E2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1755648"/>
            <a:ext cx="5532120" cy="3175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hq_executes_chain.jpg"/>
          <p:cNvPicPr>
            <a:picLocks noChangeAspect="1"/>
          </p:cNvPicPr>
          <p:nvPr/>
        </p:nvPicPr>
        <p:blipFill>
          <a:blip r:embed="rId3"/>
          <a:stretch>
            <a:fillRect/>
          </a:stretch>
        </p:blipFill>
        <p:spPr>
          <a:xfrm>
            <a:off x="6254496" y="1847088"/>
            <a:ext cx="5422392" cy="3730752"/>
          </a:xfrm>
          <a:prstGeom prst="rect">
            <a:avLst/>
          </a:prstGeom>
        </p:spPr>
      </p:pic>
      <p:sp>
        <p:nvSpPr>
          <p:cNvPr id="15" name="TextBox 14"/>
          <p:cNvSpPr txBox="1"/>
          <p:nvPr/>
        </p:nvSpPr>
        <p:spPr>
          <a:xfrm>
            <a:off x="6336792" y="5650992"/>
            <a:ext cx="5257800" cy="292608"/>
          </a:xfrm>
          <a:prstGeom prst="rect">
            <a:avLst/>
          </a:prstGeom>
          <a:noFill/>
        </p:spPr>
        <p:txBody>
          <a:bodyPr wrap="square">
            <a:spAutoFit/>
          </a:bodyPr>
          <a:lstStyle/>
          <a:p>
            <a:pPr algn="l"/>
            <a:r>
              <a:rPr sz="1000" b="1">
                <a:solidFill>
                  <a:srgbClr val="FFFFFF"/>
                </a:solidFill>
                <a:latin typeface="Calibri"/>
              </a:rPr>
              <a:t>EXECUTION CHAIN — SIGNAL TO WAR ROOM</a:t>
            </a:r>
          </a:p>
        </p:txBody>
      </p:sp>
      <p:sp>
        <p:nvSpPr>
          <p:cNvPr id="16" name="TextBox 15"/>
          <p:cNvSpPr txBox="1"/>
          <p:nvPr/>
        </p:nvSpPr>
        <p:spPr>
          <a:xfrm>
            <a:off x="6336792" y="5907024"/>
            <a:ext cx="5257800" cy="402336"/>
          </a:xfrm>
          <a:prstGeom prst="rect">
            <a:avLst/>
          </a:prstGeom>
          <a:noFill/>
        </p:spPr>
        <p:txBody>
          <a:bodyPr wrap="square">
            <a:spAutoFit/>
          </a:bodyPr>
          <a:lstStyle/>
          <a:p>
            <a:pPr algn="l"/>
            <a:r>
              <a:rPr sz="850" b="0">
                <a:solidFill>
                  <a:srgbClr val="CCD2DF"/>
                </a:solidFill>
                <a:latin typeface="Calibri"/>
              </a:rPr>
              <a:t>The animated signal → protocol → task assignment → executive authorization → war room open chain. 12 minutes complete. The response was pre-staged before this moment.</a:t>
            </a:r>
          </a:p>
        </p:txBody>
      </p:sp>
      <p:sp>
        <p:nvSpPr>
          <p:cNvPr id="17" name="TextBox 16"/>
          <p:cNvSpPr txBox="1"/>
          <p:nvPr/>
        </p:nvSpPr>
        <p:spPr>
          <a:xfrm>
            <a:off x="502920" y="6510528"/>
            <a:ext cx="10972800" cy="256032"/>
          </a:xfrm>
          <a:prstGeom prst="rect">
            <a:avLst/>
          </a:prstGeom>
          <a:noFill/>
        </p:spPr>
        <p:txBody>
          <a:bodyPr wrap="square">
            <a:spAutoFit/>
          </a:bodyPr>
          <a:lstStyle/>
          <a:p>
            <a:pPr algn="ctr"/>
            <a:r>
              <a:rPr sz="800" b="0">
                <a:solidFill>
                  <a:srgbClr val="C9A84C"/>
                </a:solidFill>
                <a:latin typeface="Calibri"/>
              </a:rPr>
              <a:t>Live product — accessible now at vaughnmartin.com  ·  No login required for the 12-Minute Test Drive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F2E"/>
        </a:solidFill>
        <a:effectLst/>
      </p:bgPr>
    </p:bg>
    <p:spTree>
      <p:nvGrpSpPr>
        <p:cNvPr id="1" name=""/>
        <p:cNvGrpSpPr/>
        <p:nvPr/>
      </p:nvGrpSpPr>
      <p:grpSpPr/>
      <p:pic>
        <p:nvPicPr>
          <p:cNvPr id="18" name="Picture 17" descr="image.jpg"/>
          <p:cNvPicPr>
            <a:picLocks noChangeAspect="1"/>
          </p:cNvPicPr>
          <p:nvPr/>
        </p:nvPicPr>
        <p:blipFill>
          <a:blip r:embed="rId4"/>
          <a:stretch>
            <a:fillRect/>
          </a:stretch>
        </p:blipFill>
        <p:spPr>
          <a:xfrm>
            <a:off x="0" y="0"/>
            <a:ext cx="12188952" cy="6858000"/>
          </a:xfrm>
          <a:prstGeom prst="rect">
            <a:avLst/>
          </a:prstGeom>
        </p:spPr>
      </p:pic>
      <p:sp>
        <p:nvSpPr>
          <p:cNvPr id="2" name="Rectangle 1"/>
          <p:cNvSpPr/>
          <p:nvPr/>
        </p:nvSpPr>
        <p:spPr>
          <a:xfrm>
            <a:off x="0" y="502920"/>
            <a:ext cx="12188952" cy="25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9144000" cy="320040"/>
          </a:xfrm>
          <a:prstGeom prst="rect">
            <a:avLst/>
          </a:prstGeom>
          <a:noFill/>
        </p:spPr>
        <p:txBody>
          <a:bodyPr wrap="square">
            <a:spAutoFit/>
          </a:bodyPr>
          <a:lstStyle/>
          <a:p>
            <a:pPr algn="l"/>
            <a:r>
              <a:rPr sz="800" b="1">
                <a:solidFill>
                  <a:srgbClr val="C9A84C"/>
                </a:solidFill>
                <a:latin typeface="Calibri"/>
              </a:rPr>
              <a:t>APPENDIX  ·  LIVE PRODUCT — TEST DRIVE &amp; PROTOCOL DEPTH</a:t>
            </a:r>
          </a:p>
        </p:txBody>
      </p:sp>
      <p:sp>
        <p:nvSpPr>
          <p:cNvPr id="4" name="TextBox 3"/>
          <p:cNvSpPr txBox="1"/>
          <p:nvPr/>
        </p:nvSpPr>
        <p:spPr>
          <a:xfrm>
            <a:off x="502920" y="621792"/>
            <a:ext cx="10972800" cy="548640"/>
          </a:xfrm>
          <a:prstGeom prst="rect">
            <a:avLst/>
          </a:prstGeom>
          <a:noFill/>
        </p:spPr>
        <p:txBody>
          <a:bodyPr wrap="square">
            <a:spAutoFit/>
          </a:bodyPr>
          <a:lstStyle/>
          <a:p>
            <a:pPr algn="l"/>
            <a:r>
              <a:rPr sz="2800" b="1">
                <a:solidFill>
                  <a:srgbClr val="FFFFFF"/>
                </a:solidFill>
                <a:latin typeface="Georgia"/>
              </a:rPr>
              <a:t>Run It Right Now. 170 Protocols Ready.</a:t>
            </a:r>
          </a:p>
        </p:txBody>
      </p:sp>
      <p:sp>
        <p:nvSpPr>
          <p:cNvPr id="5" name="TextBox 4"/>
          <p:cNvSpPr txBox="1"/>
          <p:nvPr/>
        </p:nvSpPr>
        <p:spPr>
          <a:xfrm>
            <a:off x="502920" y="1170432"/>
            <a:ext cx="10058400" cy="320040"/>
          </a:xfrm>
          <a:prstGeom prst="rect">
            <a:avLst/>
          </a:prstGeom>
          <a:noFill/>
        </p:spPr>
        <p:txBody>
          <a:bodyPr wrap="square">
            <a:spAutoFit/>
          </a:bodyPr>
          <a:lstStyle/>
          <a:p>
            <a:pPr algn="l"/>
            <a:r>
              <a:rPr sz="1100" b="0">
                <a:solidFill>
                  <a:srgbClr val="CCD2DF"/>
                </a:solidFill>
                <a:latin typeface="Calibri"/>
              </a:rPr>
              <a:t>7 live scenarios, no login. Any investor can experience a full crisis response in 12 minutes — during this meeting.</a:t>
            </a:r>
          </a:p>
        </p:txBody>
      </p:sp>
      <p:sp>
        <p:nvSpPr>
          <p:cNvPr id="6" name="Rectangle 5"/>
          <p:cNvSpPr/>
          <p:nvPr/>
        </p:nvSpPr>
        <p:spPr>
          <a:xfrm>
            <a:off x="502920" y="1536192"/>
            <a:ext cx="1280160" cy="1905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55648"/>
            <a:ext cx="5532120" cy="4709160"/>
          </a:xfrm>
          <a:prstGeom prst="rect">
            <a:avLst/>
          </a:prstGeom>
          <a:solidFill>
            <a:srgbClr val="10173A"/>
          </a:solidFill>
          <a:ln w="9525">
            <a:solidFill>
              <a:srgbClr val="1E2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55648"/>
            <a:ext cx="5532120" cy="3175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q_12min_scenarios.jpg"/>
          <p:cNvPicPr>
            <a:picLocks noChangeAspect="1"/>
          </p:cNvPicPr>
          <p:nvPr/>
        </p:nvPicPr>
        <p:blipFill>
          <a:blip r:embed="rId2"/>
          <a:stretch>
            <a:fillRect/>
          </a:stretch>
        </p:blipFill>
        <p:spPr>
          <a:xfrm>
            <a:off x="557784" y="1847088"/>
            <a:ext cx="5422392" cy="3730752"/>
          </a:xfrm>
          <a:prstGeom prst="rect">
            <a:avLst/>
          </a:prstGeom>
        </p:spPr>
      </p:pic>
      <p:sp>
        <p:nvSpPr>
          <p:cNvPr id="10" name="TextBox 9"/>
          <p:cNvSpPr txBox="1"/>
          <p:nvPr/>
        </p:nvSpPr>
        <p:spPr>
          <a:xfrm>
            <a:off x="640080" y="5650992"/>
            <a:ext cx="5257800" cy="292608"/>
          </a:xfrm>
          <a:prstGeom prst="rect">
            <a:avLst/>
          </a:prstGeom>
          <a:noFill/>
        </p:spPr>
        <p:txBody>
          <a:bodyPr wrap="square">
            <a:spAutoFit/>
          </a:bodyPr>
          <a:lstStyle/>
          <a:p>
            <a:pPr algn="l"/>
            <a:r>
              <a:rPr sz="1000" b="1">
                <a:solidFill>
                  <a:srgbClr val="FFFFFF"/>
                </a:solidFill>
                <a:latin typeface="Calibri"/>
              </a:rPr>
              <a:t>12-MINUTE TEST DRIVE — 7 LIVE SCENARIOS</a:t>
            </a:r>
          </a:p>
        </p:txBody>
      </p:sp>
      <p:sp>
        <p:nvSpPr>
          <p:cNvPr id="11" name="TextBox 10"/>
          <p:cNvSpPr txBox="1"/>
          <p:nvPr/>
        </p:nvSpPr>
        <p:spPr>
          <a:xfrm>
            <a:off x="640080" y="5907024"/>
            <a:ext cx="5257800" cy="402336"/>
          </a:xfrm>
          <a:prstGeom prst="rect">
            <a:avLst/>
          </a:prstGeom>
          <a:noFill/>
        </p:spPr>
        <p:txBody>
          <a:bodyPr wrap="square">
            <a:spAutoFit/>
          </a:bodyPr>
          <a:lstStyle/>
          <a:p>
            <a:pPr algn="l"/>
            <a:r>
              <a:rPr sz="850" b="0">
                <a:solidFill>
                  <a:srgbClr val="CCD2DF"/>
                </a:solidFill>
                <a:latin typeface="Calibri"/>
              </a:rPr>
              <a:t>Public access. No login. Activist Investor, Ransomware, Supply Chain, M&amp;A — full signal → war room → debrief cycle. Run it now at /12-minute-experience.</a:t>
            </a:r>
          </a:p>
        </p:txBody>
      </p:sp>
      <p:sp>
        <p:nvSpPr>
          <p:cNvPr id="12" name="Rectangle 11"/>
          <p:cNvSpPr/>
          <p:nvPr/>
        </p:nvSpPr>
        <p:spPr>
          <a:xfrm>
            <a:off x="6199632" y="1755648"/>
            <a:ext cx="5532120" cy="4709160"/>
          </a:xfrm>
          <a:prstGeom prst="rect">
            <a:avLst/>
          </a:prstGeom>
          <a:solidFill>
            <a:srgbClr val="0A0F2E"/>
          </a:solidFill>
          <a:ln w="9525">
            <a:solidFill>
              <a:srgbClr val="1E2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1755648"/>
            <a:ext cx="5532120" cy="3175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deck_protocol_library.jpg"/>
          <p:cNvPicPr>
            <a:picLocks noChangeAspect="1"/>
          </p:cNvPicPr>
          <p:nvPr/>
        </p:nvPicPr>
        <p:blipFill>
          <a:blip r:embed="rId3"/>
          <a:stretch>
            <a:fillRect/>
          </a:stretch>
        </p:blipFill>
        <p:spPr>
          <a:xfrm>
            <a:off x="6254496" y="1847088"/>
            <a:ext cx="5422392" cy="3730752"/>
          </a:xfrm>
          <a:prstGeom prst="rect">
            <a:avLst/>
          </a:prstGeom>
        </p:spPr>
      </p:pic>
      <p:sp>
        <p:nvSpPr>
          <p:cNvPr id="15" name="TextBox 14"/>
          <p:cNvSpPr txBox="1"/>
          <p:nvPr/>
        </p:nvSpPr>
        <p:spPr>
          <a:xfrm>
            <a:off x="6336792" y="5650992"/>
            <a:ext cx="5257800" cy="292608"/>
          </a:xfrm>
          <a:prstGeom prst="rect">
            <a:avLst/>
          </a:prstGeom>
          <a:noFill/>
        </p:spPr>
        <p:txBody>
          <a:bodyPr wrap="square">
            <a:spAutoFit/>
          </a:bodyPr>
          <a:lstStyle/>
          <a:p>
            <a:pPr algn="l"/>
            <a:r>
              <a:rPr sz="1000" b="1">
                <a:solidFill>
                  <a:srgbClr val="FFFFFF"/>
                </a:solidFill>
                <a:latin typeface="Calibri"/>
              </a:rPr>
              <a:t>170 READINESS PROTOCOLS — PRE-STAGED DEPTH</a:t>
            </a:r>
          </a:p>
        </p:txBody>
      </p:sp>
      <p:sp>
        <p:nvSpPr>
          <p:cNvPr id="16" name="TextBox 15"/>
          <p:cNvSpPr txBox="1"/>
          <p:nvPr/>
        </p:nvSpPr>
        <p:spPr>
          <a:xfrm>
            <a:off x="6336792" y="5907024"/>
            <a:ext cx="5257800" cy="402336"/>
          </a:xfrm>
          <a:prstGeom prst="rect">
            <a:avLst/>
          </a:prstGeom>
          <a:noFill/>
        </p:spPr>
        <p:txBody>
          <a:bodyPr wrap="square">
            <a:spAutoFit/>
          </a:bodyPr>
          <a:lstStyle/>
          <a:p>
            <a:pPr algn="l"/>
            <a:r>
              <a:rPr sz="850" b="0">
                <a:solidFill>
                  <a:srgbClr val="CCD2DF"/>
                </a:solidFill>
                <a:latin typeface="Calibri"/>
              </a:rPr>
              <a:t>Every protocol mapped across GROWTH &amp; POSITIONING, RISK &amp; RESILIENCE, and TRANSFORMATION. 12 Compound Protocol Engines for simultaneous multi-threat response.</a:t>
            </a:r>
          </a:p>
        </p:txBody>
      </p:sp>
      <p:sp>
        <p:nvSpPr>
          <p:cNvPr id="17" name="TextBox 16"/>
          <p:cNvSpPr txBox="1"/>
          <p:nvPr/>
        </p:nvSpPr>
        <p:spPr>
          <a:xfrm>
            <a:off x="502920" y="6510528"/>
            <a:ext cx="10972800" cy="256032"/>
          </a:xfrm>
          <a:prstGeom prst="rect">
            <a:avLst/>
          </a:prstGeom>
          <a:noFill/>
        </p:spPr>
        <p:txBody>
          <a:bodyPr wrap="square">
            <a:spAutoFit/>
          </a:bodyPr>
          <a:lstStyle/>
          <a:p>
            <a:pPr algn="ctr"/>
            <a:r>
              <a:rPr sz="800" b="0">
                <a:solidFill>
                  <a:srgbClr val="C9A84C"/>
                </a:solidFill>
                <a:latin typeface="Calibri"/>
              </a:rPr>
              <a:t>Live product — accessible now at vaughnmartin.com  ·  No login required for the 12-Minute Test Drive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