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36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C9A84C"/>
                </a:solidFill>
                <a:latin typeface="Georgia"/>
              </a:rPr>
              <a:t>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C9A84C"/>
                </a:solidFill>
                <a:latin typeface="Georgia"/>
              </a:rPr>
              <a:t>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C9A84C"/>
                </a:solidFill>
                <a:latin typeface="Georgia"/>
              </a:rPr>
              <a:t>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 (simulation-validated)</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
        <p:nvSpPr>
          <p:cNvPr id="34" name="TextBox 33"/>
          <p:cNvSpPr txBox="1"/>
          <p:nvPr/>
        </p:nvSpPr>
        <p:spPr>
          <a:xfrm>
            <a:off x="502920" y="3246120"/>
            <a:ext cx="3200400" cy="256032"/>
          </a:xfrm>
          <a:prstGeom prst="rect">
            <a:avLst/>
          </a:prstGeom>
          <a:noFill/>
        </p:spPr>
        <p:txBody>
          <a:bodyPr wrap="square">
            <a:spAutoFit/>
          </a:bodyPr>
          <a:lstStyle/>
          <a:p>
            <a:pPr algn="l"/>
            <a:r>
              <a:rPr sz="750" b="0">
                <a:solidFill>
                  <a:srgbClr val="8899BB"/>
                </a:solidFill>
                <a:latin typeface="Calibri"/>
              </a:rPr>
              <a:t>Gartner SPM + GRC + EPMO categories</a:t>
            </a:r>
          </a:p>
        </p:txBody>
      </p:sp>
      <p:sp>
        <p:nvSpPr>
          <p:cNvPr id="35" name="TextBox 34"/>
          <p:cNvSpPr txBox="1"/>
          <p:nvPr/>
        </p:nvSpPr>
        <p:spPr>
          <a:xfrm>
            <a:off x="502920" y="6144768"/>
            <a:ext cx="11155680" cy="237744"/>
          </a:xfrm>
          <a:prstGeom prst="rect">
            <a:avLst/>
          </a:prstGeom>
          <a:noFill/>
        </p:spPr>
        <p:txBody>
          <a:bodyPr wrap="square">
            <a:spAutoFit/>
          </a:bodyPr>
          <a:lstStyle/>
          <a:p>
            <a:pPr algn="l"/>
            <a:r>
              <a:rPr sz="750" b="0">
                <a:solidFill>
                  <a:srgbClr val="7788AA"/>
                </a:solidFill>
                <a:latin typeface="Calibri"/>
              </a:rPr>
              <a:t>Sources: Gartner Strategic Portfolio Management 2025  ·  McKinsey Organizational Agility Research 2025  ·  WEF × Accenture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CCD2DF"/>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2B8A6E"/>
                </a:solidFill>
                <a:latin typeface="Georgia"/>
              </a:rPr>
              <a:t>&lt; 6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$75K–$120K/yr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40% Go-to-Market  ·  35% Engineering  ·  15% Operations  ·  10% Reserves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SCHEDULE A CONVERSATION</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36" name="Picture 35" descr="image.jpg"/>
          <p:cNvPicPr>
            <a:picLocks noChangeAspect="1"/>
          </p:cNvPicPr>
          <p:nvPr/>
        </p:nvPicPr>
        <p:blipFill>
          <a:blip r:embed="rId2"/>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5486400" cy="320040"/>
          </a:xfrm>
          <a:prstGeom prst="rect">
            <a:avLst/>
          </a:prstGeom>
          <a:noFill/>
        </p:spPr>
        <p:txBody>
          <a:bodyPr wrap="none">
            <a:spAutoFit/>
          </a:bodyPr>
          <a:lstStyle/>
          <a:p>
            <a:pPr algn="l"/>
            <a:r>
              <a:rPr sz="800" b="1">
                <a:solidFill>
                  <a:srgbClr val="C9A84C"/>
                </a:solidFill>
                <a:latin typeface="Calibri"/>
              </a:rPr>
              <a:t>APPENDIX  ·  IF ASKED</a:t>
            </a:r>
          </a:p>
        </p:txBody>
      </p:sp>
      <p:sp>
        <p:nvSpPr>
          <p:cNvPr id="4" name="TextBox 3"/>
          <p:cNvSpPr txBox="1"/>
          <p:nvPr/>
        </p:nvSpPr>
        <p:spPr>
          <a:xfrm>
            <a:off x="502920" y="658368"/>
            <a:ext cx="10058400" cy="640080"/>
          </a:xfrm>
          <a:prstGeom prst="rect">
            <a:avLst/>
          </a:prstGeom>
          <a:noFill/>
        </p:spPr>
        <p:txBody>
          <a:bodyPr wrap="none">
            <a:spAutoFit/>
          </a:bodyPr>
          <a:lstStyle/>
          <a:p>
            <a:pPr algn="l"/>
            <a:r>
              <a:rPr sz="3400" b="1">
                <a:solidFill>
                  <a:srgbClr val="FFFFFF"/>
                </a:solidFill>
                <a:latin typeface="Georgia"/>
              </a:rPr>
              <a:t>Data &amp; Privacy</a:t>
            </a:r>
          </a:p>
        </p:txBody>
      </p:sp>
      <p:sp>
        <p:nvSpPr>
          <p:cNvPr id="5" name="TextBox 4"/>
          <p:cNvSpPr txBox="1"/>
          <p:nvPr/>
        </p:nvSpPr>
        <p:spPr>
          <a:xfrm>
            <a:off x="502920" y="1261872"/>
            <a:ext cx="10058400" cy="320040"/>
          </a:xfrm>
          <a:prstGeom prst="rect">
            <a:avLst/>
          </a:prstGeom>
          <a:noFill/>
        </p:spPr>
        <p:txBody>
          <a:bodyPr wrap="none">
            <a:spAutoFit/>
          </a:bodyPr>
          <a:lstStyle/>
          <a:p>
            <a:r>
              <a:rPr sz="1200">
                <a:solidFill>
                  <a:srgbClr val="CCD2DF"/>
                </a:solidFill>
                <a:latin typeface="Calibri"/>
              </a:rPr>
              <a:t>Architecture built for enterprise trust — key facts for any procurement or investor conversation</a:t>
            </a:r>
          </a:p>
        </p:txBody>
      </p:sp>
      <p:sp>
        <p:nvSpPr>
          <p:cNvPr id="6" name="Rectangle 5"/>
          <p:cNvSpPr/>
          <p:nvPr/>
        </p:nvSpPr>
        <p:spPr>
          <a:xfrm>
            <a:off x="502920" y="1664208"/>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920" y="1901952"/>
            <a:ext cx="5125720" cy="256032"/>
          </a:xfrm>
          <a:prstGeom prst="rect">
            <a:avLst/>
          </a:prstGeom>
          <a:noFill/>
        </p:spPr>
        <p:txBody>
          <a:bodyPr wrap="none">
            <a:spAutoFit/>
          </a:bodyPr>
          <a:lstStyle/>
          <a:p>
            <a:r>
              <a:rPr sz="800" b="1">
                <a:solidFill>
                  <a:srgbClr val="2B8A6E"/>
                </a:solidFill>
                <a:latin typeface="Calibri"/>
              </a:rPr>
              <a:t>DATA OWNERSHIP</a:t>
            </a:r>
          </a:p>
        </p:txBody>
      </p:sp>
      <p:sp>
        <p:nvSpPr>
          <p:cNvPr id="10" name="TextBox 9"/>
          <p:cNvSpPr txBox="1"/>
          <p:nvPr/>
        </p:nvSpPr>
        <p:spPr>
          <a:xfrm>
            <a:off x="629920" y="2121408"/>
            <a:ext cx="5125720" cy="530352"/>
          </a:xfrm>
          <a:prstGeom prst="rect">
            <a:avLst/>
          </a:prstGeom>
          <a:noFill/>
        </p:spPr>
        <p:txBody>
          <a:bodyPr wrap="square">
            <a:spAutoFit/>
          </a:bodyPr>
          <a:lstStyle/>
          <a:p>
            <a:r>
              <a:rPr sz="950">
                <a:solidFill>
                  <a:srgbClr val="CCD2DF"/>
                </a:solidFill>
                <a:latin typeface="Calibri"/>
              </a:rPr>
              <a:t>Customer data is exclusively owned by the customer. VaughnMartin cannot access it without explicit consent.</a:t>
            </a:r>
          </a:p>
        </p:txBody>
      </p:sp>
      <p:sp>
        <p:nvSpPr>
          <p:cNvPr id="11" name="Rectangle 10"/>
          <p:cNvSpPr/>
          <p:nvPr/>
        </p:nvSpPr>
        <p:spPr>
          <a:xfrm>
            <a:off x="6217920" y="1828800"/>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828800"/>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4920" y="1901952"/>
            <a:ext cx="5125720" cy="256032"/>
          </a:xfrm>
          <a:prstGeom prst="rect">
            <a:avLst/>
          </a:prstGeom>
          <a:noFill/>
        </p:spPr>
        <p:txBody>
          <a:bodyPr wrap="none">
            <a:spAutoFit/>
          </a:bodyPr>
          <a:lstStyle/>
          <a:p>
            <a:r>
              <a:rPr sz="800" b="1">
                <a:solidFill>
                  <a:srgbClr val="2B8A6E"/>
                </a:solidFill>
                <a:latin typeface="Calibri"/>
              </a:rPr>
              <a:t>TENANT ISOLATION</a:t>
            </a:r>
          </a:p>
        </p:txBody>
      </p:sp>
      <p:sp>
        <p:nvSpPr>
          <p:cNvPr id="14" name="TextBox 13"/>
          <p:cNvSpPr txBox="1"/>
          <p:nvPr/>
        </p:nvSpPr>
        <p:spPr>
          <a:xfrm>
            <a:off x="6344920" y="2121408"/>
            <a:ext cx="5125720" cy="530352"/>
          </a:xfrm>
          <a:prstGeom prst="rect">
            <a:avLst/>
          </a:prstGeom>
          <a:noFill/>
        </p:spPr>
        <p:txBody>
          <a:bodyPr wrap="square">
            <a:spAutoFit/>
          </a:bodyPr>
          <a:lstStyle/>
          <a:p>
            <a:r>
              <a:rPr sz="950">
                <a:solidFill>
                  <a:srgbClr val="CCD2DF"/>
                </a:solidFill>
                <a:latin typeface="Calibri"/>
              </a:rPr>
              <a:t>Every query is organization-scoped at the database layer — cross-tenant reads are architecturally prevented.</a:t>
            </a:r>
          </a:p>
        </p:txBody>
      </p:sp>
      <p:sp>
        <p:nvSpPr>
          <p:cNvPr id="15" name="Rectangle 14"/>
          <p:cNvSpPr/>
          <p:nvPr/>
        </p:nvSpPr>
        <p:spPr>
          <a:xfrm>
            <a:off x="502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920" y="2871216"/>
            <a:ext cx="5125720" cy="256032"/>
          </a:xfrm>
          <a:prstGeom prst="rect">
            <a:avLst/>
          </a:prstGeom>
          <a:noFill/>
        </p:spPr>
        <p:txBody>
          <a:bodyPr wrap="none">
            <a:spAutoFit/>
          </a:bodyPr>
          <a:lstStyle/>
          <a:p>
            <a:r>
              <a:rPr sz="800" b="1">
                <a:solidFill>
                  <a:srgbClr val="2B8A6E"/>
                </a:solidFill>
                <a:latin typeface="Calibri"/>
              </a:rPr>
              <a:t>ENCRYPTION</a:t>
            </a:r>
          </a:p>
        </p:txBody>
      </p:sp>
      <p:sp>
        <p:nvSpPr>
          <p:cNvPr id="18" name="TextBox 17"/>
          <p:cNvSpPr txBox="1"/>
          <p:nvPr/>
        </p:nvSpPr>
        <p:spPr>
          <a:xfrm>
            <a:off x="629920" y="3090672"/>
            <a:ext cx="5125720" cy="530352"/>
          </a:xfrm>
          <a:prstGeom prst="rect">
            <a:avLst/>
          </a:prstGeom>
          <a:noFill/>
        </p:spPr>
        <p:txBody>
          <a:bodyPr wrap="square">
            <a:spAutoFit/>
          </a:bodyPr>
          <a:lstStyle/>
          <a:p>
            <a:r>
              <a:rPr sz="950">
                <a:solidFill>
                  <a:srgbClr val="CCD2DF"/>
                </a:solidFill>
                <a:latin typeface="Calibri"/>
              </a:rPr>
              <a:t>TLS encrypted in transit. Encrypted at rest via Neon PostgreSQL (SOC 2 Type II certified infrastructure).</a:t>
            </a:r>
          </a:p>
        </p:txBody>
      </p:sp>
      <p:sp>
        <p:nvSpPr>
          <p:cNvPr id="19" name="Rectangle 18"/>
          <p:cNvSpPr/>
          <p:nvPr/>
        </p:nvSpPr>
        <p:spPr>
          <a:xfrm>
            <a:off x="6217920" y="2798064"/>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2798064"/>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4920" y="2871216"/>
            <a:ext cx="5125720" cy="256032"/>
          </a:xfrm>
          <a:prstGeom prst="rect">
            <a:avLst/>
          </a:prstGeom>
          <a:noFill/>
        </p:spPr>
        <p:txBody>
          <a:bodyPr wrap="none">
            <a:spAutoFit/>
          </a:bodyPr>
          <a:lstStyle/>
          <a:p>
            <a:r>
              <a:rPr sz="800" b="1">
                <a:solidFill>
                  <a:srgbClr val="2B8A6E"/>
                </a:solidFill>
                <a:latin typeface="Calibri"/>
              </a:rPr>
              <a:t>AI &amp; MODEL SAFETY</a:t>
            </a:r>
          </a:p>
        </p:txBody>
      </p:sp>
      <p:sp>
        <p:nvSpPr>
          <p:cNvPr id="22" name="TextBox 21"/>
          <p:cNvSpPr txBox="1"/>
          <p:nvPr/>
        </p:nvSpPr>
        <p:spPr>
          <a:xfrm>
            <a:off x="6344920" y="3090672"/>
            <a:ext cx="5125720" cy="530352"/>
          </a:xfrm>
          <a:prstGeom prst="rect">
            <a:avLst/>
          </a:prstGeom>
          <a:noFill/>
        </p:spPr>
        <p:txBody>
          <a:bodyPr wrap="square">
            <a:spAutoFit/>
          </a:bodyPr>
          <a:lstStyle/>
          <a:p>
            <a:r>
              <a:rPr sz="950">
                <a:solidFill>
                  <a:srgbClr val="CCD2DF"/>
                </a:solidFill>
                <a:latin typeface="Calibri"/>
              </a:rPr>
              <a:t>All AI processing runs through Azure OpenAI under enterprise data processing agreements — your data does not train the models. AI analysis is sandboxed and cannot directly modify org data.</a:t>
            </a:r>
          </a:p>
        </p:txBody>
      </p:sp>
      <p:sp>
        <p:nvSpPr>
          <p:cNvPr id="23" name="Rectangle 22"/>
          <p:cNvSpPr/>
          <p:nvPr/>
        </p:nvSpPr>
        <p:spPr>
          <a:xfrm>
            <a:off x="502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920" y="3840480"/>
            <a:ext cx="5125720" cy="256032"/>
          </a:xfrm>
          <a:prstGeom prst="rect">
            <a:avLst/>
          </a:prstGeom>
          <a:noFill/>
        </p:spPr>
        <p:txBody>
          <a:bodyPr wrap="none">
            <a:spAutoFit/>
          </a:bodyPr>
          <a:lstStyle/>
          <a:p>
            <a:r>
              <a:rPr sz="800" b="1">
                <a:solidFill>
                  <a:srgbClr val="2B8A6E"/>
                </a:solidFill>
                <a:latin typeface="Calibri"/>
              </a:rPr>
              <a:t>GDPR ALIGNMENT</a:t>
            </a:r>
          </a:p>
        </p:txBody>
      </p:sp>
      <p:sp>
        <p:nvSpPr>
          <p:cNvPr id="26" name="TextBox 25"/>
          <p:cNvSpPr txBox="1"/>
          <p:nvPr/>
        </p:nvSpPr>
        <p:spPr>
          <a:xfrm>
            <a:off x="629920" y="4059936"/>
            <a:ext cx="5125720" cy="530352"/>
          </a:xfrm>
          <a:prstGeom prst="rect">
            <a:avLst/>
          </a:prstGeom>
          <a:noFill/>
        </p:spPr>
        <p:txBody>
          <a:bodyPr wrap="square">
            <a:spAutoFit/>
          </a:bodyPr>
          <a:lstStyle/>
          <a:p>
            <a:r>
              <a:rPr sz="950">
                <a:solidFill>
                  <a:srgbClr val="CCD2DF"/>
                </a:solidFill>
                <a:latin typeface="Calibri"/>
              </a:rPr>
              <a:t>Consent-based access, customer-controlled data deletion, and configurable retention policies are built in.</a:t>
            </a:r>
          </a:p>
        </p:txBody>
      </p:sp>
      <p:sp>
        <p:nvSpPr>
          <p:cNvPr id="27" name="Rectangle 26"/>
          <p:cNvSpPr/>
          <p:nvPr/>
        </p:nvSpPr>
        <p:spPr>
          <a:xfrm>
            <a:off x="6217920" y="3767328"/>
            <a:ext cx="5303520" cy="868680"/>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767328"/>
            <a:ext cx="38100" cy="86868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4920" y="3840480"/>
            <a:ext cx="5125720" cy="256032"/>
          </a:xfrm>
          <a:prstGeom prst="rect">
            <a:avLst/>
          </a:prstGeom>
          <a:noFill/>
        </p:spPr>
        <p:txBody>
          <a:bodyPr wrap="none">
            <a:spAutoFit/>
          </a:bodyPr>
          <a:lstStyle/>
          <a:p>
            <a:r>
              <a:rPr sz="800" b="1">
                <a:solidFill>
                  <a:srgbClr val="2B8A6E"/>
                </a:solidFill>
                <a:latin typeface="Calibri"/>
              </a:rPr>
              <a:t>SOC 2 ROADMAP</a:t>
            </a:r>
          </a:p>
        </p:txBody>
      </p:sp>
      <p:sp>
        <p:nvSpPr>
          <p:cNvPr id="30" name="TextBox 29"/>
          <p:cNvSpPr txBox="1"/>
          <p:nvPr/>
        </p:nvSpPr>
        <p:spPr>
          <a:xfrm>
            <a:off x="6344920" y="4059936"/>
            <a:ext cx="5125720" cy="530352"/>
          </a:xfrm>
          <a:prstGeom prst="rect">
            <a:avLst/>
          </a:prstGeom>
          <a:noFill/>
        </p:spPr>
        <p:txBody>
          <a:bodyPr wrap="square">
            <a:spAutoFit/>
          </a:bodyPr>
          <a:lstStyle/>
          <a:p>
            <a:r>
              <a:rPr sz="950">
                <a:solidFill>
                  <a:srgbClr val="CCD2DF"/>
                </a:solidFill>
                <a:latin typeface="Calibri"/>
              </a:rPr>
              <a:t>Database infrastructure is SOC 2 Type II certified today. Platform-level audit is on the GA roadmap. Architecture documentation available on request.</a:t>
            </a:r>
          </a:p>
        </p:txBody>
      </p:sp>
      <p:sp>
        <p:nvSpPr>
          <p:cNvPr id="31" name="TextBox 30"/>
          <p:cNvSpPr txBox="1"/>
          <p:nvPr/>
        </p:nvSpPr>
        <p:spPr>
          <a:xfrm>
            <a:off x="502920" y="6327648"/>
            <a:ext cx="10972800" cy="292608"/>
          </a:xfrm>
          <a:prstGeom prst="rect">
            <a:avLst/>
          </a:prstGeom>
          <a:noFill/>
        </p:spPr>
        <p:txBody>
          <a:bodyPr wrap="none">
            <a:spAutoFit/>
          </a:bodyPr>
          <a:lstStyle/>
          <a:p>
            <a:pPr algn="ctr"/>
            <a:r>
              <a:rPr sz="850">
                <a:solidFill>
                  <a:srgbClr val="C9A84C"/>
                </a:solidFill>
                <a:latin typeface="Calibri"/>
              </a:rPr>
              <a:t>Full procurement-ready security overview available at /security-compliance  ·  Architecture documentation available on request</a:t>
            </a:r>
          </a:p>
        </p:txBody>
      </p:sp>
      <p:sp>
        <p:nvSpPr>
          <p:cNvPr id="32" name="Rectangle 31"/>
          <p:cNvSpPr/>
          <p:nvPr/>
        </p:nvSpPr>
        <p:spPr>
          <a:xfrm>
            <a:off x="502920" y="4773168"/>
            <a:ext cx="11183112" cy="1298448"/>
          </a:xfrm>
          <a:prstGeom prst="rect">
            <a:avLst/>
          </a:prstGeom>
          <a:solidFill>
            <a:srgbClr val="10173A"/>
          </a:solidFill>
          <a:ln w="6350">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773168"/>
            <a:ext cx="3810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20" y="4901184"/>
            <a:ext cx="10878312" cy="256032"/>
          </a:xfrm>
          <a:prstGeom prst="rect">
            <a:avLst/>
          </a:prstGeom>
          <a:noFill/>
        </p:spPr>
        <p:txBody>
          <a:bodyPr wrap="none">
            <a:spAutoFit/>
          </a:bodyPr>
          <a:lstStyle/>
          <a:p>
            <a:r>
              <a:rPr sz="800" b="1">
                <a:solidFill>
                  <a:srgbClr val="C9A84C"/>
                </a:solidFill>
                <a:latin typeface="Calibri"/>
              </a:rPr>
              <a:t>ACCESS CONTROL</a:t>
            </a:r>
          </a:p>
        </p:txBody>
      </p:sp>
      <p:sp>
        <p:nvSpPr>
          <p:cNvPr id="35" name="TextBox 34"/>
          <p:cNvSpPr txBox="1"/>
          <p:nvPr/>
        </p:nvSpPr>
        <p:spPr>
          <a:xfrm>
            <a:off x="655320" y="5138928"/>
            <a:ext cx="10878312" cy="749808"/>
          </a:xfrm>
          <a:prstGeom prst="rect">
            <a:avLst/>
          </a:prstGeom>
          <a:noFill/>
        </p:spPr>
        <p:txBody>
          <a:bodyPr wrap="square">
            <a:spAutoFit/>
          </a:bodyPr>
          <a:lstStyle/>
          <a:p>
            <a:r>
              <a:rPr sz="950">
                <a:solidFill>
                  <a:srgbClr val="CCD2DF"/>
                </a:solidFill>
                <a:latin typeface="Calibri"/>
              </a:rPr>
              <a:t>Role-Based Access Control enforced at every route — platform admin, executive, and operator roles with fail-closed error handling. Email allowlist gates all logins; open by default, restrictive once any address is added. No Readiness Protocol activates without executive sign-off — every action requires a named human authorization. Audit log captures every decision, activation, and ownership acknowledgment with timestamped attribution.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SIGNAL INTELLIGENCE &amp; EXECUTION</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The System Is Always On.</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Live signal monitoring → trigger detection → protocol staged → war room open. All in 12 minutes.</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command_tower.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COMMAND TOWER — LIVE SIGNAL FEED</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221 strategic triggers monitored continuously across 8 intelligence sources. Signal groups scored in real time — threshold met means the protocol is already staged.</a:t>
            </a:r>
          </a:p>
        </p:txBody>
      </p:sp>
      <p:sp>
        <p:nvSpPr>
          <p:cNvPr id="12" name="Rectangle 11"/>
          <p:cNvSpPr/>
          <p:nvPr/>
        </p:nvSpPr>
        <p:spPr>
          <a:xfrm>
            <a:off x="6199632"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q_executes_chain.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EXECUTION CHAIN — SIGNAL TO WAR ROOM</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The animated signal → protocol → task assignment → executive authorization → war room open chain. 12 minutes complete. The response was pre-staged before this moment.</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18" name="Picture 17" descr="image.jpg"/>
          <p:cNvPicPr>
            <a:picLocks noChangeAspect="1"/>
          </p:cNvPicPr>
          <p:nvPr/>
        </p:nvPicPr>
        <p:blipFill>
          <a:blip r:embed="rId4"/>
          <a:stretch>
            <a:fillRect/>
          </a:stretch>
        </p:blipFill>
        <p:spPr>
          <a:xfrm>
            <a:off x="0" y="0"/>
            <a:ext cx="12188952" cy="6858000"/>
          </a:xfrm>
          <a:prstGeom prst="rect">
            <a:avLst/>
          </a:prstGeom>
        </p:spPr>
      </p:pic>
      <p:sp>
        <p:nvSpPr>
          <p:cNvPr id="2" name="Rectangle 1"/>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9144000" cy="320040"/>
          </a:xfrm>
          <a:prstGeom prst="rect">
            <a:avLst/>
          </a:prstGeom>
          <a:noFill/>
        </p:spPr>
        <p:txBody>
          <a:bodyPr wrap="square">
            <a:spAutoFit/>
          </a:bodyPr>
          <a:lstStyle/>
          <a:p>
            <a:pPr algn="l"/>
            <a:r>
              <a:rPr sz="800" b="1">
                <a:solidFill>
                  <a:srgbClr val="C9A84C"/>
                </a:solidFill>
                <a:latin typeface="Calibri"/>
              </a:rPr>
              <a:t>APPENDIX  ·  LIVE PRODUCT — TEST DRIVE &amp; PROTOCOL DEPTH</a:t>
            </a:r>
          </a:p>
        </p:txBody>
      </p:sp>
      <p:sp>
        <p:nvSpPr>
          <p:cNvPr id="4" name="TextBox 3"/>
          <p:cNvSpPr txBox="1"/>
          <p:nvPr/>
        </p:nvSpPr>
        <p:spPr>
          <a:xfrm>
            <a:off x="502920" y="621792"/>
            <a:ext cx="10972800" cy="548640"/>
          </a:xfrm>
          <a:prstGeom prst="rect">
            <a:avLst/>
          </a:prstGeom>
          <a:noFill/>
        </p:spPr>
        <p:txBody>
          <a:bodyPr wrap="square">
            <a:spAutoFit/>
          </a:bodyPr>
          <a:lstStyle/>
          <a:p>
            <a:pPr algn="l"/>
            <a:r>
              <a:rPr sz="2800" b="1">
                <a:solidFill>
                  <a:srgbClr val="FFFFFF"/>
                </a:solidFill>
                <a:latin typeface="Georgia"/>
              </a:rPr>
              <a:t>Run It Right Now. 170 Protocols Ready.</a:t>
            </a:r>
          </a:p>
        </p:txBody>
      </p:sp>
      <p:sp>
        <p:nvSpPr>
          <p:cNvPr id="5" name="TextBox 4"/>
          <p:cNvSpPr txBox="1"/>
          <p:nvPr/>
        </p:nvSpPr>
        <p:spPr>
          <a:xfrm>
            <a:off x="502920" y="1170432"/>
            <a:ext cx="10058400" cy="320040"/>
          </a:xfrm>
          <a:prstGeom prst="rect">
            <a:avLst/>
          </a:prstGeom>
          <a:noFill/>
        </p:spPr>
        <p:txBody>
          <a:bodyPr wrap="square">
            <a:spAutoFit/>
          </a:bodyPr>
          <a:lstStyle/>
          <a:p>
            <a:pPr algn="l"/>
            <a:r>
              <a:rPr sz="1100" b="0">
                <a:solidFill>
                  <a:srgbClr val="CCD2DF"/>
                </a:solidFill>
                <a:latin typeface="Calibri"/>
              </a:rPr>
              <a:t>7 live scenarios, no login. Any investor can experience a full crisis response in 12 minutes — during this meeting.</a:t>
            </a:r>
          </a:p>
        </p:txBody>
      </p:sp>
      <p:sp>
        <p:nvSpPr>
          <p:cNvPr id="6" name="Rectangle 5"/>
          <p:cNvSpPr/>
          <p:nvPr/>
        </p:nvSpPr>
        <p:spPr>
          <a:xfrm>
            <a:off x="502920" y="1536192"/>
            <a:ext cx="128016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755648"/>
            <a:ext cx="5532120" cy="4709160"/>
          </a:xfrm>
          <a:prstGeom prst="rect">
            <a:avLst/>
          </a:prstGeom>
          <a:solidFill>
            <a:srgbClr val="10173A"/>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q_12min_scenarios.jpg"/>
          <p:cNvPicPr>
            <a:picLocks noChangeAspect="1"/>
          </p:cNvPicPr>
          <p:nvPr/>
        </p:nvPicPr>
        <p:blipFill>
          <a:blip r:embed="rId2"/>
          <a:stretch>
            <a:fillRect/>
          </a:stretch>
        </p:blipFill>
        <p:spPr>
          <a:xfrm>
            <a:off x="557784" y="1847088"/>
            <a:ext cx="5422392" cy="3730752"/>
          </a:xfrm>
          <a:prstGeom prst="rect">
            <a:avLst/>
          </a:prstGeom>
        </p:spPr>
      </p:pic>
      <p:sp>
        <p:nvSpPr>
          <p:cNvPr id="10" name="TextBox 9"/>
          <p:cNvSpPr txBox="1"/>
          <p:nvPr/>
        </p:nvSpPr>
        <p:spPr>
          <a:xfrm>
            <a:off x="640080" y="5650992"/>
            <a:ext cx="5257800" cy="292608"/>
          </a:xfrm>
          <a:prstGeom prst="rect">
            <a:avLst/>
          </a:prstGeom>
          <a:noFill/>
        </p:spPr>
        <p:txBody>
          <a:bodyPr wrap="square">
            <a:spAutoFit/>
          </a:bodyPr>
          <a:lstStyle/>
          <a:p>
            <a:pPr algn="l"/>
            <a:r>
              <a:rPr sz="1000" b="1">
                <a:solidFill>
                  <a:srgbClr val="FFFFFF"/>
                </a:solidFill>
                <a:latin typeface="Calibri"/>
              </a:rPr>
              <a:t>12-MINUTE TEST DRIVE — 7 LIVE SCENARIOS</a:t>
            </a:r>
          </a:p>
        </p:txBody>
      </p:sp>
      <p:sp>
        <p:nvSpPr>
          <p:cNvPr id="11" name="TextBox 10"/>
          <p:cNvSpPr txBox="1"/>
          <p:nvPr/>
        </p:nvSpPr>
        <p:spPr>
          <a:xfrm>
            <a:off x="640080" y="5907024"/>
            <a:ext cx="5257800" cy="402336"/>
          </a:xfrm>
          <a:prstGeom prst="rect">
            <a:avLst/>
          </a:prstGeom>
          <a:noFill/>
        </p:spPr>
        <p:txBody>
          <a:bodyPr wrap="square">
            <a:spAutoFit/>
          </a:bodyPr>
          <a:lstStyle/>
          <a:p>
            <a:pPr algn="l"/>
            <a:r>
              <a:rPr sz="850" b="0">
                <a:solidFill>
                  <a:srgbClr val="CCD2DF"/>
                </a:solidFill>
                <a:latin typeface="Calibri"/>
              </a:rPr>
              <a:t>Public access. No login. Activist Investor, Ransomware, Supply Chain, M&amp;A — full signal → war room → debrief cycle. Run it now at /12-minute-experience.</a:t>
            </a:r>
          </a:p>
        </p:txBody>
      </p:sp>
      <p:sp>
        <p:nvSpPr>
          <p:cNvPr id="12" name="Rectangle 11"/>
          <p:cNvSpPr/>
          <p:nvPr/>
        </p:nvSpPr>
        <p:spPr>
          <a:xfrm>
            <a:off x="6199632" y="1755648"/>
            <a:ext cx="5532120" cy="4709160"/>
          </a:xfrm>
          <a:prstGeom prst="rect">
            <a:avLst/>
          </a:prstGeom>
          <a:solidFill>
            <a:srgbClr val="0A0F2E"/>
          </a:solidFill>
          <a:ln w="9525">
            <a:solidFill>
              <a:srgbClr val="1E28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755648"/>
            <a:ext cx="5532120" cy="317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eck_protocol_library.jpg"/>
          <p:cNvPicPr>
            <a:picLocks noChangeAspect="1"/>
          </p:cNvPicPr>
          <p:nvPr/>
        </p:nvPicPr>
        <p:blipFill>
          <a:blip r:embed="rId3"/>
          <a:stretch>
            <a:fillRect/>
          </a:stretch>
        </p:blipFill>
        <p:spPr>
          <a:xfrm>
            <a:off x="6254496" y="1847088"/>
            <a:ext cx="5422392" cy="3730752"/>
          </a:xfrm>
          <a:prstGeom prst="rect">
            <a:avLst/>
          </a:prstGeom>
        </p:spPr>
      </p:pic>
      <p:sp>
        <p:nvSpPr>
          <p:cNvPr id="15" name="TextBox 14"/>
          <p:cNvSpPr txBox="1"/>
          <p:nvPr/>
        </p:nvSpPr>
        <p:spPr>
          <a:xfrm>
            <a:off x="6336792" y="5650992"/>
            <a:ext cx="5257800" cy="292608"/>
          </a:xfrm>
          <a:prstGeom prst="rect">
            <a:avLst/>
          </a:prstGeom>
          <a:noFill/>
        </p:spPr>
        <p:txBody>
          <a:bodyPr wrap="square">
            <a:spAutoFit/>
          </a:bodyPr>
          <a:lstStyle/>
          <a:p>
            <a:pPr algn="l"/>
            <a:r>
              <a:rPr sz="1000" b="1">
                <a:solidFill>
                  <a:srgbClr val="FFFFFF"/>
                </a:solidFill>
                <a:latin typeface="Calibri"/>
              </a:rPr>
              <a:t>170 READINESS PROTOCOLS — PRE-STAGED DEPTH</a:t>
            </a:r>
          </a:p>
        </p:txBody>
      </p:sp>
      <p:sp>
        <p:nvSpPr>
          <p:cNvPr id="16" name="TextBox 15"/>
          <p:cNvSpPr txBox="1"/>
          <p:nvPr/>
        </p:nvSpPr>
        <p:spPr>
          <a:xfrm>
            <a:off x="6336792" y="5907024"/>
            <a:ext cx="5257800" cy="402336"/>
          </a:xfrm>
          <a:prstGeom prst="rect">
            <a:avLst/>
          </a:prstGeom>
          <a:noFill/>
        </p:spPr>
        <p:txBody>
          <a:bodyPr wrap="square">
            <a:spAutoFit/>
          </a:bodyPr>
          <a:lstStyle/>
          <a:p>
            <a:pPr algn="l"/>
            <a:r>
              <a:rPr sz="850" b="0">
                <a:solidFill>
                  <a:srgbClr val="CCD2DF"/>
                </a:solidFill>
                <a:latin typeface="Calibri"/>
              </a:rPr>
              <a:t>Every protocol mapped across GROWTH &amp; POSITIONING, RISK &amp; RESILIENCE, and TRANSFORMATION. 12 Compound Protocol Engines for simultaneous multi-threat response.</a:t>
            </a:r>
          </a:p>
        </p:txBody>
      </p:sp>
      <p:sp>
        <p:nvSpPr>
          <p:cNvPr id="17" name="TextBox 16"/>
          <p:cNvSpPr txBox="1"/>
          <p:nvPr/>
        </p:nvSpPr>
        <p:spPr>
          <a:xfrm>
            <a:off x="502920" y="6510528"/>
            <a:ext cx="10972800" cy="256032"/>
          </a:xfrm>
          <a:prstGeom prst="rect">
            <a:avLst/>
          </a:prstGeom>
          <a:noFill/>
        </p:spPr>
        <p:txBody>
          <a:bodyPr wrap="square">
            <a:spAutoFit/>
          </a:bodyPr>
          <a:lstStyle/>
          <a:p>
            <a:pPr algn="ctr"/>
            <a:r>
              <a:rPr sz="800" b="0">
                <a:solidFill>
                  <a:srgbClr val="C9A84C"/>
                </a:solidFill>
                <a:latin typeface="Calibri"/>
              </a:rPr>
              <a:t>Live product — accessible now at vaughnmartin.com  ·  No login required for the 12-Minute Test Drive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502920"/>
            <a:ext cx="12188952" cy="254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01168"/>
            <a:ext cx="9144000" cy="274320"/>
          </a:xfrm>
          <a:prstGeom prst="rect">
            <a:avLst/>
          </a:prstGeom>
          <a:noFill/>
        </p:spPr>
        <p:txBody>
          <a:bodyPr wrap="square">
            <a:spAutoFit/>
          </a:bodyPr>
          <a:lstStyle/>
          <a:p>
            <a:pPr algn="l"/>
            <a:r>
              <a:rPr sz="800" b="1">
                <a:solidFill>
                  <a:srgbClr val="C9A84C"/>
                </a:solidFill>
                <a:latin typeface="Calibri"/>
              </a:rPr>
              <a:t>APPENDIX  ·  SOURCES &amp; REFERENCES</a:t>
            </a:r>
          </a:p>
        </p:txBody>
      </p:sp>
      <p:sp>
        <p:nvSpPr>
          <p:cNvPr id="5" name="TextBox 4"/>
          <p:cNvSpPr txBox="1"/>
          <p:nvPr/>
        </p:nvSpPr>
        <p:spPr>
          <a:xfrm>
            <a:off x="502920" y="594360"/>
            <a:ext cx="10972800" cy="502920"/>
          </a:xfrm>
          <a:prstGeom prst="rect">
            <a:avLst/>
          </a:prstGeom>
          <a:noFill/>
        </p:spPr>
        <p:txBody>
          <a:bodyPr wrap="square">
            <a:spAutoFit/>
          </a:bodyPr>
          <a:lstStyle/>
          <a:p>
            <a:pPr algn="l"/>
            <a:r>
              <a:rPr sz="2600" b="1">
                <a:solidFill>
                  <a:srgbClr val="FFFFFF"/>
                </a:solidFill>
                <a:latin typeface="Georgia"/>
              </a:rPr>
              <a:t>Sources &amp; References</a:t>
            </a:r>
          </a:p>
        </p:txBody>
      </p:sp>
      <p:sp>
        <p:nvSpPr>
          <p:cNvPr id="6" name="TextBox 5"/>
          <p:cNvSpPr txBox="1"/>
          <p:nvPr/>
        </p:nvSpPr>
        <p:spPr>
          <a:xfrm>
            <a:off x="502920" y="1097280"/>
            <a:ext cx="10058400" cy="274320"/>
          </a:xfrm>
          <a:prstGeom prst="rect">
            <a:avLst/>
          </a:prstGeom>
          <a:noFill/>
        </p:spPr>
        <p:txBody>
          <a:bodyPr wrap="square">
            <a:spAutoFit/>
          </a:bodyPr>
          <a:lstStyle/>
          <a:p>
            <a:pPr algn="l"/>
            <a:r>
              <a:rPr sz="900" b="0">
                <a:solidFill>
                  <a:srgbClr val="CCD2DF"/>
                </a:solidFill>
                <a:latin typeface="Calibri"/>
              </a:rPr>
              <a:t>VaughnMartin Readiness OS  ·  Investor Pitch  ·  May 2026  ·  vaughnmartin.com</a:t>
            </a:r>
          </a:p>
        </p:txBody>
      </p:sp>
      <p:sp>
        <p:nvSpPr>
          <p:cNvPr id="7" name="Rectangle 6"/>
          <p:cNvSpPr/>
          <p:nvPr/>
        </p:nvSpPr>
        <p:spPr>
          <a:xfrm>
            <a:off x="502920" y="1426464"/>
            <a:ext cx="1097280" cy="1905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72768"/>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09344"/>
            <a:ext cx="10789920" cy="219456"/>
          </a:xfrm>
          <a:prstGeom prst="rect">
            <a:avLst/>
          </a:prstGeom>
          <a:noFill/>
        </p:spPr>
        <p:txBody>
          <a:bodyPr wrap="square">
            <a:spAutoFit/>
          </a:bodyPr>
          <a:lstStyle/>
          <a:p>
            <a:pPr algn="l"/>
            <a:r>
              <a:rPr sz="800" b="1">
                <a:solidFill>
                  <a:srgbClr val="C9A84C"/>
                </a:solidFill>
                <a:latin typeface="Calibri"/>
              </a:rPr>
              <a:t>Slides 1, 4  ·  30-Day Mobilization Baseline &amp; 3,600× Calculation</a:t>
            </a:r>
          </a:p>
        </p:txBody>
      </p:sp>
      <p:sp>
        <p:nvSpPr>
          <p:cNvPr id="10" name="TextBox 9"/>
          <p:cNvSpPr txBox="1"/>
          <p:nvPr/>
        </p:nvSpPr>
        <p:spPr>
          <a:xfrm>
            <a:off x="685800" y="1819656"/>
            <a:ext cx="10789920" cy="457200"/>
          </a:xfrm>
          <a:prstGeom prst="rect">
            <a:avLst/>
          </a:prstGeom>
          <a:noFill/>
        </p:spPr>
        <p:txBody>
          <a:bodyPr wrap="square">
            <a:spAutoFit/>
          </a:bodyPr>
          <a:lstStyle/>
          <a:p>
            <a:pPr algn="l"/>
            <a:r>
              <a:rPr sz="850" b="0">
                <a:solidFill>
                  <a:srgbClr val="CCD2DF"/>
                </a:solidFill>
                <a:latin typeface="Calibri"/>
              </a:rPr>
              <a:t>VaughnMartin operational research — 20+ years direct experience across Ford, Toyota, Lockheed Martin, Charles Schwab, and Boyd Gaming. McKinsey Organizational Agility Research (2025). Calculation: 30 days × 24 hrs × 60 min = 43,200 min ÷ 12 min = 3,600×. Baseline is average Fortune 1000 cross-functional mobilization cycle.</a:t>
            </a:r>
          </a:p>
        </p:txBody>
      </p:sp>
      <p:sp>
        <p:nvSpPr>
          <p:cNvPr id="11" name="Rectangle 10"/>
          <p:cNvSpPr/>
          <p:nvPr/>
        </p:nvSpPr>
        <p:spPr>
          <a:xfrm>
            <a:off x="502920" y="2322576"/>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59152"/>
            <a:ext cx="10789920" cy="219456"/>
          </a:xfrm>
          <a:prstGeom prst="rect">
            <a:avLst/>
          </a:prstGeom>
          <a:noFill/>
        </p:spPr>
        <p:txBody>
          <a:bodyPr wrap="square">
            <a:spAutoFit/>
          </a:bodyPr>
          <a:lstStyle/>
          <a:p>
            <a:pPr algn="l"/>
            <a:r>
              <a:rPr sz="800" b="1">
                <a:solidFill>
                  <a:srgbClr val="C9A84C"/>
                </a:solidFill>
                <a:latin typeface="Calibri"/>
              </a:rPr>
              <a:t>Slide 7  ·  $42B TAM / $4.8B SAM / $180M SOM</a:t>
            </a:r>
          </a:p>
        </p:txBody>
      </p:sp>
      <p:sp>
        <p:nvSpPr>
          <p:cNvPr id="13" name="TextBox 12"/>
          <p:cNvSpPr txBox="1"/>
          <p:nvPr/>
        </p:nvSpPr>
        <p:spPr>
          <a:xfrm>
            <a:off x="685800" y="2569464"/>
            <a:ext cx="10789920" cy="457200"/>
          </a:xfrm>
          <a:prstGeom prst="rect">
            <a:avLst/>
          </a:prstGeom>
          <a:noFill/>
        </p:spPr>
        <p:txBody>
          <a:bodyPr wrap="square">
            <a:spAutoFit/>
          </a:bodyPr>
          <a:lstStyle/>
          <a:p>
            <a:pPr algn="l"/>
            <a:r>
              <a:rPr sz="850" b="0">
                <a:solidFill>
                  <a:srgbClr val="CCD2DF"/>
                </a:solidFill>
                <a:latin typeface="Calibri"/>
              </a:rPr>
              <a:t>Gartner Strategic Portfolio Management 2025 (SPM + GRC + EPMO combined categories). McKinsey 2025 coordination cost research. WEF × Accenture Strategic Readiness Report, March 2026. SAM: ~25K target accounts × $200K avg ACV. SOM: 600 customers × $300K avg ACV by Year 5.</a:t>
            </a:r>
          </a:p>
        </p:txBody>
      </p:sp>
      <p:sp>
        <p:nvSpPr>
          <p:cNvPr id="14" name="Rectangle 13"/>
          <p:cNvSpPr/>
          <p:nvPr/>
        </p:nvSpPr>
        <p:spPr>
          <a:xfrm>
            <a:off x="502920" y="3072384"/>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108960"/>
            <a:ext cx="10789920" cy="219456"/>
          </a:xfrm>
          <a:prstGeom prst="rect">
            <a:avLst/>
          </a:prstGeom>
          <a:noFill/>
        </p:spPr>
        <p:txBody>
          <a:bodyPr wrap="square">
            <a:spAutoFit/>
          </a:bodyPr>
          <a:lstStyle/>
          <a:p>
            <a:pPr algn="l"/>
            <a:r>
              <a:rPr sz="800" b="1">
                <a:solidFill>
                  <a:srgbClr val="C9A84C"/>
                </a:solidFill>
                <a:latin typeface="Calibri"/>
              </a:rPr>
              <a:t>Slide 6  ·  67% Execution Improvement</a:t>
            </a:r>
          </a:p>
        </p:txBody>
      </p:sp>
      <p:sp>
        <p:nvSpPr>
          <p:cNvPr id="16" name="TextBox 15"/>
          <p:cNvSpPr txBox="1"/>
          <p:nvPr/>
        </p:nvSpPr>
        <p:spPr>
          <a:xfrm>
            <a:off x="685800" y="3319272"/>
            <a:ext cx="10789920" cy="457200"/>
          </a:xfrm>
          <a:prstGeom prst="rect">
            <a:avLst/>
          </a:prstGeom>
          <a:noFill/>
        </p:spPr>
        <p:txBody>
          <a:bodyPr wrap="square">
            <a:spAutoFit/>
          </a:bodyPr>
          <a:lstStyle/>
          <a:p>
            <a:pPr algn="l"/>
            <a:r>
              <a:rPr sz="850" b="0">
                <a:solidFill>
                  <a:srgbClr val="CCD2DF"/>
                </a:solidFill>
                <a:latin typeface="Calibri"/>
              </a:rPr>
              <a:t>VaughnMartin simulation-validated performance modeling based on platform activation cycle data. Labeled "simulation-validated" on slide. Baseline: enterprise crisis response timelines across GROWTH &amp; POSITIONING, RISK &amp; RESILIENCE, and TRANSFORMATION domain scenarios.</a:t>
            </a:r>
          </a:p>
        </p:txBody>
      </p:sp>
      <p:sp>
        <p:nvSpPr>
          <p:cNvPr id="17" name="Rectangle 16"/>
          <p:cNvSpPr/>
          <p:nvPr/>
        </p:nvSpPr>
        <p:spPr>
          <a:xfrm>
            <a:off x="502920" y="3822192"/>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858768"/>
            <a:ext cx="10789920" cy="219456"/>
          </a:xfrm>
          <a:prstGeom prst="rect">
            <a:avLst/>
          </a:prstGeom>
          <a:noFill/>
        </p:spPr>
        <p:txBody>
          <a:bodyPr wrap="square">
            <a:spAutoFit/>
          </a:bodyPr>
          <a:lstStyle/>
          <a:p>
            <a:pPr algn="l"/>
            <a:r>
              <a:rPr sz="800" b="1">
                <a:solidFill>
                  <a:srgbClr val="C9A84C"/>
                </a:solidFill>
                <a:latin typeface="Calibri"/>
              </a:rPr>
              <a:t>Slide 8  ·  Platform Metrics</a:t>
            </a:r>
          </a:p>
        </p:txBody>
      </p:sp>
      <p:sp>
        <p:nvSpPr>
          <p:cNvPr id="19" name="TextBox 18"/>
          <p:cNvSpPr txBox="1"/>
          <p:nvPr/>
        </p:nvSpPr>
        <p:spPr>
          <a:xfrm>
            <a:off x="685800" y="4069080"/>
            <a:ext cx="10789920" cy="457200"/>
          </a:xfrm>
          <a:prstGeom prst="rect">
            <a:avLst/>
          </a:prstGeom>
          <a:noFill/>
        </p:spPr>
        <p:txBody>
          <a:bodyPr wrap="square">
            <a:spAutoFit/>
          </a:bodyPr>
          <a:lstStyle/>
          <a:p>
            <a:pPr algn="l"/>
            <a:r>
              <a:rPr sz="850" b="0">
                <a:solidFill>
                  <a:srgbClr val="CCD2DF"/>
                </a:solidFill>
                <a:latin typeface="Calibri"/>
              </a:rPr>
              <a:t>VaughnMartin Readiness OS production system, May 2026. All platform layers live in production. 221 strategic triggers. 170 Readiness Protocols. 12 Compound Protocol Engines. 8 live signal sources on 15-minute monitoring cycles. Verifiable at vaughnmartin.com</a:t>
            </a:r>
          </a:p>
        </p:txBody>
      </p:sp>
      <p:sp>
        <p:nvSpPr>
          <p:cNvPr id="20" name="Rectangle 19"/>
          <p:cNvSpPr/>
          <p:nvPr/>
        </p:nvSpPr>
        <p:spPr>
          <a:xfrm>
            <a:off x="502920" y="4572000"/>
            <a:ext cx="31750" cy="69900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608576"/>
            <a:ext cx="10789920" cy="219456"/>
          </a:xfrm>
          <a:prstGeom prst="rect">
            <a:avLst/>
          </a:prstGeom>
          <a:noFill/>
        </p:spPr>
        <p:txBody>
          <a:bodyPr wrap="square">
            <a:spAutoFit/>
          </a:bodyPr>
          <a:lstStyle/>
          <a:p>
            <a:pPr algn="l"/>
            <a:r>
              <a:rPr sz="800" b="1">
                <a:solidFill>
                  <a:srgbClr val="C9A84C"/>
                </a:solidFill>
                <a:latin typeface="Calibri"/>
              </a:rPr>
              <a:t>Slide 8  ·  Business Model &amp; Unit Economics</a:t>
            </a:r>
          </a:p>
        </p:txBody>
      </p:sp>
      <p:sp>
        <p:nvSpPr>
          <p:cNvPr id="22" name="TextBox 21"/>
          <p:cNvSpPr txBox="1"/>
          <p:nvPr/>
        </p:nvSpPr>
        <p:spPr>
          <a:xfrm>
            <a:off x="685800" y="4818888"/>
            <a:ext cx="10789920" cy="457200"/>
          </a:xfrm>
          <a:prstGeom prst="rect">
            <a:avLst/>
          </a:prstGeom>
          <a:noFill/>
        </p:spPr>
        <p:txBody>
          <a:bodyPr wrap="square">
            <a:spAutoFit/>
          </a:bodyPr>
          <a:lstStyle/>
          <a:p>
            <a:pPr algn="l"/>
            <a:r>
              <a:rPr sz="850" b="0">
                <a:solidFill>
                  <a:srgbClr val="CCD2DF"/>
                </a:solidFill>
                <a:latin typeface="Calibri"/>
              </a:rPr>
              <a:t>VaughnMartin internal pricing model. $120K Average ACV based on Founding Partner tier mid-point. 92% Target Gross Margin based on SaaS infrastructure cost modeling at scale. &lt;6 Month Payback Period derived from enterprise crisis cost avoidance vs. annual platform fee. 2–4 Weeks First Results based on onboarding timeline: Week 1 setup, Weeks 2–4 live protocols.</a:t>
            </a:r>
          </a:p>
        </p:txBody>
      </p:sp>
      <p:sp>
        <p:nvSpPr>
          <p:cNvPr id="23" name="Rectangle 22"/>
          <p:cNvSpPr/>
          <p:nvPr/>
        </p:nvSpPr>
        <p:spPr>
          <a:xfrm>
            <a:off x="502920" y="5321808"/>
            <a:ext cx="31750" cy="699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358384"/>
            <a:ext cx="10789920" cy="219456"/>
          </a:xfrm>
          <a:prstGeom prst="rect">
            <a:avLst/>
          </a:prstGeom>
          <a:noFill/>
        </p:spPr>
        <p:txBody>
          <a:bodyPr wrap="square">
            <a:spAutoFit/>
          </a:bodyPr>
          <a:lstStyle/>
          <a:p>
            <a:pPr algn="l"/>
            <a:r>
              <a:rPr sz="800" b="1">
                <a:solidFill>
                  <a:srgbClr val="FFFFFF"/>
                </a:solidFill>
                <a:latin typeface="Calibri"/>
              </a:rPr>
              <a:t>All platform metrics verifiable  ·  Financial projections are forward-looking estimates</a:t>
            </a:r>
          </a:p>
        </p:txBody>
      </p:sp>
      <p:sp>
        <p:nvSpPr>
          <p:cNvPr id="25" name="TextBox 24"/>
          <p:cNvSpPr txBox="1"/>
          <p:nvPr/>
        </p:nvSpPr>
        <p:spPr>
          <a:xfrm>
            <a:off x="685800" y="5568696"/>
            <a:ext cx="10789920" cy="457200"/>
          </a:xfrm>
          <a:prstGeom prst="rect">
            <a:avLst/>
          </a:prstGeom>
          <a:noFill/>
        </p:spPr>
        <p:txBody>
          <a:bodyPr wrap="square">
            <a:spAutoFit/>
          </a:bodyPr>
          <a:lstStyle/>
          <a:p>
            <a:pPr algn="l"/>
            <a:r>
              <a:rPr sz="850" b="0">
                <a:solidFill>
                  <a:srgbClr val="CCD2DF"/>
                </a:solidFill>
                <a:latin typeface="Calibri"/>
              </a:rPr>
              <a:t>Live product accessible at vaughnmartin.com — no login required for the 12-Minute Test Drive. All slide metrics are either proprietary platform counts, mathematically derived, or labeled as targets/models. Confidential — For Qualified Investor Use Only.</a:t>
            </a:r>
          </a:p>
        </p:txBody>
      </p:sp>
      <p:sp>
        <p:nvSpPr>
          <p:cNvPr id="26" name="TextBox 25"/>
          <p:cNvSpPr txBox="1"/>
          <p:nvPr/>
        </p:nvSpPr>
        <p:spPr>
          <a:xfrm>
            <a:off x="502920" y="6510528"/>
            <a:ext cx="11155680" cy="256032"/>
          </a:xfrm>
          <a:prstGeom prst="rect">
            <a:avLst/>
          </a:prstGeom>
          <a:noFill/>
        </p:spPr>
        <p:txBody>
          <a:bodyPr wrap="square">
            <a:spAutoFit/>
          </a:bodyPr>
          <a:lstStyle/>
          <a:p>
            <a:pPr algn="ctr"/>
            <a:r>
              <a:rPr sz="750" b="0">
                <a:solidFill>
                  <a:srgbClr val="C9A84C"/>
                </a:solidFill>
                <a:latin typeface="Calibri"/>
              </a:rPr>
              <a:t>VaughnMartin Readiness OS  ·  Confidential — For Qualified Investor Use Only  ·  vaughnmartin.com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