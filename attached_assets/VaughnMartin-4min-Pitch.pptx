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
"When a situation the organization has prepared for finally arrives — an activist investor files a 13D, a ransomware attack hits, a supply chain collapses — what happens next in most enterprises?"
[Point to DETECT column]
"First, two to four weeks figuring out who monitors signals. Who's in the room. What the threshold is."
[Point to ALIGN column]  
"Then another three to six weeks aligning on a plan. Getting approvals. Scheduling the meeting."
[Point to EXECUTE column — RED]
"By the time execution starts, the window is closed. The crisis wins. Not because the executives were slow. Because the OPERATING MODEL had no answer pre-staged."
"Every solution in this market — Copilot, ChatGPT, strategy consultants — bolted AI onto this same broken model. Faster notes from the same slow meeting."
"We didn't do that."
TRANSITION: "We rebuilt the operating model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
"Readiness OS is not a tool you pick up when the crisis hits. It is infrastructure that never stops running."
[Run through layers quickly — point to each colored bar]
"Layer 1: The system is always monitoring — 8 live intelligence sources, every 15 minutes, scored against 221 strategic triggers."
"Layer 2: When signals cluster, the system recognizes the situation and confirms the threshold — using a proprietary algorithm with grouped data points and mandatory conditions. Not a single signal. An architecture."
"Layer 3: Instantly — a pre-staged Readiness Protocol deploys. The war room is armed before anyone picks up the phone."
"Layer 4: Tasks are auto-assigned, stakeholders are notified, and the executive authorizes. No action without sign-off. 12 minutes end to end."
"Layer 5: Every activation teaches the system. Institutional memory compounds. The longer you are on the platform, the faster and more accurate the response."
TRANSITION: "The number everyone asks about is the 3,600× head start. Let me show you what that actually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
"Let me make the 3,600× concrete. This is not a marketing number."
[Point to left side]
"Without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
[Point to right side — TEAL column]
"With Readiness OS: At minute zero, the system recognizes the situation — the threshold is confirmed, the scenario is classified. The system already knows. At minute two, Protocol 58 deploys automatically — every task pre-staged, every stakeholder pre-identified. At minute twelve, the executive authorizes, and the war room is open."
"Thirty days versus twelve minutes. That is the 3,600× execution head start. And the executive makes every decision — the preparation compresses the mobilization, not the authority."
TRANSITION: "But here's what separates us from every simulation tool — real crises don't arrive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
"The product is live. The 12-Minute Test Drive is public — no login required."
[Point to /12-minute-experience]
"Go to slash 12-minute-experience right now. Seven scenarios. Full Activist Investor response — signal detected to executive authorization — in twelve minutes. On your phone, on your laptop, right now."
NOTE: The Test Drive is the public proof point. Full platform access — the authenticated war room, full protocol library, activation console — requires application through the Founding Partner Program. That is intentional. The full platform is proprietary IP and is not publicly accessible.
"This is not a prototype. Not a roadmap. Twelve full scenarios demonstrable on demand."
[Pivot to business model — right side]
"The model is annual SaaS. Average ACV is a hundred and twenty thousand dollars. Target gross margin is ninety-two percent. First results in two to four weeks. Customer payback under six months."
"Three tiers — Core opens the account at seventy-five to a hundred and twenty thousand. Industry packs expand it. Enterprise seals multi-year."
TRANSITION: "Here is what we're asking for — and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
"We are raising seven hundred and fifty thousand dollars — eighteen months, three milestones."
[Point to milestones quickly]
"Milestone one: close three to five Founding Partners at a hundred and twenty to a hundred and eighty thousand ACV. Document the proof points."
"Milestone two: enter Series A with real ARR contracted and the land-and-expand path proven through industry packs."
"Milestone three: own the category name. The operating model layer above the Microsoft investment."
"The product is built and in production. This round is a go-to-market round — forty percent goes to customer acquisition and sales, thirty-five to engineering for industry packs and enterprise controls, fifteen to operations, ten held in reserve."
TRANSITION: [Advance to close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
[Pause. Let the room settle.]
"Every organization that prepares for every situation it will face is no longer afraid of any situation they will face."
[One more beat.]
"It is fearless."
[Leave the slide up. Do not advance. Wait for the question.]
--- POST-PRESENTATION ---
If they ask for a demo: "Run slash 12-minute-experience right now. No login. Pick Activist Investor."
If they ask about competition: "Slide in the appendix of our full deck — or I'll answer it now."
If they ask about revenue: "The Founding Partner Program is the revenue proof — three agreements at a hundred and twenty thousand validates the model before Series 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DATA &amp; PRIVACY  [Flip to if asked]
USE WHEN: An investor or enterprise contact asks about data security, AI safety, or compliance.
TALKING POINTS:
→ Customer data is owned by the customer. VaughnMartin cannot access it without explicit consent.
→ Every query is org-scoped at the database layer — cross-tenant reads are architecturally prevented, not just policy.
→ AI processing runs through Azure OpenAI under enterprise data processing agreements. Your data does not train their models.
→ TLS encrypted in transit. Encrypted at rest. Neon PostgreSQL infrastructure is SOC 2 Type II certified today.
→ Platform-level SOC 2 audit is on the roadmap for GA. We have a full architecture documentation package available on request.
→ No Readiness Protocol activates without executive sign-off — every action requires named human authorization.
IF THEY PUSH ON SOC 2: "Our infrastructure is certified today. The platform audit is scheduled as part of GA. For Founding Partners working with us during the validation period, we can share the full security architecture document."
Direct them to: vaughnmartin.com/security-compliance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LIVE PRODUCT: SIGNAL INTELLIGENCE &amp; EXECUTION CHAIN  [Flip to if asked to see the product]
USE WHEN: An investor says "can you show me the product?" or "what does it actually look like?"
TALKING POINTS:
→ Left screenshot: The Command Tower. This is live — 221 triggers monitored across 8 sources every 15 minutes. The score you see recalculates continuously. This is not a mock.
→ Right screenshot: The Execution Chain. This is the animated signal → protocol → task assignment → executive authorization → war room open sequence. Every step you see here happens in the live product.
THEN OFFER: "Go to vaughnmartin.com/12-minute-experience right now — no login. Pick Activist Investor or Ransomware. You'll see the full cycle in twelve minutes."
NOTE: The 12-Minute Test Drive is public. The full Command Tower, full war room, and full protocol library are behind the Founding Partner access gate.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LIVE PRODUCT: TEST DRIVE &amp; PROTOCOL DEPTH  [Flip to if asked about scale or proof]
USE WHEN: An investor asks "how do I know it works?" or "how deep is the protocol library?"
TALKING POINTS:
→ Left screenshot: The 12-Minute Test Drive. Seven scenarios, no login, full cycle. This is your live proof — available during this meeting.
→ Right screenshot: The Protocol Library. 170 Readiness Protocols mapped across GROWTH &amp; POSITIONING, RISK &amp; RESILIENCE, and TRANSFORMATION. 12 Compound Protocol Engines for simultaneous multi-threat response. This is what "pre-staged" means at depth.
IF THEY WANT TO RUN IT NOW: Have them open vaughnmartin.com/12-minute-experience on their phone.
If they want to see more: "Full access is through the Founding Partner Program — that is the correct path for any organization ready to engage."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SOURCES &amp; REFERENCES  [Flip to if sources are challenged]
USE WHEN: An investor challenges the $42B TAM, the 3,600× figure, or asks where the numbers come from.
KEY SOURCE EXPLANATIONS:
$42B TAM: Gartner Strategic Portfolio Management 2025 — SPM + GRC + EPMO combined categories. This is the enterprise coordination, governance, and execution infrastructure market.
$4.8B SAM: Same Gartner source, scoped to Fortune 5000 and PE-backed enterprises at target ACV.
3,600×: This is math, not marketing. 30 days × 24 hours × 60 minutes = 43,200 minutes. Divided by 12 minutes = 3,600×. The 30-day baseline is average Fortune 1000 cross-functional mobilization from McKinsey Organizational Agility Research (2025).
67% execution improvement: Simulation-validated — labeled as such on Slide 6. Not a customer cohort claim.
Platform metrics (221 triggers, 170 protocols, 8 sources): Live production system. Verifiable at vaughnmartin.com — authenticated environment only.
Business model: Internal pricing model. All metrics labeled as targets where applicable.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1.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1.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36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C9A84C"/>
                </a:solidFill>
                <a:latin typeface="Georgia"/>
              </a:rPr>
              <a:t>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C9A84C"/>
                </a:solidFill>
                <a:latin typeface="Georgia"/>
              </a:rPr>
              <a:t>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C9A84C"/>
                </a:solidFill>
                <a:latin typeface="Georgia"/>
              </a:rPr>
              <a:t>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 (simulation-validated)</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
        <p:nvSpPr>
          <p:cNvPr id="34" name="TextBox 33"/>
          <p:cNvSpPr txBox="1"/>
          <p:nvPr/>
        </p:nvSpPr>
        <p:spPr>
          <a:xfrm>
            <a:off x="502920" y="3246120"/>
            <a:ext cx="3200400" cy="256032"/>
          </a:xfrm>
          <a:prstGeom prst="rect">
            <a:avLst/>
          </a:prstGeom>
          <a:noFill/>
        </p:spPr>
        <p:txBody>
          <a:bodyPr wrap="square">
            <a:spAutoFit/>
          </a:bodyPr>
          <a:lstStyle/>
          <a:p>
            <a:pPr algn="l"/>
            <a:r>
              <a:rPr sz="750" b="0">
                <a:solidFill>
                  <a:srgbClr val="8899BB"/>
                </a:solidFill>
                <a:latin typeface="Calibri"/>
              </a:rPr>
              <a:t>Gartner SPM + GRC + EPMO categories</a:t>
            </a:r>
          </a:p>
        </p:txBody>
      </p:sp>
      <p:sp>
        <p:nvSpPr>
          <p:cNvPr id="35" name="TextBox 34"/>
          <p:cNvSpPr txBox="1"/>
          <p:nvPr/>
        </p:nvSpPr>
        <p:spPr>
          <a:xfrm>
            <a:off x="502920" y="6144768"/>
            <a:ext cx="11155680" cy="237744"/>
          </a:xfrm>
          <a:prstGeom prst="rect">
            <a:avLst/>
          </a:prstGeom>
          <a:noFill/>
        </p:spPr>
        <p:txBody>
          <a:bodyPr wrap="square">
            <a:spAutoFit/>
          </a:bodyPr>
          <a:lstStyle/>
          <a:p>
            <a:pPr algn="l"/>
            <a:r>
              <a:rPr sz="750" b="0">
                <a:solidFill>
                  <a:srgbClr val="7788AA"/>
                </a:solidFill>
                <a:latin typeface="Calibri"/>
              </a:rPr>
              <a:t>Sources: Gartner Strategic Portfolio Management 2025  ·  McKinsey Organizational Agility Research 2025  ·  WEF × Accenture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CCD2DF"/>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$75K–$120K/yr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40% Go-to-Market  ·  35% Engineering  ·  15% Operations  ·  10% Reserves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36" name="Picture 35" descr="image.jpg"/>
          <p:cNvPicPr>
            <a:picLocks noChangeAspect="1"/>
          </p:cNvPicPr>
          <p:nvPr/>
        </p:nvPicPr>
        <p:blipFill>
          <a:blip r:embed="rId2"/>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5486400" cy="320040"/>
          </a:xfrm>
          <a:prstGeom prst="rect">
            <a:avLst/>
          </a:prstGeom>
          <a:noFill/>
        </p:spPr>
        <p:txBody>
          <a:bodyPr wrap="none">
            <a:spAutoFit/>
          </a:bodyPr>
          <a:lstStyle/>
          <a:p>
            <a:pPr algn="l"/>
            <a:r>
              <a:rPr sz="800" b="1">
                <a:solidFill>
                  <a:srgbClr val="C9A84C"/>
                </a:solidFill>
                <a:latin typeface="Calibri"/>
              </a:rPr>
              <a:t>APPENDIX  ·  IF ASKED</a:t>
            </a:r>
          </a:p>
        </p:txBody>
      </p:sp>
      <p:sp>
        <p:nvSpPr>
          <p:cNvPr id="4" name="TextBox 3"/>
          <p:cNvSpPr txBox="1"/>
          <p:nvPr/>
        </p:nvSpPr>
        <p:spPr>
          <a:xfrm>
            <a:off x="502920" y="658368"/>
            <a:ext cx="10058400" cy="640080"/>
          </a:xfrm>
          <a:prstGeom prst="rect">
            <a:avLst/>
          </a:prstGeom>
          <a:noFill/>
        </p:spPr>
        <p:txBody>
          <a:bodyPr wrap="none">
            <a:spAutoFit/>
          </a:bodyPr>
          <a:lstStyle/>
          <a:p>
            <a:pPr algn="l"/>
            <a:r>
              <a:rPr sz="3400" b="1">
                <a:solidFill>
                  <a:srgbClr val="FFFFFF"/>
                </a:solidFill>
                <a:latin typeface="Georgia"/>
              </a:rPr>
              <a:t>Data &amp; Privacy</a:t>
            </a:r>
          </a:p>
        </p:txBody>
      </p:sp>
      <p:sp>
        <p:nvSpPr>
          <p:cNvPr id="5" name="TextBox 4"/>
          <p:cNvSpPr txBox="1"/>
          <p:nvPr/>
        </p:nvSpPr>
        <p:spPr>
          <a:xfrm>
            <a:off x="502920" y="1261872"/>
            <a:ext cx="10058400" cy="320040"/>
          </a:xfrm>
          <a:prstGeom prst="rect">
            <a:avLst/>
          </a:prstGeom>
          <a:noFill/>
        </p:spPr>
        <p:txBody>
          <a:bodyPr wrap="none">
            <a:spAutoFit/>
          </a:bodyPr>
          <a:lstStyle/>
          <a:p>
            <a:r>
              <a:rPr sz="1200">
                <a:solidFill>
                  <a:srgbClr val="CCD2DF"/>
                </a:solidFill>
                <a:latin typeface="Calibri"/>
              </a:rPr>
              <a:t>Architecture built for enterprise trust — key facts for any procurement or investor conversation</a:t>
            </a:r>
          </a:p>
        </p:txBody>
      </p:sp>
      <p:sp>
        <p:nvSpPr>
          <p:cNvPr id="6" name="Rectangle 5"/>
          <p:cNvSpPr/>
          <p:nvPr/>
        </p:nvSpPr>
        <p:spPr>
          <a:xfrm>
            <a:off x="502920" y="1664208"/>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920" y="1901952"/>
            <a:ext cx="5125720" cy="256032"/>
          </a:xfrm>
          <a:prstGeom prst="rect">
            <a:avLst/>
          </a:prstGeom>
          <a:noFill/>
        </p:spPr>
        <p:txBody>
          <a:bodyPr wrap="none">
            <a:spAutoFit/>
          </a:bodyPr>
          <a:lstStyle/>
          <a:p>
            <a:r>
              <a:rPr sz="800" b="1">
                <a:solidFill>
                  <a:srgbClr val="2B8A6E"/>
                </a:solidFill>
                <a:latin typeface="Calibri"/>
              </a:rPr>
              <a:t>DATA OWNERSHIP</a:t>
            </a:r>
          </a:p>
        </p:txBody>
      </p:sp>
      <p:sp>
        <p:nvSpPr>
          <p:cNvPr id="10" name="TextBox 9"/>
          <p:cNvSpPr txBox="1"/>
          <p:nvPr/>
        </p:nvSpPr>
        <p:spPr>
          <a:xfrm>
            <a:off x="629920" y="2121408"/>
            <a:ext cx="5125720" cy="530352"/>
          </a:xfrm>
          <a:prstGeom prst="rect">
            <a:avLst/>
          </a:prstGeom>
          <a:noFill/>
        </p:spPr>
        <p:txBody>
          <a:bodyPr wrap="square">
            <a:spAutoFit/>
          </a:bodyPr>
          <a:lstStyle/>
          <a:p>
            <a:r>
              <a:rPr sz="950">
                <a:solidFill>
                  <a:srgbClr val="CCD2DF"/>
                </a:solidFill>
                <a:latin typeface="Calibri"/>
              </a:rPr>
              <a:t>Customer data is exclusively owned by the customer. VaughnMartin cannot access it without explicit consent.</a:t>
            </a:r>
          </a:p>
        </p:txBody>
      </p:sp>
      <p:sp>
        <p:nvSpPr>
          <p:cNvPr id="11" name="Rectangle 10"/>
          <p:cNvSpPr/>
          <p:nvPr/>
        </p:nvSpPr>
        <p:spPr>
          <a:xfrm>
            <a:off x="6217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4920" y="1901952"/>
            <a:ext cx="5125720" cy="256032"/>
          </a:xfrm>
          <a:prstGeom prst="rect">
            <a:avLst/>
          </a:prstGeom>
          <a:noFill/>
        </p:spPr>
        <p:txBody>
          <a:bodyPr wrap="none">
            <a:spAutoFit/>
          </a:bodyPr>
          <a:lstStyle/>
          <a:p>
            <a:r>
              <a:rPr sz="800" b="1">
                <a:solidFill>
                  <a:srgbClr val="2B8A6E"/>
                </a:solidFill>
                <a:latin typeface="Calibri"/>
              </a:rPr>
              <a:t>TENANT ISOLATION</a:t>
            </a:r>
          </a:p>
        </p:txBody>
      </p:sp>
      <p:sp>
        <p:nvSpPr>
          <p:cNvPr id="14" name="TextBox 13"/>
          <p:cNvSpPr txBox="1"/>
          <p:nvPr/>
        </p:nvSpPr>
        <p:spPr>
          <a:xfrm>
            <a:off x="6344920" y="2121408"/>
            <a:ext cx="5125720" cy="530352"/>
          </a:xfrm>
          <a:prstGeom prst="rect">
            <a:avLst/>
          </a:prstGeom>
          <a:noFill/>
        </p:spPr>
        <p:txBody>
          <a:bodyPr wrap="square">
            <a:spAutoFit/>
          </a:bodyPr>
          <a:lstStyle/>
          <a:p>
            <a:r>
              <a:rPr sz="950">
                <a:solidFill>
                  <a:srgbClr val="CCD2DF"/>
                </a:solidFill>
                <a:latin typeface="Calibri"/>
              </a:rPr>
              <a:t>Every query is organization-scoped at the database layer — cross-tenant reads are architecturally prevented.</a:t>
            </a:r>
          </a:p>
        </p:txBody>
      </p:sp>
      <p:sp>
        <p:nvSpPr>
          <p:cNvPr id="15" name="Rectangle 14"/>
          <p:cNvSpPr/>
          <p:nvPr/>
        </p:nvSpPr>
        <p:spPr>
          <a:xfrm>
            <a:off x="502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920" y="2871216"/>
            <a:ext cx="5125720" cy="256032"/>
          </a:xfrm>
          <a:prstGeom prst="rect">
            <a:avLst/>
          </a:prstGeom>
          <a:noFill/>
        </p:spPr>
        <p:txBody>
          <a:bodyPr wrap="none">
            <a:spAutoFit/>
          </a:bodyPr>
          <a:lstStyle/>
          <a:p>
            <a:r>
              <a:rPr sz="800" b="1">
                <a:solidFill>
                  <a:srgbClr val="2B8A6E"/>
                </a:solidFill>
                <a:latin typeface="Calibri"/>
              </a:rPr>
              <a:t>ENCRYPTION</a:t>
            </a:r>
          </a:p>
        </p:txBody>
      </p:sp>
      <p:sp>
        <p:nvSpPr>
          <p:cNvPr id="18" name="TextBox 17"/>
          <p:cNvSpPr txBox="1"/>
          <p:nvPr/>
        </p:nvSpPr>
        <p:spPr>
          <a:xfrm>
            <a:off x="629920" y="3090672"/>
            <a:ext cx="5125720" cy="530352"/>
          </a:xfrm>
          <a:prstGeom prst="rect">
            <a:avLst/>
          </a:prstGeom>
          <a:noFill/>
        </p:spPr>
        <p:txBody>
          <a:bodyPr wrap="square">
            <a:spAutoFit/>
          </a:bodyPr>
          <a:lstStyle/>
          <a:p>
            <a:r>
              <a:rPr sz="950">
                <a:solidFill>
                  <a:srgbClr val="CCD2DF"/>
                </a:solidFill>
                <a:latin typeface="Calibri"/>
              </a:rPr>
              <a:t>TLS encrypted in transit. Encrypted at rest via Neon PostgreSQL (SOC 2 Type II certified infrastructure).</a:t>
            </a:r>
          </a:p>
        </p:txBody>
      </p:sp>
      <p:sp>
        <p:nvSpPr>
          <p:cNvPr id="19" name="Rectangle 18"/>
          <p:cNvSpPr/>
          <p:nvPr/>
        </p:nvSpPr>
        <p:spPr>
          <a:xfrm>
            <a:off x="6217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4920" y="2871216"/>
            <a:ext cx="5125720" cy="256032"/>
          </a:xfrm>
          <a:prstGeom prst="rect">
            <a:avLst/>
          </a:prstGeom>
          <a:noFill/>
        </p:spPr>
        <p:txBody>
          <a:bodyPr wrap="none">
            <a:spAutoFit/>
          </a:bodyPr>
          <a:lstStyle/>
          <a:p>
            <a:r>
              <a:rPr sz="800" b="1">
                <a:solidFill>
                  <a:srgbClr val="2B8A6E"/>
                </a:solidFill>
                <a:latin typeface="Calibri"/>
              </a:rPr>
              <a:t>AI &amp; MODEL SAFETY</a:t>
            </a:r>
          </a:p>
        </p:txBody>
      </p:sp>
      <p:sp>
        <p:nvSpPr>
          <p:cNvPr id="22" name="TextBox 21"/>
          <p:cNvSpPr txBox="1"/>
          <p:nvPr/>
        </p:nvSpPr>
        <p:spPr>
          <a:xfrm>
            <a:off x="6344920" y="3090672"/>
            <a:ext cx="5125720" cy="530352"/>
          </a:xfrm>
          <a:prstGeom prst="rect">
            <a:avLst/>
          </a:prstGeom>
          <a:noFill/>
        </p:spPr>
        <p:txBody>
          <a:bodyPr wrap="square">
            <a:spAutoFit/>
          </a:bodyPr>
          <a:lstStyle/>
          <a:p>
            <a:r>
              <a:rPr sz="950">
                <a:solidFill>
                  <a:srgbClr val="CCD2DF"/>
                </a:solidFill>
                <a:latin typeface="Calibri"/>
              </a:rPr>
              <a:t>All AI processing runs through Azure OpenAI under enterprise data processing agreements — your data does not train the models. AI analysis is sandboxed and cannot directly modify org data.</a:t>
            </a:r>
          </a:p>
        </p:txBody>
      </p:sp>
      <p:sp>
        <p:nvSpPr>
          <p:cNvPr id="23" name="Rectangle 22"/>
          <p:cNvSpPr/>
          <p:nvPr/>
        </p:nvSpPr>
        <p:spPr>
          <a:xfrm>
            <a:off x="502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920" y="3840480"/>
            <a:ext cx="5125720" cy="256032"/>
          </a:xfrm>
          <a:prstGeom prst="rect">
            <a:avLst/>
          </a:prstGeom>
          <a:noFill/>
        </p:spPr>
        <p:txBody>
          <a:bodyPr wrap="none">
            <a:spAutoFit/>
          </a:bodyPr>
          <a:lstStyle/>
          <a:p>
            <a:r>
              <a:rPr sz="800" b="1">
                <a:solidFill>
                  <a:srgbClr val="2B8A6E"/>
                </a:solidFill>
                <a:latin typeface="Calibri"/>
              </a:rPr>
              <a:t>GDPR ALIGNMENT</a:t>
            </a:r>
          </a:p>
        </p:txBody>
      </p:sp>
      <p:sp>
        <p:nvSpPr>
          <p:cNvPr id="26" name="TextBox 25"/>
          <p:cNvSpPr txBox="1"/>
          <p:nvPr/>
        </p:nvSpPr>
        <p:spPr>
          <a:xfrm>
            <a:off x="629920" y="4059936"/>
            <a:ext cx="5125720" cy="530352"/>
          </a:xfrm>
          <a:prstGeom prst="rect">
            <a:avLst/>
          </a:prstGeom>
          <a:noFill/>
        </p:spPr>
        <p:txBody>
          <a:bodyPr wrap="square">
            <a:spAutoFit/>
          </a:bodyPr>
          <a:lstStyle/>
          <a:p>
            <a:r>
              <a:rPr sz="950">
                <a:solidFill>
                  <a:srgbClr val="CCD2DF"/>
                </a:solidFill>
                <a:latin typeface="Calibri"/>
              </a:rPr>
              <a:t>Consent-based access, customer-controlled data deletion, and configurable retention policies are built in.</a:t>
            </a:r>
          </a:p>
        </p:txBody>
      </p:sp>
      <p:sp>
        <p:nvSpPr>
          <p:cNvPr id="27" name="Rectangle 26"/>
          <p:cNvSpPr/>
          <p:nvPr/>
        </p:nvSpPr>
        <p:spPr>
          <a:xfrm>
            <a:off x="6217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4920" y="3840480"/>
            <a:ext cx="5125720" cy="256032"/>
          </a:xfrm>
          <a:prstGeom prst="rect">
            <a:avLst/>
          </a:prstGeom>
          <a:noFill/>
        </p:spPr>
        <p:txBody>
          <a:bodyPr wrap="none">
            <a:spAutoFit/>
          </a:bodyPr>
          <a:lstStyle/>
          <a:p>
            <a:r>
              <a:rPr sz="800" b="1">
                <a:solidFill>
                  <a:srgbClr val="2B8A6E"/>
                </a:solidFill>
                <a:latin typeface="Calibri"/>
              </a:rPr>
              <a:t>SOC 2 ROADMAP</a:t>
            </a:r>
          </a:p>
        </p:txBody>
      </p:sp>
      <p:sp>
        <p:nvSpPr>
          <p:cNvPr id="30" name="TextBox 29"/>
          <p:cNvSpPr txBox="1"/>
          <p:nvPr/>
        </p:nvSpPr>
        <p:spPr>
          <a:xfrm>
            <a:off x="6344920" y="4059936"/>
            <a:ext cx="5125720" cy="530352"/>
          </a:xfrm>
          <a:prstGeom prst="rect">
            <a:avLst/>
          </a:prstGeom>
          <a:noFill/>
        </p:spPr>
        <p:txBody>
          <a:bodyPr wrap="square">
            <a:spAutoFit/>
          </a:bodyPr>
          <a:lstStyle/>
          <a:p>
            <a:r>
              <a:rPr sz="950">
                <a:solidFill>
                  <a:srgbClr val="CCD2DF"/>
                </a:solidFill>
                <a:latin typeface="Calibri"/>
              </a:rPr>
              <a:t>Database infrastructure is SOC 2 Type II certified today. Platform-level audit is on the GA roadmap. Architecture documentation available on request.</a:t>
            </a:r>
          </a:p>
        </p:txBody>
      </p:sp>
      <p:sp>
        <p:nvSpPr>
          <p:cNvPr id="31" name="TextBox 30"/>
          <p:cNvSpPr txBox="1"/>
          <p:nvPr/>
        </p:nvSpPr>
        <p:spPr>
          <a:xfrm>
            <a:off x="502920" y="6327648"/>
            <a:ext cx="10972800" cy="292608"/>
          </a:xfrm>
          <a:prstGeom prst="rect">
            <a:avLst/>
          </a:prstGeom>
          <a:noFill/>
        </p:spPr>
        <p:txBody>
          <a:bodyPr wrap="none">
            <a:spAutoFit/>
          </a:bodyPr>
          <a:lstStyle/>
          <a:p>
            <a:pPr algn="ctr"/>
            <a:r>
              <a:rPr sz="850">
                <a:solidFill>
                  <a:srgbClr val="C9A84C"/>
                </a:solidFill>
                <a:latin typeface="Calibri"/>
              </a:rPr>
              <a:t>Full procurement-ready security overview available at /security-compliance  ·  Architecture documentation available on request</a:t>
            </a:r>
          </a:p>
        </p:txBody>
      </p:sp>
      <p:sp>
        <p:nvSpPr>
          <p:cNvPr id="32" name="Rectangle 31"/>
          <p:cNvSpPr/>
          <p:nvPr/>
        </p:nvSpPr>
        <p:spPr>
          <a:xfrm>
            <a:off x="502920" y="4773168"/>
            <a:ext cx="11183112" cy="1298448"/>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773168"/>
            <a:ext cx="3810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20" y="4901184"/>
            <a:ext cx="10878312" cy="256032"/>
          </a:xfrm>
          <a:prstGeom prst="rect">
            <a:avLst/>
          </a:prstGeom>
          <a:noFill/>
        </p:spPr>
        <p:txBody>
          <a:bodyPr wrap="none">
            <a:spAutoFit/>
          </a:bodyPr>
          <a:lstStyle/>
          <a:p>
            <a:r>
              <a:rPr sz="800" b="1">
                <a:solidFill>
                  <a:srgbClr val="C9A84C"/>
                </a:solidFill>
                <a:latin typeface="Calibri"/>
              </a:rPr>
              <a:t>ACCESS CONTROL</a:t>
            </a:r>
          </a:p>
        </p:txBody>
      </p:sp>
      <p:sp>
        <p:nvSpPr>
          <p:cNvPr id="35" name="TextBox 34"/>
          <p:cNvSpPr txBox="1"/>
          <p:nvPr/>
        </p:nvSpPr>
        <p:spPr>
          <a:xfrm>
            <a:off x="655320" y="5138928"/>
            <a:ext cx="10878312" cy="749808"/>
          </a:xfrm>
          <a:prstGeom prst="rect">
            <a:avLst/>
          </a:prstGeom>
          <a:noFill/>
        </p:spPr>
        <p:txBody>
          <a:bodyPr wrap="square">
            <a:spAutoFit/>
          </a:bodyPr>
          <a:lstStyle/>
          <a:p>
            <a:r>
              <a:rPr sz="950">
                <a:solidFill>
                  <a:srgbClr val="CCD2DF"/>
                </a:solidFill>
                <a:latin typeface="Calibri"/>
              </a:rPr>
              <a:t>Role-Based Access Control enforced at every route — platform admin, executive, and operator roles with fail-closed error handling. Email allowlist gates all logins; open by default, restrictive once any address is added. No Readiness Protocol activates without executive sign-off — every action requires a named human authorization. Audit log captures every decision, activation, and ownership acknowledgment with timestamped attribution.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SIGNAL INTELLIGENCE &amp; EXECUTION</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The System Is Always On.</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Live signal monitoring → trigger detection → protocol staged → war room open. All in 12 minutes.</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command_tower.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COMMAND TOWER — LIVE SIGNAL FEED</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221 strategic triggers monitored continuously across 8 intelligence sources. Signal groups scored in real time — threshold met means the protocol is already staged.</a:t>
            </a:r>
          </a:p>
        </p:txBody>
      </p:sp>
      <p:sp>
        <p:nvSpPr>
          <p:cNvPr id="12" name="Rectangle 11"/>
          <p:cNvSpPr/>
          <p:nvPr/>
        </p:nvSpPr>
        <p:spPr>
          <a:xfrm>
            <a:off x="6199632"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q_executes_chain.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EXECUTION CHAIN — SIGNAL TO WAR ROOM</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The animated signal → protocol → task assignment → executive authorization → war room open chain. 12 minutes complete. The response was pre-staged before this moment.</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TEST DRIVE &amp; PROTOCOL DEPTH</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Run It Right Now. 170 Protocols Ready.</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7 live scenarios, no login. Any investor can experience a full crisis response in 12 minutes — during this meeting.</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12min_scenarios.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12-MINUTE TEST DRIVE — 7 LIVE SCENARIOS</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Public access. No login. Activist Investor, Ransomware, Supply Chain, M&amp;A — full signal → war room → debrief cycle. Run it now at /12-minute-experience.</a:t>
            </a:r>
          </a:p>
        </p:txBody>
      </p:sp>
      <p:sp>
        <p:nvSpPr>
          <p:cNvPr id="12" name="Rectangle 11"/>
          <p:cNvSpPr/>
          <p:nvPr/>
        </p:nvSpPr>
        <p:spPr>
          <a:xfrm>
            <a:off x="6199632" y="1755648"/>
            <a:ext cx="5532120" cy="4709160"/>
          </a:xfrm>
          <a:prstGeom prst="rect">
            <a:avLst/>
          </a:prstGeom>
          <a:solidFill>
            <a:srgbClr val="0A0F2E"/>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ck_protocol_library.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170 READINESS PROTOCOLS — PRE-STAGED DEPTH</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Every protocol mapped across GROWTH &amp; POSITIONING, RISK &amp; RESILIENCE, and TRANSFORMATION. 12 Compound Protocol Engines for simultaneous multi-threat response.</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9144000" cy="274320"/>
          </a:xfrm>
          <a:prstGeom prst="rect">
            <a:avLst/>
          </a:prstGeom>
          <a:noFill/>
        </p:spPr>
        <p:txBody>
          <a:bodyPr wrap="square">
            <a:spAutoFit/>
          </a:bodyPr>
          <a:lstStyle/>
          <a:p>
            <a:pPr algn="l"/>
            <a:r>
              <a:rPr sz="800" b="1">
                <a:solidFill>
                  <a:srgbClr val="C9A84C"/>
                </a:solidFill>
                <a:latin typeface="Calibri"/>
              </a:rPr>
              <a:t>APPENDIX  ·  SOURCES &amp; REFERENCES</a:t>
            </a:r>
          </a:p>
        </p:txBody>
      </p:sp>
      <p:sp>
        <p:nvSpPr>
          <p:cNvPr id="5" name="TextBox 4"/>
          <p:cNvSpPr txBox="1"/>
          <p:nvPr/>
        </p:nvSpPr>
        <p:spPr>
          <a:xfrm>
            <a:off x="502920" y="594360"/>
            <a:ext cx="10972800" cy="502920"/>
          </a:xfrm>
          <a:prstGeom prst="rect">
            <a:avLst/>
          </a:prstGeom>
          <a:noFill/>
        </p:spPr>
        <p:txBody>
          <a:bodyPr wrap="square">
            <a:spAutoFit/>
          </a:bodyPr>
          <a:lstStyle/>
          <a:p>
            <a:pPr algn="l"/>
            <a:r>
              <a:rPr sz="2600" b="1">
                <a:solidFill>
                  <a:srgbClr val="FFFFFF"/>
                </a:solidFill>
                <a:latin typeface="Georgia"/>
              </a:rPr>
              <a:t>Sources &amp; References</a:t>
            </a:r>
          </a:p>
        </p:txBody>
      </p:sp>
      <p:sp>
        <p:nvSpPr>
          <p:cNvPr id="6" name="TextBox 5"/>
          <p:cNvSpPr txBox="1"/>
          <p:nvPr/>
        </p:nvSpPr>
        <p:spPr>
          <a:xfrm>
            <a:off x="502920" y="1097280"/>
            <a:ext cx="10058400" cy="274320"/>
          </a:xfrm>
          <a:prstGeom prst="rect">
            <a:avLst/>
          </a:prstGeom>
          <a:noFill/>
        </p:spPr>
        <p:txBody>
          <a:bodyPr wrap="square">
            <a:spAutoFit/>
          </a:bodyPr>
          <a:lstStyle/>
          <a:p>
            <a:pPr algn="l"/>
            <a:r>
              <a:rPr sz="900" b="0">
                <a:solidFill>
                  <a:srgbClr val="CCD2DF"/>
                </a:solidFill>
                <a:latin typeface="Calibri"/>
              </a:rPr>
              <a:t>VaughnMartin Readiness OS  ·  Investor Pitch  ·  May 2026  ·  vaughnmartin.com</a:t>
            </a:r>
          </a:p>
        </p:txBody>
      </p:sp>
      <p:sp>
        <p:nvSpPr>
          <p:cNvPr id="8" name="Rectangle 7"/>
          <p:cNvSpPr/>
          <p:nvPr/>
        </p:nvSpPr>
        <p:spPr>
          <a:xfrm>
            <a:off x="502920" y="1572768"/>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9344"/>
            <a:ext cx="10789920" cy="219456"/>
          </a:xfrm>
          <a:prstGeom prst="rect">
            <a:avLst/>
          </a:prstGeom>
          <a:noFill/>
        </p:spPr>
        <p:txBody>
          <a:bodyPr wrap="square">
            <a:spAutoFit/>
          </a:bodyPr>
          <a:lstStyle/>
          <a:p>
            <a:pPr algn="l"/>
            <a:r>
              <a:rPr sz="800" b="1">
                <a:solidFill>
                  <a:srgbClr val="C9A84C"/>
                </a:solidFill>
                <a:latin typeface="Calibri"/>
              </a:rPr>
              <a:t>Slides 1, 4  ·  30-Day Mobilization Baseline &amp; 3,600× Calculation</a:t>
            </a:r>
          </a:p>
        </p:txBody>
      </p:sp>
      <p:sp>
        <p:nvSpPr>
          <p:cNvPr id="10" name="TextBox 9"/>
          <p:cNvSpPr txBox="1"/>
          <p:nvPr/>
        </p:nvSpPr>
        <p:spPr>
          <a:xfrm>
            <a:off x="685800" y="1819656"/>
            <a:ext cx="10789920" cy="457200"/>
          </a:xfrm>
          <a:prstGeom prst="rect">
            <a:avLst/>
          </a:prstGeom>
          <a:noFill/>
        </p:spPr>
        <p:txBody>
          <a:bodyPr wrap="square">
            <a:spAutoFit/>
          </a:bodyPr>
          <a:lstStyle/>
          <a:p>
            <a:pPr algn="l"/>
            <a:r>
              <a:rPr sz="850" b="0">
                <a:solidFill>
                  <a:srgbClr val="CCD2DF"/>
                </a:solidFill>
                <a:latin typeface="Calibri"/>
              </a:rPr>
              <a:t>VaughnMartin operational research — 20+ years direct experience across Ford, Toyota, Lockheed Martin, Charles Schwab, and Boyd Gaming. McKinsey Organizational Agility Research (2025). Calculation: 30 days × 24 hrs × 60 min = 43,200 min ÷ 12 min = 3,600×. Baseline is average Fortune 1000 cross-functional mobilization cycle.</a:t>
            </a:r>
          </a:p>
        </p:txBody>
      </p:sp>
      <p:sp>
        <p:nvSpPr>
          <p:cNvPr id="11" name="Rectangle 10"/>
          <p:cNvSpPr/>
          <p:nvPr/>
        </p:nvSpPr>
        <p:spPr>
          <a:xfrm>
            <a:off x="502920" y="2322576"/>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59152"/>
            <a:ext cx="10789920" cy="219456"/>
          </a:xfrm>
          <a:prstGeom prst="rect">
            <a:avLst/>
          </a:prstGeom>
          <a:noFill/>
        </p:spPr>
        <p:txBody>
          <a:bodyPr wrap="square">
            <a:spAutoFit/>
          </a:bodyPr>
          <a:lstStyle/>
          <a:p>
            <a:pPr algn="l"/>
            <a:r>
              <a:rPr sz="800" b="1">
                <a:solidFill>
                  <a:srgbClr val="C9A84C"/>
                </a:solidFill>
                <a:latin typeface="Calibri"/>
              </a:rPr>
              <a:t>Slide 7  ·  $42B TAM / $4.8B SAM / $180M SOM</a:t>
            </a:r>
          </a:p>
        </p:txBody>
      </p:sp>
      <p:sp>
        <p:nvSpPr>
          <p:cNvPr id="13" name="TextBox 12"/>
          <p:cNvSpPr txBox="1"/>
          <p:nvPr/>
        </p:nvSpPr>
        <p:spPr>
          <a:xfrm>
            <a:off x="685800" y="2569464"/>
            <a:ext cx="10789920" cy="457200"/>
          </a:xfrm>
          <a:prstGeom prst="rect">
            <a:avLst/>
          </a:prstGeom>
          <a:noFill/>
        </p:spPr>
        <p:txBody>
          <a:bodyPr wrap="square">
            <a:spAutoFit/>
          </a:bodyPr>
          <a:lstStyle/>
          <a:p>
            <a:pPr algn="l"/>
            <a:r>
              <a:rPr sz="850" b="0">
                <a:solidFill>
                  <a:srgbClr val="CCD2DF"/>
                </a:solidFill>
                <a:latin typeface="Calibri"/>
              </a:rPr>
              <a:t>Gartner Strategic Portfolio Management 2025 (SPM + GRC + EPMO combined categories). McKinsey 2025 coordination cost research. WEF × Accenture Strategic Readiness Report, March 2026. SAM: ~25K target accounts × $200K avg ACV. SOM: 600 customers × $300K avg ACV by Year 5.</a:t>
            </a:r>
          </a:p>
        </p:txBody>
      </p:sp>
      <p:sp>
        <p:nvSpPr>
          <p:cNvPr id="14" name="Rectangle 13"/>
          <p:cNvSpPr/>
          <p:nvPr/>
        </p:nvSpPr>
        <p:spPr>
          <a:xfrm>
            <a:off x="502920" y="3072384"/>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108960"/>
            <a:ext cx="10789920" cy="219456"/>
          </a:xfrm>
          <a:prstGeom prst="rect">
            <a:avLst/>
          </a:prstGeom>
          <a:noFill/>
        </p:spPr>
        <p:txBody>
          <a:bodyPr wrap="square">
            <a:spAutoFit/>
          </a:bodyPr>
          <a:lstStyle/>
          <a:p>
            <a:pPr algn="l"/>
            <a:r>
              <a:rPr sz="800" b="1">
                <a:solidFill>
                  <a:srgbClr val="C9A84C"/>
                </a:solidFill>
                <a:latin typeface="Calibri"/>
              </a:rPr>
              <a:t>Slide 6  ·  67% Execution Improvement</a:t>
            </a:r>
          </a:p>
        </p:txBody>
      </p:sp>
      <p:sp>
        <p:nvSpPr>
          <p:cNvPr id="16" name="TextBox 15"/>
          <p:cNvSpPr txBox="1"/>
          <p:nvPr/>
        </p:nvSpPr>
        <p:spPr>
          <a:xfrm>
            <a:off x="685800" y="3319272"/>
            <a:ext cx="10789920" cy="457200"/>
          </a:xfrm>
          <a:prstGeom prst="rect">
            <a:avLst/>
          </a:prstGeom>
          <a:noFill/>
        </p:spPr>
        <p:txBody>
          <a:bodyPr wrap="square">
            <a:spAutoFit/>
          </a:bodyPr>
          <a:lstStyle/>
          <a:p>
            <a:pPr algn="l"/>
            <a:r>
              <a:rPr sz="850" b="0">
                <a:solidFill>
                  <a:srgbClr val="CCD2DF"/>
                </a:solidFill>
                <a:latin typeface="Calibri"/>
              </a:rPr>
              <a:t>VaughnMartin simulation-validated performance modeling based on platform activation cycle data. Labeled "simulation-validated" on slide. Baseline: enterprise crisis response timelines across GROWTH &amp; POSITIONING, RISK &amp; RESILIENCE, and TRANSFORMATION domain scenarios.</a:t>
            </a:r>
          </a:p>
        </p:txBody>
      </p:sp>
      <p:sp>
        <p:nvSpPr>
          <p:cNvPr id="17" name="Rectangle 16"/>
          <p:cNvSpPr/>
          <p:nvPr/>
        </p:nvSpPr>
        <p:spPr>
          <a:xfrm>
            <a:off x="502920" y="3822192"/>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858768"/>
            <a:ext cx="10789920" cy="219456"/>
          </a:xfrm>
          <a:prstGeom prst="rect">
            <a:avLst/>
          </a:prstGeom>
          <a:noFill/>
        </p:spPr>
        <p:txBody>
          <a:bodyPr wrap="square">
            <a:spAutoFit/>
          </a:bodyPr>
          <a:lstStyle/>
          <a:p>
            <a:pPr algn="l"/>
            <a:r>
              <a:rPr sz="800" b="1">
                <a:solidFill>
                  <a:srgbClr val="C9A84C"/>
                </a:solidFill>
                <a:latin typeface="Calibri"/>
              </a:rPr>
              <a:t>Slide 8  ·  Platform Metrics</a:t>
            </a:r>
          </a:p>
        </p:txBody>
      </p:sp>
      <p:sp>
        <p:nvSpPr>
          <p:cNvPr id="19" name="TextBox 18"/>
          <p:cNvSpPr txBox="1"/>
          <p:nvPr/>
        </p:nvSpPr>
        <p:spPr>
          <a:xfrm>
            <a:off x="685800" y="4069080"/>
            <a:ext cx="10789920" cy="457200"/>
          </a:xfrm>
          <a:prstGeom prst="rect">
            <a:avLst/>
          </a:prstGeom>
          <a:noFill/>
        </p:spPr>
        <p:txBody>
          <a:bodyPr wrap="square">
            <a:spAutoFit/>
          </a:bodyPr>
          <a:lstStyle/>
          <a:p>
            <a:pPr algn="l"/>
            <a:r>
              <a:rPr sz="850" b="0">
                <a:solidFill>
                  <a:srgbClr val="CCD2DF"/>
                </a:solidFill>
                <a:latin typeface="Calibri"/>
              </a:rPr>
              <a:t>VaughnMartin Readiness OS production system, May 2026. All platform layers live in production. 221 strategic triggers. 170 Readiness Protocols. 12 Compound Protocol Engines. 8 live signal sources on 15-minute monitoring cycles. Verifiable at vaughnmartin.com</a:t>
            </a:r>
          </a:p>
        </p:txBody>
      </p:sp>
      <p:sp>
        <p:nvSpPr>
          <p:cNvPr id="20" name="Rectangle 19"/>
          <p:cNvSpPr/>
          <p:nvPr/>
        </p:nvSpPr>
        <p:spPr>
          <a:xfrm>
            <a:off x="502920" y="4572000"/>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608576"/>
            <a:ext cx="10789920" cy="219456"/>
          </a:xfrm>
          <a:prstGeom prst="rect">
            <a:avLst/>
          </a:prstGeom>
          <a:noFill/>
        </p:spPr>
        <p:txBody>
          <a:bodyPr wrap="square">
            <a:spAutoFit/>
          </a:bodyPr>
          <a:lstStyle/>
          <a:p>
            <a:pPr algn="l"/>
            <a:r>
              <a:rPr sz="800" b="1">
                <a:solidFill>
                  <a:srgbClr val="C9A84C"/>
                </a:solidFill>
                <a:latin typeface="Calibri"/>
              </a:rPr>
              <a:t>Slide 8  ·  Business Model &amp; Unit Economics</a:t>
            </a:r>
          </a:p>
        </p:txBody>
      </p:sp>
      <p:sp>
        <p:nvSpPr>
          <p:cNvPr id="22" name="TextBox 21"/>
          <p:cNvSpPr txBox="1"/>
          <p:nvPr/>
        </p:nvSpPr>
        <p:spPr>
          <a:xfrm>
            <a:off x="685800" y="4818888"/>
            <a:ext cx="10789920" cy="457200"/>
          </a:xfrm>
          <a:prstGeom prst="rect">
            <a:avLst/>
          </a:prstGeom>
          <a:noFill/>
        </p:spPr>
        <p:txBody>
          <a:bodyPr wrap="square">
            <a:spAutoFit/>
          </a:bodyPr>
          <a:lstStyle/>
          <a:p>
            <a:pPr algn="l"/>
            <a:r>
              <a:rPr sz="850" b="0">
                <a:solidFill>
                  <a:srgbClr val="CCD2DF"/>
                </a:solidFill>
                <a:latin typeface="Calibri"/>
              </a:rPr>
              <a:t>VaughnMartin internal pricing model. $120K Average ACV based on Founding Partner tier mid-point. 92% Target Gross Margin based on SaaS infrastructure cost modeling at scale. &lt;6 Month Payback Period derived from enterprise crisis cost avoidance vs. annual platform fee. 2–4 Weeks First Results based on onboarding timeline: Week 1 setup, Weeks 2–4 live protocols.</a:t>
            </a:r>
          </a:p>
        </p:txBody>
      </p:sp>
      <p:sp>
        <p:nvSpPr>
          <p:cNvPr id="23" name="Rectangle 22"/>
          <p:cNvSpPr/>
          <p:nvPr/>
        </p:nvSpPr>
        <p:spPr>
          <a:xfrm>
            <a:off x="502920" y="5321808"/>
            <a:ext cx="31750" cy="699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58384"/>
            <a:ext cx="10789920" cy="219456"/>
          </a:xfrm>
          <a:prstGeom prst="rect">
            <a:avLst/>
          </a:prstGeom>
          <a:noFill/>
        </p:spPr>
        <p:txBody>
          <a:bodyPr wrap="square">
            <a:spAutoFit/>
          </a:bodyPr>
          <a:lstStyle/>
          <a:p>
            <a:pPr algn="l"/>
            <a:r>
              <a:rPr sz="800" b="1">
                <a:solidFill>
                  <a:srgbClr val="FFFFFF"/>
                </a:solidFill>
                <a:latin typeface="Calibri"/>
              </a:rPr>
              <a:t>Access &amp; Verification  ·  Financial projections are forward-looking estimates  ·  Confidential</a:t>
            </a:r>
          </a:p>
        </p:txBody>
      </p:sp>
      <p:sp>
        <p:nvSpPr>
          <p:cNvPr id="25" name="TextBox 24"/>
          <p:cNvSpPr txBox="1"/>
          <p:nvPr/>
        </p:nvSpPr>
        <p:spPr>
          <a:xfrm>
            <a:off x="685800" y="5568696"/>
            <a:ext cx="10789920" cy="457200"/>
          </a:xfrm>
          <a:prstGeom prst="rect">
            <a:avLst/>
          </a:prstGeom>
          <a:noFill/>
        </p:spPr>
        <p:txBody>
          <a:bodyPr wrap="square">
            <a:spAutoFit/>
          </a:bodyPr>
          <a:lstStyle/>
          <a:p>
            <a:pPr algn="l"/>
            <a:r>
              <a:rPr sz="850" b="0">
                <a:solidFill>
                  <a:srgbClr val="CCD2DF"/>
                </a:solidFill>
                <a:latin typeface="Calibri"/>
              </a:rPr>
              <a:t>12-Minute Test Drive available without login at vaughnmartin.com/12-minute-experience. Full platform access requires application — the Founding Partner Program is the current access path. Full platform capabilities represent VaughnMartin intellectual property and are not publicly accessible. Platform metrics cited are live production figures from the authenticated environment.</a:t>
            </a:r>
          </a:p>
        </p:txBody>
      </p:sp>
      <p:sp>
        <p:nvSpPr>
          <p:cNvPr id="26" name="TextBox 25"/>
          <p:cNvSpPr txBox="1"/>
          <p:nvPr/>
        </p:nvSpPr>
        <p:spPr>
          <a:xfrm>
            <a:off x="502920" y="6510528"/>
            <a:ext cx="11155680" cy="256032"/>
          </a:xfrm>
          <a:prstGeom prst="rect">
            <a:avLst/>
          </a:prstGeom>
          <a:noFill/>
        </p:spPr>
        <p:txBody>
          <a:bodyPr wrap="square">
            <a:spAutoFit/>
          </a:bodyPr>
          <a:lstStyle/>
          <a:p>
            <a:pPr algn="ctr"/>
            <a:r>
              <a:rPr sz="750" b="0">
                <a:solidFill>
                  <a:srgbClr val="C9A84C"/>
                </a:solidFill>
                <a:latin typeface="Calibri"/>
              </a:rPr>
              <a:t>VaughnMartin Readiness OS  ·  Confidential — For Qualified Investor Use Only  ·  vaughnmartin.com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