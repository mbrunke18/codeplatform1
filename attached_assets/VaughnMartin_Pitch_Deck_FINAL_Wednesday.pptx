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9784" y="0"/>
            <a:ext cx="7059168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7850"/>
                </a:solidFill>
                <a:latin typeface="Calibri"/>
              </a:rPr>
              <a:t>01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86968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The trigger fires in seconds.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Mobilization takes 30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457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Fortune 1000 organizations detect strategic triggers quickly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Most still spend weeks aligning ownership, authority, and sequence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The delay is not execution — it is mobilization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4480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EA4"/>
                </a:solidFill>
                <a:latin typeface="Georgia"/>
              </a:rPr>
              <a:t>"Most organizations do not have a strategy problem. They have a mobilization problem. When a trigger fires, the first weeks are spent figuring out who decides and who owns the response."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5120640" cy="365760"/>
          </a:xfrm>
          <a:prstGeom prst="rect">
            <a:avLst/>
          </a:prstGeom>
          <a:solidFill>
            <a:srgbClr val="060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9668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731520"/>
            <a:ext cx="6419088" cy="347472"/>
          </a:xfrm>
          <a:prstGeom prst="rect">
            <a:avLst/>
          </a:prstGeom>
          <a:solidFill>
            <a:srgbClr val="1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86984" y="832104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88152" y="832104"/>
            <a:ext cx="109728" cy="109728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832104"/>
            <a:ext cx="109728" cy="109728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786384"/>
            <a:ext cx="5458968" cy="228600"/>
          </a:xfrm>
          <a:prstGeom prst="rect">
            <a:avLst/>
          </a:prstGeom>
          <a:solidFill>
            <a:srgbClr val="2A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795528"/>
            <a:ext cx="5413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8595"/>
                </a:solidFill>
                <a:latin typeface="Calibri"/>
              </a:rPr>
              <a:t>vaughnmartin.com</a:t>
            </a:r>
          </a:p>
        </p:txBody>
      </p:sp>
      <p:pic>
        <p:nvPicPr>
          <p:cNvPr id="20" name="Picture 19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78992"/>
            <a:ext cx="6419088" cy="54132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9784" y="0"/>
            <a:ext cx="7059168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7850"/>
                </a:solidFill>
                <a:latin typeface="Calibri"/>
              </a:rPr>
              <a:t>02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THE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86968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Readiness OS: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The response is ready before the trigger fires.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457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170 Readiness Protocols pre-staged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221 trigger patterns mapped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248+ data points monitored every 15 minutes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AI monitors. Executives authorize.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4480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EA4"/>
                </a:solidFill>
                <a:latin typeface="Georgia"/>
              </a:rPr>
              <a:t>"We built Readiness OS to pre-stage the response architecture before pressure arrives. Authority remains human; mobilization becomes immediate."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5120640" cy="365760"/>
          </a:xfrm>
          <a:prstGeom prst="rect">
            <a:avLst/>
          </a:prstGeom>
          <a:solidFill>
            <a:srgbClr val="060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9668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731520"/>
            <a:ext cx="6419088" cy="347472"/>
          </a:xfrm>
          <a:prstGeom prst="rect">
            <a:avLst/>
          </a:prstGeom>
          <a:solidFill>
            <a:srgbClr val="1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86984" y="832104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88152" y="832104"/>
            <a:ext cx="109728" cy="109728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832104"/>
            <a:ext cx="109728" cy="109728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786384"/>
            <a:ext cx="5458968" cy="228600"/>
          </a:xfrm>
          <a:prstGeom prst="rect">
            <a:avLst/>
          </a:prstGeom>
          <a:solidFill>
            <a:srgbClr val="2A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795528"/>
            <a:ext cx="5413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8595"/>
                </a:solidFill>
                <a:latin typeface="Calibri"/>
              </a:rPr>
              <a:t>vaughnmartin.com/how-it-executes</a:t>
            </a:r>
          </a:p>
        </p:txBody>
      </p:sp>
      <p:pic>
        <p:nvPicPr>
          <p:cNvPr id="20" name="Picture 19" descr="deck_acti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78992"/>
            <a:ext cx="6419088" cy="54132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9784" y="0"/>
            <a:ext cx="7059168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7850"/>
                </a:solidFill>
                <a:latin typeface="Calibri"/>
              </a:rPr>
              <a:t>03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HOW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86968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From trigger to coordinated execution in minutes.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457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① Signal detected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② Matching protocol staged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③ Stakeholders notified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④ Executive authorizes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⑤ Execution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4480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EA4"/>
                </a:solidFill>
                <a:latin typeface="Georgia"/>
              </a:rPr>
              <a:t>"The key change is that coordination is pre-built, so when the trigger fires, execution starts."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5120640" cy="365760"/>
          </a:xfrm>
          <a:prstGeom prst="rect">
            <a:avLst/>
          </a:prstGeom>
          <a:solidFill>
            <a:srgbClr val="060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9668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731520"/>
            <a:ext cx="6419088" cy="347472"/>
          </a:xfrm>
          <a:prstGeom prst="rect">
            <a:avLst/>
          </a:prstGeom>
          <a:solidFill>
            <a:srgbClr val="1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86984" y="832104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88152" y="832104"/>
            <a:ext cx="109728" cy="109728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832104"/>
            <a:ext cx="109728" cy="109728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786384"/>
            <a:ext cx="5458968" cy="228600"/>
          </a:xfrm>
          <a:prstGeom prst="rect">
            <a:avLst/>
          </a:prstGeom>
          <a:solidFill>
            <a:srgbClr val="2A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795528"/>
            <a:ext cx="5413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8595"/>
                </a:solidFill>
                <a:latin typeface="Calibri"/>
              </a:rPr>
              <a:t>vaughnmartin.com/how-it-executes</a:t>
            </a:r>
          </a:p>
        </p:txBody>
      </p:sp>
      <p:pic>
        <p:nvPicPr>
          <p:cNvPr id="20" name="Picture 19" descr="deck_test_dr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78992"/>
            <a:ext cx="6419088" cy="54132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9784" y="0"/>
            <a:ext cx="7059168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7850"/>
                </a:solidFill>
                <a:latin typeface="Calibri"/>
              </a:rPr>
              <a:t>04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PROOF — NOW, NOT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86968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Built. Live.</a:t>
            </a:r>
          </a:p>
          <a:p>
            <a:r>
              <a:rPr sz="2700" b="1">
                <a:solidFill>
                  <a:srgbClr val="FFFFFF"/>
                </a:solidFill>
                <a:latin typeface="Calibri"/>
              </a:rPr>
              <a:t>In production now.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457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Production platform live at vaughnmartin.com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Full public execution walkthrough available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Founding Partner cohort open for 90-day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4480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EA4"/>
                </a:solidFill>
                <a:latin typeface="Georgia"/>
              </a:rPr>
              <a:t>"This is not a roadmap concept. The platform is live and testable now."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5120640" cy="365760"/>
          </a:xfrm>
          <a:prstGeom prst="rect">
            <a:avLst/>
          </a:prstGeom>
          <a:solidFill>
            <a:srgbClr val="060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9668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731520"/>
            <a:ext cx="6419088" cy="347472"/>
          </a:xfrm>
          <a:prstGeom prst="rect">
            <a:avLst/>
          </a:prstGeom>
          <a:solidFill>
            <a:srgbClr val="1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86984" y="832104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88152" y="832104"/>
            <a:ext cx="109728" cy="109728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832104"/>
            <a:ext cx="109728" cy="109728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786384"/>
            <a:ext cx="5458968" cy="228600"/>
          </a:xfrm>
          <a:prstGeom prst="rect">
            <a:avLst/>
          </a:prstGeom>
          <a:solidFill>
            <a:srgbClr val="2A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795528"/>
            <a:ext cx="5413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8595"/>
                </a:solidFill>
                <a:latin typeface="Calibri"/>
              </a:rPr>
              <a:t>vaughnmartin.com/executive-brief</a:t>
            </a:r>
          </a:p>
        </p:txBody>
      </p:sp>
      <p:pic>
        <p:nvPicPr>
          <p:cNvPr id="20" name="Picture 19" descr="deck_executive_brie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78992"/>
            <a:ext cx="6419088" cy="54132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9784" y="0"/>
            <a:ext cx="7059168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7850"/>
                </a:solidFill>
                <a:latin typeface="Calibri"/>
              </a:rPr>
              <a:t>05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BUSINESS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86968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Replace existing response spend with execution infrastructure.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457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Existing budgets already fund reactive response motions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Readiness OS shifts spend to pre-staged execution readiness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One high-impact trigger handled well can justify annual investment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4480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EA4"/>
                </a:solidFill>
                <a:latin typeface="Georgia"/>
              </a:rPr>
              <a:t>"We are not asking enterprises to invent new budget. We are replacing existing response spend with a repeatable operating model."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5120640" cy="365760"/>
          </a:xfrm>
          <a:prstGeom prst="rect">
            <a:avLst/>
          </a:prstGeom>
          <a:solidFill>
            <a:srgbClr val="060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9668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731520"/>
            <a:ext cx="6419088" cy="347472"/>
          </a:xfrm>
          <a:prstGeom prst="rect">
            <a:avLst/>
          </a:prstGeom>
          <a:solidFill>
            <a:srgbClr val="1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86984" y="832104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88152" y="832104"/>
            <a:ext cx="109728" cy="109728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832104"/>
            <a:ext cx="109728" cy="109728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786384"/>
            <a:ext cx="5458968" cy="228600"/>
          </a:xfrm>
          <a:prstGeom prst="rect">
            <a:avLst/>
          </a:prstGeom>
          <a:solidFill>
            <a:srgbClr val="2A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795528"/>
            <a:ext cx="5413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8595"/>
                </a:solidFill>
                <a:latin typeface="Calibri"/>
              </a:rPr>
              <a:t>vaughnmartin.com/roi-calculator</a:t>
            </a:r>
          </a:p>
        </p:txBody>
      </p:sp>
      <p:pic>
        <p:nvPicPr>
          <p:cNvPr id="20" name="Picture 19" descr="deck_playboo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78992"/>
            <a:ext cx="6419088" cy="54132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9784" y="0"/>
            <a:ext cx="7059168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7850"/>
                </a:solidFill>
                <a:latin typeface="Calibri"/>
              </a:rPr>
              <a:t>06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ASK + CLOSE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86968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Category creation:</a:t>
            </a:r>
          </a:p>
          <a:p>
            <a:r>
              <a:rPr sz="2700" b="1">
                <a:solidFill>
                  <a:srgbClr val="FFFFFF"/>
                </a:solidFill>
                <a:latin typeface="Calibri"/>
              </a:rPr>
              <a:t>Preparation Infrastructure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457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Raise: $[AMOUNT]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Product hardening + enterprise controls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Founding Partner conversions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CCFD8"/>
                </a:solidFill>
                <a:latin typeface="Calibri"/>
              </a:rPr>
              <a:t>▶  Repeatable GTM motion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64608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Calibri"/>
              </a:rPr>
              <a:t>The response is ready
before the trigger fires.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4480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EA4"/>
                </a:solidFill>
                <a:latin typeface="Georgia"/>
              </a:rPr>
              <a:t>"Every enterprise has AI capability. Very few have mobilization readiness. We built that layer. It's live now."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5120640" cy="365760"/>
          </a:xfrm>
          <a:prstGeom prst="rect">
            <a:avLst/>
          </a:prstGeom>
          <a:solidFill>
            <a:srgbClr val="060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9668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9824" y="731520"/>
            <a:ext cx="6419088" cy="347472"/>
          </a:xfrm>
          <a:prstGeom prst="rect">
            <a:avLst/>
          </a:prstGeom>
          <a:solidFill>
            <a:srgbClr val="1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86984" y="832104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88152" y="832104"/>
            <a:ext cx="109728" cy="109728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89320" y="832104"/>
            <a:ext cx="109728" cy="109728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786384"/>
            <a:ext cx="5458968" cy="228600"/>
          </a:xfrm>
          <a:prstGeom prst="rect">
            <a:avLst/>
          </a:prstGeom>
          <a:solidFill>
            <a:srgbClr val="2A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795528"/>
            <a:ext cx="5413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08595"/>
                </a:solidFill>
                <a:latin typeface="Calibri"/>
              </a:rPr>
              <a:t>vaughnmartin.com/founding-partner-program</a:t>
            </a:r>
          </a:p>
        </p:txBody>
      </p:sp>
      <p:pic>
        <p:nvPicPr>
          <p:cNvPr id="21" name="Picture 20" descr="deck_onboar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78992"/>
            <a:ext cx="6419088" cy="5413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