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2" r:id="rId8"/>
    <p:sldId id="268" r:id="rId9"/>
    <p:sldId id="263" r:id="rId10"/>
    <p:sldId id="269" r:id="rId11"/>
    <p:sldId id="264" r:id="rId12"/>
    <p:sldId id="270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394" y="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2240" y="1814708"/>
            <a:ext cx="5577840" cy="313714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814708"/>
            <a:ext cx="5458968" cy="313714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92240" y="4714107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0" y="4704963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822191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Most enterprises plan to respond.
VaughnMartin is already executing.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55371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" y="46426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" y="51912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5099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3776" y="57398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7200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Activist Investor</a:t>
            </a:r>
          </a:p>
          <a:p>
            <a:r>
              <a:rPr sz="2200" b="1">
                <a:solidFill>
                  <a:srgbClr val="FFFFFF"/>
                </a:solidFill>
                <a:latin typeface="Barlow Condensed"/>
              </a:rPr>
              <a:t>Pressure Filed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13D filing detected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THE OPPORTUNITY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A0F2E"/>
                </a:solidFill>
                <a:latin typeface="Georgia"/>
              </a:rPr>
              <a:t>A $42 billion</a:t>
            </a:r>
          </a:p>
          <a:p>
            <a:pPr algn="l">
              <a:lnSpc>
                <a:spcPct val="105000"/>
              </a:lnSpc>
            </a:pPr>
            <a:r>
              <a:rPr sz="4400" b="1" i="1">
                <a:solidFill>
                  <a:srgbClr val="C9A84C"/>
                </a:solidFill>
                <a:latin typeface="Georgia"/>
              </a:rPr>
              <a:t>coordination failure.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Fortune 5000 enterprises lose 30+ days to mobilization before every strategic event.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9515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$42B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Enterprise coordination, governance,
and execution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Gartner SPM + GRC + EPMO categories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5676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39996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SAM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996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$4.8B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9996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Operating model layer for Fortune 5000
and PE-backed enterprises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996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~25K target accounts × $200K avg ACV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6156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0476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SOM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0476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$180M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0476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5-year capture target across
Founding Partner and Growth tiers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0476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600 customers × $300K avg ACV by Y5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6364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Calibri"/>
              </a:rPr>
              <a:t>Sources: Gartner Strategic Portfolio Management 2025  ·  McKinsey 2025 coordination cost  ·  WEF × Accenture March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— triggers catch you 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 days to mobilize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the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· 221 triggers · ready before the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Executive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BUSINESS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A0F2E"/>
                </a:solidFill>
                <a:latin typeface="Georgia"/>
              </a:rPr>
              <a:t>Pricing tiered.</a:t>
            </a:r>
          </a:p>
          <a:p>
            <a:pPr algn="l">
              <a:lnSpc>
                <a:spcPct val="105000"/>
              </a:lnSpc>
            </a:pPr>
            <a:r>
              <a:rPr sz="4000" b="1" i="1">
                <a:solidFill>
                  <a:srgbClr val="C9A84C"/>
                </a:solidFill>
                <a:latin typeface="Georgia"/>
              </a:rPr>
              <a:t>Expansion built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PRICING LADDER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3016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4069080"/>
            <a:ext cx="54864" cy="320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0599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Validation cohort · 12 seats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05993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$75K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169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90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7200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6285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Ready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006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SMB and PE-backed startups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56285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$75K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6725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06577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Responsive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Mid-market and Fortune 5000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06577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$150K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517550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57784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56869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Orchestrated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0644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Global 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56869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$250K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67842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337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UNIT ECONOMICS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63016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05993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4069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gross margin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431596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Software at 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56285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120%+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45720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Net revenue retention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481888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Industry pack expansion drives upsell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06577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5:1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50749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LTV:CAC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532180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Multi-year ACV, low churn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6869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$300K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55778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avg ACV by Year 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58247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Up from $150K via tier and pack expansion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80760"/>
            <a:ext cx="112745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619963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0A0F2E"/>
                </a:solidFill>
                <a:latin typeface="Calibri"/>
              </a:rPr>
              <a:t>Founding Partner → Growth tier → industry pack add-ons.  Same platform.  Compounding ACV.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54496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17152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· Live Detection Feed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Activation Console · Execution in Progress</a:t>
            </a:r>
          </a:p>
        </p:txBody>
      </p:sp>
      <p:pic>
        <p:nvPicPr>
          <p:cNvPr id="20" name="Picture 19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128878" y="2633472"/>
            <a:ext cx="5829809" cy="352958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28878" y="2633472"/>
            <a:ext cx="5829809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9184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0624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4" name="Picture 23" descr="activation-raw.png"/>
          <p:cNvPicPr>
            <a:picLocks noChangeAspect="1"/>
          </p:cNvPicPr>
          <p:nvPr/>
        </p:nvPicPr>
        <p:blipFill>
          <a:blip r:embed="rId4"/>
          <a:srcRect t="-6" b="-6"/>
          <a:stretch>
            <a:fillRect/>
          </a:stretch>
        </p:blipFill>
        <p:spPr>
          <a:xfrm>
            <a:off x="6233007" y="2633472"/>
            <a:ext cx="5837073" cy="351129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3007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33007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4447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AUTHORIZED EXECUTION · VAUGHNMARTIN.COM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TRACTION &amp;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A0F2E"/>
                </a:solidFill>
                <a:latin typeface="Georgia"/>
              </a:rPr>
              <a:t>Built. Live.</a:t>
            </a:r>
          </a:p>
          <a:p>
            <a:pPr algn="l">
              <a:lnSpc>
                <a:spcPct val="105000"/>
              </a:lnSpc>
            </a:pPr>
            <a:r>
              <a:rPr sz="4400" b="1" i="1">
                <a:solidFill>
                  <a:srgbClr val="C9A84C"/>
                </a:solidFill>
                <a:latin typeface="Georgia"/>
              </a:rPr>
              <a:t>Validated.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5" y="3246120"/>
            <a:ext cx="36576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5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Production 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5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5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208 page components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5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5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215+ registered routes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5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5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170 Readiness Protocols seeded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515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5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189 unit tests passing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5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6675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121 E2E tests passing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5676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65676" y="3246120"/>
            <a:ext cx="36576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94276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4276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Operating now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9996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77156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vaughnmartin.com in production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39996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77156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8-feed signal pipeline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39996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77156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15-minute monitoring cycles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9996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77156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12 Founding Partner seats forming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9996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77156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$75K / 90-day validation offer open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06156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06156" y="3246120"/>
            <a:ext cx="3657600" cy="36576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34756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VALIDATED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4756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Independent endorsement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80476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517636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Dr. Kerry Huang public endorsement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80476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17636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ESI Top 1% Researcher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80476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17636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408-firm governance study aligned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80476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17636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Named publicly on LinkedIn, April 2026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80476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517636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Category language adopted by peers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5" y="5394960"/>
            <a:ext cx="11338560" cy="960120"/>
          </a:xfrm>
          <a:prstGeom prst="rect">
            <a:avLst/>
          </a:prstGeom>
          <a:solidFill>
            <a:srgbClr val="0A0F2E"/>
          </a:solidFill>
          <a:ln w="9525">
            <a:solidFill>
              <a:srgbClr val="0A0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9515" y="5486400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800">
                <a:solidFill>
                  <a:srgbClr val="C9A84C"/>
                </a:solidFill>
                <a:latin typeface="Calibri"/>
              </a:rPr>
              <a:t>FOUNDER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5" y="568756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Marty Brunke  ·  Founder &amp; CEO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" y="596188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20+ years Fortune 500 operations: Ford, Toyota, Lockheed Martin, Charles Schwab, Vantiv/Worldpay, Boyd Gaming.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5" y="614476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Five years coaching major college football at Stanford.  Origin of the IDEA Framework: Prepare. Practice. Perform fearless. Never give up.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activation-raw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00799" y="1792565"/>
            <a:ext cx="5656581" cy="318142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394245"/>
            <a:ext cx="5458968" cy="385441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46520" y="5226011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5226011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dirty="0">
                <a:solidFill>
                  <a:srgbClr val="C9A84C"/>
                </a:solidFill>
                <a:latin typeface="Barlow Condensed"/>
              </a:rPr>
              <a:t>LIVE ACTIVATION CONSOLE · EXECUTION IN PROGRESS ·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C9A84C"/>
                </a:solidFill>
                <a:latin typeface="Calibri"/>
              </a:rPr>
              <a:t>THE 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$750K pre-seed.</a:t>
            </a:r>
          </a:p>
          <a:p>
            <a:pPr algn="l">
              <a:lnSpc>
                <a:spcPct val="110000"/>
              </a:lnSpc>
            </a:pPr>
            <a:r>
              <a:rPr sz="2800" b="0" i="1">
                <a:solidFill>
                  <a:srgbClr val="C9A84C"/>
                </a:solidFill>
                <a:latin typeface="Georgia"/>
              </a:rPr>
              <a:t>Twelve months. Three milestones.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Six Founding Partners signed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$450K validation revenue · 90-day cycles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5676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9996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996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Three Growth tier conversions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$450K ARR run rate at month 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6156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0476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0476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$1M ARR run rate by month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0476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Series A trigger · positioned to raise from strength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720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C9A84C"/>
                </a:solidFill>
                <a:latin typeface="Calibri"/>
              </a:rPr>
              <a:t>USE OF FUNDS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4937760"/>
            <a:ext cx="5486400" cy="4114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9834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50%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4937760"/>
            <a:ext cx="2743200" cy="41148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80760" y="49834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3960" y="4937760"/>
            <a:ext cx="1645920" cy="411480"/>
          </a:xfrm>
          <a:prstGeom prst="rect">
            <a:avLst/>
          </a:prstGeom>
          <a:solidFill>
            <a:srgbClr val="DFC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23960" y="498348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15%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69880" y="4937760"/>
            <a:ext cx="10972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69880" y="498348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10%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5486400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8952" y="544068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GTM &amp; Founding Partner success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5486400"/>
            <a:ext cx="109728" cy="1097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45352" y="54406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Engineering &amp; industry packs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23960" y="5486400"/>
            <a:ext cx="109728" cy="109728"/>
          </a:xfrm>
          <a:prstGeom prst="rect">
            <a:avLst/>
          </a:prstGeom>
          <a:solidFill>
            <a:srgbClr val="DFC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988552" y="54406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Infra, security, compliance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69880" y="548640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34472" y="54406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Founder + reserves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080760"/>
            <a:ext cx="112745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619963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DFC178"/>
                </a:solidFill>
                <a:latin typeface="Calibri"/>
              </a:rPr>
              <a:t>investor@vaughnmartin.com   ·   vaughnmartin.com   ·   currently in active conversations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CADCFC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CADCFC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Let's build this  ·  investor@vaughnmartin.com  ·  vaughnmartin.com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1158</Words>
  <Application>Microsoft Office PowerPoint</Application>
  <PresentationFormat>Widescreen</PresentationFormat>
  <Paragraphs>233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Barlow Condensed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Marty Brunke (CDI)</dc:creator>
  <cp:keywords/>
  <dc:description>generated using python-pptx</dc:description>
  <cp:lastModifiedBy>Marty Brunke (CDI)</cp:lastModifiedBy>
  <cp:revision>2</cp:revision>
  <dcterms:created xsi:type="dcterms:W3CDTF">2013-01-27T09:14:16Z</dcterms:created>
  <dcterms:modified xsi:type="dcterms:W3CDTF">2026-05-19T01:05:20Z</dcterms:modified>
  <cp:category/>
</cp:coreProperties>
</file>