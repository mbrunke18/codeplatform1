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2" r:id="rId8"/>
    <p:sldId id="268" r:id="rId9"/>
    <p:sldId id="263" r:id="rId10"/>
    <p:sldId id="269" r:id="rId11"/>
    <p:sldId id="264" r:id="rId12"/>
    <p:sldId id="270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9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ower-raw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92240" y="1814708"/>
            <a:ext cx="5577840" cy="313714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92240" y="1814708"/>
            <a:ext cx="5458968" cy="3137142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0" y="4714107"/>
            <a:ext cx="5458968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4704963"/>
            <a:ext cx="5276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COMMAND TOWER · LIVE SIGNAL MONITORING ·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64224" y="512064"/>
            <a:ext cx="12700" cy="570585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-logo-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57200"/>
            <a:ext cx="2377440" cy="6384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1115568"/>
            <a:ext cx="57607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7850"/>
                </a:solidFill>
                <a:latin typeface="Barlow Condensed"/>
              </a:rPr>
              <a:t>STRATEGIC READINESS PLATFORM · STARTUP TO FORTUNE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408176"/>
            <a:ext cx="576072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Barlow Condensed"/>
              </a:rPr>
              <a:t>The response is ready
before the trigger fires.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22191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A5BB"/>
                </a:solidFill>
                <a:latin typeface="Barlow Condensed"/>
              </a:rPr>
              <a:t>Most enterprises plan to respond.
VaughnMartin is already executing.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4553712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" y="46426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Activist Investor  ·  91% confidence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5102352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51912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Ransomware  ·  95% confidence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5650992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573989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Regulatory Inquiry  ·  87%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54496"/>
            <a:ext cx="12191695" cy="475488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318504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Barlow Condensed"/>
              </a:rPr>
              <a:t>AI monitors continuously.   Executives authorize decisively.   Teams execute.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9184" y="475488"/>
            <a:ext cx="5394960" cy="568756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0058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C9A84C"/>
                </a:solidFill>
                <a:latin typeface="Barlow Condensed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798064"/>
            <a:ext cx="32004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Barlow Condensed"/>
              </a:rPr>
              <a:t>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493008"/>
            <a:ext cx="4407408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3657600"/>
            <a:ext cx="4480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A5BB"/>
                </a:solidFill>
                <a:latin typeface="Barlow Condensed"/>
              </a:rPr>
              <a:t>Average mobilization time before execution begins.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475488"/>
            <a:ext cx="5696712" cy="568756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7376" y="65836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READINESS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00584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9A84C"/>
                </a:solidFill>
                <a:latin typeface="Barlow Condensed"/>
              </a:rPr>
              <a:t>Who calls who?
Where's the brief?
Who owns it? Who authorizes?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7376" y="3236976"/>
            <a:ext cx="512064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37376" y="3419856"/>
            <a:ext cx="5303520" cy="438912"/>
          </a:xfrm>
          <a:prstGeom prst="rect">
            <a:avLst/>
          </a:prstGeom>
          <a:solidFill>
            <a:srgbClr val="151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3493008"/>
            <a:ext cx="5047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rlow Condensed"/>
              </a:rPr>
              <a:t>This is a readiness problem, not a talent problem.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400507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 Condensed"/>
              </a:rPr>
              <a:t>— Coordination restarts from zero at every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457200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 Condensed"/>
              </a:rPr>
              <a:t>— The strategic window closes before execution begins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0176" y="365760"/>
            <a:ext cx="6350" cy="5961888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PROBLEM IS ALREADY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Barlow Condensed"/>
              </a:rPr>
              <a:t>One of these is forming in your organization right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18104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18104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8A6E"/>
                </a:solidFill>
                <a:latin typeface="Barlow Condensed"/>
              </a:rPr>
              <a:t>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RISK &amp; RESILIENCE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Ransomware
Attack Confirmed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248 data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" y="3749040"/>
            <a:ext cx="3257550" cy="508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68312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68312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Barlow Condensed"/>
              </a:rPr>
              <a:t>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REGULATORY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Regulatory
Inquiry Opened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threshold crossed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62272" y="3749040"/>
            <a:ext cx="298323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47888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018520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18520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Barlow Condensed"/>
              </a:rPr>
              <a:t>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RISK &amp; RESILIENCE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Activist Investor</a:t>
            </a:r>
          </a:p>
          <a:p>
            <a:r>
              <a:rPr sz="2200" b="1">
                <a:solidFill>
                  <a:srgbClr val="FFFFFF"/>
                </a:solidFill>
                <a:latin typeface="Barlow Condensed"/>
              </a:rPr>
              <a:t>Pressure Filed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13D filing detected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12480" y="3749040"/>
            <a:ext cx="2811780" cy="508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184" y="5870448"/>
            <a:ext cx="11530584" cy="384048"/>
          </a:xfrm>
          <a:prstGeom prst="rect">
            <a:avLst/>
          </a:prstGeom>
          <a:solidFill>
            <a:srgbClr val="10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925312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45880"/>
                </a:solidFill>
                <a:latin typeface="Barlow Condensed"/>
              </a:rPr>
              <a:t>221 triggers monitored  ·  248 data points  ·  refreshed every 15 minutes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Barlow Condensed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Barlow Condensed"/>
              </a:rPr>
              <a:t>The response is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6015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C9A84C"/>
                </a:solidFill>
                <a:latin typeface="Barlow Condensed"/>
              </a:rPr>
              <a:t>before the trigger fires.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98064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9A5BB"/>
                </a:solidFill>
                <a:latin typeface="Barlow Condensed"/>
              </a:rPr>
              <a:t>Preparation  →  Readiness  →  Fearless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3048" y="3328416"/>
            <a:ext cx="4572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Barlow Condensed"/>
              </a:rPr>
              <a:t>170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Readiness Protocols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Barlow Condensed"/>
              </a:rPr>
              <a:t>221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Strategic Triggers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9A84C"/>
                </a:solidFill>
                <a:latin typeface="Barlow Condensed"/>
              </a:rPr>
              <a:t>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Execution 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5577840"/>
            <a:ext cx="8531352" cy="475488"/>
          </a:xfrm>
          <a:prstGeom prst="rect">
            <a:avLst/>
          </a:prstGeom>
          <a:solidFill>
            <a:srgbClr val="0A0F2E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5669280"/>
            <a:ext cx="8348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Barlow Condensed"/>
              </a:rPr>
              <a:t>AI monitors.   Executives authorize.   Teams execute.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A0F2E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6B7280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THE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A0F2E"/>
                </a:solidFill>
                <a:latin typeface="Georgia"/>
              </a:rPr>
              <a:t>A $42 billion</a:t>
            </a:r>
          </a:p>
          <a:p>
            <a:pPr algn="l">
              <a:lnSpc>
                <a:spcPct val="105000"/>
              </a:lnSpc>
            </a:pPr>
            <a:r>
              <a:rPr sz="4400" b="1" i="1">
                <a:solidFill>
                  <a:srgbClr val="C9A84C"/>
                </a:solidFill>
                <a:latin typeface="Georgia"/>
              </a:rPr>
              <a:t>coordination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Fortune 5000 enterprises lose 30+ days to mobilization before every strategic event.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" y="384048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9515" y="4023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" y="42976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C9A84C"/>
                </a:solidFill>
                <a:latin typeface="Georgia"/>
              </a:rPr>
              <a:t>$42B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" y="5166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Enterprise coordination, governance,
and execution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" y="56875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Gartner SPM + GRC + EPMO 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5676" y="384048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9996" y="4023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996" y="42976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C9A84C"/>
                </a:solidFill>
                <a:latin typeface="Georgia"/>
              </a:rPr>
              <a:t>$4.8B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9996" y="5166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Operating model layer for Fortune 5000
and PE-backed enterprises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9996" y="56875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~25K target accounts × $200K avg ACV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6156" y="384048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0476" y="4023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0476" y="42976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C9A84C"/>
                </a:solidFill>
                <a:latin typeface="Georgia"/>
              </a:rPr>
              <a:t>$180M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0476" y="5166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5-year capture target across
Founding Partner and Growth tiers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0476" y="56875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600 customers × $300K avg ACV by Y5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Sources: Gartner Strategic Portfolio Management 2025  ·  McKinsey 2025 coordination cost  ·  WEF × Accenture March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6B7280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6B7280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WHY THIS IS DEFENSIBLE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arlow Condensed"/>
              </a:rPr>
              <a:t>The architecture that separates execution from mobilization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" y="1591056"/>
            <a:ext cx="5687568" cy="3840480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755648"/>
            <a:ext cx="535838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888"/>
                </a:solidFill>
                <a:latin typeface="Barlow Condensed"/>
              </a:rPr>
              <a:t>Old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084832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Faster notes from the same slow meetings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779776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No readiness architecture — triggers catch you cold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474720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Authority unclear when pressure arrives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4169664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30 days to mobilize before execution starts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91056"/>
            <a:ext cx="5687568" cy="3840480"/>
          </a:xfrm>
          <a:prstGeom prst="rect">
            <a:avLst/>
          </a:prstGeom>
          <a:solidFill>
            <a:srgbClr val="08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755648"/>
            <a:ext cx="535838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 Condensed"/>
              </a:rPr>
              <a:t>VaughnMartin Readiness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84832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Response pre-staged before the trigger fires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79776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170 protocols · 221 triggers · ready before the moment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74720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Executive authorization gate at every 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69664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12-minute execution window from signal to 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591056"/>
            <a:ext cx="6350" cy="384048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protocols-raw.png"/>
          <p:cNvPicPr>
            <a:picLocks noChangeAspect="1"/>
          </p:cNvPicPr>
          <p:nvPr/>
        </p:nvPicPr>
        <p:blipFill>
          <a:blip r:embed="rId3"/>
          <a:srcRect t="-471553" b="-471553"/>
          <a:stretch>
            <a:fillRect/>
          </a:stretch>
        </p:blipFill>
        <p:spPr>
          <a:xfrm>
            <a:off x="329184" y="5559552"/>
            <a:ext cx="11530584" cy="62179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29184" y="5559552"/>
            <a:ext cx="11530584" cy="621792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" y="5559552"/>
            <a:ext cx="11530584" cy="621792"/>
          </a:xfrm>
          <a:prstGeom prst="rect">
            <a:avLst/>
          </a:prstGeom>
          <a:solidFill>
            <a:srgbClr val="0608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737352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Barlow Condensed"/>
              </a:rPr>
              <a:t>LIVE PLATFORM  ·  170 Readiness Protocols  ·  startup to Fortune 500  ·  vaughnmartin.com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arlow Condensed"/>
              </a:rPr>
              <a:t>Readiness is not overhead.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C9A84C"/>
                </a:solidFill>
                <a:latin typeface="Barlow Condensed"/>
              </a:rPr>
              <a:t>It is value protection.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31136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512064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9A84C"/>
                </a:solidFill>
                <a:latin typeface="Barlow Condensed"/>
              </a:rPr>
              <a:t>3,600×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7872"/>
            <a:ext cx="512064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A5BB"/>
                </a:solidFill>
                <a:latin typeface="Barlow Condensed"/>
              </a:rPr>
              <a:t>Execution head start — 30 days compressed to 12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95344"/>
            <a:ext cx="512064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096512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4C"/>
                </a:solidFill>
                <a:latin typeface="Barlow Condensed"/>
              </a:rPr>
              <a:t>▶  Founding Partner: $75K / 90-day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rlow Condensed"/>
              </a:rPr>
              <a:t>▶  Growth: $75K–$250K annually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30368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8A6E"/>
                </a:solidFill>
                <a:latin typeface="Barlow Condensed"/>
              </a:rPr>
              <a:t>▶  Cost of delay is often higher than cost of readiness.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359152"/>
            <a:ext cx="5623560" cy="3803904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542032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COMMERCIAL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743200"/>
            <a:ext cx="508406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A5BB"/>
                </a:solidFill>
                <a:latin typeface="Barlow Condensed"/>
              </a:rPr>
              <a:t>Replaces the $400K–$800K consulting retainer.
Break-even before the 2nd activation.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528" y="3540760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3566160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FOUNDING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3566160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Barlow Condensed"/>
              </a:rPr>
              <a:t>$75K / 90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4144264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4169664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GROWTH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169664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$75K–$250K annually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4747768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4773168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COHORT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4773168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startup to Fortune 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0528" y="5351272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5376672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BOARD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5376672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8A6E"/>
                </a:solidFill>
                <a:latin typeface="Barlow Condensed"/>
              </a:rPr>
              <a:t>Cost of delay &gt; cost of readiness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3328" y="2176272"/>
            <a:ext cx="6350" cy="4078224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A0F2E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6B7280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BUSINESS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A0F2E"/>
                </a:solidFill>
                <a:latin typeface="Georgia"/>
              </a:rPr>
              <a:t>Pricing tiered.</a:t>
            </a:r>
          </a:p>
          <a:p>
            <a:pPr algn="l">
              <a:lnSpc>
                <a:spcPct val="105000"/>
              </a:lnSpc>
            </a:pPr>
            <a:r>
              <a:rPr sz="4000" b="1" i="1">
                <a:solidFill>
                  <a:srgbClr val="C9A84C"/>
                </a:solidFill>
                <a:latin typeface="Georgia"/>
              </a:rPr>
              <a:t>Expansion built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PRICING LADDER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3016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069080"/>
            <a:ext cx="54864" cy="320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05993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Founding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Validation cohort · 12 seats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05993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$75K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169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90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54864" cy="3200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5628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006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SMB and PE-backed startups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56285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$75K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6725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74920"/>
            <a:ext cx="54864" cy="3200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06577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Responsive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Mid-market and Fortune 5000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06577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$150K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17550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77840"/>
            <a:ext cx="54864" cy="3200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56869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Orchestrated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Global 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56869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$250K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67842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37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UNIT ECONOMICS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63016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05993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069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Target gross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31596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Software at 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56285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120%+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572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Net revenue retention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8188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Industry pack expansion drives upsell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6577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5:1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5074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Target LTV:CAC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53218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Multi-year ACV, low churn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56869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$300K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5577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Target avg ACV by Year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58247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Up from $150K via tier and pack expansion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0807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619963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0A0F2E"/>
                </a:solidFill>
                <a:latin typeface="Calibri"/>
              </a:rPr>
              <a:t>Founding Partner → Growth tier → industry pack add-ons.  Same platform.  Compounding ACV.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6B7280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6B7280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BUILT. LIVE. IN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Barlow Condensed"/>
              </a:rPr>
              <a:t>Not a roadmap — operating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Protocols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221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Triggers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54496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B8A6E"/>
                </a:solidFill>
                <a:latin typeface="Barlow Condensed"/>
              </a:rPr>
              <a:t>248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Data 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17152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17152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15m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Refresh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2377440"/>
            <a:ext cx="5629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Signal Intelligence · Live Detection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377440"/>
            <a:ext cx="5629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Live Activation Console · Execution in Progress</a:t>
            </a:r>
          </a:p>
        </p:txBody>
      </p:sp>
      <p:pic>
        <p:nvPicPr>
          <p:cNvPr id="20" name="Picture 19" descr="signals-raw.png"/>
          <p:cNvPicPr>
            <a:picLocks noChangeAspect="1"/>
          </p:cNvPicPr>
          <p:nvPr/>
        </p:nvPicPr>
        <p:blipFill>
          <a:blip r:embed="rId3"/>
          <a:srcRect t="-6" b="-6"/>
          <a:stretch>
            <a:fillRect/>
          </a:stretch>
        </p:blipFill>
        <p:spPr>
          <a:xfrm>
            <a:off x="128878" y="2633472"/>
            <a:ext cx="5829809" cy="352958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28878" y="2633472"/>
            <a:ext cx="5829809" cy="3166199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" y="5561927"/>
            <a:ext cx="5629503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" y="5625427"/>
            <a:ext cx="5446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SIGNAL INTELLIGENCE FEED · LIVE DETECTIONS · VAUGHNMARTIN.COM</a:t>
            </a:r>
          </a:p>
        </p:txBody>
      </p:sp>
      <p:pic>
        <p:nvPicPr>
          <p:cNvPr id="24" name="Picture 23" descr="activation-raw.png"/>
          <p:cNvPicPr>
            <a:picLocks noChangeAspect="1"/>
          </p:cNvPicPr>
          <p:nvPr/>
        </p:nvPicPr>
        <p:blipFill>
          <a:blip r:embed="rId4"/>
          <a:srcRect t="-6" b="-6"/>
          <a:stretch>
            <a:fillRect/>
          </a:stretch>
        </p:blipFill>
        <p:spPr>
          <a:xfrm>
            <a:off x="6233007" y="2633472"/>
            <a:ext cx="5837073" cy="351129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3007" y="2633472"/>
            <a:ext cx="5629503" cy="3166199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33007" y="5561927"/>
            <a:ext cx="5629503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4447" y="5625427"/>
            <a:ext cx="5446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LIVE ACTIVATION CONSOLE · AUTHORIZED EXECUTION · VAUGHNMARTIN.COM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A0F2E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6B7280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TRACTION &amp;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A0F2E"/>
                </a:solidFill>
                <a:latin typeface="Georgia"/>
              </a:rPr>
              <a:t>Built. Live.</a:t>
            </a:r>
          </a:p>
          <a:p>
            <a:pPr algn="l">
              <a:lnSpc>
                <a:spcPct val="105000"/>
              </a:lnSpc>
            </a:pPr>
            <a:r>
              <a:rPr sz="4400" b="1" i="1">
                <a:solidFill>
                  <a:srgbClr val="C9A84C"/>
                </a:solidFill>
                <a:latin typeface="Georgia"/>
              </a:rPr>
              <a:t>Validated.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" y="32461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5" y="3246120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" y="3383279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" y="36301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A0F2E"/>
                </a:solidFill>
                <a:latin typeface="Georgia"/>
              </a:rPr>
              <a:t>Production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5" y="4096511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5" y="4023359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208 page components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5" y="4343400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5" y="427024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215+ registered routes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5" y="4590288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5" y="45171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170 Readiness Protocols seeded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5" y="4837175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5" y="4764023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189 unit tests passing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5" y="5084063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5" y="5010911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121 E2E tests passing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5676" y="32461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65676" y="3246120"/>
            <a:ext cx="3657600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94276" y="3383279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4276" y="36301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A0F2E"/>
                </a:solidFill>
                <a:latin typeface="Georgia"/>
              </a:rPr>
              <a:t>Operating now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9996" y="4096511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77156" y="4023359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vaughnmartin.com in production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9996" y="4343400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77156" y="427024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8-feed signal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9996" y="4590288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77156" y="45171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15-minute monitoring cycles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9996" y="4837175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77156" y="4764023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12 Founding Partner seats forming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9996" y="5084063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77156" y="5010911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$75K / 90-day validation offer open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06156" y="32461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06156" y="3246120"/>
            <a:ext cx="3657600" cy="36576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34756" y="3383279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VALIDATED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4756" y="36301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A0F2E"/>
                </a:solidFill>
                <a:latin typeface="Georgia"/>
              </a:rPr>
              <a:t>Independent endorsement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80476" y="4096511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17636" y="4023359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Dr. Kerry Huang public endorsement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80476" y="4343400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17636" y="427024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ESI Top 1% Researcher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80476" y="4590288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17636" y="45171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408-firm governance study aligned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80476" y="4837175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17636" y="4764023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Named publicly on LinkedIn, April 2026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80476" y="5084063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17636" y="5010911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Category language adopted by peers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5" y="5394960"/>
            <a:ext cx="11338560" cy="960120"/>
          </a:xfrm>
          <a:prstGeom prst="rect">
            <a:avLst/>
          </a:prstGeom>
          <a:solidFill>
            <a:srgbClr val="0A0F2E"/>
          </a:solidFill>
          <a:ln w="9525">
            <a:solidFill>
              <a:srgbClr val="0A0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9515" y="548640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800">
                <a:solidFill>
                  <a:srgbClr val="C9A84C"/>
                </a:solidFill>
                <a:latin typeface="Calibri"/>
              </a:rPr>
              <a:t>FOUNDER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5" y="5687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Marty Brunke  ·  Founder &amp; CEO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5" y="596188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20+ years Fortune 500 operations: Ford, Toyota, Lockheed Martin, Charles Schwab, Vantiv/Worldpay, Boyd Gaming.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515" y="614476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Five years coaching major college football at Stanford.  Origin of the IDEA Framework: Prepare. Practice. Perform fearless. Never give up.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6B7280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6B728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pic>
        <p:nvPicPr>
          <p:cNvPr id="4" name="Picture 3" descr="activation-raw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00799" y="1792565"/>
            <a:ext cx="5656581" cy="31814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0" y="1394245"/>
            <a:ext cx="5458968" cy="3854410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46520" y="5226011"/>
            <a:ext cx="5458968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5226011"/>
            <a:ext cx="5276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C9A84C"/>
                </a:solidFill>
                <a:latin typeface="Barlow Condensed"/>
              </a:rPr>
              <a:t>LIVE ACTIVATION CONSOLE · EXECUTION IN PROGRESS ·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2784" y="512064"/>
            <a:ext cx="12700" cy="5742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A68"/>
                </a:solidFill>
                <a:latin typeface="Barlow Condensed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49808"/>
            <a:ext cx="563270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Barlow Condensed"/>
              </a:rPr>
              <a:t>AI capability is accelerating faster than enterprise readiness.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66543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66543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AI capability accelerating. Enterprise mobilization readiness is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36975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36975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Execution readiness is now the competitive bottleneck.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7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07407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Winners pair signal detection with governed 12-minute execution.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5632704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A5BB"/>
                </a:solidFill>
                <a:latin typeface="Barlow Condensed"/>
              </a:rPr>
              <a:t>Sources: Stanford HAI AI Index 2026  ·  Gartner Autonomous 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C9A84C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C9A84C"/>
                </a:solidFill>
                <a:latin typeface="Calibri"/>
              </a:rPr>
              <a:t>THE 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$750K pre-seed.</a:t>
            </a:r>
          </a:p>
          <a:p>
            <a:pPr algn="l">
              <a:lnSpc>
                <a:spcPct val="110000"/>
              </a:lnSpc>
            </a:pPr>
            <a:r>
              <a:rPr sz="2800" b="0" i="1">
                <a:solidFill>
                  <a:srgbClr val="C9A84C"/>
                </a:solidFill>
                <a:latin typeface="Georgia"/>
              </a:rPr>
              <a:t>Twelve months. Three milestones.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" y="3214206"/>
            <a:ext cx="3657600" cy="1280160"/>
          </a:xfrm>
          <a:prstGeom prst="rect">
            <a:avLst/>
          </a:prstGeom>
          <a:solidFill>
            <a:srgbClr val="13255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5" y="337879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1">
                <a:solidFill>
                  <a:srgbClr val="C9A84C"/>
                </a:solidFill>
                <a:latin typeface="Georgia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" y="380856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Six Founding Partners 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" y="412860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$450K validation revenue · 90-day cycles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5676" y="3214206"/>
            <a:ext cx="3657600" cy="1280160"/>
          </a:xfrm>
          <a:prstGeom prst="rect">
            <a:avLst/>
          </a:prstGeom>
          <a:solidFill>
            <a:srgbClr val="13255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9996" y="337879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1">
                <a:solidFill>
                  <a:srgbClr val="C9A84C"/>
                </a:solidFill>
                <a:latin typeface="Georgia"/>
              </a:rPr>
              <a:t>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996" y="380856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Three Growth tier conversions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996" y="412860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$450K ARR run rate at month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6156" y="3214206"/>
            <a:ext cx="3657600" cy="1280160"/>
          </a:xfrm>
          <a:prstGeom prst="rect">
            <a:avLst/>
          </a:prstGeom>
          <a:solidFill>
            <a:srgbClr val="13255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0476" y="337879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1">
                <a:solidFill>
                  <a:srgbClr val="C9A84C"/>
                </a:solidFill>
                <a:latin typeface="Georgia"/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0476" y="380856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$1M ARR run rate by month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0476" y="412860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Series A trigger · positioned to raise from 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720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C9A84C"/>
                </a:solidFill>
                <a:latin typeface="Calibri"/>
              </a:rPr>
              <a:t>USE OF FUNDS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937760"/>
            <a:ext cx="548640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  <a:latin typeface="Calibri"/>
              </a:rPr>
              <a:t>50%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4937760"/>
            <a:ext cx="2743200" cy="41148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49834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4937760"/>
            <a:ext cx="1645920" cy="411480"/>
          </a:xfrm>
          <a:prstGeom prst="rect">
            <a:avLst/>
          </a:prstGeom>
          <a:solidFill>
            <a:srgbClr val="DFC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23960" y="49834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  <a:latin typeface="Calibri"/>
              </a:rPr>
              <a:t>15%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4937760"/>
            <a:ext cx="1097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69880" y="49834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  <a:latin typeface="Calibri"/>
              </a:rPr>
              <a:t>10%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486400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" y="54406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GTM &amp; Founding Partner success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5486400"/>
            <a:ext cx="109728" cy="10972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45352" y="54406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Engineering &amp; industry packs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5486400"/>
            <a:ext cx="109728" cy="109728"/>
          </a:xfrm>
          <a:prstGeom prst="rect">
            <a:avLst/>
          </a:prstGeom>
          <a:solidFill>
            <a:srgbClr val="DFC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88552" y="54406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Infra, security, compliance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69880" y="548640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34472" y="5440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Founder + reserves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0807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19963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DFC178"/>
                </a:solidFill>
                <a:latin typeface="Calibri"/>
              </a:rPr>
              <a:t>investor@vaughnmartin.com   ·   vaughnmartin.com   ·   currently in active conversations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CADCFC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CADCFC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6254496"/>
            <a:ext cx="1645920" cy="441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Barlow Condensed"/>
              </a:rPr>
              <a:t>Three lines. That's the pitch.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1440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3504" y="914400"/>
            <a:ext cx="63500" cy="14264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04241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5331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Barlow Condensed"/>
              </a:rPr>
              <a:t>Enterprise work was built for a world without AI — coordination delays exist because humans couldn't act fast enough. AI changed the constraint. The operating model hasn't.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46888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" y="2468880"/>
            <a:ext cx="63500" cy="14264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59689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0779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Barlow Condensed"/>
              </a:rPr>
              <a:t>170 Readiness Protocols. 221 strategic triggers. The response pre-staged before the trigger fires. Executives authorize in minutes, not meetings.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402336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" y="4023360"/>
            <a:ext cx="63500" cy="142646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15137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46227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Barlow Condensed"/>
              </a:rPr>
              <a:t>Any organization prepared for every situation it will face is no longer afraid of what comes next. It is fearless.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5614416"/>
            <a:ext cx="8933688" cy="566928"/>
          </a:xfrm>
          <a:prstGeom prst="rect">
            <a:avLst/>
          </a:prstGeom>
          <a:solidFill>
            <a:srgbClr val="0A0F2E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37360" y="5705856"/>
            <a:ext cx="8750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Barlow Condensed"/>
              </a:rPr>
              <a:t>Let's build this  ·  investor@vaughnmartin.com  ·  vaughnmartin.com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1158</Words>
  <Application>Microsoft Office PowerPoint</Application>
  <PresentationFormat>Widescreen</PresentationFormat>
  <Paragraphs>233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Barlow Condensed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Marty Brunke (CDI)</dc:creator>
  <cp:keywords/>
  <dc:description>generated using python-pptx</dc:description>
  <cp:lastModifiedBy>Marty Brunke (CDI)</cp:lastModifiedBy>
  <cp:revision>2</cp:revision>
  <dcterms:created xsi:type="dcterms:W3CDTF">2013-01-27T09:14:16Z</dcterms:created>
  <dcterms:modified xsi:type="dcterms:W3CDTF">2026-05-19T01:05:20Z</dcterms:modified>
  <cp:category/>
</cp:coreProperties>
</file>