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Four situations. No product. Let the room feel the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timeline is the argument. $1.7M at 72pt. The kicker: every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$7B+ TAM. $0 in this layer. First mover owns the category.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pivot. First use of teal. Relief after red. Let the question breathe.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9 domains. This is not a ransomware tool. It is the operating model for every strategic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Microsoft built the engine. We built the transmission. $13B is our market validation. 47K enterprises are the prospect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seconds. The platform is not the moat. The institutional memory is the moat. Competitor can copy the product. They cannot copy what 500 activations taught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economics are clear: entry $75K, three feature tiers at fixed annual prices, 5-year LTV by tier. Dr. Huang validated the platform after 4 weeks of direct review. $75K. 12 seats. vaughnmartin.com.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SITUATION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48640"/>
            <a:ext cx="8229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triggers.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C-suite leader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knows these moments.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502920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3:17 AM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50292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Ransomware</a:t>
            </a:r>
            <a:endParaRPr lang="en-US" sz="1700" dirty="0"/>
          </a:p>
        </p:txBody>
      </p:sp>
      <p:sp>
        <p:nvSpPr>
          <p:cNvPr id="43" name="Shape 41"/>
          <p:cNvSpPr/>
          <p:nvPr/>
        </p:nvSpPr>
        <p:spPr>
          <a:xfrm>
            <a:off x="822960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0080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$180K/hr exposure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502920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window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02920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587752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87752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9:47 AM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2587752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Activist Investor</a:t>
            </a:r>
            <a:endParaRPr lang="en-US" sz="1700" dirty="0"/>
          </a:p>
        </p:txBody>
      </p:sp>
      <p:sp>
        <p:nvSpPr>
          <p:cNvPr id="51" name="Shape 49"/>
          <p:cNvSpPr/>
          <p:nvPr/>
        </p:nvSpPr>
        <p:spPr>
          <a:xfrm>
            <a:off x="2907792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24912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724912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$2.3B market cap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2587752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window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2587752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672584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672584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11:22 AM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672584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Federal Inquiry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4992624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809744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9744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$847M penalty risk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4672584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48-hr window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672584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757416" y="2029968"/>
            <a:ext cx="1920240" cy="2834640"/>
          </a:xfrm>
          <a:prstGeom prst="roundRect">
            <a:avLst>
              <a:gd name="adj" fmla="val 3810"/>
            </a:avLst>
          </a:prstGeom>
          <a:solidFill>
            <a:srgbClr val="080D20"/>
          </a:solidFill>
          <a:ln w="12700">
            <a:solidFill>
              <a:srgbClr val="C0392B">
                <a:alpha val="62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757416" y="21214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2:05 PM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6757416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War</a:t>
            </a:r>
            <a:endParaRPr lang="en-US" sz="1700" dirty="0"/>
          </a:p>
        </p:txBody>
      </p:sp>
      <p:sp>
        <p:nvSpPr>
          <p:cNvPr id="67" name="Shape 65"/>
          <p:cNvSpPr/>
          <p:nvPr/>
        </p:nvSpPr>
        <p:spPr>
          <a:xfrm>
            <a:off x="7077456" y="2962656"/>
            <a:ext cx="1280160" cy="0"/>
          </a:xfrm>
          <a:prstGeom prst="line">
            <a:avLst/>
          </a:prstGeom>
          <a:noFill/>
          <a:ln w="762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894576" y="3054096"/>
            <a:ext cx="1645920" cy="310896"/>
          </a:xfrm>
          <a:prstGeom prst="roundRect">
            <a:avLst>
              <a:gd name="adj" fmla="val 11765"/>
            </a:avLst>
          </a:prstGeom>
          <a:solidFill>
            <a:srgbClr val="120804"/>
          </a:solidFill>
          <a:ln w="762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894576" y="3054096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$12M pipeline at risk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6757416" y="345643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0392B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2-hr window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6757416" y="3822192"/>
            <a:ext cx="1920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your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i="1" dirty="0">
                <a:solidFill>
                  <a:srgbClr val="F8F7F4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 do?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CURRENT REALITY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thing.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time.</a:t>
            </a:r>
            <a:endParaRPr lang="en-US" sz="4000" dirty="0"/>
          </a:p>
        </p:txBody>
      </p:sp>
      <p:sp>
        <p:nvSpPr>
          <p:cNvPr id="40" name="Text 38"/>
          <p:cNvSpPr/>
          <p:nvPr/>
        </p:nvSpPr>
        <p:spPr>
          <a:xfrm>
            <a:off x="548640" y="1828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 FIRES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737360" y="1892808"/>
            <a:ext cx="109728" cy="10972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92224" y="20025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65960" y="1828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knows who owns the decision.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65960" y="2084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 productive response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9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1737360" y="2350008"/>
            <a:ext cx="109728" cy="109728"/>
          </a:xfrm>
          <a:prstGeom prst="ellipse">
            <a:avLst/>
          </a:prstGeom>
          <a:solidFill>
            <a:srgbClr val="C0392B">
              <a:alpha val="9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792224" y="24597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65960" y="22860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8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meeting. Room still being decided.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1965960" y="25420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77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+$50K, zero action taken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48640" y="27432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737360" y="2807208"/>
            <a:ext cx="109728" cy="109728"/>
          </a:xfrm>
          <a:prstGeom prst="ellipse">
            <a:avLst/>
          </a:prstGeom>
          <a:solidFill>
            <a:srgbClr val="C0392B">
              <a:alpha val="84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792224" y="29169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96596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 engaged at emergency rates.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965960" y="29992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9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+$75K, no position yet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548640" y="32004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7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7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737360" y="3264408"/>
            <a:ext cx="109728" cy="109728"/>
          </a:xfrm>
          <a:prstGeom prst="ellipse">
            <a:avLst/>
          </a:prstGeom>
          <a:solidFill>
            <a:srgbClr val="C0392B">
              <a:alpha val="76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792224" y="33741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3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965960" y="32004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7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draft. Three teams disagree on it.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65960" y="34564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61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+$120K, window closing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48640" y="36576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14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737360" y="3721608"/>
            <a:ext cx="109728" cy="109728"/>
          </a:xfrm>
          <a:prstGeom prst="ellipse">
            <a:avLst/>
          </a:prstGeom>
          <a:solidFill>
            <a:srgbClr val="C0392B">
              <a:alpha val="68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792224" y="3831336"/>
            <a:ext cx="0" cy="402336"/>
          </a:xfrm>
          <a:prstGeom prst="line">
            <a:avLst/>
          </a:prstGeom>
          <a:noFill/>
          <a:ln w="10160">
            <a:solidFill>
              <a:srgbClr val="C0392B">
                <a:alpha val="25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965960" y="3657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briefed. IR fielding unapproved calls.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1965960" y="39136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5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+$300K, damage ongoing</a:t>
            </a:r>
            <a:endParaRPr lang="en-US" sz="950" dirty="0"/>
          </a:p>
        </p:txBody>
      </p:sp>
      <p:sp>
        <p:nvSpPr>
          <p:cNvPr id="65" name="Text 63"/>
          <p:cNvSpPr/>
          <p:nvPr/>
        </p:nvSpPr>
        <p:spPr>
          <a:xfrm>
            <a:off x="548640" y="41148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0392B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30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737360" y="4178808"/>
            <a:ext cx="109728" cy="109728"/>
          </a:xfrm>
          <a:prstGeom prst="ellipse">
            <a:avLst/>
          </a:prstGeom>
          <a:solidFill>
            <a:srgbClr val="C0392B">
              <a:alpha val="60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965960" y="41148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7F4">
                    <a:alpha val="63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response finally achieved.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1965960" y="437083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0392B">
                    <a:alpha val="4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$1.7M+ total mobilized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1737360"/>
            <a:ext cx="3291840" cy="3200400"/>
          </a:xfrm>
          <a:prstGeom prst="roundRect">
            <a:avLst>
              <a:gd name="adj" fmla="val 2857"/>
            </a:avLst>
          </a:prstGeom>
          <a:solidFill>
            <a:srgbClr val="080210"/>
          </a:solidFill>
          <a:ln w="19050">
            <a:solidFill>
              <a:srgbClr val="C0392B">
                <a:alpha val="82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486400" y="18745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486400" y="2176272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C0392B">
                    <a:alpha val="94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$1.7M+</a:t>
            </a:r>
            <a:endParaRPr lang="en-US" sz="7200" dirty="0"/>
          </a:p>
        </p:txBody>
      </p:sp>
      <p:sp>
        <p:nvSpPr>
          <p:cNvPr id="72" name="Text 70"/>
          <p:cNvSpPr/>
          <p:nvPr/>
        </p:nvSpPr>
        <p:spPr>
          <a:xfrm>
            <a:off x="5486400" y="33101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strategic event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5760720" y="3675888"/>
            <a:ext cx="2743200" cy="0"/>
          </a:xfrm>
          <a:prstGeom prst="line">
            <a:avLst/>
          </a:prstGeom>
          <a:noFill/>
          <a:ln w="6350">
            <a:solidFill>
              <a:srgbClr val="C0392B">
                <a:alpha val="45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623560" y="376732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time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7406640" y="376732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$50K–$200K</a:t>
            </a:r>
            <a:endParaRPr lang="en-US" sz="1000" dirty="0"/>
          </a:p>
        </p:txBody>
      </p:sp>
      <p:sp>
        <p:nvSpPr>
          <p:cNvPr id="76" name="Text 74"/>
          <p:cNvSpPr/>
          <p:nvPr/>
        </p:nvSpPr>
        <p:spPr>
          <a:xfrm>
            <a:off x="5623560" y="405993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counsel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7406640" y="405993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$25K–$150K</a:t>
            </a:r>
            <a:endParaRPr lang="en-US" sz="1000" dirty="0"/>
          </a:p>
        </p:txBody>
      </p:sp>
      <p:sp>
        <p:nvSpPr>
          <p:cNvPr id="78" name="Text 76"/>
          <p:cNvSpPr/>
          <p:nvPr/>
        </p:nvSpPr>
        <p:spPr>
          <a:xfrm>
            <a:off x="5623560" y="435254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at risk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7406640" y="435254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$50K–$500K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5623560" y="4645152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/ penalties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7406640" y="464515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Uncapped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548640" y="4754880"/>
            <a:ext cx="4754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this happens every time a trigger fires.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38404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enterprise.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year.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exceptions.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176272"/>
            <a:ext cx="3749040" cy="2606040"/>
          </a:xfrm>
          <a:prstGeom prst="roundRect">
            <a:avLst>
              <a:gd name="adj" fmla="val 3509"/>
            </a:avLst>
          </a:prstGeom>
          <a:solidFill>
            <a:srgbClr val="080D20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22860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ADDRESSABLE MARKET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02920" y="2542032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$7B+</a:t>
            </a:r>
            <a:endParaRPr lang="en-US" sz="9000" dirty="0"/>
          </a:p>
        </p:txBody>
      </p:sp>
      <p:sp>
        <p:nvSpPr>
          <p:cNvPr id="43" name="Text 41"/>
          <p:cNvSpPr/>
          <p:nvPr/>
        </p:nvSpPr>
        <p:spPr>
          <a:xfrm>
            <a:off x="502920" y="3611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8F7F4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Core pricing alone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777240" y="3968496"/>
            <a:ext cx="3200400" cy="0"/>
          </a:xfrm>
          <a:prstGeom prst="line">
            <a:avLst/>
          </a:prstGeom>
          <a:noFill/>
          <a:ln w="6350">
            <a:solidFill>
              <a:srgbClr val="C9A84C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0599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47,000 enterprises ($100M+ revenue)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0" y="40599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$150K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40080" y="43708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strategic triggers each per year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0" y="437083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compounding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617720" y="502920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617720" y="576072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4–6</a:t>
            </a:r>
            <a:endParaRPr lang="en-US" sz="4800" dirty="0"/>
          </a:p>
        </p:txBody>
      </p:sp>
      <p:sp>
        <p:nvSpPr>
          <p:cNvPr id="51" name="Text 49"/>
          <p:cNvSpPr/>
          <p:nvPr/>
        </p:nvSpPr>
        <p:spPr>
          <a:xfrm>
            <a:off x="4617720" y="149047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triggers/yr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63640" y="6675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per enterprise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4617720" y="2039112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C0392B">
                <a:alpha val="6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17720" y="2112264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$10.2M</a:t>
            </a:r>
            <a:endParaRPr lang="en-US" sz="3200" dirty="0"/>
          </a:p>
        </p:txBody>
      </p:sp>
      <p:sp>
        <p:nvSpPr>
          <p:cNvPr id="55" name="Text 53"/>
          <p:cNvSpPr/>
          <p:nvPr/>
        </p:nvSpPr>
        <p:spPr>
          <a:xfrm>
            <a:off x="4617720" y="3026664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exposure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263640" y="220370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enterprise per year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617720" y="3575304"/>
            <a:ext cx="416052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2700">
            <a:solidFill>
              <a:srgbClr val="2B8A6E">
                <a:alpha val="8000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17720" y="364845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B8A6E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4800" dirty="0"/>
          </a:p>
        </p:txBody>
      </p:sp>
      <p:sp>
        <p:nvSpPr>
          <p:cNvPr id="59" name="Text 57"/>
          <p:cNvSpPr/>
          <p:nvPr/>
        </p:nvSpPr>
        <p:spPr>
          <a:xfrm>
            <a:off x="4617720" y="4562856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layer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739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84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this yet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if the response was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already built before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trigger fired?</a:t>
            </a:r>
            <a:endParaRPr lang="en-US" sz="3400" dirty="0"/>
          </a:p>
        </p:txBody>
      </p:sp>
      <p:sp>
        <p:nvSpPr>
          <p:cNvPr id="40" name="Shape 38"/>
          <p:cNvSpPr/>
          <p:nvPr/>
        </p:nvSpPr>
        <p:spPr>
          <a:xfrm>
            <a:off x="502920" y="2212848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20F0A"/>
          </a:solidFill>
          <a:ln w="25400">
            <a:solidFill>
              <a:srgbClr val="2B8A6E">
                <a:alpha val="9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2395728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392B">
                    <a:alpha val="8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 days</a:t>
            </a:r>
            <a:endParaRPr lang="en-US" sz="3000" dirty="0"/>
          </a:p>
        </p:txBody>
      </p:sp>
      <p:sp>
        <p:nvSpPr>
          <p:cNvPr id="42" name="Shape 40"/>
          <p:cNvSpPr/>
          <p:nvPr/>
        </p:nvSpPr>
        <p:spPr>
          <a:xfrm>
            <a:off x="2212848" y="2633472"/>
            <a:ext cx="201168" cy="0"/>
          </a:xfrm>
          <a:prstGeom prst="line">
            <a:avLst/>
          </a:prstGeom>
          <a:noFill/>
          <a:ln w="1905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450592" y="2395728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3000" dirty="0"/>
          </a:p>
        </p:txBody>
      </p:sp>
      <p:sp>
        <p:nvSpPr>
          <p:cNvPr id="44" name="Text 42"/>
          <p:cNvSpPr/>
          <p:nvPr/>
        </p:nvSpPr>
        <p:spPr>
          <a:xfrm>
            <a:off x="502920" y="303580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3,600× Execution Head Start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02920" y="3401568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8F7F4">
                    <a:alpha val="78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response is ready before the trigger fires.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85800" y="3895344"/>
            <a:ext cx="338328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43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5943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15087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231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5087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24231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55+</a:t>
            </a:r>
            <a:endParaRPr lang="en-US" sz="1600" dirty="0"/>
          </a:p>
        </p:txBody>
      </p:sp>
      <p:sp>
        <p:nvSpPr>
          <p:cNvPr id="52" name="Text 50"/>
          <p:cNvSpPr/>
          <p:nvPr/>
        </p:nvSpPr>
        <p:spPr>
          <a:xfrm>
            <a:off x="24231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3337560" y="3968496"/>
            <a:ext cx="868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min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3337560" y="4315968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8F7F4">
                    <a:alpha val="5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572000" y="2267712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23408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047488" y="231343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every situation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047488" y="2542032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· 9 domains · 210 total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4572000" y="2852928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63440" y="29260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5047488" y="28986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the threshold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5047488" y="3127248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231 triggers · 39 live sources · 15-min cycles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4572000" y="3438144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63440" y="35112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5047488" y="348386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executive choices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5047488" y="371246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· Adjust · Switch · Stand down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4572000" y="4023360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663440" y="40965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5047488" y="406908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through your stack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5047488" y="42976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55+ connectors · Microsoft, Salesforce, ServiceNow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4572000" y="4608576"/>
            <a:ext cx="4206240" cy="493776"/>
          </a:xfrm>
          <a:prstGeom prst="roundRect">
            <a:avLst>
              <a:gd name="adj" fmla="val 11111"/>
            </a:avLst>
          </a:prstGeom>
          <a:solidFill>
            <a:srgbClr val="080D20"/>
          </a:solidFill>
          <a:ln w="6350">
            <a:solidFill>
              <a:srgbClr val="2B8A6E">
                <a:alpha val="38000"/>
              </a:srgbClr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663440" y="4681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047488" y="465429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every learning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5047488" y="4882896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5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 loop — smarter after every activation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BREADTH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822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point solution.  </a:t>
            </a:r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operating model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strategic trigger.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45720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Strategy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76148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6148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8521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M&amp;A · activist defense · distressed asset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38328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51129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Dynamics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68756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8756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351129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disruption · pricing · market entry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309360" y="192024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37376" y="201168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Excellence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613648" y="201168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13648" y="201168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6437376" y="232257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collapse · ERP failure · capacity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8521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&amp; Innovation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76148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76148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8521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ransomware · cyber breach · AI disruption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38328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51129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Governance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68756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68756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51129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incident · algorithmic failure · bias event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309360" y="292608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437376" y="301752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Opportunities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8613648" y="301752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8613648" y="301752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437376" y="332841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entry · partnership · acquisition sprint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45720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8521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&amp; Reputation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276148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76148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58521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crisis · product recall · misconduct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338328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51129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&amp; Compliance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568756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68756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79" name="Text 77"/>
          <p:cNvSpPr/>
          <p:nvPr/>
        </p:nvSpPr>
        <p:spPr>
          <a:xfrm>
            <a:off x="351129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inquiry · GDPR · SEC investigation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6309360" y="3931920"/>
            <a:ext cx="2788920" cy="868680"/>
          </a:xfrm>
          <a:prstGeom prst="roundRect">
            <a:avLst>
              <a:gd name="adj" fmla="val 7368"/>
            </a:avLst>
          </a:prstGeom>
          <a:solidFill>
            <a:srgbClr val="080D20"/>
          </a:solidFill>
          <a:ln w="6350">
            <a:solidFill>
              <a:srgbClr val="C9A84C">
                <a:alpha val="38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6437376" y="4023360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Talent &amp; Leadership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8613648" y="4023360"/>
            <a:ext cx="365760" cy="219456"/>
          </a:xfrm>
          <a:prstGeom prst="roundRect">
            <a:avLst>
              <a:gd name="adj" fmla="val 16667"/>
            </a:avLst>
          </a:prstGeom>
          <a:solidFill>
            <a:srgbClr val="2B8A6E">
              <a:alpha val="75000"/>
            </a:srgbClr>
          </a:solidFill>
          <a:ln w="12700">
            <a:solidFill>
              <a:srgbClr val="2B8A6E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13648" y="4023360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437376" y="433425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C-suite departure · succession · mass resignation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457200" y="4709160"/>
            <a:ext cx="8321040" cy="320040"/>
          </a:xfrm>
          <a:prstGeom prst="roundRect">
            <a:avLst>
              <a:gd name="adj" fmla="val 14286"/>
            </a:avLst>
          </a:prstGeom>
          <a:solidFill>
            <a:srgbClr val="0A0C1A"/>
          </a:solidFill>
          <a:ln w="10160">
            <a:solidFill>
              <a:srgbClr val="C9A84C">
                <a:alpha val="70000"/>
              </a:srgbClr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457200" y="47091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core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compound cross-domain  ·  </a:t>
            </a:r>
            <a:pPr algn="ctr" indent="0" marL="0">
              <a:buNone/>
            </a:pPr>
            <a:r>
              <a:rPr lang="en-US" sz="11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210 total  ·  </a:t>
            </a:r>
            <a:pPr algn="ctr"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strategic domains  ·  </a:t>
            </a:r>
            <a:pPr algn="ctr" indent="0" marL="0">
              <a:buNone/>
            </a:pPr>
            <a:r>
              <a:rPr lang="en-US" sz="1100" b="1" dirty="0">
                <a:solidFill>
                  <a:srgbClr val="2B8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trigger your enterprise will ever face.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POSITIONING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7548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Microsoft spent $13B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this category exists.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left the response layer empty.</a:t>
            </a:r>
            <a:endParaRPr lang="en-US" sz="2600" dirty="0"/>
          </a:p>
        </p:txBody>
      </p:sp>
      <p:sp>
        <p:nvSpPr>
          <p:cNvPr id="40" name="Shape 38"/>
          <p:cNvSpPr/>
          <p:nvPr/>
        </p:nvSpPr>
        <p:spPr>
          <a:xfrm>
            <a:off x="502920" y="2395728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94360" y="24688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FULL STACK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94360" y="2706624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OpenAI  ·  Teams  ·  Copilot  ·  SharePoint  ·  Entra  ·  Power Platform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606040" y="3108960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02920" y="3236976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60D22"/>
          </a:solidFill>
          <a:ln w="10160">
            <a:solidFill>
              <a:srgbClr val="1565C0">
                <a:alpha val="68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4360" y="33101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9E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AI EXECUTION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594360" y="3547872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 whether the AI tool can run a task. Does not govern who responds or when.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06040" y="3950208"/>
            <a:ext cx="0" cy="128016"/>
          </a:xfrm>
          <a:prstGeom prst="line">
            <a:avLst/>
          </a:prstGeom>
          <a:noFill/>
          <a:ln w="15240">
            <a:solidFill>
              <a:srgbClr val="C9A84C">
                <a:alpha val="58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02920" y="4078224"/>
            <a:ext cx="4206240" cy="713232"/>
          </a:xfrm>
          <a:prstGeom prst="roundRect">
            <a:avLst>
              <a:gd name="adj" fmla="val 8974"/>
            </a:avLst>
          </a:prstGeom>
          <a:solidFill>
            <a:srgbClr val="0D0820"/>
          </a:solidFill>
          <a:ln w="25400">
            <a:solidFill>
              <a:srgbClr val="C9A84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151376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OS — UNCLAIMED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594360" y="4389120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8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Governs: When trigger fires — who does what, in 12 minutes? Pre-staged. Already built.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0" y="502920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4A9EE8">
                <a:alpha val="65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0" y="594360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EE8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$13B</a:t>
            </a:r>
            <a:endParaRPr lang="en-US" sz="3000" dirty="0"/>
          </a:p>
        </p:txBody>
      </p:sp>
      <p:sp>
        <p:nvSpPr>
          <p:cNvPr id="53" name="Text 51"/>
          <p:cNvSpPr/>
          <p:nvPr/>
        </p:nvSpPr>
        <p:spPr>
          <a:xfrm>
            <a:off x="6172200" y="5943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validated the market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6172200" y="905256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$13B invested in Azure OpenAI + Copilot proves enterprises will buy AI infrastructure. The orchestration layer is proven. The response layer is not.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029200" y="2039112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C9A84C">
                <a:alpha val="6500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029200" y="2130552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84C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47K</a:t>
            </a:r>
            <a:endParaRPr lang="en-US" sz="3000" dirty="0"/>
          </a:p>
        </p:txBody>
      </p:sp>
      <p:sp>
        <p:nvSpPr>
          <p:cNvPr id="57" name="Text 55"/>
          <p:cNvSpPr/>
          <p:nvPr/>
        </p:nvSpPr>
        <p:spPr>
          <a:xfrm>
            <a:off x="6172200" y="2130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distribution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172200" y="2441448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Microsoft enterprise customer is a Readiness OS prospect. We sit above their stack — not beside it.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029200" y="3575304"/>
            <a:ext cx="3794760" cy="1389888"/>
          </a:xfrm>
          <a:prstGeom prst="roundRect">
            <a:avLst>
              <a:gd name="adj" fmla="val 5263"/>
            </a:avLst>
          </a:prstGeom>
          <a:solidFill>
            <a:srgbClr val="080D20"/>
          </a:solidFill>
          <a:ln w="10160">
            <a:solidFill>
              <a:srgbClr val="2B8A6E">
                <a:alpha val="8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666744"/>
            <a:ext cx="10972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8A6E">
                    <a:alpha val="9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</a:t>
            </a:r>
            <a:endParaRPr lang="en-US" sz="3000" dirty="0"/>
          </a:p>
        </p:txBody>
      </p:sp>
      <p:sp>
        <p:nvSpPr>
          <p:cNvPr id="61" name="Text 59"/>
          <p:cNvSpPr/>
          <p:nvPr/>
        </p:nvSpPr>
        <p:spPr>
          <a:xfrm>
            <a:off x="6172200" y="36667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8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 wins the category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172200" y="3977640"/>
            <a:ext cx="2560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vendor owns strategic response coordination. The category does not yet exist as a budget line. We name it. We own it.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8640" y="25603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48640" y="566928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7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competitor can copy
the platform.
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cannot copy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learns.</a:t>
            </a:r>
            <a:endParaRPr lang="en-US" sz="3000" dirty="0"/>
          </a:p>
        </p:txBody>
      </p:sp>
      <p:sp>
        <p:nvSpPr>
          <p:cNvPr id="40" name="Shape 38"/>
          <p:cNvSpPr/>
          <p:nvPr/>
        </p:nvSpPr>
        <p:spPr>
          <a:xfrm>
            <a:off x="502920" y="2944368"/>
            <a:ext cx="4206240" cy="1920240"/>
          </a:xfrm>
          <a:prstGeom prst="roundRect">
            <a:avLst>
              <a:gd name="adj" fmla="val 4762"/>
            </a:avLst>
          </a:prstGeom>
          <a:solidFill>
            <a:srgbClr val="080D20"/>
          </a:solidFill>
          <a:ln w="12700">
            <a:solidFill>
              <a:srgbClr val="2B8A6E">
                <a:alpha val="7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017520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ADVANCE LOOP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640080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0392B">
                <a:alpha val="8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4" name="Shape 42"/>
          <p:cNvSpPr/>
          <p:nvPr/>
        </p:nvSpPr>
        <p:spPr>
          <a:xfrm>
            <a:off x="1435608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0392B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1627632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627632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48" name="Shape 46"/>
          <p:cNvSpPr/>
          <p:nvPr/>
        </p:nvSpPr>
        <p:spPr>
          <a:xfrm>
            <a:off x="2423160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554480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2615184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C9A84C">
                <a:alpha val="85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615184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2" name="Shape 50"/>
          <p:cNvSpPr/>
          <p:nvPr/>
        </p:nvSpPr>
        <p:spPr>
          <a:xfrm>
            <a:off x="3410712" y="3675888"/>
            <a:ext cx="182880" cy="0"/>
          </a:xfrm>
          <a:prstGeom prst="line">
            <a:avLst/>
          </a:prstGeom>
          <a:noFill/>
          <a:ln w="1524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542032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Close-out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C9A84C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02736" y="3291840"/>
            <a:ext cx="777240" cy="777240"/>
          </a:xfrm>
          <a:prstGeom prst="ellipse">
            <a:avLst/>
          </a:prstGeom>
          <a:solidFill>
            <a:srgbClr val="0A0C1A"/>
          </a:solidFill>
          <a:ln w="19050">
            <a:solidFill>
              <a:srgbClr val="2B8A6E">
                <a:alpha val="85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02736" y="32918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8A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3529584" y="41330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2B8A6E">
                    <a:alpha val="8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94360" y="4681728"/>
            <a:ext cx="3977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↺  Each cycle — the protocol improves. The moat widens.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5029200" y="502920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5138928" y="594360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activation improves the protocol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5138928" y="886968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3 activations: proven or disproven. What held under pressure gets encoded. What failed gets corrected.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029200" y="1618488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138928" y="170992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memory compounds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5138928" y="2002536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180 protocols start generic. After 12 months they reflect your specific risk profile, stakeholder map, decision patterns.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5029200" y="2734056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2B8A6E">
                <a:alpha val="48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138928" y="2825496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moat widens with every client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5138928" y="3118104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tier: protocols improve across every client's activations. A competitor who starts today cannot close the gap.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5029200" y="3849624"/>
            <a:ext cx="3794760" cy="987552"/>
          </a:xfrm>
          <a:prstGeom prst="roundRect">
            <a:avLst>
              <a:gd name="adj" fmla="val 6481"/>
            </a:avLst>
          </a:prstGeom>
          <a:solidFill>
            <a:srgbClr val="080D20"/>
          </a:solidFill>
          <a:ln w="7620">
            <a:solidFill>
              <a:srgbClr val="C9A84C">
                <a:alpha val="48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138928" y="3941064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can copy Day 1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5138928" y="4233672"/>
            <a:ext cx="35844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cannot copy Day 365. The institutional memory encoded from every activation is the defensibility no spec can replicate.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71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86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6868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457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914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371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828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86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743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200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6576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1148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45720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0292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5486400"/>
            <a:ext cx="9144000" cy="0"/>
          </a:xfrm>
          <a:prstGeom prst="line">
            <a:avLst/>
          </a:prstGeom>
          <a:noFill/>
          <a:ln w="3810">
            <a:solidFill>
              <a:srgbClr val="C9A84C">
                <a:alpha val="7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503920" y="201168"/>
            <a:ext cx="365760" cy="365760"/>
          </a:xfrm>
          <a:prstGeom prst="ellipse">
            <a:avLst/>
          </a:prstGeom>
          <a:solidFill>
            <a:srgbClr val="0A0F2E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503920" y="201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178040" y="22860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VAUGHNMARTIN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11480" y="201168"/>
            <a:ext cx="49377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C9A84C">
                <a:alpha val="7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2286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dirty="0">
                <a:solidFill>
                  <a:srgbClr val="C9A84C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41" name="Text 39"/>
          <p:cNvSpPr/>
          <p:nvPr/>
        </p:nvSpPr>
        <p:spPr>
          <a:xfrm>
            <a:off x="594360" y="621792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8F7F4">
                    <a:alpha val="9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Martin is building the architecture that makes clarity possible before pressure arrives.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594360" y="1755648"/>
            <a:ext cx="1645920" cy="0"/>
          </a:xfrm>
          <a:prstGeom prst="line">
            <a:avLst/>
          </a:prstGeom>
          <a:noFill/>
          <a:ln w="10160">
            <a:solidFill>
              <a:srgbClr val="C9A84C">
                <a:alpha val="6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" y="18470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Dr. Kerry Huang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94360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8F7F4">
                    <a:alpha val="6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Fortune 50 AVP  ·  ESI Top 1% Researcher  ·  Forbes Business Council  ·  408-firm study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94360" y="2395728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C9A84C">
                    <a:alpha val="5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repost · April 2026 · After 4 weeks of direct platform review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5532120" y="201168"/>
            <a:ext cx="2880360" cy="2377440"/>
          </a:xfrm>
          <a:prstGeom prst="roundRect">
            <a:avLst>
              <a:gd name="adj" fmla="val 3846"/>
            </a:avLst>
          </a:prstGeom>
          <a:solidFill>
            <a:srgbClr val="0A0C1A"/>
          </a:solidFill>
          <a:ln w="12700">
            <a:solidFill>
              <a:srgbClr val="2B8A6E">
                <a:alpha val="72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32120" y="292608"/>
            <a:ext cx="2880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B8A6E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ECONOMICS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532120" y="292608"/>
            <a:ext cx="3246120" cy="0"/>
          </a:xfrm>
          <a:prstGeom prst="line">
            <a:avLst/>
          </a:prstGeom>
          <a:noFill/>
          <a:ln w="12700">
            <a:solidFill>
              <a:srgbClr val="2B8A6E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623560" y="53035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F7F4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entry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406640" y="530352"/>
            <a:ext cx="1234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623560" y="80467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 ·  100% credited to Year 1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650992" y="1042416"/>
            <a:ext cx="2651760" cy="0"/>
          </a:xfrm>
          <a:prstGeom prst="line">
            <a:avLst/>
          </a:prstGeom>
          <a:noFill/>
          <a:ln w="6350">
            <a:solidFill>
              <a:srgbClr val="2B8A6E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623560" y="1078992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B8A6E">
                    <a:alpha val="72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TIER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5623560" y="129844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178040" y="129844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$150K/yr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5623560" y="16093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7F4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Foresight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178040" y="1609344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$250K/yr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562356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86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178040" y="192024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B8A6E">
                    <a:alpha val="82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$450K/yr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23560" y="2267712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price — stays constant until customer</a:t>
            </a:r>
            <a:endParaRPr lang="en-US" sz="850" dirty="0"/>
          </a:p>
          <a:p>
            <a:pPr indent="0" marL="0">
              <a:buNone/>
            </a:pPr>
            <a:r>
              <a:rPr lang="en-US" sz="850" i="1" dirty="0">
                <a:solidFill>
                  <a:srgbClr val="F8F7F4">
                    <a:alpha val="5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to upgrade for more capability.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11480" y="2724912"/>
            <a:ext cx="8366760" cy="1298448"/>
          </a:xfrm>
          <a:prstGeom prst="roundRect">
            <a:avLst>
              <a:gd name="adj" fmla="val 7042"/>
            </a:avLst>
          </a:prstGeom>
          <a:solidFill>
            <a:srgbClr val="100C22"/>
          </a:solidFill>
          <a:ln w="27940">
            <a:solidFill>
              <a:srgbClr val="C9A84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4360" y="2798064"/>
            <a:ext cx="7955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9A84C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  —  THE ENTRY POINT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411480" y="299923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$75K</a:t>
            </a:r>
            <a:endParaRPr lang="en-US" sz="6200" dirty="0"/>
          </a:p>
        </p:txBody>
      </p:sp>
      <p:sp>
        <p:nvSpPr>
          <p:cNvPr id="64" name="Text 62"/>
          <p:cNvSpPr/>
          <p:nvPr/>
        </p:nvSpPr>
        <p:spPr>
          <a:xfrm>
            <a:off x="3749040" y="30540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7F4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validation partnership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3749040" y="336499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8F7F4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credited to Year 1  ·  Full platform access from Day 1</a:t>
            </a:r>
            <a:endParaRPr lang="en-US" sz="1150" dirty="0"/>
          </a:p>
        </p:txBody>
      </p:sp>
      <p:sp>
        <p:nvSpPr>
          <p:cNvPr id="66" name="Text 64"/>
          <p:cNvSpPr/>
          <p:nvPr/>
        </p:nvSpPr>
        <p:spPr>
          <a:xfrm>
            <a:off x="3749040" y="3621024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B8A6E">
                    <a:alpha val="7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Partners shape the product roadmap and pricing structure.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11480" y="4160520"/>
            <a:ext cx="4160520" cy="731520"/>
          </a:xfrm>
          <a:prstGeom prst="roundRect">
            <a:avLst>
              <a:gd name="adj" fmla="val 8750"/>
            </a:avLst>
          </a:prstGeom>
          <a:solidFill>
            <a:srgbClr val="080D20"/>
          </a:solidFill>
          <a:ln w="635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48640" y="4224528"/>
            <a:ext cx="3840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C9A84C">
                    <a:alpha val="6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5-YEAR LTV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48640" y="44256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7F4">
                    <a:alpha val="6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customer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2423160" y="4425696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8F7F4">
                    <a:alpha val="8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$750K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548640" y="46634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8A6E">
                    <a:alpha val="9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2423160" y="4663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>
                    <a:alpha val="9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$2.0M+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4754880" y="4160520"/>
            <a:ext cx="4023360" cy="384048"/>
          </a:xfrm>
          <a:prstGeom prst="roundRect">
            <a:avLst>
              <a:gd name="adj" fmla="val 14286"/>
            </a:avLst>
          </a:prstGeom>
          <a:solidFill>
            <a:srgbClr val="0D0820"/>
          </a:solidFill>
          <a:ln w="12700">
            <a:solidFill>
              <a:srgbClr val="C9A84C">
                <a:alpha val="78000"/>
              </a:srgbClr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4754880" y="416052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COHORT  ·  </a:t>
            </a:r>
            <a:pPr algn="ctr"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SEATS</a:t>
            </a:r>
            <a:pPr algn="ctr" indent="0" marL="0">
              <a:buNone/>
            </a:pPr>
            <a:r>
              <a:rPr lang="en-US" sz="1000" dirty="0">
                <a:solidFill>
                  <a:srgbClr val="F8F7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APPLICATIONS OPEN NOW</a:t>
            </a:r>
            <a:endParaRPr lang="en-US" sz="1000" dirty="0"/>
          </a:p>
        </p:txBody>
      </p:sp>
      <p:sp>
        <p:nvSpPr>
          <p:cNvPr id="75" name="Text 73"/>
          <p:cNvSpPr/>
          <p:nvPr/>
        </p:nvSpPr>
        <p:spPr>
          <a:xfrm>
            <a:off x="4754880" y="46268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vaughnmartin.com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4754880" y="48828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8F7F4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founding@vaughnmartin.com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Readiness OS — VaughnMartin</dc:title>
  <dc:subject>PptxGenJS Presentation</dc:subject>
  <dc:creator>Martin Brunke</dc:creator>
  <cp:lastModifiedBy>Martin Brunke</cp:lastModifiedBy>
  <cp:revision>1</cp:revision>
  <dcterms:created xsi:type="dcterms:W3CDTF">2026-06-26T02:09:00Z</dcterms:created>
  <dcterms:modified xsi:type="dcterms:W3CDTF">2026-06-26T02:09:00Z</dcterms:modified>
</cp:coreProperties>
</file>