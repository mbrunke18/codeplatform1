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  <p:sldId id="265" r:id="rId16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Four situations. No product. Let the room feel the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The timeline is the argument. $1.7M at 72pt. The kicker: every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$7B+ TAM. $0 in this layer. First mover owns the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The pivot. First use of teal. Relief after red. Let the question breathe.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9 domains. This is not a ransomware tool. It is the operating model for every strategic trigger.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Microsoft built the engine. We built the transmission. $13B is our market validation. 47K enterprises are the prospect pool.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The platform is not the moat. The institutional memory is the moat. Competitor can copy the product. They cannot copy what 500 activations taught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economics are clear: entry $75K, three feature tiers at fixed annual prices, 5-year LTV by tier. Dr. Huang validated the platform after 4 weeks of direct review. $75K. 12 seats. vaughnmartin.com.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48640"/>
            <a:ext cx="8229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situations.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C-suite leader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knows these moments.</a:t>
            </a:r>
            <a:endParaRPr lang="en-US" sz="3200" dirty="0"/>
          </a:p>
        </p:txBody>
      </p:sp>
      <p:sp>
        <p:nvSpPr>
          <p:cNvPr id="40" name="Shape 38"/>
          <p:cNvSpPr/>
          <p:nvPr/>
        </p:nvSpPr>
        <p:spPr>
          <a:xfrm>
            <a:off x="502920" y="2029968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080D20"/>
          </a:solidFill>
          <a:ln w="12700">
            <a:solidFill>
              <a:srgbClr val="C0392B">
                <a:alpha val="6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02920" y="2121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3:17 AM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Ransomware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822960" y="2962656"/>
            <a:ext cx="1280160" cy="0"/>
          </a:xfrm>
          <a:prstGeom prst="line">
            <a:avLst/>
          </a:prstGeom>
          <a:noFill/>
          <a:ln w="7620">
            <a:solidFill>
              <a:srgbClr val="C9A84C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640080" y="3054096"/>
            <a:ext cx="1645920" cy="310896"/>
          </a:xfrm>
          <a:prstGeom prst="roundRect">
            <a:avLst>
              <a:gd name="adj" fmla="val 11765"/>
            </a:avLst>
          </a:prstGeom>
          <a:solidFill>
            <a:srgbClr val="120804"/>
          </a:solidFill>
          <a:ln w="7620">
            <a:solidFill>
              <a:srgbClr val="C9A84C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40080" y="3054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$180K/hr exposure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2920" y="3456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window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2920" y="38221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do?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587752" y="2029968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080D20"/>
          </a:solidFill>
          <a:ln w="12700">
            <a:solidFill>
              <a:srgbClr val="C0392B">
                <a:alpha val="6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2587752" y="2121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9:47 AM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587752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Activist Investor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2907792" y="2962656"/>
            <a:ext cx="1280160" cy="0"/>
          </a:xfrm>
          <a:prstGeom prst="line">
            <a:avLst/>
          </a:prstGeom>
          <a:noFill/>
          <a:ln w="7620">
            <a:solidFill>
              <a:srgbClr val="C9A84C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2724912" y="3054096"/>
            <a:ext cx="1645920" cy="310896"/>
          </a:xfrm>
          <a:prstGeom prst="roundRect">
            <a:avLst>
              <a:gd name="adj" fmla="val 11765"/>
            </a:avLst>
          </a:prstGeom>
          <a:solidFill>
            <a:srgbClr val="120804"/>
          </a:solidFill>
          <a:ln w="7620">
            <a:solidFill>
              <a:srgbClr val="C9A84C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2724912" y="3054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$2.3B market cap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587752" y="3456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4-hr window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587752" y="38221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do?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672584" y="2029968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080D20"/>
          </a:solidFill>
          <a:ln w="12700">
            <a:solidFill>
              <a:srgbClr val="C0392B">
                <a:alpha val="6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672584" y="2121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11:22 AM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672584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Federal Inquiry</a:t>
            </a:r>
            <a:endParaRPr lang="en-US" sz="1700" dirty="0"/>
          </a:p>
        </p:txBody>
      </p:sp>
      <p:sp>
        <p:nvSpPr>
          <p:cNvPr id="59" name="Shape 57"/>
          <p:cNvSpPr/>
          <p:nvPr/>
        </p:nvSpPr>
        <p:spPr>
          <a:xfrm>
            <a:off x="4992624" y="2962656"/>
            <a:ext cx="1280160" cy="0"/>
          </a:xfrm>
          <a:prstGeom prst="line">
            <a:avLst/>
          </a:prstGeom>
          <a:noFill/>
          <a:ln w="7620">
            <a:solidFill>
              <a:srgbClr val="C9A84C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4809744" y="3054096"/>
            <a:ext cx="1645920" cy="310896"/>
          </a:xfrm>
          <a:prstGeom prst="roundRect">
            <a:avLst>
              <a:gd name="adj" fmla="val 11765"/>
            </a:avLst>
          </a:prstGeom>
          <a:solidFill>
            <a:srgbClr val="120804"/>
          </a:solidFill>
          <a:ln w="7620">
            <a:solidFill>
              <a:srgbClr val="C9A84C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4809744" y="3054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$847M penalty risk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672584" y="3456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48-hr window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672584" y="38221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do?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6757416" y="2029968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080D20"/>
          </a:solidFill>
          <a:ln w="12700">
            <a:solidFill>
              <a:srgbClr val="C0392B">
                <a:alpha val="6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6757416" y="2121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2:05 PM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757416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War</a:t>
            </a:r>
            <a:endParaRPr lang="en-US" sz="1700" dirty="0"/>
          </a:p>
        </p:txBody>
      </p:sp>
      <p:sp>
        <p:nvSpPr>
          <p:cNvPr id="67" name="Shape 65"/>
          <p:cNvSpPr/>
          <p:nvPr/>
        </p:nvSpPr>
        <p:spPr>
          <a:xfrm>
            <a:off x="7077456" y="2962656"/>
            <a:ext cx="1280160" cy="0"/>
          </a:xfrm>
          <a:prstGeom prst="line">
            <a:avLst/>
          </a:prstGeom>
          <a:noFill/>
          <a:ln w="7620">
            <a:solidFill>
              <a:srgbClr val="C9A84C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6894576" y="3054096"/>
            <a:ext cx="1645920" cy="310896"/>
          </a:xfrm>
          <a:prstGeom prst="roundRect">
            <a:avLst>
              <a:gd name="adj" fmla="val 11765"/>
            </a:avLst>
          </a:prstGeom>
          <a:solidFill>
            <a:srgbClr val="120804"/>
          </a:solidFill>
          <a:ln w="7620">
            <a:solidFill>
              <a:srgbClr val="C9A84C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6894576" y="3054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$12M pipeline at risk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757416" y="3456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2-hr window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757416" y="38221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do?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REALITY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66928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thing.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time.</a:t>
            </a:r>
            <a:endParaRPr lang="en-US" sz="4000" dirty="0"/>
          </a:p>
        </p:txBody>
      </p:sp>
      <p:sp>
        <p:nvSpPr>
          <p:cNvPr id="40" name="Text 38"/>
          <p:cNvSpPr/>
          <p:nvPr/>
        </p:nvSpPr>
        <p:spPr>
          <a:xfrm>
            <a:off x="548640" y="18288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SITUATION ARRIVES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737360" y="1892808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792224" y="2002536"/>
            <a:ext cx="0" cy="402336"/>
          </a:xfrm>
          <a:prstGeom prst="line">
            <a:avLst/>
          </a:prstGeom>
          <a:noFill/>
          <a:ln w="10160">
            <a:solidFill>
              <a:srgbClr val="C0392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965960" y="1828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7F4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knows who owns the decision.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965960" y="20848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productive response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48640" y="22860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737360" y="2350008"/>
            <a:ext cx="109728" cy="109728"/>
          </a:xfrm>
          <a:prstGeom prst="ellipse">
            <a:avLst/>
          </a:prstGeom>
          <a:solidFill>
            <a:srgbClr val="C0392B">
              <a:alpha val="92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1792224" y="2459736"/>
            <a:ext cx="0" cy="402336"/>
          </a:xfrm>
          <a:prstGeom prst="line">
            <a:avLst/>
          </a:prstGeom>
          <a:noFill/>
          <a:ln w="10160">
            <a:solidFill>
              <a:srgbClr val="C0392B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1965960" y="2286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7F4">
                    <a:alpha val="83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meeting. Room still being decided.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965960" y="25420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>
                    <a:alpha val="77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+$50K, zero action taken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48640" y="27432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>
                    <a:alpha val="8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737360" y="2807208"/>
            <a:ext cx="109728" cy="109728"/>
          </a:xfrm>
          <a:prstGeom prst="ellipse">
            <a:avLst/>
          </a:prstGeom>
          <a:solidFill>
            <a:srgbClr val="C0392B">
              <a:alpha val="84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1792224" y="2916936"/>
            <a:ext cx="0" cy="402336"/>
          </a:xfrm>
          <a:prstGeom prst="line">
            <a:avLst/>
          </a:prstGeom>
          <a:noFill/>
          <a:ln w="10160">
            <a:solidFill>
              <a:srgbClr val="C0392B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1965960" y="2743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7F4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counsel engaged at emergency rates.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965960" y="29992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>
                    <a:alpha val="69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+$75K, no position yet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48640" y="32004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>
                    <a:alpha val="76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737360" y="3264408"/>
            <a:ext cx="109728" cy="109728"/>
          </a:xfrm>
          <a:prstGeom prst="ellipse">
            <a:avLst/>
          </a:prstGeom>
          <a:solidFill>
            <a:srgbClr val="C0392B">
              <a:alpha val="76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1792224" y="3374136"/>
            <a:ext cx="0" cy="402336"/>
          </a:xfrm>
          <a:prstGeom prst="line">
            <a:avLst/>
          </a:prstGeom>
          <a:noFill/>
          <a:ln w="10160">
            <a:solidFill>
              <a:srgbClr val="C0392B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1965960" y="32004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7F4">
                    <a:alpha val="73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draft. Three teams disagree on it.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965960" y="34564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>
                    <a:alpha val="61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+$120K, window closing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48640" y="36576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>
                    <a:alpha val="6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737360" y="3721608"/>
            <a:ext cx="109728" cy="109728"/>
          </a:xfrm>
          <a:prstGeom prst="ellipse">
            <a:avLst/>
          </a:prstGeom>
          <a:solidFill>
            <a:srgbClr val="C0392B">
              <a:alpha val="68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1792224" y="3831336"/>
            <a:ext cx="0" cy="402336"/>
          </a:xfrm>
          <a:prstGeom prst="line">
            <a:avLst/>
          </a:prstGeom>
          <a:noFill/>
          <a:ln w="10160">
            <a:solidFill>
              <a:srgbClr val="C039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1965960" y="36576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7F4">
                    <a:alpha val="6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briefed. IR fielding unapproved calls.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965960" y="39136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>
                    <a:alpha val="53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+$300K, damage ongoing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48640" y="41148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737360" y="4178808"/>
            <a:ext cx="109728" cy="109728"/>
          </a:xfrm>
          <a:prstGeom prst="ellipse">
            <a:avLst/>
          </a:prstGeom>
          <a:solidFill>
            <a:srgbClr val="C0392B">
              <a:alpha val="6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1965960" y="4114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7F4">
                    <a:alpha val="63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response finally achieved.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1965960" y="43708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$1.7M+ total mobilized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486400" y="1737360"/>
            <a:ext cx="3291840" cy="3200400"/>
          </a:xfrm>
          <a:prstGeom prst="roundRect">
            <a:avLst>
              <a:gd name="adj" fmla="val 2857"/>
            </a:avLst>
          </a:prstGeom>
          <a:solidFill>
            <a:srgbClr val="080210"/>
          </a:solidFill>
          <a:ln w="19050">
            <a:solidFill>
              <a:srgbClr val="C0392B">
                <a:alpha val="8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5486400" y="18745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486400" y="2176272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0392B">
                    <a:alpha val="94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$1.7M+</a:t>
            </a:r>
            <a:endParaRPr lang="en-US" sz="7200" dirty="0"/>
          </a:p>
        </p:txBody>
      </p:sp>
      <p:sp>
        <p:nvSpPr>
          <p:cNvPr id="72" name="Text 70"/>
          <p:cNvSpPr/>
          <p:nvPr/>
        </p:nvSpPr>
        <p:spPr>
          <a:xfrm>
            <a:off x="5486400" y="33101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7F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strategic event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5760720" y="3675888"/>
            <a:ext cx="2743200" cy="0"/>
          </a:xfrm>
          <a:prstGeom prst="line">
            <a:avLst/>
          </a:prstGeom>
          <a:noFill/>
          <a:ln w="6350">
            <a:solidFill>
              <a:srgbClr val="C0392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5623560" y="3767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time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7406640" y="37673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$50K–$200K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5623560" y="40599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counsel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7406640" y="40599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$25K–$150K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5623560" y="43525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7406640" y="43525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$50K–$500K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5623560" y="46451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/ penalties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7406640" y="46451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Uncapped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548640" y="47548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F8F7F4">
                    <a:alpha val="7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this happens every time a situation presents itself — 15–20 times every year.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66928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enterprise.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year.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exceptions.</a:t>
            </a:r>
            <a:endParaRPr lang="en-US" sz="3400" dirty="0"/>
          </a:p>
        </p:txBody>
      </p:sp>
      <p:sp>
        <p:nvSpPr>
          <p:cNvPr id="40" name="Shape 38"/>
          <p:cNvSpPr/>
          <p:nvPr/>
        </p:nvSpPr>
        <p:spPr>
          <a:xfrm>
            <a:off x="502920" y="2176272"/>
            <a:ext cx="3749040" cy="2606040"/>
          </a:xfrm>
          <a:prstGeom prst="roundRect">
            <a:avLst>
              <a:gd name="adj" fmla="val 3509"/>
            </a:avLst>
          </a:prstGeom>
          <a:solidFill>
            <a:srgbClr val="080D20"/>
          </a:solidFill>
          <a:ln w="19050">
            <a:solidFill>
              <a:srgbClr val="C9A84C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02920" y="22860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2920" y="2542032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C9A84C">
                    <a:alpha val="9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$7B+</a:t>
            </a:r>
            <a:endParaRPr lang="en-US" sz="9000" dirty="0"/>
          </a:p>
        </p:txBody>
      </p:sp>
      <p:sp>
        <p:nvSpPr>
          <p:cNvPr id="43" name="Text 41"/>
          <p:cNvSpPr/>
          <p:nvPr/>
        </p:nvSpPr>
        <p:spPr>
          <a:xfrm>
            <a:off x="502920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7F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Core pricing alone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77240" y="3968496"/>
            <a:ext cx="3200400" cy="0"/>
          </a:xfrm>
          <a:prstGeom prst="line">
            <a:avLst/>
          </a:prstGeom>
          <a:noFill/>
          <a:ln w="6350">
            <a:solidFill>
              <a:srgbClr val="C9A84C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40080" y="40599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47,000 enterprises ($100M+ revenue)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00400" y="4059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$150K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0080" y="4370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strategic situations each per year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200400" y="4370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compounding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17720" y="502920"/>
            <a:ext cx="4160520" cy="1389888"/>
          </a:xfrm>
          <a:prstGeom prst="roundRect">
            <a:avLst>
              <a:gd name="adj" fmla="val 5263"/>
            </a:avLst>
          </a:prstGeom>
          <a:solidFill>
            <a:srgbClr val="080D20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4617720" y="576072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0392B">
                    <a:alpha val="9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4–6</a:t>
            </a:r>
            <a:endParaRPr lang="en-US" sz="4800" dirty="0"/>
          </a:p>
        </p:txBody>
      </p:sp>
      <p:sp>
        <p:nvSpPr>
          <p:cNvPr id="51" name="Text 49"/>
          <p:cNvSpPr/>
          <p:nvPr/>
        </p:nvSpPr>
        <p:spPr>
          <a:xfrm>
            <a:off x="4617720" y="14904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situations/yr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63640" y="66751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7F4">
                    <a:alpha val="8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per enterprise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4617720" y="2039112"/>
            <a:ext cx="4160520" cy="1389888"/>
          </a:xfrm>
          <a:prstGeom prst="roundRect">
            <a:avLst>
              <a:gd name="adj" fmla="val 5263"/>
            </a:avLst>
          </a:prstGeom>
          <a:solidFill>
            <a:srgbClr val="080D20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4617720" y="2112264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392B">
                    <a:alpha val="9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$10.2M</a:t>
            </a:r>
            <a:endParaRPr lang="en-US" sz="3200" dirty="0"/>
          </a:p>
        </p:txBody>
      </p:sp>
      <p:sp>
        <p:nvSpPr>
          <p:cNvPr id="55" name="Text 53"/>
          <p:cNvSpPr/>
          <p:nvPr/>
        </p:nvSpPr>
        <p:spPr>
          <a:xfrm>
            <a:off x="4617720" y="30266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exposure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263640" y="220370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7F4">
                    <a:alpha val="8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enterprise per year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4617720" y="3575304"/>
            <a:ext cx="4160520" cy="1389888"/>
          </a:xfrm>
          <a:prstGeom prst="roundRect">
            <a:avLst>
              <a:gd name="adj" fmla="val 5263"/>
            </a:avLst>
          </a:prstGeom>
          <a:solidFill>
            <a:srgbClr val="080D20"/>
          </a:solidFill>
          <a:ln w="12700">
            <a:solidFill>
              <a:srgbClr val="2B8A6E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4617720" y="3648456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8A6E">
                    <a:alpha val="9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4800" dirty="0"/>
          </a:p>
        </p:txBody>
      </p:sp>
      <p:sp>
        <p:nvSpPr>
          <p:cNvPr id="59" name="Text 57"/>
          <p:cNvSpPr/>
          <p:nvPr/>
        </p:nvSpPr>
        <p:spPr>
          <a:xfrm>
            <a:off x="4617720" y="45628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layer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263640" y="373989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7F4">
                    <a:alpha val="8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owns this yet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8A6E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OS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66928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the response was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built before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situation arrived?</a:t>
            </a:r>
            <a:endParaRPr lang="en-US" sz="3400" dirty="0"/>
          </a:p>
        </p:txBody>
      </p:sp>
      <p:sp>
        <p:nvSpPr>
          <p:cNvPr id="40" name="Shape 38"/>
          <p:cNvSpPr/>
          <p:nvPr/>
        </p:nvSpPr>
        <p:spPr>
          <a:xfrm>
            <a:off x="502920" y="2212848"/>
            <a:ext cx="3749040" cy="2651760"/>
          </a:xfrm>
          <a:prstGeom prst="roundRect">
            <a:avLst>
              <a:gd name="adj" fmla="val 3448"/>
            </a:avLst>
          </a:prstGeom>
          <a:solidFill>
            <a:srgbClr val="020F0A"/>
          </a:solidFill>
          <a:ln w="25400">
            <a:solidFill>
              <a:srgbClr val="2B8A6E">
                <a:alpha val="9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94360" y="239572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>
                    <a:alpha val="8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days</a:t>
            </a:r>
            <a:endParaRPr lang="en-US" sz="3000" dirty="0"/>
          </a:p>
        </p:txBody>
      </p:sp>
      <p:sp>
        <p:nvSpPr>
          <p:cNvPr id="42" name="Shape 40"/>
          <p:cNvSpPr/>
          <p:nvPr/>
        </p:nvSpPr>
        <p:spPr>
          <a:xfrm>
            <a:off x="2212848" y="2633472"/>
            <a:ext cx="201168" cy="0"/>
          </a:xfrm>
          <a:prstGeom prst="line">
            <a:avLst/>
          </a:prstGeom>
          <a:noFill/>
          <a:ln w="19050">
            <a:solidFill>
              <a:srgbClr val="C9A84C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2450592" y="239572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8A6E">
                    <a:alpha val="9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min</a:t>
            </a:r>
            <a:endParaRPr lang="en-US" sz="3000" dirty="0"/>
          </a:p>
        </p:txBody>
      </p:sp>
      <p:sp>
        <p:nvSpPr>
          <p:cNvPr id="44" name="Text 42"/>
          <p:cNvSpPr/>
          <p:nvPr/>
        </p:nvSpPr>
        <p:spPr>
          <a:xfrm>
            <a:off x="502920" y="30358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3,600× Execution Head Start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02920" y="34015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8F7F4">
                    <a:alpha val="7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situation arrives — The Response Is Ready Before the Trigger Fires.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85800" y="3895344"/>
            <a:ext cx="3383280" cy="0"/>
          </a:xfrm>
          <a:prstGeom prst="line">
            <a:avLst/>
          </a:prstGeom>
          <a:noFill/>
          <a:ln w="6350">
            <a:solidFill>
              <a:srgbClr val="2B8A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94360" y="39684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94360" y="43159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7F4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508760" y="39684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231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508760" y="43159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7F4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423160" y="39684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55+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2423160" y="43159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7F4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337560" y="39684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min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3337560" y="43159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7F4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572000" y="2267712"/>
            <a:ext cx="4206240" cy="493776"/>
          </a:xfrm>
          <a:prstGeom prst="roundRect">
            <a:avLst>
              <a:gd name="adj" fmla="val 11111"/>
            </a:avLst>
          </a:prstGeom>
          <a:solidFill>
            <a:srgbClr val="080D20"/>
          </a:solidFill>
          <a:ln w="6350">
            <a:solidFill>
              <a:srgbClr val="2B8A6E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4663440" y="2340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047488" y="23134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every situation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047488" y="25420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protocols · 9 domains · 210 total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72000" y="2852928"/>
            <a:ext cx="4206240" cy="493776"/>
          </a:xfrm>
          <a:prstGeom prst="roundRect">
            <a:avLst>
              <a:gd name="adj" fmla="val 11111"/>
            </a:avLst>
          </a:prstGeom>
          <a:solidFill>
            <a:srgbClr val="080D20"/>
          </a:solidFill>
          <a:ln w="6350">
            <a:solidFill>
              <a:srgbClr val="2B8A6E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466344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047488" y="28986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threshold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5047488" y="31272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 triggers · 39 live sources · 15-min cycles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0" y="3438144"/>
            <a:ext cx="4206240" cy="493776"/>
          </a:xfrm>
          <a:prstGeom prst="roundRect">
            <a:avLst>
              <a:gd name="adj" fmla="val 11111"/>
            </a:avLst>
          </a:prstGeom>
          <a:solidFill>
            <a:srgbClr val="080D20"/>
          </a:solidFill>
          <a:ln w="6350">
            <a:solidFill>
              <a:srgbClr val="2B8A6E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4663440" y="3511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047488" y="34838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executive choices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5047488" y="37124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· Adjust · Switch · Stand down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0" y="4023360"/>
            <a:ext cx="4206240" cy="493776"/>
          </a:xfrm>
          <a:prstGeom prst="roundRect">
            <a:avLst>
              <a:gd name="adj" fmla="val 11111"/>
            </a:avLst>
          </a:prstGeom>
          <a:solidFill>
            <a:srgbClr val="080D20"/>
          </a:solidFill>
          <a:ln w="6350">
            <a:solidFill>
              <a:srgbClr val="2B8A6E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4663440" y="4096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047488" y="4069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through your stack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5047488" y="42976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55+ connectors · Microsoft, Salesforce, ServiceNow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0" y="4608576"/>
            <a:ext cx="4206240" cy="493776"/>
          </a:xfrm>
          <a:prstGeom prst="roundRect">
            <a:avLst>
              <a:gd name="adj" fmla="val 11111"/>
            </a:avLst>
          </a:prstGeom>
          <a:solidFill>
            <a:srgbClr val="080D20"/>
          </a:solidFill>
          <a:ln w="6350">
            <a:solidFill>
              <a:srgbClr val="2B8A6E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4663440" y="4681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047488" y="46542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every learning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5047488" y="4882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loop — smarter after every activation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8A6E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BREADTH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66928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point solution.  </a:t>
            </a:r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operating model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every strategic situation.</a:t>
            </a:r>
            <a:endParaRPr lang="en-US" sz="2600" dirty="0"/>
          </a:p>
        </p:txBody>
      </p:sp>
      <p:sp>
        <p:nvSpPr>
          <p:cNvPr id="40" name="Shape 38"/>
          <p:cNvSpPr/>
          <p:nvPr/>
        </p:nvSpPr>
        <p:spPr>
          <a:xfrm>
            <a:off x="457200" y="192024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85216" y="2011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Strategy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761488" y="201168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2761488" y="201168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5216" y="23225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· activist defense · distressed asset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383280" y="192024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3511296" y="2011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Dynamics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687568" y="201168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687568" y="201168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511296" y="23225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disruption · pricing · market entry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309360" y="192024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6437376" y="2011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613648" y="201168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613648" y="201168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37376" y="23225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collapse · ERP failure · capacity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7200" y="292608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585216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Innovation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2761488" y="301752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2761488" y="30175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85216" y="33284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· cyber breach · AI disruption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383280" y="292608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3511296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687568" y="301752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5687568" y="30175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511296" y="33284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incident · algorithmic failure · bias event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309360" y="292608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6437376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Opportunities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8613648" y="301752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8613648" y="30175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437376" y="33284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entry · partnership · acquisition sprint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57200" y="393192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585216" y="4023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Reputation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2761488" y="402336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2761488" y="40233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85216" y="43342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crisis · product recall · misconduct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3383280" y="393192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3511296" y="4023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Compliance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5687568" y="402336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5687568" y="40233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3511296" y="43342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inquiry · GDPR · SEC investigation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309360" y="393192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6437376" y="4023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&amp; Leadership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8613648" y="402336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8613648" y="40233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437376" y="43342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C-suite departure · succession · mass resignation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57200" y="4709160"/>
            <a:ext cx="8321040" cy="320040"/>
          </a:xfrm>
          <a:prstGeom prst="roundRect">
            <a:avLst>
              <a:gd name="adj" fmla="val 14286"/>
            </a:avLst>
          </a:prstGeom>
          <a:solidFill>
            <a:srgbClr val="0A0C1A"/>
          </a:solidFill>
          <a:ln w="10160">
            <a:solidFill>
              <a:srgbClr val="C9A84C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457200" y="47091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core  ·  </a:t>
            </a:r>
            <a:pPr algn="ctr"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compound cross-domain  ·  </a:t>
            </a:r>
            <a:pPr algn="ctr" indent="0" marL="0">
              <a:buNone/>
            </a:pPr>
            <a:r>
              <a:rPr lang="en-US" sz="11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 total  ·  </a:t>
            </a:r>
            <a:pPr algn="ctr"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strategic domains  ·  </a:t>
            </a:r>
            <a:pPr algn="ctr" indent="0" marL="0">
              <a:buNone/>
            </a:pPr>
            <a:r>
              <a:rPr lang="en-US" sz="11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trigger your enterprise will ever face.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POSITIONING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66928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spent $13B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proving this category exists.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left the response layer empty.</a:t>
            </a:r>
            <a:endParaRPr lang="en-US" sz="2600" dirty="0"/>
          </a:p>
        </p:txBody>
      </p:sp>
      <p:sp>
        <p:nvSpPr>
          <p:cNvPr id="40" name="Shape 38"/>
          <p:cNvSpPr/>
          <p:nvPr/>
        </p:nvSpPr>
        <p:spPr>
          <a:xfrm>
            <a:off x="502920" y="2395728"/>
            <a:ext cx="4206240" cy="713232"/>
          </a:xfrm>
          <a:prstGeom prst="roundRect">
            <a:avLst>
              <a:gd name="adj" fmla="val 8974"/>
            </a:avLst>
          </a:prstGeom>
          <a:solidFill>
            <a:srgbClr val="060D22"/>
          </a:solidFill>
          <a:ln w="10160">
            <a:solidFill>
              <a:srgbClr val="1565C0">
                <a:alpha val="6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94360" y="24688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FULL STACK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94360" y="270662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 ·  Teams  ·  Copilot  ·  SharePoint  ·  Entra  ·  Power Platform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606040" y="3108960"/>
            <a:ext cx="0" cy="128016"/>
          </a:xfrm>
          <a:prstGeom prst="line">
            <a:avLst/>
          </a:prstGeom>
          <a:noFill/>
          <a:ln w="15240">
            <a:solidFill>
              <a:srgbClr val="C9A84C">
                <a:alpha val="5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502920" y="3236976"/>
            <a:ext cx="4206240" cy="713232"/>
          </a:xfrm>
          <a:prstGeom prst="roundRect">
            <a:avLst>
              <a:gd name="adj" fmla="val 8974"/>
            </a:avLst>
          </a:prstGeom>
          <a:solidFill>
            <a:srgbClr val="060D22"/>
          </a:solidFill>
          <a:ln w="10160">
            <a:solidFill>
              <a:srgbClr val="1565C0">
                <a:alpha val="6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94360" y="33101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AI EXECUTION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94360" y="354787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 whether the AI tool can run a task. Does not govern who responds or when.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606040" y="3950208"/>
            <a:ext cx="0" cy="128016"/>
          </a:xfrm>
          <a:prstGeom prst="line">
            <a:avLst/>
          </a:prstGeom>
          <a:noFill/>
          <a:ln w="15240">
            <a:solidFill>
              <a:srgbClr val="C9A84C">
                <a:alpha val="5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502920" y="4078224"/>
            <a:ext cx="4206240" cy="713232"/>
          </a:xfrm>
          <a:prstGeom prst="roundRect">
            <a:avLst>
              <a:gd name="adj" fmla="val 8974"/>
            </a:avLst>
          </a:prstGeom>
          <a:solidFill>
            <a:srgbClr val="0D0820"/>
          </a:solidFill>
          <a:ln w="2540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94360" y="415137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OS — UNCLAIMED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94360" y="43891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Governs: When situation presents itself — who does what, in 12 minutes? Pre-staged. Already built.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029200" y="502920"/>
            <a:ext cx="3794760" cy="1389888"/>
          </a:xfrm>
          <a:prstGeom prst="roundRect">
            <a:avLst>
              <a:gd name="adj" fmla="val 5263"/>
            </a:avLst>
          </a:prstGeom>
          <a:solidFill>
            <a:srgbClr val="080D20"/>
          </a:solidFill>
          <a:ln w="10160">
            <a:solidFill>
              <a:srgbClr val="4A9EE8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5029200" y="594360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9EE8">
                    <a:alpha val="9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$13B</a:t>
            </a:r>
            <a:endParaRPr lang="en-US" sz="3000" dirty="0"/>
          </a:p>
        </p:txBody>
      </p:sp>
      <p:sp>
        <p:nvSpPr>
          <p:cNvPr id="53" name="Text 51"/>
          <p:cNvSpPr/>
          <p:nvPr/>
        </p:nvSpPr>
        <p:spPr>
          <a:xfrm>
            <a:off x="6172200" y="594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validated the market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172200" y="905256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$13B invested in Azure OpenAI + Copilot proves enterprises will buy AI infrastructure. The orchestration layer is proven. The response layer is not.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029200" y="2039112"/>
            <a:ext cx="3794760" cy="1389888"/>
          </a:xfrm>
          <a:prstGeom prst="roundRect">
            <a:avLst>
              <a:gd name="adj" fmla="val 5263"/>
            </a:avLst>
          </a:prstGeom>
          <a:solidFill>
            <a:srgbClr val="080D20"/>
          </a:solidFill>
          <a:ln w="10160">
            <a:solidFill>
              <a:srgbClr val="C9A84C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5029200" y="2130552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>
                    <a:alpha val="9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47K</a:t>
            </a:r>
            <a:endParaRPr lang="en-US" sz="3000" dirty="0"/>
          </a:p>
        </p:txBody>
      </p:sp>
      <p:sp>
        <p:nvSpPr>
          <p:cNvPr id="57" name="Text 55"/>
          <p:cNvSpPr/>
          <p:nvPr/>
        </p:nvSpPr>
        <p:spPr>
          <a:xfrm>
            <a:off x="6172200" y="2130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distribution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172200" y="2441448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Microsoft enterprise customer is a Readiness OS prospect. We sit above their stack — not beside it.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029200" y="3575304"/>
            <a:ext cx="3794760" cy="1389888"/>
          </a:xfrm>
          <a:prstGeom prst="roundRect">
            <a:avLst>
              <a:gd name="adj" fmla="val 5263"/>
            </a:avLst>
          </a:prstGeom>
          <a:solidFill>
            <a:srgbClr val="080D20"/>
          </a:solidFill>
          <a:ln w="10160">
            <a:solidFill>
              <a:srgbClr val="2B8A6E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5029200" y="3666744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8A6E">
                    <a:alpha val="9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</a:t>
            </a:r>
            <a:endParaRPr lang="en-US" sz="3000" dirty="0"/>
          </a:p>
        </p:txBody>
      </p:sp>
      <p:sp>
        <p:nvSpPr>
          <p:cNvPr id="61" name="Text 59"/>
          <p:cNvSpPr/>
          <p:nvPr/>
        </p:nvSpPr>
        <p:spPr>
          <a:xfrm>
            <a:off x="6172200" y="3666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mover wins the category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172200" y="397764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owns strategic response coordination. The category does not yet exist as a budget line. We name it. We own it.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8A6E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66928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competitor can copy
the platform.
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cannot copy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learns.</a:t>
            </a:r>
            <a:endParaRPr lang="en-US" sz="3000" dirty="0"/>
          </a:p>
        </p:txBody>
      </p:sp>
      <p:sp>
        <p:nvSpPr>
          <p:cNvPr id="40" name="Shape 38"/>
          <p:cNvSpPr/>
          <p:nvPr/>
        </p:nvSpPr>
        <p:spPr>
          <a:xfrm>
            <a:off x="502920" y="2944368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080D20"/>
          </a:solidFill>
          <a:ln w="12700">
            <a:solidFill>
              <a:srgbClr val="2B8A6E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02920" y="301752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8A6E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ADVANCE LOOP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0080" y="3291840"/>
            <a:ext cx="777240" cy="777240"/>
          </a:xfrm>
          <a:prstGeom prst="ellipse">
            <a:avLst/>
          </a:prstGeom>
          <a:solidFill>
            <a:srgbClr val="0A0C1A"/>
          </a:solidFill>
          <a:ln w="19050">
            <a:solidFill>
              <a:srgbClr val="C0392B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40080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1435608" y="3675888"/>
            <a:ext cx="182880" cy="0"/>
          </a:xfrm>
          <a:prstGeom prst="line">
            <a:avLst/>
          </a:prstGeom>
          <a:noFill/>
          <a:ln w="15240">
            <a:solidFill>
              <a:srgbClr val="C9A8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66928" y="41330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0392B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627632" y="3291840"/>
            <a:ext cx="777240" cy="777240"/>
          </a:xfrm>
          <a:prstGeom prst="ellipse">
            <a:avLst/>
          </a:prstGeom>
          <a:solidFill>
            <a:srgbClr val="0A0C1A"/>
          </a:solidFill>
          <a:ln w="19050">
            <a:solidFill>
              <a:srgbClr val="C9A84C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1627632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2423160" y="3675888"/>
            <a:ext cx="182880" cy="0"/>
          </a:xfrm>
          <a:prstGeom prst="line">
            <a:avLst/>
          </a:prstGeom>
          <a:noFill/>
          <a:ln w="15240">
            <a:solidFill>
              <a:srgbClr val="C9A8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554480" y="41330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9A84C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615184" y="3291840"/>
            <a:ext cx="777240" cy="777240"/>
          </a:xfrm>
          <a:prstGeom prst="ellipse">
            <a:avLst/>
          </a:prstGeom>
          <a:solidFill>
            <a:srgbClr val="0A0C1A"/>
          </a:solidFill>
          <a:ln w="19050">
            <a:solidFill>
              <a:srgbClr val="C9A84C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2615184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3410712" y="3675888"/>
            <a:ext cx="182880" cy="0"/>
          </a:xfrm>
          <a:prstGeom prst="line">
            <a:avLst/>
          </a:prstGeom>
          <a:noFill/>
          <a:ln w="15240">
            <a:solidFill>
              <a:srgbClr val="C9A8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2542032" y="41330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Close-out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9A84C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602736" y="3291840"/>
            <a:ext cx="777240" cy="777240"/>
          </a:xfrm>
          <a:prstGeom prst="ellipse">
            <a:avLst/>
          </a:prstGeom>
          <a:solidFill>
            <a:srgbClr val="0A0C1A"/>
          </a:solidFill>
          <a:ln w="19050">
            <a:solidFill>
              <a:srgbClr val="2B8A6E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3602736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3529584" y="41330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8A6E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B8A6E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94360" y="468172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B8A6E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Each cycle — the protocol improves. The moat widens.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029200" y="502920"/>
            <a:ext cx="3794760" cy="987552"/>
          </a:xfrm>
          <a:prstGeom prst="roundRect">
            <a:avLst>
              <a:gd name="adj" fmla="val 6481"/>
            </a:avLst>
          </a:prstGeom>
          <a:solidFill>
            <a:srgbClr val="080D20"/>
          </a:solidFill>
          <a:ln w="7620">
            <a:solidFill>
              <a:srgbClr val="C9A84C">
                <a:alpha val="4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5138928" y="594360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activation improves the protocol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138928" y="886968"/>
            <a:ext cx="3584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 activations: proven or disproven. What held under pressure gets encoded. What failed gets corrected.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029200" y="1618488"/>
            <a:ext cx="3794760" cy="987552"/>
          </a:xfrm>
          <a:prstGeom prst="roundRect">
            <a:avLst>
              <a:gd name="adj" fmla="val 6481"/>
            </a:avLst>
          </a:prstGeom>
          <a:solidFill>
            <a:srgbClr val="080D20"/>
          </a:solidFill>
          <a:ln w="7620">
            <a:solidFill>
              <a:srgbClr val="2B8A6E">
                <a:alpha val="4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5138928" y="1709928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memory compounds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138928" y="2002536"/>
            <a:ext cx="3584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protocols start generic. After 12 months they reflect your specific risk profile, stakeholder map, decision patterns.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029200" y="2734056"/>
            <a:ext cx="3794760" cy="987552"/>
          </a:xfrm>
          <a:prstGeom prst="roundRect">
            <a:avLst>
              <a:gd name="adj" fmla="val 6481"/>
            </a:avLst>
          </a:prstGeom>
          <a:solidFill>
            <a:srgbClr val="080D20"/>
          </a:solidFill>
          <a:ln w="7620">
            <a:solidFill>
              <a:srgbClr val="2B8A6E">
                <a:alpha val="4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5138928" y="2825496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 widens with every client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5138928" y="3118104"/>
            <a:ext cx="3584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tier: protocols improve across every client's activations. A competitor who starts today cannot close the gap.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029200" y="3849624"/>
            <a:ext cx="3794760" cy="987552"/>
          </a:xfrm>
          <a:prstGeom prst="roundRect">
            <a:avLst>
              <a:gd name="adj" fmla="val 6481"/>
            </a:avLst>
          </a:prstGeom>
          <a:solidFill>
            <a:srgbClr val="080D20"/>
          </a:solidFill>
          <a:ln w="7620">
            <a:solidFill>
              <a:srgbClr val="C9A84C">
                <a:alpha val="4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5138928" y="3941064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can copy Day 1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5138928" y="4233672"/>
            <a:ext cx="3584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cannot copy Day 365. The institutional memory encoded from every activation is the defensibility no spec can replicate.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78040" y="22860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VAUGHNMARTIN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11480" y="201168"/>
            <a:ext cx="4937760" cy="2377440"/>
          </a:xfrm>
          <a:prstGeom prst="roundRect">
            <a:avLst>
              <a:gd name="adj" fmla="val 3846"/>
            </a:avLst>
          </a:prstGeom>
          <a:solidFill>
            <a:srgbClr val="0A0C1A"/>
          </a:solidFill>
          <a:ln w="12700">
            <a:solidFill>
              <a:srgbClr val="C9A84C">
                <a:alpha val="7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48640" y="228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dirty="0">
                <a:solidFill>
                  <a:srgbClr val="C9A84C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000" dirty="0"/>
          </a:p>
        </p:txBody>
      </p:sp>
      <p:sp>
        <p:nvSpPr>
          <p:cNvPr id="41" name="Text 39"/>
          <p:cNvSpPr/>
          <p:nvPr/>
        </p:nvSpPr>
        <p:spPr>
          <a:xfrm>
            <a:off x="594360" y="621792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8F7F4">
                    <a:alpha val="9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Martin is building the architecture that makes clarity possible before pressure arrives.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94360" y="1755648"/>
            <a:ext cx="1645920" cy="0"/>
          </a:xfrm>
          <a:prstGeom prst="line">
            <a:avLst/>
          </a:prstGeom>
          <a:noFill/>
          <a:ln w="10160">
            <a:solidFill>
              <a:srgbClr val="C9A8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94360" y="1847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Kerry Huang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94360" y="21579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7F4">
                    <a:alpha val="6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50 AVP  ·  ESI Top 1% Researcher  ·  Forbes Business Council  ·  408-firm study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94360" y="23957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A84C">
                    <a:alpha val="5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repost · April 2026 · After 4 weeks of direct platform review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532120" y="201168"/>
            <a:ext cx="2880360" cy="2377440"/>
          </a:xfrm>
          <a:prstGeom prst="roundRect">
            <a:avLst>
              <a:gd name="adj" fmla="val 3846"/>
            </a:avLst>
          </a:prstGeom>
          <a:solidFill>
            <a:srgbClr val="0A0C1A"/>
          </a:solidFill>
          <a:ln w="12700">
            <a:solidFill>
              <a:srgbClr val="2B8A6E">
                <a:alpha val="7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532120" y="29260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8A6E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ECONOMICS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532120" y="292608"/>
            <a:ext cx="3246120" cy="0"/>
          </a:xfrm>
          <a:prstGeom prst="line">
            <a:avLst/>
          </a:prstGeom>
          <a:noFill/>
          <a:ln w="12700">
            <a:solidFill>
              <a:srgbClr val="2B8A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623560" y="5303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 entry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406640" y="5303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$75K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623560" y="804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84C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 ·  100% credited to Year 1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650992" y="1042416"/>
            <a:ext cx="2651760" cy="0"/>
          </a:xfrm>
          <a:prstGeom prst="line">
            <a:avLst/>
          </a:prstGeom>
          <a:noFill/>
          <a:ln w="6350">
            <a:solidFill>
              <a:srgbClr val="2B8A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5623560" y="107899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B8A6E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TIER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623560" y="1298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7F4">
                    <a:alpha val="86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178040" y="12984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8F7F4">
                    <a:alpha val="8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$150K/yr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623560" y="16093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7F4">
                    <a:alpha val="86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Foresight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178040" y="160934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8F7F4">
                    <a:alpha val="8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$250K/yr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623560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8A6E">
                    <a:alpha val="86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178040" y="19202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8A6E">
                    <a:alpha val="8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$450K/yr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623560" y="22677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price — stays constant until customer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to upgrade for more capability.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11480" y="2724912"/>
            <a:ext cx="8366760" cy="1298448"/>
          </a:xfrm>
          <a:prstGeom prst="roundRect">
            <a:avLst>
              <a:gd name="adj" fmla="val 7042"/>
            </a:avLst>
          </a:prstGeom>
          <a:solidFill>
            <a:srgbClr val="100C22"/>
          </a:solidFill>
          <a:ln w="2794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594360" y="279806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  —  THE ENTRY POINT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11480" y="299923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$75K</a:t>
            </a:r>
            <a:endParaRPr lang="en-US" sz="6200" dirty="0"/>
          </a:p>
        </p:txBody>
      </p:sp>
      <p:sp>
        <p:nvSpPr>
          <p:cNvPr id="64" name="Text 62"/>
          <p:cNvSpPr/>
          <p:nvPr/>
        </p:nvSpPr>
        <p:spPr>
          <a:xfrm>
            <a:off x="3749040" y="30540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7F4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validation partnership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3749040" y="336499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7F4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credited to Year 1  ·  Full platform access from Day 1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3749040" y="362102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8A6E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Partners shape the product roadmap and pricing structure.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411480" y="4160520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080D20"/>
          </a:solidFill>
          <a:ln w="6350">
            <a:solidFill>
              <a:srgbClr val="C9A84C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548640" y="42245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9A84C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LTV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48640" y="44256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7F4">
                    <a:alpha val="6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customer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2423160" y="44256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8F7F4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$750K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48640" y="46634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8A6E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2423160" y="46634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A84C">
                    <a:alpha val="9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$2.0M+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4754880" y="4160520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0D0820"/>
          </a:solidFill>
          <a:ln w="12700">
            <a:solidFill>
              <a:srgbClr val="C9A84C">
                <a:alpha val="7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4754880" y="41605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COHORT  ·  </a:t>
            </a:r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SEATS</a:t>
            </a:r>
            <a:pPr algn="ctr" indent="0" marL="0">
              <a:buNone/>
            </a:pPr>
            <a:r>
              <a:rPr lang="en-US" sz="10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APPLICATIONS OPEN NOW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754880" y="46268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vaughnmartin.com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4754880" y="48828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founding@vaughnmartin.com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Georgia"/>
              </a:rPr>
              <a:t>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"/>
              </a:rPr>
              <a:t>THE FOUNDER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13232"/>
            <a:ext cx="850392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Martin Brunke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A84C"/>
                </a:solidFill>
                <a:latin typeface="Barlow"/>
              </a:rPr>
              <a:t>Founder &amp; CEO · VaughnMartin · Readiness OS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057400"/>
            <a:ext cx="228600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24028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Barlow"/>
              </a:rPr>
              <a:t>20 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2402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Barlow"/>
              </a:rPr>
              <a:t>inside enterprise mobilization — lived the 30-day problem firsthand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65176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Barlow"/>
              </a:rPr>
              <a:t>Built &amp; shipped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6517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Barlow"/>
              </a:rPr>
              <a:t>a production-grade platform: 180 protocols, 231 triggers, live signal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06324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Barlow"/>
              </a:rPr>
              <a:t>Category creator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632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Barlow"/>
              </a:rPr>
              <a:t>naming and owning the Readiness Infrastructure layer above the Microsoft stack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657600"/>
            <a:ext cx="2286000" cy="254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94960" y="822960"/>
            <a:ext cx="3474720" cy="3657600"/>
          </a:xfrm>
          <a:prstGeom prst="rect">
            <a:avLst/>
          </a:prstGeom>
          <a:solidFill>
            <a:srgbClr val="0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1005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"/>
              </a:rPr>
              <a:t>THIRD-PARTY VALIDATION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1371600"/>
            <a:ext cx="274320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15087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Georgia"/>
              </a:rPr>
              <a:t>"Martin is building the architecture that makes clarity possible before pressure arrives."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834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"/>
              </a:rPr>
              <a:t>DR. KERRY HUANG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1089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  <a:latin typeface="Barlow"/>
              </a:rPr>
              <a:t>Fortune 50 AVP · ESI Top 1% Researcher
Forbes Business Council · 408-firm study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3657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99"/>
                </a:solidFill>
                <a:latin typeface="Barlow"/>
              </a:rPr>
              <a:t>Public repost · April 2026 · 4 weeks of direct platform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420624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  <a:latin typeface="Barlow"/>
              </a:rPr>
              <a:t>vaughnmartin.com · founding@vaughnmartin.com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Georgia"/>
              </a:rPr>
              <a:t>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"/>
              </a:rPr>
              <a:t>THE 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13232"/>
            <a:ext cx="850392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Pre-Seed Round · Closing Q3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08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C9A84C"/>
                </a:solidFill>
                <a:latin typeface="Georgia"/>
              </a:rPr>
              <a:t>$750K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377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CCCC"/>
                </a:solidFill>
                <a:latin typeface="Barlow"/>
              </a:rPr>
              <a:t>SAFE · $8M post-money cap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788920"/>
            <a:ext cx="320040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926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"/>
              </a:rPr>
              <a:t>USE OF FUNDS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291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Barlow"/>
              </a:rPr>
              <a:t>Enterprise Sales Hire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2918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Barlow"/>
              </a:rPr>
              <a:t>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29184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  <a:latin typeface="Barlow"/>
              </a:rPr>
              <a:t>$375K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6393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Barlow"/>
              </a:rPr>
              <a:t>GTM &amp; Demo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639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Barlow"/>
              </a:rPr>
              <a:t>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63931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  <a:latin typeface="Barlow"/>
              </a:rPr>
              <a:t>$188K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9867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Barlow"/>
              </a:rPr>
              <a:t>Runway &amp;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98678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Barlow"/>
              </a:rPr>
              <a:t>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986784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  <a:latin typeface="Barlow"/>
              </a:rPr>
              <a:t>$187K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822960"/>
            <a:ext cx="4023360" cy="3749039"/>
          </a:xfrm>
          <a:prstGeom prst="rect">
            <a:avLst/>
          </a:prstGeom>
          <a:solidFill>
            <a:srgbClr val="0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"/>
              </a:rPr>
              <a:t>WHAT THIS UNLOCKS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1371600"/>
            <a:ext cx="347472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150876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Barlow"/>
              </a:rPr>
              <a:t>Runway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150876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Barlow"/>
              </a:rPr>
              <a:t>18 months to close Founding Partners and generate ARR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189280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Barlow"/>
              </a:rPr>
              <a:t>Sales hire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189280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Barlow"/>
              </a:rPr>
              <a:t>Dedicated enterprise rep — the one missing piece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2276856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Barlow"/>
              </a:rPr>
              <a:t>GTM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227685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Barlow"/>
              </a:rPr>
              <a:t>Events, travel, executive briefings at $150K–$450K ACV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2660904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Barlow"/>
              </a:rPr>
              <a:t>Proof point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2660904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Barlow"/>
              </a:rPr>
              <a:t>3–5 Founding Partners deployed = defensible ARR by Q4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304495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Barlow"/>
              </a:rPr>
              <a:t>Moat velocity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304495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Barlow"/>
              </a:rPr>
              <a:t>ADVANCE loop compounds with every activation — moat widens faster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206240"/>
            <a:ext cx="8503920" cy="254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434340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  <a:latin typeface="Barlow"/>
              </a:rPr>
              <a:t>vaughnmartin.com · founding@vaughnmartin.com · Deck reviewed by appointment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Readiness OS — VaughnMartin</dc:title>
  <dc:subject>PptxGenJS Presentation</dc:subject>
  <dc:creator>Martin Brunke</dc:creator>
  <cp:lastModifiedBy>Martin Brunke</cp:lastModifiedBy>
  <cp:revision>1</cp:revision>
  <dcterms:created xsi:type="dcterms:W3CDTF">2026-06-26T02:09:00Z</dcterms:created>
  <dcterms:modified xsi:type="dcterms:W3CDTF">2026-06-26T02:09:00Z</dcterms:modified>
</cp:coreProperties>
</file>