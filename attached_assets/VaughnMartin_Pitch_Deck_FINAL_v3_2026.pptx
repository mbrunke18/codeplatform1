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STRATEGIC ADVANTAGE PLATFORM  ·  FORTUNE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901952"/>
            <a:ext cx="164592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011680"/>
            <a:ext cx="41330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84C"/>
                </a:solidFill>
                <a:latin typeface="Barlow Condensed"/>
              </a:rPr>
              <a:t>Signal advantage before execution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487168"/>
            <a:ext cx="41330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Most organizations lose because they detect too late and coordinate too slowly. Readiness OS gives enterprises a full-cycle advantage: map, monitor, decide, execute, learn.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474720"/>
            <a:ext cx="987552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52044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248+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87705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AAC0"/>
                </a:solidFill>
                <a:latin typeface="Barlow Condensed"/>
              </a:rPr>
              <a:t>DATA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887" y="3474720"/>
            <a:ext cx="987552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39" y="352044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39" y="387705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AAC0"/>
                </a:solidFill>
                <a:latin typeface="Barlow Condensed"/>
              </a:rPr>
              <a:t>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2303" y="3474720"/>
            <a:ext cx="987552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5455" y="352044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5" y="387705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AAC0"/>
                </a:solidFill>
                <a:latin typeface="Barlow Condensed"/>
              </a:rPr>
              <a:t>PROTOCOLS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474720"/>
            <a:ext cx="987552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352044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387705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0AAC0"/>
                </a:solidFill>
                <a:latin typeface="Barlow Condensed"/>
              </a:rPr>
              <a:t>DOMAINS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251960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"We're not selling another dashboard. We're selling a repeatable advantage system."</a:t>
            </a:r>
          </a:p>
        </p:txBody>
      </p:sp>
      <p:pic>
        <p:nvPicPr>
          <p:cNvPr id="24" name="Picture 23" descr="frm_slide_home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RESPONSE IS READY BEFORE THE TRIGGER FIRES.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The canonical hero — live at vaughnmartin.com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01 ·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8458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Barlow Condensed"/>
              </a:rPr>
              <a:t>The window closes before
the organization aligns.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975104"/>
            <a:ext cx="84582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2121408"/>
            <a:ext cx="36576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2121408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DETECTION GAP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F0EDE4"/>
                </a:solidFill>
                <a:latin typeface="Barlow"/>
              </a:rPr>
              <a:t>Most organizations find out about strategic situations after the optimal window has already moved.</a:t>
            </a:r>
          </a:p>
          <a:p>
            <a:pPr algn="l">
              <a:spcBef>
                <a:spcPts val="500"/>
              </a:spcBef>
            </a:pPr>
            <a:r>
              <a:rPr sz="850" b="0" i="1">
                <a:solidFill>
                  <a:srgbClr val="A0AAC0"/>
                </a:solidFill>
                <a:latin typeface="Barlow"/>
              </a:rPr>
              <a:t>Signals unmonitored  ·  Thresholds undefined  ·  No early warning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82312" y="2121408"/>
            <a:ext cx="36576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4" y="2121408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MOBILIZATION GAP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F0EDE4"/>
                </a:solidFill>
                <a:latin typeface="Barlow"/>
              </a:rPr>
              <a:t>Even when detected in time, the first 30 days are spent figuring out who decides, who funds, who acts — before execution even begins.</a:t>
            </a:r>
          </a:p>
          <a:p>
            <a:pPr algn="l">
              <a:spcBef>
                <a:spcPts val="500"/>
              </a:spcBef>
            </a:pPr>
            <a:r>
              <a:rPr sz="850" b="0" i="1">
                <a:solidFill>
                  <a:srgbClr val="A0AAC0"/>
                </a:solidFill>
                <a:latin typeface="Barlow"/>
              </a:rPr>
              <a:t>Who owns response  ·  Who can decide  ·  What gets funded  ·  Who must be notified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4005072"/>
            <a:ext cx="8458200" cy="530352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78224"/>
            <a:ext cx="8092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RESULT  ·  Find out late. Mobilize slowly. By the time alignment happens, the best window is often gone.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626864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"Failure is usually late detection + late coordination, not effort."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02 ·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Barlow Condensed"/>
              </a:rPr>
              <a:t>See it earlier.
Execute in 12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29968"/>
            <a:ext cx="146304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130552"/>
            <a:ext cx="4133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C0"/>
                </a:solidFill>
                <a:latin typeface="Barlow"/>
              </a:rPr>
              <a:t>Readiness OS delivers compounding advantage: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578608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468880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Earlier signal detection across customer-defined 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980944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871216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Faster authorized execution using pre-staged protocols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383280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73552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Readiness that compounds with every activation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685032"/>
            <a:ext cx="1298448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712463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Barlow Condensed"/>
              </a:rPr>
              <a:t>248+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06908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64792" y="3685032"/>
            <a:ext cx="1298448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6232" y="3712463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406908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triggers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3685032"/>
            <a:ext cx="1298448" cy="658368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3712463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406908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protocols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425696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"Speed matters, but timing matters first."</a:t>
            </a:r>
          </a:p>
        </p:txBody>
      </p:sp>
      <p:pic>
        <p:nvPicPr>
          <p:cNvPr id="26" name="Picture 25" descr="frm_slide_how_it_execu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12-MINUTE EXECUTION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Signal → Protocol matched → Team notified → Executive authorizes → Execution live in 12 minutes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vaughnmartin.com/how-it-executes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03 ·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PRODUCT SYSTEM  ·  5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Barlow Condensed"/>
              </a:rPr>
              <a:t>Map → Monitor → Decide
→ Execute →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29968"/>
            <a:ext cx="65836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21408"/>
            <a:ext cx="585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0F2E"/>
                </a:solidFill>
                <a:latin typeface="Barlow Condensed"/>
              </a:rP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Situations faced, facing, may face — defined before pressure arrives.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505456"/>
            <a:ext cx="658368" cy="3840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596896"/>
            <a:ext cx="585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0F2E"/>
                </a:solidFill>
                <a:latin typeface="Barlow Condensed"/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Trigger &amp; alert architecture on customer terms. 248+ data points, every 15 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980944"/>
            <a:ext cx="65836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72384"/>
            <a:ext cx="585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0F2E"/>
                </a:solidFill>
                <a:latin typeface="Barlow Condensed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35808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Executive authority at every decision gate. Four choices including Stand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456432"/>
            <a:ext cx="658368" cy="3840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47872"/>
            <a:ext cx="585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0F2E"/>
                </a:solidFill>
                <a:latin typeface="Barlow Condensed"/>
              </a:rPr>
              <a:t>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11296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Roles, budgets, PR, comms, tasks — coordinated in 12 minutes.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931920"/>
            <a:ext cx="65836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023360"/>
            <a:ext cx="585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A0F2E"/>
                </a:solidFill>
                <a:latin typeface="Barlow Condensed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86784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+18% readiness per cycle. Every activation encodes what held.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425696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"This is full operating architecture, not a point solution."</a:t>
            </a:r>
          </a:p>
        </p:txBody>
      </p:sp>
      <p:pic>
        <p:nvPicPr>
          <p:cNvPr id="24" name="Picture 23" descr="frm_slide_how_it_wor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FULL ADVANTAGE SYSTEM — LIVE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All five stages active. vaughnmartin.com/how-it-executes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vaughnmartin.com/how-it-executes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04 ·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GOVERNANCE  ·  TRUST  · 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8458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Barlow Condensed"/>
              </a:rPr>
              <a:t>AI monitors. Executives authorize.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719072"/>
            <a:ext cx="84582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874519"/>
            <a:ext cx="2633472" cy="2331720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874519"/>
            <a:ext cx="263347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31720"/>
            <a:ext cx="22677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System surfaces patterns, signal confidence scores, and threshold alerts across 248+ data points — continuously, every 15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3824" y="1874519"/>
            <a:ext cx="2633472" cy="2331720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824" y="1874519"/>
            <a:ext cx="263347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1993392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Barlow Condensed"/>
              </a:rPr>
              <a:t>EXECUTIVE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331720"/>
            <a:ext cx="22677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Humans retain all decision rights. No action deploys without explicit executive authorization. Four choices at every gate, including Stand 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176" y="1874519"/>
            <a:ext cx="2633472" cy="2331720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0176" y="1874519"/>
            <a:ext cx="263347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993392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BOARD-READY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331720"/>
            <a:ext cx="22677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Every activation, decision, and outcome is logged, timestamped, and exportable. Full governance trail for board and compliance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389120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"We accelerate decision quality without surrendering control."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05 ·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LIVE IN PRODUCTION  ·  TESTABLE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Barlow Condensed"/>
              </a:rPr>
              <a:t>Production platform with
guided onboarding is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29968"/>
            <a:ext cx="164592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2267712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148840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Public product and onboarding flows are 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688336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569464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Users move from discovery to first guided execution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108960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990088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Core surfaces accessible for evaluation, demos, and partner onboarding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529584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410712"/>
            <a:ext cx="39684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4"/>
                </a:solidFill>
                <a:latin typeface="Barlow"/>
              </a:rPr>
              <a:t>Live at vaughnmartin.com — no sign-in required to begin 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425696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"This is live, testable software, not slides-only."</a:t>
            </a:r>
          </a:p>
        </p:txBody>
      </p:sp>
      <p:pic>
        <p:nvPicPr>
          <p:cNvPr id="18" name="Picture 17" descr="frm_slide_test_dr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12-MINUTE TEST DRIVE — 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Interactive simulation. Choose a scenario. Step through execution. No sign-in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vaughnmartin.com/12-minute-experience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06 ·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COMMERCIAL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8458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Barlow Condensed"/>
              </a:rPr>
              <a:t>Founding Partner motion with
enterprise expansion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975104"/>
            <a:ext cx="84582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2103120"/>
            <a:ext cx="36576" cy="1691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21031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INITIAL MOTION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F0EDE4"/>
                </a:solidFill>
                <a:latin typeface="Barlow"/>
              </a:rPr>
              <a:t>Founding Partner engagement — focused deployment, scenario setup, and measurable readiness outcomes.</a:t>
            </a:r>
          </a:p>
          <a:p>
            <a:pPr algn="l">
              <a:spcBef>
                <a:spcPts val="600"/>
              </a:spcBef>
            </a:pPr>
            <a:r>
              <a:rPr sz="950" b="0" i="1">
                <a:solidFill>
                  <a:srgbClr val="A0AAC0"/>
                </a:solidFill>
                <a:latin typeface="Barlow"/>
              </a:rPr>
              <a:t>$75K – $250K / year  ·  Annual recurring  ·  No per-seat pricing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782312" y="2103120"/>
            <a:ext cx="36576" cy="16916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4" y="21031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Barlow Condensed"/>
              </a:rPr>
              <a:t>EXPANSION PATH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F0EDE4"/>
                </a:solidFill>
                <a:latin typeface="Barlow"/>
              </a:rPr>
              <a:t>Deeper protocol coverage, broader functional adoption, and long-term annual platform relationship inside each account.</a:t>
            </a:r>
          </a:p>
          <a:p>
            <a:pPr algn="l">
              <a:spcBef>
                <a:spcPts val="600"/>
              </a:spcBef>
            </a:pPr>
            <a:r>
              <a:rPr sz="950" b="0" i="1">
                <a:solidFill>
                  <a:srgbClr val="A0AAC0"/>
                </a:solidFill>
                <a:latin typeface="Barlow"/>
              </a:rPr>
              <a:t>Month 6: 3 partners recurring  ·  Month 9: Controls complete  ·  Month 12: Repeatable GTM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389120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"We start focused, prove operational value, then scale inside the account."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vaughnmartin.com/founding-partner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07 ·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Barlow Condensed"/>
              </a:rPr>
              <a:t>Volatility increased.
Reaction models did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29968"/>
            <a:ext cx="164592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148840"/>
            <a:ext cx="4133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C0"/>
                </a:solidFill>
                <a:latin typeface="Barlow"/>
              </a:rPr>
              <a:t>Enterprises now face: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514600"/>
            <a:ext cx="36576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514600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Higher signal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761488"/>
            <a:ext cx="3950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More situations, faster cycle times, fewer clear windows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072384"/>
            <a:ext cx="36576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072384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Tighter decision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319272"/>
            <a:ext cx="3950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The gap between signal and consequence is compressing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630168"/>
            <a:ext cx="36576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30168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Greater cross-functional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877056"/>
            <a:ext cx="3950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More stakeholders, same 30-day coordination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425696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"The environment modernized. The operating model didn't."</a:t>
            </a:r>
          </a:p>
        </p:txBody>
      </p:sp>
      <p:pic>
        <p:nvPicPr>
          <p:cNvPr id="20" name="Picture 19" descr="frm_slide_demo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ANY SITUATION. ANY TRIGGER. 12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12 full scenario simulations across Growth, Risk &amp; Resilience, and Transformation.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vaughnmartin.com/demo-hub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08 ·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7720" y="0"/>
            <a:ext cx="4526280" cy="5148072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7720" y="320040"/>
            <a:ext cx="20116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DIFFERENTIATION  ·  THE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13308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Barlow Condensed"/>
              </a:rPr>
              <a:t>Not just faster response —
better operating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29968"/>
            <a:ext cx="164592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2203704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148840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Full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395728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Detection through learning — not just execution 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715768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Customer-defined 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907792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Architecture built on your terms, not generic templates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227832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172968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Authority-aware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19856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Pre-assigned decision rights — no alignment delay at trigger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739896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85032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Barlow"/>
              </a:rPr>
              <a:t>Compounding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931920"/>
            <a:ext cx="3950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C0"/>
                </a:solidFill>
                <a:latin typeface="Barlow"/>
              </a:rPr>
              <a:t>Every activation encodes what held. +18% improvement per 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25696"/>
            <a:ext cx="41330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Barlow"/>
              </a:rPr>
              <a:t>"This is durable infrastructure, not campaign software."</a:t>
            </a:r>
          </a:p>
        </p:txBody>
      </p:sp>
      <p:pic>
        <p:nvPicPr>
          <p:cNvPr id="22" name="Picture 21" descr="frm_slide_proof_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02920"/>
            <a:ext cx="4041648" cy="22677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00600" y="2862072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SAME TRIGGER. ENTIRELY DIFFERENT OUTCOME.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127248"/>
            <a:ext cx="4041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C0"/>
                </a:solidFill>
                <a:latin typeface="Barlow"/>
              </a:rPr>
              <a:t>$47M in penalties → $0   ·   7 weeks disruption → 0 days   ·   −11% stock → +4% recovery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vaughnmartin.com/proof-story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09 ·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0" y="0"/>
            <a:ext cx="3246120" cy="5148072"/>
          </a:xfrm>
          <a:prstGeom prst="rect">
            <a:avLst/>
          </a:prstGeom>
          <a:solidFill>
            <a:srgbClr val="13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448056"/>
            <a:ext cx="182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Barlow Condensed"/>
              </a:rPr>
              <a:t>Partner with us to
scale Readiness 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176272"/>
            <a:ext cx="18288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3042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RAISING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23042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Up to $1,000,000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7706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USE OF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7706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Product hardening  ·  Enterprise controls  ·  Founding Partner 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23697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FOUNDING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32369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12 seats  ·  $75K–$250K/yr  ·  90-day validation  ·  Annual recurring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7033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Barlow Condensed"/>
              </a:rPr>
              <a:t>18-MONTH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3703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DE4"/>
                </a:solidFill>
                <a:latin typeface="Barlow"/>
              </a:rPr>
              <a:t>Mo.6: 3 partners recurring  ·  Mo.9: Controls complete  ·  Mo.12: Repeatable GTM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777240"/>
            <a:ext cx="2743200" cy="25603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914400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C9A84C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212848"/>
            <a:ext cx="210312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2359152"/>
            <a:ext cx="27980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0EDE4"/>
                </a:solidFill>
                <a:latin typeface="Barlow"/>
              </a:rPr>
              <a:t>"If your thesis is that advantage belongs to organizations that see earlier and execute decisively — we should talk."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337560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A84C"/>
                </a:solidFill>
                <a:latin typeface="Barlow Condensed"/>
              </a:rPr>
              <a:t>vaughnmartin.com/founding-partner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63440"/>
            <a:ext cx="91440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AC0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18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AC0"/>
                </a:solidFill>
                <a:latin typeface="Barlow Condensed"/>
              </a:rPr>
              <a:t>vaughnmartin.com/founding-partner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18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AC0"/>
                </a:solidFill>
                <a:latin typeface="Barlow Condensed"/>
              </a:rPr>
              <a:t>10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