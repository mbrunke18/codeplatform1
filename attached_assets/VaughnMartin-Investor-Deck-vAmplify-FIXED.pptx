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2987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HOOK:</a:t>
            </a:r>
          </a:p>
          <a:p>
            <a:r>
              <a:t>"Every company in your portfolio has an AI stack to process information faster. Yet when a strategic trigger fires, it still takes 30 days of committee meetings to act. We built the operating model that closes that gap permanently — a 3,600× execution head start. The response is pre-staged before the crisis hits."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TRACK:</a:t>
            </a:r>
          </a:p>
          <a:p>
            <a:r>
              <a:t>"The market thinks companies have a strategy problem. They don't — they have an architecture problem. Leadership spends the first two to three weeks just figuring out who has authority to make the first move. That 30-day delay is an existential window that activists, regulators, and competitors completely own."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TRACK:</a:t>
            </a:r>
          </a:p>
          <a:p>
            <a:r>
              <a:t>"This is a $42 billion market defined by Gartner across SPM, GRC, and EPMO categories — three categories that have never been unified under a single execution layer. We are building that layer. And every enterprise already has the Microsoft investment sitting idle without the operating model to activate it — we are that operating model."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TRACK:</a:t>
            </a:r>
          </a:p>
          <a:p>
            <a:r>
              <a:t>"I am the only person at this intersection of depth. You cannot replicate this from a job description. 20 years watching the same mobilization gap across Ford, Lockheed, Charles Schwab. 5 years at Stanford where the 40-second clock is absolute — the response is pre-staged before the snap fires. That discipline is the entire product thesis."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TRACK:</a:t>
            </a:r>
          </a:p>
          <a:p>
            <a:r>
              <a:t>"When a ransomware signal hits, in less than 120 seconds the system delivers a board-ready execution brief with pre-approved communication streams and a mapped authority chain. The AI monitors, but humans decide. 30 days of chaos becomes a 12-minute executive sign-off."</a:t>
            </a:r>
          </a:p>
          <a:p>
            <a:endParaRPr/>
          </a:p>
          <a:p>
            <a:r>
              <a:t>KEY: "The system stages the choice in seconds. The executive must click authorize."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TRACK:</a:t>
            </a:r>
          </a:p>
          <a:p>
            <a:r>
              <a:t>"The system doesn't autonomously execute. In less than 120 seconds, it delivers a board-ready brief. STEP 4 — four real choices, including Stand Down. Human authority is preserved at every point. AI monitors. Executives authorize. Teams execute."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LINE: "Signal Labs routes the signal. ServiceNow runs the workflow. McKinsey arrives after the trigger. VaughnMartin had the response pre-staged before any of them were called — and the data moat becomes uncatchable by month 18."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TRACK:</a:t>
            </a:r>
          </a:p>
          <a:p>
            <a:r>
              <a:t>"Enterprises already burn $400K–$800K on reactive consulting retainers. We replace that spend with software infrastructure at $75K–$250K that compounds. Break-even before the second activation fires — and the $300K average ACV by Year 3 is driven by industry pack expansion on top of the core license, not price increases."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TRACK:</a:t>
            </a:r>
          </a:p>
          <a:p>
            <a:r>
              <a:t>"The platform isn't a pitch deck — it's live and testable right now. Pull out your phone: vaughnmartin.com/how-it-executes. And the category validation came unsolicited — Dr. Kerry Huang, ESI Top 1% researcher across 408 firms, publicly endorsed the framework on LinkedIn. The thesis is independently confirmed."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TRACK:</a:t>
            </a:r>
          </a:p>
          <a:p>
            <a:r>
              <a:t>"Pull out your phone right now. Go to vaughnmartin.com/how-it-executes. Watch the 12-minute execution chain run live. This is not a roadmap — it is live and testable today. The proof story shows the same trigger, same company, entirely different outcome based on one variable: whether the response was pre-staged."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TRACK:</a:t>
            </a:r>
          </a:p>
          <a:p>
            <a:r>
              <a:t>"Year 1 is Founding Partner closes — founder-led, very high touch. The ARR trajectory is driven by our expansion motion: $125K land, $175K expand through industry pack add-ons. The Series A trigger is a $3.75M ARR run rate at month 18 — we raise from strength, not desperation."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TRACK:</a:t>
            </a:r>
          </a:p>
          <a:p>
            <a:r>
              <a:t>"$750K pre-seed. Twelve months. Three milestones. Six Founding Partners signed at month 1 self-funds GTM from that point forward — $450K validation revenue in the first 90-day cohort. We hit $1M ARR at month 12 and raise Series A from strength, not desperation. The 12 Founding Partner seats are limited — this is a capacity decision, not a confidence one."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CLOSE:</a:t>
            </a:r>
          </a:p>
          <a:p>
            <a:r>
              <a:t>"PREPARATION → READINESS → FEARLESS.</a:t>
            </a:r>
          </a:p>
          <a:p>
            <a:endParaRPr/>
          </a:p>
          <a:p>
            <a:r>
              <a:t>Any organization prepared for every situation it expects to face is no longer afraid — it is fearless. That is the endpoint. Not speed. Fearless.</a:t>
            </a:r>
          </a:p>
          <a:p>
            <a:endParaRPr/>
          </a:p>
          <a:p>
            <a:r>
              <a:t>The platform is live. 12 Founding Partner seats. Let's build the future of fearless execution together."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912864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94576" y="0"/>
            <a:ext cx="5486" cy="6858000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02336"/>
            <a:ext cx="2323490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57200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dirty="0">
                <a:solidFill>
                  <a:srgbClr val="2B8A6E"/>
                </a:solidFill>
                <a:latin typeface="Calibri"/>
              </a:rPr>
              <a:t>●  MONITORING ACTIVE  ·  1 SIGNAL DETECTED  ·  SYSTEM ARMED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42415"/>
            <a:ext cx="6217920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64008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0">
                <a:solidFill>
                  <a:srgbClr val="FFFFFF"/>
                </a:solidFill>
                <a:latin typeface="Georgia"/>
              </a:rPr>
              <a:t>The Response Is 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121408"/>
            <a:ext cx="64008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1">
                <a:solidFill>
                  <a:srgbClr val="C9A84C"/>
                </a:solidFill>
                <a:latin typeface="Georgia"/>
              </a:rPr>
              <a:t>before the trigger fires.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3163824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AB4CC"/>
                </a:solidFill>
                <a:latin typeface="Calibri"/>
              </a:rPr>
              <a:t>Defense + Offense System  ·  Startup to Fortune 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419856"/>
            <a:ext cx="621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Preparation Infrastructure for a Volatile World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" y="3730752"/>
            <a:ext cx="6217920" cy="1645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" y="3895344"/>
            <a:ext cx="14447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Calibri"/>
              </a:rPr>
              <a:t>12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4389120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AB4CC"/>
                </a:solidFill>
                <a:latin typeface="Calibri"/>
              </a:rPr>
              <a:t>trigger to execution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01952" y="3895344"/>
            <a:ext cx="12801" cy="640080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75104" y="3895344"/>
            <a:ext cx="14447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Calibri"/>
              </a:rPr>
              <a:t>3,600×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5104" y="4389120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AB4CC"/>
                </a:solidFill>
                <a:latin typeface="Calibri"/>
              </a:rPr>
              <a:t>execution head start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38144" y="3895344"/>
            <a:ext cx="12801" cy="640080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11296" y="3895344"/>
            <a:ext cx="14447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Calibri"/>
              </a:rPr>
              <a:t>170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1296" y="4389120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AB4CC"/>
                </a:solidFill>
                <a:latin typeface="Calibri"/>
              </a:rPr>
              <a:t>Readiness Protocols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74336" y="3895344"/>
            <a:ext cx="12801" cy="640080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47488" y="3895344"/>
            <a:ext cx="14447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Calibri"/>
              </a:rPr>
              <a:t>221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4389120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AB4CC"/>
                </a:solidFill>
                <a:latin typeface="Calibri"/>
              </a:rPr>
              <a:t>trigger patterns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" y="4645152"/>
            <a:ext cx="6217920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" y="4718304"/>
            <a:ext cx="621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B4CC"/>
                </a:solidFill>
                <a:latin typeface="Calibri"/>
              </a:rPr>
              <a:t>INVESTOR BRIEF  ·  MAY 2026  ·  CONFIDENTIAL</a:t>
            </a:r>
          </a:p>
        </p:txBody>
      </p:sp>
      <p:pic>
        <p:nvPicPr>
          <p:cNvPr id="26" name="Picture 25" descr="vm_seal_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592" y="256032"/>
            <a:ext cx="4956048" cy="4956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95744" y="4855464"/>
            <a:ext cx="4956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C9A84C"/>
                </a:solidFill>
                <a:latin typeface="Calibri"/>
              </a:rPr>
              <a:t>ANTE IGNEM PARATUS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95744" y="5050076"/>
            <a:ext cx="4956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dirty="0">
                <a:solidFill>
                  <a:srgbClr val="AAB4CC"/>
                </a:solidFill>
                <a:latin typeface="Georgia"/>
              </a:rPr>
              <a:t>Prepared Before the Fire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5833872"/>
            <a:ext cx="4169663" cy="43891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06640" y="5888736"/>
            <a:ext cx="416966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4071E"/>
                </a:solidFill>
                <a:latin typeface="Calibri"/>
              </a:rPr>
              <a:t>REQUEST FOUNDING PARTNER ACCESS  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6592824"/>
            <a:ext cx="9628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CONFIDENTIAL  ·  NOT FOR DISTRIBUTION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47104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41617" y="0"/>
            <a:ext cx="5486" cy="6858000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54864"/>
            <a:ext cx="11914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0F2E"/>
                </a:solidFill>
                <a:latin typeface="Calibri"/>
              </a:rPr>
              <a:t>  01  / 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01  / 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vaughnmartin.com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201168"/>
            <a:ext cx="5760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65760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30-DAY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841248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Calibri"/>
              </a:rPr>
              <a:t>MOBILIZATION BLACK HOLE.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1371600"/>
            <a:ext cx="6126480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1517904"/>
            <a:ext cx="2560320" cy="1572768"/>
          </a:xfrm>
          <a:prstGeom prst="rect">
            <a:avLst/>
          </a:prstGeom>
          <a:solidFill>
            <a:srgbClr val="1F6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4048" y="1517904"/>
            <a:ext cx="2560320" cy="23774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157276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B8A6E"/>
                </a:solidFill>
                <a:latin typeface="Calibri"/>
              </a:rPr>
              <a:t>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1773936"/>
            <a:ext cx="2377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&lt; 1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2414015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FFEE"/>
                </a:solidFill>
                <a:latin typeface="Calibri"/>
              </a:rPr>
              <a:t>Signal identified
Pattern matched
Protocol staged
Score computed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1956815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93008" y="1517904"/>
            <a:ext cx="2505456" cy="1572768"/>
          </a:xfrm>
          <a:prstGeom prst="rect">
            <a:avLst/>
          </a:prstGeom>
          <a:solidFill>
            <a:srgbClr val="3A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93008" y="1517904"/>
            <a:ext cx="2505456" cy="23774"/>
          </a:xfrm>
          <a:prstGeom prst="rect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21024" y="157276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666"/>
                </a:solidFill>
                <a:latin typeface="Calibri"/>
              </a:rPr>
              <a:t>MOBILIZATION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1773936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8888"/>
                </a:solidFill>
                <a:latin typeface="Calibri"/>
              </a:rPr>
              <a:t>30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1024" y="2414015"/>
            <a:ext cx="2286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CCCC"/>
                </a:solidFill>
                <a:latin typeface="Calibri"/>
              </a:rPr>
              <a:t>Who decides?
Who calls who?
Who owns it?
Who authorizes?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3218688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Startup to Fortune 500 — same trigger, identical 30-day drift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3621024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The delay is not execution — it is mobilization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02336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Every day of drift: a window activists, regulators, competitors own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" y="4992624"/>
            <a:ext cx="5760720" cy="658368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4048" y="4992624"/>
            <a:ext cx="5760720" cy="2194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2064" y="5038344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Calibri"/>
              </a:rPr>
              <a:t>$4.4T COORDINATION FAILURE ANNUALLY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5321808"/>
            <a:ext cx="5559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The 30-day mobilization gap is an architecture problem. We eliminate it permanently.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28816" y="402336"/>
            <a:ext cx="5550408" cy="6108192"/>
          </a:xfrm>
          <a:prstGeom prst="rect">
            <a:avLst/>
          </a:prstGeom>
          <a:solidFill>
            <a:srgbClr val="02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37376" y="347472"/>
            <a:ext cx="36576" cy="61081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hq_command_tow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347472"/>
            <a:ext cx="5550408" cy="61081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54864"/>
            <a:ext cx="11914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0F2E"/>
                </a:solidFill>
                <a:latin typeface="Calibri"/>
              </a:rPr>
              <a:t>  02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02  /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vaughnmartin.com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201168"/>
            <a:ext cx="1152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THE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65760"/>
            <a:ext cx="11411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A $42 Billion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914400"/>
            <a:ext cx="11411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1">
                <a:solidFill>
                  <a:srgbClr val="C9A84C"/>
                </a:solidFill>
                <a:latin typeface="Georgia"/>
              </a:rPr>
              <a:t>coordination failure.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1517904"/>
            <a:ext cx="11411712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4048" y="1682496"/>
            <a:ext cx="3749039" cy="301752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1682496"/>
            <a:ext cx="3749039" cy="237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17556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TAM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02996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$42B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87121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Enterprise coordination,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12724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and execution infrastructure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5968" y="1682496"/>
            <a:ext cx="3749039" cy="301752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15968" y="1682496"/>
            <a:ext cx="3749039" cy="23774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98848" y="17556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8A6E"/>
                </a:solidFill>
                <a:latin typeface="Calibri"/>
              </a:rPr>
              <a:t>SAM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202996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$4.8B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287121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Operating model layer for Fortune 5000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312724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and PE-backed enterprises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1682496"/>
            <a:ext cx="3749039" cy="301752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47888" y="1682496"/>
            <a:ext cx="3749039" cy="23774"/>
          </a:xfrm>
          <a:prstGeom prst="rect">
            <a:avLst/>
          </a:prstGeom>
          <a:solidFill>
            <a:srgbClr val="AA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0767" y="17556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B4CC"/>
                </a:solidFill>
                <a:latin typeface="Calibri"/>
              </a:rPr>
              <a:t>SOM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7" y="202996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$180M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0767" y="287121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5-year capture target across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0767" y="312724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Founding Partner and Growth tiers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4381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96B4"/>
                </a:solidFill>
                <a:latin typeface="Calibri"/>
              </a:rPr>
              <a:t>Gartner SPM + GRC + EPMO categories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34381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96B4"/>
                </a:solidFill>
                <a:latin typeface="Calibri"/>
              </a:rPr>
              <a:t>~25K target accounts × $200K avg ACV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7" y="34381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96B4"/>
                </a:solidFill>
                <a:latin typeface="Calibri"/>
              </a:rPr>
              <a:t>600 customers × $300K avg ACV by Y5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4736592"/>
            <a:ext cx="1141171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4048" y="4828032"/>
            <a:ext cx="114117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AB4CC"/>
                </a:solidFill>
                <a:latin typeface="Calibri"/>
              </a:rPr>
              <a:t>Sources: Gartner Strategic Portfolio Management 2025  ·  McKinsey 2025 coordination cost  ·  WEF × Accenture March 2026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" y="5102352"/>
            <a:ext cx="11411712" cy="1005840"/>
          </a:xfrm>
          <a:prstGeom prst="rect">
            <a:avLst/>
          </a:prstGeom>
          <a:solidFill>
            <a:srgbClr val="081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84048" y="5102352"/>
            <a:ext cx="11411712" cy="2194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0352" y="5157216"/>
            <a:ext cx="112288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THE MICROSOFT MULTIPLIER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5394960"/>
            <a:ext cx="112288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B4CC"/>
                </a:solidFill>
                <a:latin typeface="Georgia"/>
              </a:rPr>
              <a:t>"Every enterprise has Microsoft's AI stack. None have the operating model to use it." — Readiness OS is the operating model layer that sits above the Microsoft investment. Not a replacement. The orchestrator.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54864"/>
            <a:ext cx="11914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0F2E"/>
                </a:solidFill>
                <a:latin typeface="Calibri"/>
              </a:rPr>
              <a:t>  03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03  /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vaughnmartin.com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201168"/>
            <a:ext cx="1152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THE FOUNDER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65760"/>
            <a:ext cx="11411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4C"/>
                </a:solidFill>
                <a:latin typeface="Calibri"/>
              </a:rPr>
              <a:t>THE ONLY TEAM ALIVE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841248"/>
            <a:ext cx="11411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THAT COULD BUILD THIS.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1371600"/>
            <a:ext cx="11411712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4048" y="1517904"/>
            <a:ext cx="5394960" cy="256032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" y="1554480"/>
            <a:ext cx="5248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FORTUNE 500 OPERATIONS  ·  20+ YEARS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1828800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·  Ford · Toyota · Lockheed Martin · Charles Schwab · Vantiv/Worldpay · Boyd Gaming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2231136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·  Watched the 30-day mobilization failure repeat across every vertical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2633472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·  Same architecture gap — different trigger, identical delay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" y="3035808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·  Built Readiness OS in 2023 to eliminate this pattern permanently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517904"/>
            <a:ext cx="5394960" cy="256032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01968" y="1554480"/>
            <a:ext cx="5248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B8A6E"/>
                </a:solidFill>
                <a:latin typeface="Calibri"/>
              </a:rPr>
              <a:t>STANFORD UNIVERSITY  ·  FOOTBALL COACHING  ·  5 YEARS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1828800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·  Major college football — billion-dollar coordinated operation under pressure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2231136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·  40-second play clock — full team response, zero committee meetings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2633472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·  The response is pre-staged before the snap — not designed after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3035808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·  That preparation discipline is the foundation of the IDEA Framework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3547872"/>
            <a:ext cx="11411712" cy="27432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0352" y="3593591"/>
            <a:ext cx="11228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9A84C"/>
                </a:solidFill>
                <a:latin typeface="Calibri"/>
              </a:rPr>
              <a:t>MARTY BRUNKE  ·  FOUNDER &amp; CEO  ·  THE INTERSECTION WHERE PREPARATION BECOMES PERFORMANCE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3913632"/>
            <a:ext cx="1141171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" y="3995928"/>
            <a:ext cx="114117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B4CC"/>
                </a:solidFill>
                <a:latin typeface="Georgia"/>
              </a:rPr>
              <a:t>"I spent 20 years at Ford and Lockheed Martin watching the same 30-day mobilization failure repeat. And 5 years at Stanford — 40 seconds to orchestrate a multi-million dollar operation under extreme pressure. You don't huddle after the snap. The response is pre-staged. That's the architecture I built for the enterprise."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47104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41617" y="0"/>
            <a:ext cx="5486" cy="6858000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54864"/>
            <a:ext cx="11914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0F2E"/>
                </a:solidFill>
                <a:latin typeface="Calibri"/>
              </a:rPr>
              <a:t>  04  / 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04  / 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vaughnmartin.com/how-it-executes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201168"/>
            <a:ext cx="5760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THE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6576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84C"/>
                </a:solidFill>
                <a:latin typeface="Calibri"/>
              </a:rPr>
              <a:t>READINESS OS: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731520"/>
            <a:ext cx="6126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RESPONSE IS 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1152144"/>
            <a:ext cx="6126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9A84C"/>
                </a:solidFill>
                <a:latin typeface="Calibri"/>
              </a:rPr>
              <a:t>BEFORE THE TRIGGER FIRES.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1627632"/>
            <a:ext cx="6126480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1773936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170 Readiness Protocols — Growth &amp; Positioning, Risk &amp; Resilience,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217627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221 trigger patterns monitored across 8 live data sources every 15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2578608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248+ data points confidence-scored continuously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2980944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AI monitors. Executives authorize. No protocol fires without executive sign-off.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383279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90-day configuration onboarding — not a consulting project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840480"/>
            <a:ext cx="6126480" cy="60350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4048" y="3840480"/>
            <a:ext cx="6126480" cy="21945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" y="3895344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8A6E"/>
                </a:solidFill>
                <a:latin typeface="Calibri"/>
              </a:rPr>
              <a:t>THE SYSTEM STAGES THE CHOICE IN SECONDS.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4151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8A6E"/>
                </a:solidFill>
                <a:latin typeface="Calibri"/>
              </a:rPr>
              <a:t>THE EXECUTIVE MUST CLICK AUTHORIZE.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4535424"/>
            <a:ext cx="6126480" cy="786384"/>
          </a:xfrm>
          <a:prstGeom prst="rect">
            <a:avLst/>
          </a:prstGeom>
          <a:solidFill>
            <a:srgbClr val="06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2064" y="4608576"/>
            <a:ext cx="596188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B4CC"/>
                </a:solidFill>
                <a:latin typeface="Georgia"/>
              </a:rPr>
              <a:t>"Every enterprise has Microsoft's AI stack. None have the operating model to use it. Readiness OS is that operating model — the orchestration layer above the Microsoft investment."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28816" y="402336"/>
            <a:ext cx="5550408" cy="6108192"/>
          </a:xfrm>
          <a:prstGeom prst="rect">
            <a:avLst/>
          </a:prstGeom>
          <a:solidFill>
            <a:srgbClr val="02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37376" y="347472"/>
            <a:ext cx="36576" cy="61081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hq_executes_chai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347472"/>
            <a:ext cx="5550408" cy="61081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47104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41617" y="0"/>
            <a:ext cx="5486" cy="6858000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54864"/>
            <a:ext cx="11914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0F2E"/>
                </a:solidFill>
                <a:latin typeface="Calibri"/>
              </a:rPr>
              <a:t>  05  / 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05  / 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vaughnmartin.com/how-it-executes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201168"/>
            <a:ext cx="5760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HOW IT EXECUTES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65760"/>
            <a:ext cx="6126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FROM TRIGGER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786384"/>
            <a:ext cx="6126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9A84C"/>
                </a:solidFill>
                <a:latin typeface="Calibri"/>
              </a:rPr>
              <a:t>EXECUTION IN 12 MINUTES.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1261872"/>
            <a:ext cx="6126480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14081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146304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A84C"/>
                </a:solidFill>
                <a:latin typeface="Calibri"/>
              </a:rPr>
              <a:t>Signal detected — confidence-scored against 221 live trigger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19293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19842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Matching Readiness Protocol staged — tasks assigned, stakeholders mapped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245059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2505456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Board-ready execution brief delivered in &lt; 120 seconds — authority chain mapped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2971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026664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B8A6E"/>
                </a:solidFill>
                <a:latin typeface="Calibri"/>
              </a:rPr>
              <a:t>Executive authorizes — four real choices including Stand Down. No autonomous action.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3493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354787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A84C"/>
                </a:solidFill>
                <a:latin typeface="Calibri"/>
              </a:rPr>
              <a:t>Response live — 12 minutes from signal to coordinated organizational execution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4133087"/>
            <a:ext cx="5760720" cy="658368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4048" y="4133087"/>
            <a:ext cx="5760720" cy="2194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064" y="4178807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Calibri"/>
              </a:rPr>
              <a:t>3,600×  EXECUTION HEAD START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4462272"/>
            <a:ext cx="5559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30 days of mobilization compressed to 12 minutes  ·  startup to Fortune 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" y="4882896"/>
            <a:ext cx="5577840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4048" y="4946904"/>
            <a:ext cx="5760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B4CC"/>
                </a:solidFill>
                <a:latin typeface="Georgia"/>
              </a:rPr>
              <a:t>"The AI monitors, but humans decide. We turn 30 days of unmanaged chaos into a controlled, 12-minute executive sign-off — with full audit trail and board-ready documentation."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28816" y="402336"/>
            <a:ext cx="5550408" cy="6108192"/>
          </a:xfrm>
          <a:prstGeom prst="rect">
            <a:avLst/>
          </a:prstGeom>
          <a:solidFill>
            <a:srgbClr val="02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37376" y="347472"/>
            <a:ext cx="36576" cy="61081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hq_12min_scenario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65760"/>
            <a:ext cx="5550408" cy="61081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54864"/>
            <a:ext cx="11914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0F2E"/>
                </a:solidFill>
                <a:latin typeface="Calibri"/>
              </a:rPr>
              <a:t>  06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06  /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vaughnmartin.com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201168"/>
            <a:ext cx="1152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WHY WE 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65760"/>
            <a:ext cx="11411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MOAT COMPOUNDS.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841248"/>
            <a:ext cx="11411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AB4CC"/>
                </a:solidFill>
                <a:latin typeface="Calibri"/>
              </a:rPr>
              <a:t>COMPETITORS START AT ZERO.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1298448"/>
            <a:ext cx="11411712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1444752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THEY STOP AT ROUTING. WE PRE-STAGE THE ALIGNMENT.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1664208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Signal Labs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4288" y="166420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Routes the signal. Stops before the response is staged.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1938528"/>
            <a:ext cx="5394960" cy="914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2029968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ServiceNow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4288" y="1963113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AAB4CC"/>
                </a:solidFill>
                <a:latin typeface="Calibri"/>
              </a:rPr>
              <a:t>Async workflow router — post-alignment only. We pre-stage the alignment itself.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2304288"/>
            <a:ext cx="5394960" cy="914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2395728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Microsoft Copilot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4288" y="23957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Produces intelligence. We pre-stage the org response to 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2670048"/>
            <a:ext cx="5394960" cy="914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2761488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McKinsey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04288" y="276148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Arrives after the trigger fires. We were ready before the first call.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3035808"/>
            <a:ext cx="5394960" cy="914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1444752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THE MOAT — THREE COMPOUNDING ADVANTAGES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1664208"/>
            <a:ext cx="5449824" cy="256032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01968" y="1700784"/>
            <a:ext cx="5230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Compounding 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1956816"/>
            <a:ext cx="523036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Every activation encodes what held. Preparation compounds — the platform gets smarter at your org's specific trigger patterns.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633472"/>
            <a:ext cx="5449824" cy="914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92240" y="2944368"/>
            <a:ext cx="5449824" cy="256032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01968" y="2980944"/>
            <a:ext cx="5230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Org Context Intelligence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3236975"/>
            <a:ext cx="523036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Signal confidence + preparedness score unique to each org. Not replicable. Not transferable.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913631"/>
            <a:ext cx="5449824" cy="914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92240" y="4224528"/>
            <a:ext cx="5449824" cy="256032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01968" y="4261104"/>
            <a:ext cx="5230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Encoding Permanence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1968" y="4517136"/>
            <a:ext cx="523036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18 months of activations creates an intelligence layer competitors cannot replicate on day one — or day 365.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" y="5029200"/>
            <a:ext cx="1141171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4048" y="5111496"/>
            <a:ext cx="1141171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C9A84C"/>
                </a:solidFill>
                <a:latin typeface="Georgia"/>
              </a:rPr>
              <a:t>"They track the work. We engineer the capability to do it. And the data moat becomes completely uncatchable by month 18."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54864"/>
            <a:ext cx="11914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0F2E"/>
                </a:solidFill>
                <a:latin typeface="Calibri"/>
              </a:rPr>
              <a:t>  07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07  /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vaughnmartin.com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201168"/>
            <a:ext cx="1152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BUSINESS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65760"/>
            <a:ext cx="11411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PRICING TIERED.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841248"/>
            <a:ext cx="11411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  <a:latin typeface="Calibri"/>
              </a:rPr>
              <a:t>EXPANSION BUILT 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1298448"/>
            <a:ext cx="11411712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4048" y="1463040"/>
            <a:ext cx="2779776" cy="201168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1463040"/>
            <a:ext cx="2779776" cy="237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153619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Founding 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179222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Validation cohort · 12 seats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2084831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$75K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267004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/ 90 days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401568"/>
            <a:ext cx="2779776" cy="1828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3419856"/>
            <a:ext cx="26334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4071E"/>
                </a:solidFill>
                <a:latin typeface="Calibri"/>
              </a:rPr>
              <a:t>COHORT FORMING NOW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28416" y="1463040"/>
            <a:ext cx="2779776" cy="201168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28416" y="1463040"/>
            <a:ext cx="2779776" cy="23774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0" y="153619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8A6E"/>
                </a:solidFill>
                <a:latin typeface="Calibri"/>
              </a:rPr>
              <a:t>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179222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SMB and PE-backed startups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2084831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$75K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267004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/ year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2784" y="1463040"/>
            <a:ext cx="2779776" cy="201168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72784" y="1463040"/>
            <a:ext cx="2779776" cy="237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19088" y="153619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Responsive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179222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Mid-market and Fortune 5000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2084831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$150K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267004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/ year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17152" y="1463040"/>
            <a:ext cx="2779776" cy="201168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217152" y="1463040"/>
            <a:ext cx="2779776" cy="23774"/>
          </a:xfrm>
          <a:prstGeom prst="rect">
            <a:avLst/>
          </a:prstGeom>
          <a:solidFill>
            <a:srgbClr val="AA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63456" y="153619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B4CC"/>
                </a:solidFill>
                <a:latin typeface="Calibri"/>
              </a:rPr>
              <a:t>Orchestrated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63456" y="179222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Global enterprise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6" y="2084831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$250K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63456" y="267004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/ year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3566160"/>
            <a:ext cx="11411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UNIT ECONOMICS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3767328"/>
            <a:ext cx="1141171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0352" y="38587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9A84C"/>
                </a:solidFill>
                <a:latin typeface="Calibri"/>
              </a:rPr>
              <a:t>80%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" y="44256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Target gross margin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38587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9A84C"/>
                </a:solidFill>
                <a:latin typeface="Calibri"/>
              </a:rPr>
              <a:t>120%+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0" y="44256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Net revenue retention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9088" y="38587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9A84C"/>
                </a:solidFill>
                <a:latin typeface="Calibri"/>
              </a:rPr>
              <a:t>5:1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9088" y="44256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Target LTV:CAC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63456" y="38587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9A84C"/>
                </a:solidFill>
                <a:latin typeface="Calibri"/>
              </a:rPr>
              <a:t>$300K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63456" y="44256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Target avg ACV by Year 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4048" y="4736592"/>
            <a:ext cx="1141171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84048" y="4828032"/>
            <a:ext cx="114117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B4CC"/>
                </a:solidFill>
                <a:latin typeface="Calibri"/>
              </a:rPr>
              <a:t>Founding Partner → Growth tier → industry pack add-ons.  Same platform.  Compounding ACV.  Break-even before the second activation.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54864"/>
            <a:ext cx="11914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0F2E"/>
                </a:solidFill>
                <a:latin typeface="Calibri"/>
              </a:rPr>
              <a:t>  08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08  /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vaughnmartin.com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201168"/>
            <a:ext cx="1152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TRACTION &amp;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6576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BUILT.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36576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C9A84C"/>
                </a:solidFill>
                <a:latin typeface="Calibri"/>
              </a:rPr>
              <a:t>LIVE.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5300" y="365760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2B8A6E"/>
                </a:solidFill>
                <a:latin typeface="Calibri"/>
              </a:rPr>
              <a:t>VALIDATED.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896112"/>
            <a:ext cx="11411712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1060704"/>
            <a:ext cx="3749039" cy="23774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" y="1078992"/>
            <a:ext cx="356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BUILT — Production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1371600"/>
            <a:ext cx="3566159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FFFFFF"/>
                </a:solidFill>
                <a:latin typeface="Calibri"/>
              </a:rPr>
              <a:t>·  </a:t>
            </a:r>
            <a:r>
              <a:rPr lang="en-US" sz="950" b="0" i="0" dirty="0">
                <a:solidFill>
                  <a:srgbClr val="FFFFFF"/>
                </a:solidFill>
                <a:latin typeface="Calibri"/>
              </a:rPr>
              <a:t>208-page</a:t>
            </a:r>
            <a:r>
              <a:rPr sz="950" b="0" i="0" dirty="0">
                <a:solidFill>
                  <a:srgbClr val="FFFFFF"/>
                </a:solidFill>
                <a:latin typeface="Calibri"/>
              </a:rPr>
              <a:t> components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1792224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215+ registered routes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" y="2212848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170 Readiness Protocols seeded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" y="2633472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189 unit tests passing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" y="3054096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121 E2E tests passing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1060704"/>
            <a:ext cx="3749039" cy="23774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25696" y="1078992"/>
            <a:ext cx="356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LIVE — Operating Now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137160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FFFFFF"/>
                </a:solidFill>
                <a:latin typeface="Calibri"/>
              </a:rPr>
              <a:t>·  vaughnmartin.com in production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5696" y="1792224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8-feed signal pipeline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5696" y="2212848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15-minute monitoring cycles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5696" y="2633472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12 Founding Partner seats forming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5696" y="3054096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$75K / 90-day offer open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47888" y="1060704"/>
            <a:ext cx="3749039" cy="23774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57615" y="1078992"/>
            <a:ext cx="356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B8A6E"/>
                </a:solidFill>
                <a:latin typeface="Calibri"/>
              </a:rPr>
              <a:t>VALIDATED — Independent Endorsement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5" y="137160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Dr. Kerry Huang — ESI Top 1% Researcher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5" y="1792224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408-firm governance study aligned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5" y="2212848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Named publicly on LinkedIn, April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5" y="2633472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Category language adopted by peers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7615" y="3054096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Gartner/McKinsey/WEF sourced market thesis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3529584"/>
            <a:ext cx="1141171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84048" y="3639312"/>
            <a:ext cx="11411712" cy="1316736"/>
          </a:xfrm>
          <a:prstGeom prst="rect">
            <a:avLst/>
          </a:prstGeom>
          <a:solidFill>
            <a:srgbClr val="081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0352" y="3712463"/>
            <a:ext cx="11228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MARTY BRUNKE  ·  FOUNDER &amp; CEO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3986784"/>
            <a:ext cx="11228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20+ years Fortune 500 operations: Ford, Toyota, Lockheed Martin, Charles Schwab, Vantiv/Worldpay, Boyd Gaming.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4261104"/>
            <a:ext cx="11228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4CC"/>
                </a:solidFill>
                <a:latin typeface="Calibri"/>
              </a:rPr>
              <a:t>Five years major college football coaching at Stanford University — origin of the IDEA Framework. Prepare. Practice. Perform fearless. Never give up.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4535424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B4CC"/>
                </a:solidFill>
                <a:latin typeface="Georgia"/>
              </a:rPr>
              <a:t>"The intersection where preparation discipline meets enterprise execution — no one else is at this intersection."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47104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41617" y="0"/>
            <a:ext cx="5486" cy="6858000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54864"/>
            <a:ext cx="11914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0F2E"/>
                </a:solidFill>
                <a:latin typeface="Calibri"/>
              </a:rPr>
              <a:t>  09  / 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09  / 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vaughnmartin.com/proof-story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201168"/>
            <a:ext cx="5760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PROOF — NOT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65760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BUILT. LIVE.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841248"/>
            <a:ext cx="6126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9A84C"/>
                </a:solidFill>
                <a:latin typeface="Calibri"/>
              </a:rPr>
              <a:t>IN PRODUCTION NOW.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1316736"/>
            <a:ext cx="6126480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14630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Production platform live — vaughnmartin.com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1865376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170 protocols active  ·  221 triggers  ·  248+ data points scored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226771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12-Minute Test Drive — 7 scenarios, runnable live right 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2670048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Founding Partner cohort open — 90-day validation partnership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072384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Proof Story live — 3 full activation narratives with timelines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584448"/>
            <a:ext cx="5577840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3648456"/>
            <a:ext cx="5760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B4CC"/>
                </a:solidFill>
                <a:latin typeface="Georgia"/>
              </a:rPr>
              <a:t>"Same trigger. Same company. Entirely different outcome. The only variable: whether the response was pre-staged before the trigger fired."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4389120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A7E2C"/>
                </a:solidFill>
                <a:latin typeface="Calibri"/>
              </a:rPr>
              <a:t>— vaughnmartin.com/proof-story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4590288"/>
            <a:ext cx="5760720" cy="69494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84048" y="4590288"/>
            <a:ext cx="5760720" cy="21945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064" y="4636007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B8A6E"/>
                </a:solidFill>
                <a:latin typeface="Calibri"/>
              </a:rPr>
              <a:t>PULL OUT YOUR PHONE  —  THIS IS LIVE RIGHT NOW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4919472"/>
            <a:ext cx="5559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vaughnmartin.com/how-it-executes  ·  Run the 12-minute activation chain yourself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28816" y="402336"/>
            <a:ext cx="5550408" cy="6108192"/>
          </a:xfrm>
          <a:prstGeom prst="rect">
            <a:avLst/>
          </a:prstGeom>
          <a:solidFill>
            <a:srgbClr val="02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37376" y="347472"/>
            <a:ext cx="36576" cy="61081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hq_proof_timeline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516636"/>
            <a:ext cx="5550408" cy="58247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54864"/>
            <a:ext cx="11914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0F2E"/>
                </a:solidFill>
                <a:latin typeface="Calibri"/>
              </a:rPr>
              <a:t>  10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10  /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vaughnmartin.com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201168"/>
            <a:ext cx="1152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FINANCIAL PROJECTIONS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65760"/>
            <a:ext cx="11411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PATH TO $8M+ ARR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841248"/>
            <a:ext cx="11411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9A84C"/>
                </a:solidFill>
                <a:latin typeface="Calibri"/>
              </a:rPr>
              <a:t>BY YEAR THREE.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1298448"/>
            <a:ext cx="11411712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4048" y="1463040"/>
            <a:ext cx="3749039" cy="292608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1463040"/>
            <a:ext cx="3749039" cy="237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1536192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YEAR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1792224"/>
            <a:ext cx="352958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$625K ARR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2468880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Calibri"/>
              </a:rPr>
              <a:t>5 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2743200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Founding Partner closes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108960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0" dirty="0">
                <a:solidFill>
                  <a:srgbClr val="AAB4CC"/>
                </a:solidFill>
                <a:latin typeface="Calibri"/>
              </a:rPr>
              <a:t>6-person</a:t>
            </a:r>
            <a:r>
              <a:rPr sz="900" b="0" i="0" dirty="0">
                <a:solidFill>
                  <a:srgbClr val="AAB4CC"/>
                </a:solidFill>
                <a:latin typeface="Calibri"/>
              </a:rPr>
              <a:t> team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5968" y="1463040"/>
            <a:ext cx="3749039" cy="292608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15968" y="1463040"/>
            <a:ext cx="3749039" cy="23774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62272" y="1536192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8A6E"/>
                </a:solidFill>
                <a:latin typeface="Calibri"/>
              </a:rPr>
              <a:t>YEAR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1792224"/>
            <a:ext cx="352958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$3.75M ARR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2468880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B8A6E"/>
                </a:solidFill>
                <a:latin typeface="Calibri"/>
              </a:rPr>
              <a:t>30 customers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2743200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2–3 closes / month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3108960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0" dirty="0">
                <a:solidFill>
                  <a:srgbClr val="AAB4CC"/>
                </a:solidFill>
                <a:latin typeface="Calibri"/>
              </a:rPr>
              <a:t>14-person</a:t>
            </a:r>
            <a:r>
              <a:rPr sz="900" b="0" i="0" dirty="0">
                <a:solidFill>
                  <a:srgbClr val="AAB4CC"/>
                </a:solidFill>
                <a:latin typeface="Calibri"/>
              </a:rPr>
              <a:t> team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47888" y="1463040"/>
            <a:ext cx="3749039" cy="292608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47888" y="1463040"/>
            <a:ext cx="3749039" cy="237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94192" y="1536192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YEAR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1792224"/>
            <a:ext cx="352958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$8M+ ARR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2468880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65 customers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2743200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3 closes / month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3108960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0" dirty="0">
                <a:solidFill>
                  <a:srgbClr val="AAB4CC"/>
                </a:solidFill>
                <a:latin typeface="Calibri"/>
              </a:rPr>
              <a:t>22-person</a:t>
            </a:r>
            <a:r>
              <a:rPr sz="900" b="0" i="0" dirty="0">
                <a:solidFill>
                  <a:srgbClr val="AAB4CC"/>
                </a:solidFill>
                <a:latin typeface="Calibri"/>
              </a:rPr>
              <a:t> team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4480560"/>
            <a:ext cx="1141171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4048" y="4590288"/>
            <a:ext cx="114117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AB4CC"/>
                </a:solidFill>
                <a:latin typeface="Calibri"/>
              </a:rPr>
              <a:t>85% Gross Margin  ·  $125K Land → $175K Expand  ·  90% Retention  ·  &lt; 12mo CAC Payback  ·  LTV:CAC &gt; 5×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" y="4864608"/>
            <a:ext cx="1141171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84048" y="4974336"/>
            <a:ext cx="11411712" cy="1133856"/>
          </a:xfrm>
          <a:prstGeom prst="rect">
            <a:avLst/>
          </a:prstGeom>
          <a:solidFill>
            <a:srgbClr val="081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0352" y="5047488"/>
            <a:ext cx="112288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SERIES A TRIGGER  ·  MONTH 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5303520"/>
            <a:ext cx="112288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$3.75M ARR run rate  ·  30 customers  ·  documented proof stories  ·  Microsoft integration certified  ·  positioned to raise from strength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5577840"/>
            <a:ext cx="112288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7E2C"/>
                </a:solidFill>
                <a:latin typeface="Calibri"/>
              </a:rPr>
              <a:t>6 Founding Partners × $75K = $450K validation revenue at Milestone 1 — GTM spend self-funds at milestone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84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47104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41617" y="0"/>
            <a:ext cx="5486" cy="6858000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54864"/>
            <a:ext cx="11914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0F2E"/>
                </a:solidFill>
                <a:latin typeface="Calibri"/>
              </a:rPr>
              <a:t>  11  / 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11  / 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vaughnmartin.com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201168"/>
            <a:ext cx="5760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THE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65760"/>
            <a:ext cx="6126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$750K PRE-SEED.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877824"/>
            <a:ext cx="6126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TWELVE MONTHS. THREE MILESTONES.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1261872"/>
            <a:ext cx="6126480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1408176"/>
            <a:ext cx="612648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" y="148132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M1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1463040"/>
            <a:ext cx="5340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Six Founding Partners signed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1737360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$450K validation revenue  ·  90-day cycles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395728"/>
            <a:ext cx="612648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" y="246888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M2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2450592"/>
            <a:ext cx="5340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Three Growth tier conversions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272491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$450K ARR run rate at month 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3383280"/>
            <a:ext cx="612648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6" y="3456432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M3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3438144"/>
            <a:ext cx="5340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$1M ARR run rate by month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371246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Series A trigger · raise from strength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657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USE OF FUNDS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52622" y="585216"/>
            <a:ext cx="5394960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561248" y="713232"/>
            <a:ext cx="5394960" cy="1078992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623395" y="694943"/>
            <a:ext cx="5394960" cy="1024128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96480" y="731520"/>
            <a:ext cx="475488" cy="89611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77046" y="822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C9A84C"/>
                </a:solidFill>
                <a:latin typeface="Calibri"/>
              </a:rPr>
              <a:t>50%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8229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GTM &amp; Founding Partner success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111556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VP Sales, AEs, SDRs — demand gen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61248" y="1901952"/>
            <a:ext cx="5394960" cy="1078992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630256" y="1901952"/>
            <a:ext cx="5394960" cy="1024128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604378" y="1901952"/>
            <a:ext cx="475488" cy="896112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53018" y="199339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B8A6E"/>
                </a:solidFill>
                <a:latin typeface="Calibri"/>
              </a:rPr>
              <a:t>25%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19933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Engineering &amp; industry packs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228600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Platform hardening, integrations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61248" y="3090672"/>
            <a:ext cx="5394960" cy="1078992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578500" y="3072384"/>
            <a:ext cx="5394960" cy="1024128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95752" y="3072384"/>
            <a:ext cx="475488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127140" y="3163824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316382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Infra, security, compliance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345643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Enterprise-grade certifications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61248" y="4279392"/>
            <a:ext cx="5394960" cy="1078992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604378" y="4242816"/>
            <a:ext cx="5394960" cy="1024128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604378" y="4242816"/>
            <a:ext cx="475488" cy="896112"/>
          </a:xfrm>
          <a:prstGeom prst="rect">
            <a:avLst/>
          </a:prstGeom>
          <a:solidFill>
            <a:srgbClr val="AA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148197" y="4334255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AAB4CC"/>
                </a:solidFill>
                <a:latin typeface="Calibri"/>
              </a:rPr>
              <a:t>10%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4334255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Founder + reserves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4626864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Operating runway buffer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" y="4005072"/>
            <a:ext cx="6126480" cy="475488"/>
          </a:xfrm>
          <a:prstGeom prst="rect">
            <a:avLst/>
          </a:prstGeom>
          <a:solidFill>
            <a:srgbClr val="081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84048" y="4005072"/>
            <a:ext cx="6126480" cy="4754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30352" y="4059936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FOUNDING PARTNER COHORT  ·  12 SEATS  ·  FORMING NOW  ·  LIMITED AVAILABILITY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0352" y="4279392"/>
            <a:ext cx="5943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Calibri"/>
              </a:rPr>
              <a:t>investor@vaughnmartin.com  ·  vaughnmartin.com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12  / 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investor@vaughnmartin.com  ·  vaughnmartin.com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84048"/>
            <a:ext cx="11411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AB4CC"/>
                </a:solidFill>
                <a:latin typeface="Georgia"/>
              </a:rPr>
              <a:t>Three lines. That's the pitch.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822960"/>
            <a:ext cx="8887968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45920" y="1005840"/>
            <a:ext cx="8887968" cy="155448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645920" y="1005840"/>
            <a:ext cx="8887968" cy="237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0" y="107899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078992"/>
            <a:ext cx="62362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Georgia"/>
              </a:rPr>
              <a:t>Enterprise work was built for a world without AI — coordination delays exist because humans couldn't act fast enough. AI changed the constraint. The operating model hasn't.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2706624"/>
            <a:ext cx="8887968" cy="155448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645920" y="2706624"/>
            <a:ext cx="8887968" cy="237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28800" y="27797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779776"/>
            <a:ext cx="62362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Georgia"/>
              </a:rPr>
              <a:t>170 Readiness Protocols. 221 strategic triggers. The response pre-staged before the trigger fires. Executives authorize in minutes, not meetings.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0" y="4407408"/>
            <a:ext cx="8887968" cy="155448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645920" y="4407408"/>
            <a:ext cx="8887968" cy="23774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28800" y="44805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8A6E"/>
                </a:solidFill>
                <a:latin typeface="Calibri"/>
              </a:rPr>
              <a:t>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480560"/>
            <a:ext cx="62362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Georgia"/>
              </a:rPr>
              <a:t>Any organization prepared for every situation it will face is no longer afraid of what comes next. It is fearless.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0" y="6144768"/>
            <a:ext cx="8887968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" y="6217920"/>
            <a:ext cx="11411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84C"/>
                </a:solidFill>
                <a:latin typeface="Calibri"/>
              </a:rPr>
              <a:t>PREPARATION  →  READINESS  →  FEARLESS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vm_logo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94560" y="6592824"/>
            <a:ext cx="9628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PITCH DEFENSE  ·  OBJECTION HANDLING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" y="201168"/>
            <a:ext cx="1152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PITCH DEFENSE  ·  3 OBJECTIONS, 3 ANSWERS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457200"/>
            <a:ext cx="11411712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" y="585216"/>
            <a:ext cx="11411712" cy="1773936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" y="585216"/>
            <a:ext cx="11411712" cy="2194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640080"/>
            <a:ext cx="11228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TRAP 1  ·  "Can't ServiceNow just add this?"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914400"/>
            <a:ext cx="1122883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B4CC"/>
                </a:solidFill>
                <a:latin typeface="Georgia"/>
              </a:rPr>
              <a:t>"No. ServiceNow is an async ticketing router for post-alignment execution. VaughnMartin pre-stages the organizational alignment itself. They track the work. We engineer the capability to do it."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505456"/>
            <a:ext cx="11411712" cy="1773936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2505456"/>
            <a:ext cx="11411712" cy="21945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2560320"/>
            <a:ext cx="11228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TRAP 2  ·  "What about AI taking autonomous action?"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834640"/>
            <a:ext cx="1122883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B4CC"/>
                </a:solidFill>
                <a:latin typeface="Georgia"/>
              </a:rPr>
              <a:t>"The system stages the choice in seconds, but an executive must click authorize. No action deploys without explicit sign-off. Four real choices — including Stand Down. Human authority preserved at every trigger."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4425696"/>
            <a:ext cx="11411712" cy="1773936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4048" y="4425696"/>
            <a:ext cx="11411712" cy="21945"/>
          </a:xfrm>
          <a:prstGeom prst="rect">
            <a:avLst/>
          </a:prstGeom>
          <a:solidFill>
            <a:srgbClr val="AA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4480559"/>
            <a:ext cx="11228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TRAP 3  ·  "How long to configure 170 protocols for a new client?"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754880"/>
            <a:ext cx="1122883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B4CC"/>
                </a:solidFill>
                <a:latin typeface="Georgia"/>
              </a:rPr>
              <a:t>"They don't build from scratch. VaughnMartin ships 170 out-of-the-box protocols. Onboarding is configuration — not a consulting project. 90 days to live."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2726</Words>
  <Application>Microsoft Office PowerPoint</Application>
  <PresentationFormat>Custom</PresentationFormat>
  <Paragraphs>316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Marty Brunke (CDI)</dc:creator>
  <cp:keywords/>
  <dc:description>generated using python-pptx</dc:description>
  <cp:lastModifiedBy>Marty Brunke (CDI)</cp:lastModifiedBy>
  <cp:revision>2</cp:revision>
  <dcterms:created xsi:type="dcterms:W3CDTF">2013-01-27T09:14:16Z</dcterms:created>
  <dcterms:modified xsi:type="dcterms:W3CDTF">2026-05-19T16:38:53Z</dcterms:modified>
  <cp:category/>
</cp:coreProperties>
</file>