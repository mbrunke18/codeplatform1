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7" r:id="rId6"/>
    <p:sldId id="260" r:id="rId7"/>
    <p:sldId id="262" r:id="rId8"/>
    <p:sldId id="268" r:id="rId9"/>
    <p:sldId id="263" r:id="rId10"/>
    <p:sldId id="269" r:id="rId11"/>
    <p:sldId id="264" r:id="rId12"/>
    <p:sldId id="270" r:id="rId13"/>
    <p:sldId id="266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9" d="100"/>
          <a:sy n="89" d="100"/>
        </p:scale>
        <p:origin x="394" y="8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 · HOOK · ~15s
Every enterprise has the same problem: when a strategic trigger fires — activist investor, ransomware, supply chain failure — they spend thirty days just figuring out who needs to be in the room. We changed that. The response is ready before the trigger fires.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 · THE REALITY · ~20s
Thirty days. That's not a crisis response — that's the mobilization time before the response even begins. Who calls who? Where's the brief? Who owns it? Who authorizes? This is not a talent problem. It's a readiness problem. And no one has built the infrastructure to solve it — until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 · PROBLEM IS HERE · ~20s
One of these is forming in your portfolio right now. Ransomware at 95% confidence. A regulatory inquiry at 87%. An activist at 91%. The signal is live. The organization is cold. Thirty days of alignment — before a single action is taken.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S4 · THE ANSWER · ~20s
170 Readiness Protocols. 221 strategic triggers. One operating model. The response is pre-staged before the signal fires. AI monitors continuously. Executives authorize. Teams execute. Twelve minutes from trigger detection to coordinated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S5 · MARKET OPPORTUNITY · ~25s
The enterprise coordination market is a $42 billion problem. We're not competing with Copilot or task software — we're competing with the 40-year-old meeting-heavy operating model itself. Every vendor bolted AI onto the old model. We rebuilt from first principles. Our SAM is $4.8 billion — 25,000 target accounts at $200K average ACV.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S6 · WHY DEFENSIBLE · ~20s
Every competitor built faster notes from the same slow meetings. We built the layer beneath — the coordination infrastructure that makes mobilization unnecessary. Readiness Protocols replace real-time coordination. Pattern detection replaces committee deliberation. This is not a feature set. It is an operating model shift.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S7 · BUSINESS VALUE · ~20s
3,600 times. Thirty days compressed to twelve minutes. And the commercial case is simple: the cost of one missed response — one ransomware recovery, one activist campaign managed late — exceeds the cost of this platform many times over. Readiness is not overhead. It is value protection.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S8 · BUSINESS MODEL · ~25s
We enter at $75,000 for a 90-day Founding Partner validation. The platform expands through tier and industry pack — Ready, Responsive, and Orchestrated at the global enterprise level. Target gross margin: 80%. Net revenue retention: 120-plus percent. Target ACV by year three: $300,000. Expansion is built into the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S9 · BUILT. LIVE. IN PRODUCTION. · ~20s
This is not a roadmap. The platform is operating now. 170 protocols seeded. 221 triggers active. An 8-feed signal pipeline on 15-minute monitoring cycles. 208 page components. 189 unit tests passing. vaughnmartin.com is live. We are not asking you to bet on a concept.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S10 · TRACTION &amp; TEAM · ~25s
I spent twenty years inside Fortune 500 operations — Ford, Toyota, Lockheed Martin, Charles Schwab, Vantiv, Boyd Gaming — watching the same coordination failure repeat. And five years coaching major college football at Stanford, where I watched pre-staged execution work under the most high-pressure conditions in American sport. I built this because I could not stop seeing the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S11 · WHY NOW · ~15s
AI capability is accelerating. Enterprise readiness is not. The organizations that pair signal detection with governed 12-minute execution will separate from those still aligning in thirty days. That window is open right now — and it will not stay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 · THE ASK · ~20s
$750,000 pre-seed. Twelve months. Three milestones: six Founding Partners signed, $450K ARR at month nine, $1M ARR at month twelve — Series A trigger from strength. 50% to GTM and Founding Partner success. We are in active conversations. investor@vaughnmartin.com.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 · CLOSE · ~15s
The problem: enterprise work was built for a world without AI. The solution: 170 Readiness Protocols — the response pre-staged before the trigger fires. The outcome: any organization prepared for every situation it will face is no longer afraid of what comes next. That is fearless. Let's build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9.xml"/><Relationship Id="rId6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tower-raw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492240" y="1814708"/>
            <a:ext cx="5577840" cy="313714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492240" y="1814708"/>
            <a:ext cx="5458968" cy="3137142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92240" y="4714107"/>
            <a:ext cx="5458968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0" y="4704963"/>
            <a:ext cx="52760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COMMAND TOWER · LIVE SIGNAL MONITORING · PRODUCTION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364224" y="512064"/>
            <a:ext cx="12700" cy="570585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vm-logo-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57200"/>
            <a:ext cx="2377440" cy="63841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4048" y="1115568"/>
            <a:ext cx="576072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87850"/>
                </a:solidFill>
                <a:latin typeface="Barlow Condensed"/>
              </a:rPr>
              <a:t>STRATEGIC READINESS PLATFORM · STARTUP TO FORTUNE 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408176"/>
            <a:ext cx="5760720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Barlow Condensed"/>
              </a:rPr>
              <a:t>The response is ready
before the trigger fires.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3822191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9A5BB"/>
                </a:solidFill>
                <a:latin typeface="Barlow Condensed"/>
              </a:rPr>
              <a:t>Most enterprises plan to respond.
VaughnMartin is already executing.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4407408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93776" y="4496308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Activist Investor  ·  91% confidence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4956048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93776" y="5044948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Ransomware  ·  95% confidence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5504688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3776" y="5593588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Regulatory Inquiry  ·  87% confidence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254496"/>
            <a:ext cx="12191695" cy="475488"/>
          </a:xfrm>
          <a:prstGeom prst="rect">
            <a:avLst/>
          </a:prstGeom>
          <a:solidFill>
            <a:srgbClr val="060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6318504"/>
            <a:ext cx="112745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AI monitors continuously.   Executives authorize decisively.   Teams execute.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29184" y="475488"/>
            <a:ext cx="5394960" cy="5687568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REALITY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005840"/>
            <a:ext cx="3200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C9A84C"/>
                </a:solidFill>
                <a:latin typeface="Barlow Condensed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798064"/>
            <a:ext cx="3200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Barlow Condensed"/>
              </a:rPr>
              <a:t>DAYS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3493008"/>
            <a:ext cx="4407408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3504" y="3657600"/>
            <a:ext cx="4480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9A5BB"/>
                </a:solidFill>
                <a:latin typeface="Barlow Condensed"/>
              </a:rPr>
              <a:t>Average mobilization time before execution begins.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3056" y="475488"/>
            <a:ext cx="5696712" cy="5687568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37376" y="65836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READINESS 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376" y="100584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9A84C"/>
                </a:solidFill>
                <a:latin typeface="Barlow Condensed"/>
              </a:rPr>
              <a:t>Who calls who?
Where's the brief?
Who owns it? Who authorizes?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37376" y="3236976"/>
            <a:ext cx="512064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37376" y="3419856"/>
            <a:ext cx="5303520" cy="438912"/>
          </a:xfrm>
          <a:prstGeom prst="rect">
            <a:avLst/>
          </a:prstGeom>
          <a:solidFill>
            <a:srgbClr val="151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65392" y="3493008"/>
            <a:ext cx="5047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Barlow Condensed"/>
              </a:rPr>
              <a:t>This is a readiness problem, not a talent problem.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4005072"/>
            <a:ext cx="53035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 Condensed"/>
              </a:rPr>
              <a:t>— Coordination restarts from zero at every trigger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4572000"/>
            <a:ext cx="53035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 Condensed"/>
              </a:rPr>
              <a:t>— The strategic window closes before execution begins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0176" y="365760"/>
            <a:ext cx="6350" cy="5961888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PROBLEM IS ALREADY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Barlow Condensed"/>
              </a:rPr>
              <a:t>One of these is forming in your organization right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118104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118104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B8A6E"/>
                </a:solidFill>
                <a:latin typeface="Barlow Condensed"/>
              </a:rPr>
              <a:t>95%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RISK &amp; RESILIENCE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Ransomware
Attack Confirmed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Signal · 248 data points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12064" y="3749040"/>
            <a:ext cx="3257550" cy="508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068312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068312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Barlow Condensed"/>
              </a:rPr>
              <a:t>87%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REGULATORY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Regulatory
Inquiry Opened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Signal · threshold crossed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62272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462272" y="3749040"/>
            <a:ext cx="2983230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247888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1018520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018520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Barlow Condensed"/>
              </a:rPr>
              <a:t>91%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RISK &amp; RESILIENCE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Activist Investor</a:t>
            </a:r>
          </a:p>
          <a:p>
            <a:r>
              <a:rPr sz="2200" b="1">
                <a:solidFill>
                  <a:srgbClr val="FFFFFF"/>
                </a:solidFill>
                <a:latin typeface="Barlow Condensed"/>
              </a:rPr>
              <a:t>Pressure Filed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Signal · 13D filing detected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0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412480" y="3749040"/>
            <a:ext cx="2811780" cy="508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29184" y="5870448"/>
            <a:ext cx="11530584" cy="384048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5925312"/>
            <a:ext cx="11274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5880"/>
                </a:solidFill>
                <a:latin typeface="Barlow Condensed"/>
              </a:rPr>
              <a:t>221 triggers monitored  ·  248 data points  ·  refreshed every 15 minutes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deck_how_it_execute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1097280"/>
            <a:ext cx="5852160" cy="530352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A84C"/>
                </a:solidFill>
                <a:latin typeface="Barlow Condensed"/>
              </a:rPr>
              <a:t>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731520"/>
            <a:ext cx="1036015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Barlow Condensed"/>
              </a:rPr>
              <a:t>The response is ready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19072"/>
            <a:ext cx="1036015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C9A84C"/>
                </a:solidFill>
                <a:latin typeface="Barlow Condensed"/>
              </a:rPr>
              <a:t>before the trigger fires.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98064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99A5BB"/>
                </a:solidFill>
                <a:latin typeface="Barlow Condensed"/>
              </a:rPr>
              <a:t>Preparation  →  Readiness  →  Fearless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3048" y="3328416"/>
            <a:ext cx="457200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9A84C"/>
                </a:solidFill>
                <a:latin typeface="Barlow Condensed"/>
              </a:rPr>
              <a:t>170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Readiness Protocols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9A84C"/>
                </a:solidFill>
                <a:latin typeface="Barlow Condensed"/>
              </a:rPr>
              <a:t>221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1688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Strategic Triggers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0456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9A84C"/>
                </a:solidFill>
                <a:latin typeface="Barlow Condensed"/>
              </a:rPr>
              <a:t>12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456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Execution Window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5577840"/>
            <a:ext cx="8531352" cy="475488"/>
          </a:xfrm>
          <a:prstGeom prst="rect">
            <a:avLst/>
          </a:prstGeom>
          <a:solidFill>
            <a:srgbClr val="0A0F2E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920240" y="5669280"/>
            <a:ext cx="834847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Barlow Condensed"/>
              </a:rPr>
              <a:t>AI monitors.   Executives authorize.   Teams execute.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0A0F2E"/>
                </a:solidFill>
                <a:latin typeface="Georgia"/>
              </a:rPr>
              <a:t>VaughnMartin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41148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 spc="800">
                <a:solidFill>
                  <a:srgbClr val="6B7280"/>
                </a:solidFill>
                <a:latin typeface="Calibri"/>
              </a:rPr>
              <a:t>READINESS 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91440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 spc="600">
                <a:solidFill>
                  <a:srgbClr val="0A0F2E"/>
                </a:solidFill>
                <a:latin typeface="Calibri"/>
              </a:rPr>
              <a:t>THE OPPORTUNITY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457200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7772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0A0F2E"/>
                </a:solidFill>
                <a:latin typeface="Georgia"/>
              </a:rPr>
              <a:t>A $42 billion</a:t>
            </a:r>
          </a:p>
          <a:p>
            <a:pPr algn="l">
              <a:lnSpc>
                <a:spcPct val="105000"/>
              </a:lnSpc>
            </a:pPr>
            <a:r>
              <a:rPr sz="4400" b="1" i="1">
                <a:solidFill>
                  <a:srgbClr val="C9A84C"/>
                </a:solidFill>
                <a:latin typeface="Georgia"/>
              </a:rPr>
              <a:t>coordination failure.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46120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libri"/>
              </a:rPr>
              <a:t>Fortune 5000 enterprises lose 30+ days to mobilization before every strategic event.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5" y="3840480"/>
            <a:ext cx="36576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99515" y="402336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800">
                <a:solidFill>
                  <a:srgbClr val="0A0F2E"/>
                </a:solidFill>
                <a:latin typeface="Calibri"/>
              </a:rPr>
              <a:t>TAM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5" y="429768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 i="0">
                <a:solidFill>
                  <a:srgbClr val="C9A84C"/>
                </a:solidFill>
                <a:latin typeface="Georgia"/>
              </a:rPr>
              <a:t>$42B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5" y="5166360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Enterprise coordination, governance,
and execution 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" y="568756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Gartner SPM + GRC + EPMO categories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65676" y="3840480"/>
            <a:ext cx="36576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39996" y="402336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800">
                <a:solidFill>
                  <a:srgbClr val="0A0F2E"/>
                </a:solidFill>
                <a:latin typeface="Calibri"/>
              </a:rPr>
              <a:t>SAM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9996" y="429768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 i="0">
                <a:solidFill>
                  <a:srgbClr val="C9A84C"/>
                </a:solidFill>
                <a:latin typeface="Georgia"/>
              </a:rPr>
              <a:t>$4.8B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9996" y="5166360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Operating model layer for Fortune 5000
and PE-backed enterprises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9996" y="568756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~25K target accounts × $200K avg ACV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06156" y="3840480"/>
            <a:ext cx="36576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80476" y="402336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800">
                <a:solidFill>
                  <a:srgbClr val="0A0F2E"/>
                </a:solidFill>
                <a:latin typeface="Calibri"/>
              </a:rPr>
              <a:t>SOM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0476" y="429768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 i="0">
                <a:solidFill>
                  <a:srgbClr val="C9A84C"/>
                </a:solidFill>
                <a:latin typeface="Georgia"/>
              </a:rPr>
              <a:t>$180M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0476" y="5166360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5-year capture target across
Founding Partner and Growth tiers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0476" y="568756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600 customers × $300K avg ACV by Y5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26364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Calibri"/>
              </a:rPr>
              <a:t>Sources: Gartner Strategic Portfolio Management 2025  ·  McKinsey 2025 coordination cost  ·  WEF × Accenture March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 spc="600">
                <a:solidFill>
                  <a:srgbClr val="6B7280"/>
                </a:solidFill>
                <a:latin typeface="Calibri"/>
              </a:rPr>
              <a:t>VaughnMartin  ·  Readiness 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492240"/>
            <a:ext cx="1673352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 i="0" spc="600">
                <a:solidFill>
                  <a:srgbClr val="6B7280"/>
                </a:solidFill>
                <a:latin typeface="Calibri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WHY THIS IS DEFENSIBLE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Barlow Condensed"/>
              </a:rPr>
              <a:t>The architecture that separates execution from mobilization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11274552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9184" y="1591056"/>
            <a:ext cx="5687568" cy="3840480"/>
          </a:xfrm>
          <a:prstGeom prst="rect">
            <a:avLst/>
          </a:prstGeom>
          <a:solidFill>
            <a:srgbClr val="1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03504" y="1755648"/>
            <a:ext cx="5358384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888"/>
                </a:solidFill>
                <a:latin typeface="Barlow Condensed"/>
              </a:rPr>
              <a:t>Old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2084832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Faster notes from the same slow meetings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2779776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No readiness architecture — triggers catch you cold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3474720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Authority unclear when pressure arrives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4169664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30 days to mobilize before execution starts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591056"/>
            <a:ext cx="5687568" cy="3840480"/>
          </a:xfrm>
          <a:prstGeom prst="rect">
            <a:avLst/>
          </a:prstGeom>
          <a:solidFill>
            <a:srgbClr val="08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755648"/>
            <a:ext cx="5358384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Barlow Condensed"/>
              </a:rPr>
              <a:t>VaughnMartin Readiness 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084832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Response pre-staged before the trigger fires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779776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170 protocols · 221 triggers · ready before the moment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474720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Executive authorization gate at every activation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169664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12-minute execution window from signal to action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1591056"/>
            <a:ext cx="6350" cy="384048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protocols-raw.png"/>
          <p:cNvPicPr>
            <a:picLocks noChangeAspect="1"/>
          </p:cNvPicPr>
          <p:nvPr/>
        </p:nvPicPr>
        <p:blipFill>
          <a:blip r:embed="rId3"/>
          <a:srcRect t="-471553" b="-471553"/>
          <a:stretch>
            <a:fillRect/>
          </a:stretch>
        </p:blipFill>
        <p:spPr>
          <a:xfrm>
            <a:off x="329184" y="5559552"/>
            <a:ext cx="11530584" cy="621792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329184" y="5559552"/>
            <a:ext cx="11530584" cy="621792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29184" y="5559552"/>
            <a:ext cx="11530584" cy="621792"/>
          </a:xfrm>
          <a:prstGeom prst="rect">
            <a:avLst/>
          </a:prstGeom>
          <a:solidFill>
            <a:srgbClr val="0608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5737352"/>
            <a:ext cx="11274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9A84C"/>
                </a:solidFill>
                <a:latin typeface="Barlow Condensed"/>
              </a:rPr>
              <a:t>LIVE PLATFORM  ·  170 Readiness Protocols  ·  startup to Fortune 500  ·  vaughnmartin.com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06 / 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4846320"/>
            <a:ext cx="5358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0AAC0"/>
                </a:solidFill>
                <a:latin typeface="Barlow Condensed"/>
              </a:rPr>
              <a:t>e.g. Microsoft Copilot · ServiceNow · management consulting retainers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 descr="deck_proof_stor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914400"/>
            <a:ext cx="5852160" cy="54864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BUSINESS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arlow Condensed"/>
              </a:rPr>
              <a:t>Readiness is not overhead.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9888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C9A84C"/>
                </a:solidFill>
                <a:latin typeface="Barlow Condensed"/>
              </a:rPr>
              <a:t>It is value protection.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31136"/>
            <a:ext cx="11274552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414016"/>
            <a:ext cx="5120640" cy="1243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C9A84C"/>
                </a:solidFill>
                <a:latin typeface="Barlow Condensed"/>
              </a:rPr>
              <a:t>3,600×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47872"/>
            <a:ext cx="5120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9A5BB"/>
                </a:solidFill>
                <a:latin typeface="Barlow Condensed"/>
              </a:rPr>
              <a:t>Execution head start — 30 days compressed to 12 minutes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95344"/>
            <a:ext cx="512064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4096512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A84C"/>
                </a:solidFill>
                <a:latin typeface="Barlow Condensed"/>
              </a:rPr>
              <a:t>▶  Founding Partner: $75K / 90-day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663440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▶  Growth: $75K–$250K annually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230368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B8A6E"/>
                </a:solidFill>
                <a:latin typeface="Barlow Condensed"/>
              </a:rPr>
              <a:t>▶  Cost of delay is often higher than cost of readiness.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359152"/>
            <a:ext cx="5623560" cy="3803904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0528" y="2542032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COMMERCIAL LOGIC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2743200"/>
            <a:ext cx="5084064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9A5BB"/>
                </a:solidFill>
                <a:latin typeface="Barlow Condensed"/>
              </a:rPr>
              <a:t>Replaces the $400K–$800K consulting retainer.
Break-even before the 2nd activation.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528" y="3540760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528" y="3566160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FOUNDING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5088" y="3566160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Barlow Condensed"/>
              </a:rPr>
              <a:t>$75K / 90 days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10528" y="4144264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10528" y="4169664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GROWTH TIER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5088" y="4169664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 Condensed"/>
              </a:rPr>
              <a:t>$75K–$250K annually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10528" y="4747768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10528" y="4773168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COHORT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05088" y="4773168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 Condensed"/>
              </a:rPr>
              <a:t>startup to Fortune 500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10528" y="5351272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10528" y="5376672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BOARD 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05088" y="5376672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B8A6E"/>
                </a:solidFill>
                <a:latin typeface="Barlow Condensed"/>
              </a:rPr>
              <a:t>Cost of delay &gt; cost of readiness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53328" y="2176272"/>
            <a:ext cx="6350" cy="4078224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8" descr="deck_roi_calculato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914400"/>
            <a:ext cx="6035040" cy="54864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0A0F2E"/>
                </a:solidFill>
                <a:latin typeface="Georgia"/>
              </a:rPr>
              <a:t>VaughnMartin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41148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 spc="800">
                <a:solidFill>
                  <a:srgbClr val="6B7280"/>
                </a:solidFill>
                <a:latin typeface="Calibri"/>
              </a:rPr>
              <a:t>READINESS 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91440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 spc="600">
                <a:solidFill>
                  <a:srgbClr val="0A0F2E"/>
                </a:solidFill>
                <a:latin typeface="Calibri"/>
              </a:rPr>
              <a:t>BUSINESS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457200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10972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0A0F2E"/>
                </a:solidFill>
                <a:latin typeface="Georgia"/>
              </a:rPr>
              <a:t>Pricing tiered.</a:t>
            </a:r>
          </a:p>
          <a:p>
            <a:pPr algn="l">
              <a:lnSpc>
                <a:spcPct val="105000"/>
              </a:lnSpc>
            </a:pPr>
            <a:r>
              <a:rPr sz="4000" b="1" i="1">
                <a:solidFill>
                  <a:srgbClr val="C9A84C"/>
                </a:solidFill>
                <a:latin typeface="Georgia"/>
              </a:rPr>
              <a:t>Expansion built 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600">
                <a:solidFill>
                  <a:srgbClr val="0A0F2E"/>
                </a:solidFill>
                <a:latin typeface="Calibri"/>
              </a:rPr>
              <a:t>PRICING LADDER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630168"/>
            <a:ext cx="457200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4069080"/>
            <a:ext cx="54864" cy="3200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40599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A0F2E"/>
                </a:solidFill>
                <a:latin typeface="Calibri"/>
              </a:rPr>
              <a:t>Founding Partner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9768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Validation cohort · 12 seats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4059936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C9A84C"/>
                </a:solidFill>
                <a:latin typeface="Georgia"/>
              </a:rPr>
              <a:t>$75K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416966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/ 90 days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572000"/>
            <a:ext cx="54864" cy="32004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56285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A0F2E"/>
                </a:solidFill>
                <a:latin typeface="Calibri"/>
              </a:rPr>
              <a:t>Ready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8006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SMB and PE-backed startups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4562856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C9A84C"/>
                </a:solidFill>
                <a:latin typeface="Georgia"/>
              </a:rPr>
              <a:t>$75K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67258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/ year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074920"/>
            <a:ext cx="54864" cy="32004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506577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A0F2E"/>
                </a:solidFill>
                <a:latin typeface="Calibri"/>
              </a:rPr>
              <a:t>Responsive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30352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Mid-market and Fortune 5000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5065776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C9A84C"/>
                </a:solidFill>
                <a:latin typeface="Georgia"/>
              </a:rPr>
              <a:t>$150K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517550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/ year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577840"/>
            <a:ext cx="54864" cy="32004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" y="556869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A0F2E"/>
                </a:solidFill>
                <a:latin typeface="Calibri"/>
              </a:rPr>
              <a:t>Orchestrated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0644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Global enterprise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5568696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C9A84C"/>
                </a:solidFill>
                <a:latin typeface="Georgia"/>
              </a:rPr>
              <a:t>$250K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567842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/ year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3375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600">
                <a:solidFill>
                  <a:srgbClr val="0A0F2E"/>
                </a:solidFill>
                <a:latin typeface="Calibri"/>
              </a:rPr>
              <a:t>UNIT ECONOMICS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3630168"/>
            <a:ext cx="457200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4059936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2B8A6E"/>
                </a:solidFill>
                <a:latin typeface="Georgia"/>
              </a:rPr>
              <a:t>80%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92440" y="4069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Target gross margin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2440" y="4315968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Software at scale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562856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2B8A6E"/>
                </a:solidFill>
                <a:latin typeface="Georgia"/>
              </a:rPr>
              <a:t>120%+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92440" y="45720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Net revenue retention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92440" y="4818888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Industry pack expansion drives upsell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5065776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2B8A6E"/>
                </a:solidFill>
                <a:latin typeface="Georgia"/>
              </a:rPr>
              <a:t>5:1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2440" y="50749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Target LTV:CAC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2440" y="5321808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Multi-year ACV, low churn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568696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2B8A6E"/>
                </a:solidFill>
                <a:latin typeface="Georgia"/>
              </a:rPr>
              <a:t>$300K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92440" y="557784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Target avg ACV by Year 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92440" y="5824728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Up from $150K via tier and pack expansion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6080760"/>
            <a:ext cx="11274552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57200" y="619963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0A0F2E"/>
                </a:solidFill>
                <a:latin typeface="Calibri"/>
              </a:rPr>
              <a:t>Founding Partner → Growth tier → industry pack add-ons.  Same platform.  Compounding ACV.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4922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 spc="600">
                <a:solidFill>
                  <a:srgbClr val="6B7280"/>
                </a:solidFill>
                <a:latin typeface="Calibri"/>
              </a:rPr>
              <a:t>VaughnMartin  ·  Readiness OS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0" y="6492240"/>
            <a:ext cx="1673352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 i="0" spc="600">
                <a:solidFill>
                  <a:srgbClr val="6B7280"/>
                </a:solidFill>
                <a:latin typeface="Calibri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 descr="deck_command_tower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160" y="2560320"/>
            <a:ext cx="11887200" cy="402336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BUILT. LIVE. IN PRODUCTION.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Barlow Condensed"/>
              </a:rPr>
              <a:t>Not a roadmap — operating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1426464"/>
            <a:ext cx="2834640" cy="87782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9184" y="1444752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9A84C"/>
                </a:solidFill>
                <a:latin typeface="Barlow Condensed"/>
              </a:rPr>
              <a:t>170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956816"/>
            <a:ext cx="2834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 Condensed"/>
              </a:rPr>
              <a:t>Protocols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426464"/>
            <a:ext cx="2834640" cy="87782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91840" y="1444752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9A84C"/>
                </a:solidFill>
                <a:latin typeface="Barlow Condensed"/>
              </a:rPr>
              <a:t>221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956816"/>
            <a:ext cx="2834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 Condensed"/>
              </a:rPr>
              <a:t>Triggers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54496" y="1426464"/>
            <a:ext cx="2834640" cy="87782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54496" y="1444752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B8A6E"/>
                </a:solidFill>
                <a:latin typeface="Barlow Condensed"/>
              </a:rPr>
              <a:t>248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4496" y="1956816"/>
            <a:ext cx="2834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 Condensed"/>
              </a:rPr>
              <a:t>Data Points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17152" y="1426464"/>
            <a:ext cx="2834640" cy="87782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217152" y="1444752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9A84C"/>
                </a:solidFill>
                <a:latin typeface="Barlow Condensed"/>
              </a:rPr>
              <a:t>15m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17152" y="1956816"/>
            <a:ext cx="2834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 Condensed"/>
              </a:rPr>
              <a:t>Refresh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" y="2377440"/>
            <a:ext cx="562950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Signal Intelligence · Live Detection Feed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377440"/>
            <a:ext cx="562950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Live Activation Console · Execution in Progress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878" y="2633472"/>
            <a:ext cx="5829809" cy="3166199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29184" y="5561927"/>
            <a:ext cx="5629503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20624" y="5562295"/>
            <a:ext cx="544662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SIGNAL INTELLIGENCE FEED · LIVE DETECTIONS · VAUGHNMARTIN.COM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3007" y="2633472"/>
            <a:ext cx="5629503" cy="3166199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33007" y="5561927"/>
            <a:ext cx="5629503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24447" y="5562295"/>
            <a:ext cx="544662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LIVE ACTIVATION CONSOLE · AUTHORIZED EXECUTION · VAUGHNMARTIN.COM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0A0F2E"/>
                </a:solidFill>
                <a:latin typeface="Georgia"/>
              </a:rPr>
              <a:t>VaughnMartin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41148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 spc="800">
                <a:solidFill>
                  <a:srgbClr val="6B7280"/>
                </a:solidFill>
                <a:latin typeface="Calibri"/>
              </a:rPr>
              <a:t>READINESS 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91440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 spc="600">
                <a:solidFill>
                  <a:srgbClr val="0A0F2E"/>
                </a:solidFill>
                <a:latin typeface="Calibri"/>
              </a:rPr>
              <a:t>TRACTION &amp; TEAM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457200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10972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0A0F2E"/>
                </a:solidFill>
                <a:latin typeface="Georgia"/>
              </a:rPr>
              <a:t>Built. Live.</a:t>
            </a:r>
          </a:p>
          <a:p>
            <a:pPr algn="l">
              <a:lnSpc>
                <a:spcPct val="105000"/>
              </a:lnSpc>
            </a:pPr>
            <a:r>
              <a:rPr sz="4400" b="1" i="1">
                <a:solidFill>
                  <a:srgbClr val="C9A84C"/>
                </a:solidFill>
                <a:latin typeface="Georgia"/>
              </a:rPr>
              <a:t>Validated.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5" y="3246120"/>
            <a:ext cx="36576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5195" y="3246120"/>
            <a:ext cx="36576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5" y="3383279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800">
                <a:solidFill>
                  <a:srgbClr val="0A0F2E"/>
                </a:solidFill>
                <a:latin typeface="Calibri"/>
              </a:rPr>
              <a:t>BUILT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" y="3630168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1">
                <a:solidFill>
                  <a:srgbClr val="0A0F2E"/>
                </a:solidFill>
                <a:latin typeface="Georgia"/>
              </a:rPr>
              <a:t>Production platform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9515" y="4096511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5" y="4023359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208 page components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9515" y="4343400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5" y="4270248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215+ registered routes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9515" y="4590288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6675" y="4517136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170 Readiness Protocols seeded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9515" y="4837175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6675" y="4764023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189 unit tests passing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5" y="5084063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6675" y="5010911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121 E2E tests passing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65676" y="3246120"/>
            <a:ext cx="36576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265676" y="3246120"/>
            <a:ext cx="3657600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94276" y="3383279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800">
                <a:solidFill>
                  <a:srgbClr val="0A0F2E"/>
                </a:solidFill>
                <a:latin typeface="Calibri"/>
              </a:rPr>
              <a:t>LIVE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94276" y="3630168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1">
                <a:solidFill>
                  <a:srgbClr val="0A0F2E"/>
                </a:solidFill>
                <a:latin typeface="Georgia"/>
              </a:rPr>
              <a:t>Operating now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39996" y="4096511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77156" y="4023359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vaughnmartin.com in production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39996" y="4343400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677156" y="4270248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8-feed signal pipeline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39996" y="4590288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677156" y="4517136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15-minute monitoring cycles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39996" y="4837175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77156" y="4764023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12 Founding Partner seats forming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39996" y="5084063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77156" y="5010911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$75K / 90-day validation offer open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06156" y="3246120"/>
            <a:ext cx="36576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106156" y="3246120"/>
            <a:ext cx="3657600" cy="36576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334756" y="3383279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800">
                <a:solidFill>
                  <a:srgbClr val="0A0F2E"/>
                </a:solidFill>
                <a:latin typeface="Calibri"/>
              </a:rPr>
              <a:t>VALIDATED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34756" y="3630168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1">
                <a:solidFill>
                  <a:srgbClr val="0A0F2E"/>
                </a:solidFill>
                <a:latin typeface="Georgia"/>
              </a:rPr>
              <a:t>Independent endorsement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80476" y="4096511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517636" y="4023359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Dr. Kerry Huang public endorsement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80476" y="4343400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517636" y="4270248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ESI Top 1% Researcher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80476" y="4590288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517636" y="4517136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408-firm governance study aligned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80476" y="4837175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517636" y="4764023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Named publicly on LinkedIn, April 2026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80476" y="5084063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517636" y="5010911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Category language adopted by peers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5195" y="5394960"/>
            <a:ext cx="11338560" cy="960120"/>
          </a:xfrm>
          <a:prstGeom prst="rect">
            <a:avLst/>
          </a:prstGeom>
          <a:solidFill>
            <a:srgbClr val="0A0F2E"/>
          </a:solidFill>
          <a:ln w="9525">
            <a:solidFill>
              <a:srgbClr val="0A0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99515" y="5486400"/>
            <a:ext cx="3200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800">
                <a:solidFill>
                  <a:srgbClr val="C9A84C"/>
                </a:solidFill>
                <a:latin typeface="Calibri"/>
              </a:rPr>
              <a:t>FOUNDER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9515" y="5687568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eorgia"/>
              </a:rPr>
              <a:t>Marty Brunke  ·  Founder &amp; CEO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9515" y="5961888"/>
            <a:ext cx="10789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20+ years Fortune 500 operations: Ford, Toyota, Lockheed Martin, Charles Schwab, Vantiv/Worldpay, Boyd Gaming.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9515" y="6144768"/>
            <a:ext cx="10789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Calibri"/>
              </a:rPr>
              <a:t>Five years coaching major college football at Stanford.  Origin of the IDEA Framework: Prepare. Practice. Perform fearless. Never give up.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64922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 spc="600">
                <a:solidFill>
                  <a:srgbClr val="6B7280"/>
                </a:solidFill>
                <a:latin typeface="Calibri"/>
              </a:rPr>
              <a:t>VaughnMartin  ·  Readiness 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58400" y="6492240"/>
            <a:ext cx="1673352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 i="0" spc="600">
                <a:solidFill>
                  <a:srgbClr val="6B7280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pic>
        <p:nvPicPr>
          <p:cNvPr id="4" name="Picture 3" descr="activation-raw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400799" y="1792565"/>
            <a:ext cx="5656581" cy="318142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0" y="1394245"/>
            <a:ext cx="5458968" cy="3854410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46520" y="5226011"/>
            <a:ext cx="5458968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5226011"/>
            <a:ext cx="52760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 dirty="0">
                <a:solidFill>
                  <a:srgbClr val="C9A84C"/>
                </a:solidFill>
                <a:latin typeface="Barlow Condensed"/>
              </a:rPr>
              <a:t>LIVE ACTIVATION CONSOLE · EXECUTION IN PROGRESS · PRODUCTION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2784" y="512064"/>
            <a:ext cx="12700" cy="5742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A68"/>
                </a:solidFill>
                <a:latin typeface="Barlow Condensed"/>
              </a:rPr>
              <a:t>WHY 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49808"/>
            <a:ext cx="5632704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Barlow Condensed"/>
              </a:rPr>
              <a:t>AI capability is accelerating faster than enterprise readiness.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066543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066543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Barlow Condensed"/>
              </a:rPr>
              <a:t>AI capability accelerating. Enterprise mobilization readiness is not.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36975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236975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Barlow Condensed"/>
              </a:rPr>
              <a:t>Execution readiness is now the competitive bottleneck.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407407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407407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Barlow Condensed"/>
              </a:rPr>
              <a:t>Winners pair signal detection with governed 12-minute execution.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577840"/>
            <a:ext cx="5632704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9A5BB"/>
                </a:solidFill>
                <a:latin typeface="Barlow Condensed"/>
              </a:rPr>
              <a:t>Sources: Stanford HAI AI Index 2026  ·  Gartner Autonomous Business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eorgia"/>
              </a:rPr>
              <a:t>VaughnMartin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41148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 spc="800">
                <a:solidFill>
                  <a:srgbClr val="C9A84C"/>
                </a:solidFill>
                <a:latin typeface="Calibri"/>
              </a:rPr>
              <a:t>READINESS 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91440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 spc="600">
                <a:solidFill>
                  <a:srgbClr val="C9A84C"/>
                </a:solidFill>
                <a:latin typeface="Calibri"/>
              </a:rPr>
              <a:t>THE ASK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457200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109728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$750K pre-seed.</a:t>
            </a:r>
          </a:p>
          <a:p>
            <a:pPr algn="l">
              <a:lnSpc>
                <a:spcPct val="110000"/>
              </a:lnSpc>
            </a:pPr>
            <a:r>
              <a:rPr sz="2800" b="0" i="1">
                <a:solidFill>
                  <a:srgbClr val="C9A84C"/>
                </a:solidFill>
                <a:latin typeface="Georgia"/>
              </a:rPr>
              <a:t>Twelve months. Three milestones.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5" y="3214206"/>
            <a:ext cx="3657600" cy="1280160"/>
          </a:xfrm>
          <a:prstGeom prst="rect">
            <a:avLst/>
          </a:prstGeom>
          <a:solidFill>
            <a:srgbClr val="132558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9515" y="3378798"/>
            <a:ext cx="731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1">
                <a:solidFill>
                  <a:srgbClr val="C9A84C"/>
                </a:solidFill>
                <a:latin typeface="Georgia"/>
              </a:rPr>
              <a:t>M1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5" y="3808566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Six Founding Partners signed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5" y="4128606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$450K validation revenue · 90-day cycles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65676" y="3214206"/>
            <a:ext cx="3657600" cy="1280160"/>
          </a:xfrm>
          <a:prstGeom prst="rect">
            <a:avLst/>
          </a:prstGeom>
          <a:solidFill>
            <a:srgbClr val="132558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39996" y="3378798"/>
            <a:ext cx="731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1">
                <a:solidFill>
                  <a:srgbClr val="C9A84C"/>
                </a:solidFill>
                <a:latin typeface="Georgia"/>
              </a:rPr>
              <a:t>M2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9996" y="3808566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Three Growth tier conversions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9996" y="4128606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$450K ARR run rate at month 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6156" y="3214206"/>
            <a:ext cx="3657600" cy="1280160"/>
          </a:xfrm>
          <a:prstGeom prst="rect">
            <a:avLst/>
          </a:prstGeom>
          <a:solidFill>
            <a:srgbClr val="132558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80476" y="3378798"/>
            <a:ext cx="731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1">
                <a:solidFill>
                  <a:srgbClr val="C9A84C"/>
                </a:solidFill>
                <a:latin typeface="Georgia"/>
              </a:rPr>
              <a:t>M3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0476" y="3808566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$1M ARR run rate by month 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0476" y="4128606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Series A trigger · positioned to raise from strength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57200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800">
                <a:solidFill>
                  <a:srgbClr val="C9A84C"/>
                </a:solidFill>
                <a:latin typeface="Calibri"/>
              </a:rPr>
              <a:t>USE OF FUNDS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" y="4937760"/>
            <a:ext cx="5486400" cy="41148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498348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A0F2E"/>
                </a:solidFill>
                <a:latin typeface="Calibri"/>
              </a:rPr>
              <a:t>50%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80760" y="4937760"/>
            <a:ext cx="2743200" cy="41148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80760" y="49834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23960" y="4937760"/>
            <a:ext cx="1645920" cy="411480"/>
          </a:xfrm>
          <a:prstGeom prst="rect">
            <a:avLst/>
          </a:prstGeom>
          <a:solidFill>
            <a:srgbClr val="DFC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823960" y="4983480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A0F2E"/>
                </a:solidFill>
                <a:latin typeface="Calibri"/>
              </a:rPr>
              <a:t>15%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469880" y="4937760"/>
            <a:ext cx="109728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469880" y="4983480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A0F2E"/>
                </a:solidFill>
                <a:latin typeface="Calibri"/>
              </a:rPr>
              <a:t>10%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" y="5486400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58952" y="5440680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GTM &amp; Founding Partner success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5486400"/>
            <a:ext cx="109728" cy="10972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245352" y="544068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Engineering &amp; industry packs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23960" y="5486400"/>
            <a:ext cx="109728" cy="109728"/>
          </a:xfrm>
          <a:prstGeom prst="rect">
            <a:avLst/>
          </a:prstGeom>
          <a:solidFill>
            <a:srgbClr val="DFC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988552" y="544068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Infra, security, compliance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469880" y="5486400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634472" y="54406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Founder + reserves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6080760"/>
            <a:ext cx="11274552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7200" y="619963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DFC178"/>
                </a:solidFill>
                <a:latin typeface="Calibri"/>
              </a:rPr>
              <a:t>investor@vaughnmartin.com   ·   vaughnmartin.com   ·   currently in active conversations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922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 spc="600">
                <a:solidFill>
                  <a:srgbClr val="CADCFC"/>
                </a:solidFill>
                <a:latin typeface="Calibri"/>
              </a:rPr>
              <a:t>VaughnMartin  ·  Readiness 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0" y="6492240"/>
            <a:ext cx="1673352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 i="0" spc="600">
                <a:solidFill>
                  <a:srgbClr val="CADCFC"/>
                </a:solidFill>
                <a:latin typeface="Calibri"/>
              </a:rPr>
              <a:t>12 / 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2798064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9A84C"/>
                </a:solidFill>
                <a:latin typeface="Barlow Condensed"/>
              </a:rPr>
              <a:t>6 Founding Partners × $75K = $450K revenue at M1 — GTM spend self-funds at milestone 1.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088" y="6254496"/>
            <a:ext cx="1645920" cy="441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38912"/>
            <a:ext cx="112745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9A84C"/>
                </a:solidFill>
                <a:latin typeface="Barlow Condensed"/>
              </a:rPr>
              <a:t>Three lines. That's the pitch.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91440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3504" y="914400"/>
            <a:ext cx="63500" cy="14264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04241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35331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A84C"/>
                </a:solidFill>
                <a:latin typeface="Barlow Condensed"/>
              </a:rPr>
              <a:t>Enterprise work was built for a world without AI — coordination delays exist because humans couldn't act fast enough. AI changed the constraint. The operating model hasn't.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246888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03504" y="2468880"/>
            <a:ext cx="63500" cy="14264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259689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90779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A84C"/>
                </a:solidFill>
                <a:latin typeface="Barlow Condensed"/>
              </a:rPr>
              <a:t>170 Readiness Protocols. 221 strategic triggers. The response pre-staged before the trigger fires. Executives authorize in minutes, not meetings.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" y="402336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03504" y="4023360"/>
            <a:ext cx="63500" cy="1426464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8" y="415137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OUTCOME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46227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Barlow Condensed"/>
              </a:rPr>
              <a:t>Any organization prepared for every situation it will face is no longer afraid of what comes next. It is fearless.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0" y="5614416"/>
            <a:ext cx="8933688" cy="566928"/>
          </a:xfrm>
          <a:prstGeom prst="rect">
            <a:avLst/>
          </a:prstGeom>
          <a:solidFill>
            <a:srgbClr val="0A0F2E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737360" y="5705856"/>
            <a:ext cx="87508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9A84C"/>
                </a:solidFill>
                <a:latin typeface="Barlow Condensed"/>
              </a:rPr>
              <a:t>Let's build this  ·  investor@vaughnmartin.com  ·  vaughnmartin.com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1158</Words>
  <Application>Microsoft Office PowerPoint</Application>
  <PresentationFormat>Widescreen</PresentationFormat>
  <Paragraphs>233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Barlow Condensed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Marty Brunke (CDI)</dc:creator>
  <cp:keywords/>
  <dc:description>generated using python-pptx</dc:description>
  <cp:lastModifiedBy>Marty Brunke (CDI)</cp:lastModifiedBy>
  <cp:revision>2</cp:revision>
  <dcterms:created xsi:type="dcterms:W3CDTF">2013-01-27T09:14:16Z</dcterms:created>
  <dcterms:modified xsi:type="dcterms:W3CDTF">2026-05-19T01:05:20Z</dcterms:modified>
  <cp:category/>
</cp:coreProperties>
</file>