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2" r:id="rId8"/>
    <p:sldId id="268" r:id="rId9"/>
    <p:sldId id="263" r:id="rId10"/>
    <p:sldId id="269" r:id="rId11"/>
    <p:sldId id="264" r:id="rId12"/>
    <p:sldId id="270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9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· HOOK · ~15s
Every enterprise has the same problem: when a strategic trigger fires — activist investor, ransomware, supply chain failure — they spend thirty days just figuring out who needs to be in the room. We changed that. The response is ready before the trigger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 · THE REALITY · ~20s
Thirty days. That's not a crisis response — that's the mobilization time before the response even begins. Who calls who? Where's the brief? Who owns it? Who authorizes? This is not a talent problem. It's a readiness problem. And no one has built the infrastructure to solve it — until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 · PROBLEM IS HERE · ~20s
One of these is forming in your portfolio right now. Ransomware at 95% confidence. A regulatory inquiry at 87%. An activist at 91%. The signal is live. The organization is cold. Thirty days of alignment — before a single action is 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S4 · THE ANSWER · ~20s
170 Readiness Protocols. 221 strategic triggers. One operating model. The response is pre-staged before the signal fires. AI monitors continuously. Executives authorize. Teams execute. Twelve minutes from trigger detection to coordinated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S5 · MARKET OPPORTUNITY · ~25s
The enterprise coordination market is a $42 billion problem. We're not competing with Copilot or task software — we're competing with the 40-year-old meeting-heavy operating model itself. Every vendor bolted AI onto the old model. We rebuilt from first principles. Our SAM is $4.8 billion — 25,000 target accounts at $200K average ACV.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S6 · WHY DEFENSIBLE · ~20s
Every competitor built faster notes from the same slow meetings. We built the layer beneath — the coordination infrastructure that makes mobilization unnecessary. Readiness Protocols replace real-time coordination. Pattern detection replaces committee deliberation. This is not a feature set. It is an operating model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S7 · BUSINESS VALUE · ~20s
3,600 times. Thirty days compressed to twelve minutes. And the commercial case is simple: the cost of one missed response — one ransomware recovery, one activist campaign managed late — exceeds the cost of this platform many times over. Readiness is not overhead. It is value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S8 · BUSINESS MODEL · ~25s
We enter at $75,000 for a 90-day Founding Partner validation. The platform expands through tier and industry pack — Ready, Responsive, and Orchestrated at the global enterprise level. Target gross margin: 80%. Net revenue retention: 120-plus percent. Target ACV by year three: $300,000. Expansion is built into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S9 · BUILT. LIVE. IN PRODUCTION. · ~20s
This is not a roadmap. The platform is operating now. 170 protocols seeded. 221 triggers active. An 8-feed signal pipeline on 15-minute monitoring cycles. 208 page components. 189 unit tests passing. vaughnmartin.com is live. We are not asking you to bet on a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S10 · TRACTION &amp; TEAM · ~25s
I spent twenty years inside Fortune 500 operations — Ford, Toyota, Lockheed Martin, Charles Schwab, Vantiv, Boyd Gaming — watching the same coordination failure repeat. And five years coaching major college football at Stanford, where I watched pre-staged execution work under the most high-pressure conditions in American sport. I built this because I could not stop seeing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S11 · WHY NOW · ~15s
AI capability is accelerating. Enterprise readiness is not. The organizations that pair signal detection with governed 12-minute execution will separate from those still aligning in thirty days. That window is open right now — and it will not stay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 · THE ASK · ~20s
$750,000 pre-seed. Twelve months. Three milestones: six Founding Partners signed, $450K ARR at month nine, $1M ARR at month twelve — Series A trigger from strength. 50% to GTM and Founding Partner success. We are in active conversations. investor@vaughnmartin.com.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 · CLOSE · ~15s
The problem: enterprise work was built for a world without AI. The solution: 170 Readiness Protocols — the response pre-staged before the trigger fires. The outcome: any organization prepared for every situation it will face is no longer afraid of what comes next. That is fearless. Let's build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ower-raw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92240" y="1814708"/>
            <a:ext cx="5577840" cy="313714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1814708"/>
            <a:ext cx="5458968" cy="313714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0" y="4714107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4704963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COMMAND TOWER · LIVE SIGNAL MONITORING ·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64224" y="512064"/>
            <a:ext cx="12700" cy="570585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-logo-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57200"/>
            <a:ext cx="2377440" cy="6384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1115568"/>
            <a:ext cx="5760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7850"/>
                </a:solidFill>
                <a:latin typeface="Barlow Condensed"/>
              </a:rPr>
              <a:t>STRATEGIC READINESS PLATFORM · STARTUP TO FORTUNE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08176"/>
            <a:ext cx="576072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Barlow Condensed"/>
              </a:rPr>
              <a:t>The response is ready
before the trigger fires.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22191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A5BB"/>
                </a:solidFill>
                <a:latin typeface="Barlow Condensed"/>
              </a:rPr>
              <a:t>Most enterprises plan to respond.
VaughnMartin is already executing.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407408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44963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Activist Investor  ·  91% 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956048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" y="504494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Ransomware  ·  95%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504688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55935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Regulatory Inquiry  ·  87%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54496"/>
            <a:ext cx="12191695" cy="475488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31850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AI monitors continuously.   Executives authorize decisively.   Teams execute.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9184" y="475488"/>
            <a:ext cx="5394960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0058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C9A84C"/>
                </a:solidFill>
                <a:latin typeface="Barlow Condensed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798064"/>
            <a:ext cx="3200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Barlow Condensed"/>
              </a:rPr>
              <a:t>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493008"/>
            <a:ext cx="4407408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3657600"/>
            <a:ext cx="4480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A5BB"/>
                </a:solidFill>
                <a:latin typeface="Barlow Condensed"/>
              </a:rPr>
              <a:t>Average mobilization time before execution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475488"/>
            <a:ext cx="5696712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7376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READINESS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0058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9A84C"/>
                </a:solidFill>
                <a:latin typeface="Barlow Condensed"/>
              </a:rPr>
              <a:t>Who calls who?
Where's the brief?
Who owns it? Who authorizes?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3236976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37376" y="3419856"/>
            <a:ext cx="5303520" cy="438912"/>
          </a:xfrm>
          <a:prstGeom prst="rect">
            <a:avLst/>
          </a:prstGeom>
          <a:solidFill>
            <a:srgbClr val="151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3493008"/>
            <a:ext cx="5047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rlow Condensed"/>
              </a:rPr>
              <a:t>This is a readiness problem, not a talent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400507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Coordination restarts from zero at every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57200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The strategic window closes before execution begins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365760"/>
            <a:ext cx="6350" cy="5961888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PROBLEM IS ALREADY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rlow Condensed"/>
              </a:rPr>
              <a:t>One of these is forming in your organization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8A6E"/>
                </a:solidFill>
                <a:latin typeface="Barlow Condensed"/>
              </a:rP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Ransomware
Attack Confirmed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248 data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" y="3749040"/>
            <a:ext cx="3257550" cy="508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REGULATORY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Regulatory
Inquiry Opened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threshold crossed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62272" y="3749040"/>
            <a:ext cx="298323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47888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Activist Investor</a:t>
            </a:r>
          </a:p>
          <a:p>
            <a:r>
              <a:rPr sz="2200" b="1">
                <a:solidFill>
                  <a:srgbClr val="FFFFFF"/>
                </a:solidFill>
                <a:latin typeface="Barlow Condensed"/>
              </a:rPr>
              <a:t>Pressure Filed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13D filing detected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12480" y="3749040"/>
            <a:ext cx="2811780" cy="508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184" y="5870448"/>
            <a:ext cx="11530584" cy="384048"/>
          </a:xfrm>
          <a:prstGeom prst="rect">
            <a:avLst/>
          </a:prstGeom>
          <a:solidFill>
            <a:srgbClr val="10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92531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45880"/>
                </a:solidFill>
                <a:latin typeface="Barlow Condensed"/>
              </a:rPr>
              <a:t>221 triggers monitored  ·  248 data points  ·  refreshed every 15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Barlow Condensed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Barlow Condensed"/>
              </a:rPr>
              <a:t>The response is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C9A84C"/>
                </a:solidFill>
                <a:latin typeface="Barlow Condensed"/>
              </a:rPr>
              <a:t>before the trigger fires.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9806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9A5BB"/>
                </a:solidFill>
                <a:latin typeface="Barlow Condensed"/>
              </a:rPr>
              <a:t>Preparation  →  Readiness  →  Fearless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3048" y="3328416"/>
            <a:ext cx="4572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Readiness Protocols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Strategic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84C"/>
                </a:solidFill>
                <a:latin typeface="Barlow Condensed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Execution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577840"/>
            <a:ext cx="8531352" cy="475488"/>
          </a:xfrm>
          <a:prstGeom prst="rect">
            <a:avLst/>
          </a:prstGeom>
          <a:solidFill>
            <a:srgbClr val="0A0F2E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5669280"/>
            <a:ext cx="8348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AI monitors.   Executives authorize.   Teams execute.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THE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A0F2E"/>
                </a:solidFill>
                <a:latin typeface="Georgia"/>
              </a:rPr>
              <a:t>A $42 billion</a:t>
            </a:r>
          </a:p>
          <a:p>
            <a:pPr algn="l">
              <a:lnSpc>
                <a:spcPct val="105000"/>
              </a:lnSpc>
            </a:pPr>
            <a:r>
              <a:rPr sz="4400" b="1" i="1">
                <a:solidFill>
                  <a:srgbClr val="C9A84C"/>
                </a:solidFill>
                <a:latin typeface="Georgia"/>
              </a:rPr>
              <a:t>coordination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Fortune 5000 enterprises lose 30+ days to mobilization before every strategic event.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5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$42B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Enterprise coordination, governance,
and execution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Gartner SPM + GRC + EPMO 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6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9996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996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$4.8B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996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Operating model layer for Fortune 5000
and PE-backed enterprises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996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~25K target accounts × $200K avg ACV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6156" y="384048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80476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0476" y="429768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C9A84C"/>
                </a:solidFill>
                <a:latin typeface="Georgia"/>
              </a:rPr>
              <a:t>$180M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0476" y="5166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5-year capture target across
Founding Partner and Growth tiers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476" y="5687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600 customers × $300K avg ACV by Y5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Sources: Gartner Strategic Portfolio Management 2025  ·  McKinsey 2025 coordination cost  ·  WEF × Accenture March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WHY THIS IS DEFENSIBLE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arlow Condensed"/>
              </a:rPr>
              <a:t>The architecture that separates execution from mobilization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591056"/>
            <a:ext cx="5687568" cy="3840480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888"/>
                </a:solidFill>
                <a:latin typeface="Barlow Condensed"/>
              </a:rPr>
              <a:t>Old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Faster notes from the same slow meetings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No readiness architecture — triggers catch you cold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Authority unclear when pressure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30 days to mobilize before execution starts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91056"/>
            <a:ext cx="5687568" cy="3840480"/>
          </a:xfrm>
          <a:prstGeom prst="rect">
            <a:avLst/>
          </a:prstGeom>
          <a:solidFill>
            <a:srgbClr val="0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 Condensed"/>
              </a:rPr>
              <a:t>VaughnMartin Readiness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Response pre-staged before the trigger fires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170 protocols · 221 triggers · ready before the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Executive authorization gate at every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12-minute execution window from signal to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591056"/>
            <a:ext cx="6350" cy="384048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rotocols-raw.png"/>
          <p:cNvPicPr>
            <a:picLocks noChangeAspect="1"/>
          </p:cNvPicPr>
          <p:nvPr/>
        </p:nvPicPr>
        <p:blipFill>
          <a:blip r:embed="rId3"/>
          <a:srcRect t="-471553" b="-471553"/>
          <a:stretch>
            <a:fillRect/>
          </a:stretch>
        </p:blipFill>
        <p:spPr>
          <a:xfrm>
            <a:off x="329184" y="5559552"/>
            <a:ext cx="11530584" cy="62179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solidFill>
            <a:srgbClr val="0608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737352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LIVE PLATFORM  ·  170 Readiness Protocols  ·  startup to Fortune 500  ·  vaughnmartin.com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06 /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846320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AC0"/>
                </a:solidFill>
                <a:latin typeface="Barlow Condensed"/>
              </a:rPr>
              <a:t>e.g. Microsoft Copilot · ServiceNow · management consulting retainers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arlow Condensed"/>
              </a:rPr>
              <a:t>Readiness is not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C9A84C"/>
                </a:solidFill>
                <a:latin typeface="Barlow Condensed"/>
              </a:rPr>
              <a:t>It is value protection.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51206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9A84C"/>
                </a:solidFill>
                <a:latin typeface="Barlow Condensed"/>
              </a:rPr>
              <a:t>3,600×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5120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A5BB"/>
                </a:solidFill>
                <a:latin typeface="Barlow Condensed"/>
              </a:rPr>
              <a:t>Execution head start — 30 days compressed to 12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95344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09651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  <a:latin typeface="Barlow Condensed"/>
              </a:rPr>
              <a:t>▶  Founding Partner: $75K / 90-day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▶  Growth: $75K–$250K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3036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8A6E"/>
                </a:solidFill>
                <a:latin typeface="Barlow Condensed"/>
              </a:rPr>
              <a:t>▶  Cost of delay is often higher than cost of readiness.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359152"/>
            <a:ext cx="5623560" cy="3803904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542032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COMMERCIAL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743200"/>
            <a:ext cx="50840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A5BB"/>
                </a:solidFill>
                <a:latin typeface="Barlow Condensed"/>
              </a:rPr>
              <a:t>Replaces the $400K–$800K consulting retainer.
Break-even before the 2nd activation.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3540760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566160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FOUNDING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566160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Barlow Condensed"/>
              </a:rPr>
              <a:t>$75K / 90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4144264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4169664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GROWTH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169664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$75K–$250K annually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747768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773168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773168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startup to Fortune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0528" y="5351272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5376672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BOARD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5376672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8A6E"/>
                </a:solidFill>
                <a:latin typeface="Barlow Condensed"/>
              </a:rPr>
              <a:t>Cost of delay &gt; cost of readiness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2176272"/>
            <a:ext cx="6350" cy="4078224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BUSINESS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A0F2E"/>
                </a:solidFill>
                <a:latin typeface="Georgia"/>
              </a:rPr>
              <a:t>Pricing tiered.</a:t>
            </a:r>
          </a:p>
          <a:p>
            <a:pPr algn="l">
              <a:lnSpc>
                <a:spcPct val="105000"/>
              </a:lnSpc>
            </a:pPr>
            <a:r>
              <a:rPr sz="4000" b="1" i="1">
                <a:solidFill>
                  <a:srgbClr val="C9A84C"/>
                </a:solidFill>
                <a:latin typeface="Georgia"/>
              </a:rPr>
              <a:t>Expansion built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PRICING LADDER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3016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069080"/>
            <a:ext cx="54864" cy="3200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05993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Founding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Validation cohort · 12 seats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05993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$75K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169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90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62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0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SMB and PE-backed startups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56285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$75K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6725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06577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Responsive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Mid-market and Fortune 5000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6577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$150K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755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54864" cy="32004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56869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  <a:latin typeface="Calibri"/>
              </a:rPr>
              <a:t>Orchestrated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Global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56869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Georgia"/>
              </a:rPr>
              <a:t>$250K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67842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/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37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UNIT ECONOMICS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63016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05993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069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gross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3159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Software at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56285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120%+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572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Net revenue retention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8188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Industry pack expansion drives upsell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657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5:1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074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LTV:CAC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3218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Multi-year ACV, low churn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6869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Georgia"/>
              </a:rPr>
              <a:t>$300K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5577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Target avg ACV by Year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58247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Up from $150K via tier and pack expansion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807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0A0F2E"/>
                </a:solidFill>
                <a:latin typeface="Calibri"/>
              </a:rPr>
              <a:t>Founding Partner → Growth tier → industry pack add-ons.  Same platform.  Compounding ACV.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deck_command_tow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" y="2633472"/>
            <a:ext cx="11942064" cy="316382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BUILT. LIVE. 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rlow Condensed"/>
              </a:rPr>
              <a:t>Not a roadmap — operating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Protocols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Triggers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8A6E"/>
                </a:solidFill>
                <a:latin typeface="Barlow Condensed"/>
              </a:rPr>
              <a:t>248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Data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17152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Signal Intelligence · Live Detection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Live Activation Console · Execution in 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878" y="2633472"/>
            <a:ext cx="5829809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" y="5562295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SIGNAL INTELLIGENCE FEED · LIVE DETECTIONS · VAUGHNMARTIN.COM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3007" y="2633472"/>
            <a:ext cx="5629503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33007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4447" y="5562295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LIVE ACTIVATION CONSOLE · AUTHORIZED EXECUTION · VAUGHNMARTIN.COM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A0F2E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6B7280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0A0F2E"/>
                </a:solidFill>
                <a:latin typeface="Calibri"/>
              </a:rPr>
              <a:t>TRACTION &amp;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A0F2E"/>
                </a:solidFill>
                <a:latin typeface="Georgia"/>
              </a:rPr>
              <a:t>Built. Live.</a:t>
            </a:r>
          </a:p>
          <a:p>
            <a:pPr algn="l">
              <a:lnSpc>
                <a:spcPct val="105000"/>
              </a:lnSpc>
            </a:pPr>
            <a:r>
              <a:rPr sz="4400" b="1" i="1">
                <a:solidFill>
                  <a:srgbClr val="C9A84C"/>
                </a:solidFill>
                <a:latin typeface="Georgia"/>
              </a:rPr>
              <a:t>Validated.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" y="324612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Production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5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5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208 page components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5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215+ registered routes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5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170 Readiness Protocols seeded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5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189 unit tests passing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5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5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121 E2E tests passing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5676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65676" y="3246120"/>
            <a:ext cx="365760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94276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4276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Operating 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9996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7156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vaughnmartin.com in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9996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77156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8-feed signal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9996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77156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15-minute monitoring cycles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9996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77156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12 Founding Partner seats forming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9996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77156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$75K / 90-day validation offer open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6156" y="32461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06156" y="3246120"/>
            <a:ext cx="3657600" cy="36576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34756" y="3383279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0A0F2E"/>
                </a:solidFill>
                <a:latin typeface="Calibri"/>
              </a:rPr>
              <a:t>VALIDATED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4756" y="36301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0A0F2E"/>
                </a:solidFill>
                <a:latin typeface="Georgia"/>
              </a:rPr>
              <a:t>Independent endorsement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80476" y="4096511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17636" y="4023359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Dr. Kerry Huang public endorsement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80476" y="4343400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17636" y="427024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ESI Top 1% Researcher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80476" y="4590288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17636" y="4517136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408-firm governance study aligned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0476" y="4837175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17636" y="4764023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Named publicly on LinkedIn, April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80476" y="5084063"/>
            <a:ext cx="4572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17636" y="5010911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Category language adopted by peers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5" y="5394960"/>
            <a:ext cx="11338560" cy="960120"/>
          </a:xfrm>
          <a:prstGeom prst="rect">
            <a:avLst/>
          </a:prstGeom>
          <a:solidFill>
            <a:srgbClr val="0A0F2E"/>
          </a:solidFill>
          <a:ln w="9525">
            <a:solidFill>
              <a:srgbClr val="0A0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515" y="548640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800">
                <a:solidFill>
                  <a:srgbClr val="C9A84C"/>
                </a:solidFill>
                <a:latin typeface="Calibri"/>
              </a:rPr>
              <a:t>FOUNDER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5" y="5687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Marty Brunke  ·  Founder &amp; CEO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5" y="596188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20+ years Fortune 500 operations: Ford, Toyota, Lockheed Martin, Charles Schwab, Vantiv/Worldpay, Boyd Gaming.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5" y="614476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Calibri"/>
              </a:rPr>
              <a:t>Five years coaching major college football at Stanford.  Origin of the IDEA Framework: Prepare. Practice. Perform fearless. Never give up.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6B7280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pic>
        <p:nvPicPr>
          <p:cNvPr id="4" name="Picture 3" descr="activation-raw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00799" y="1792565"/>
            <a:ext cx="5656581" cy="31814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0" y="1394245"/>
            <a:ext cx="5458968" cy="385441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46520" y="5226011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5226011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C9A84C"/>
                </a:solidFill>
                <a:latin typeface="Barlow Condensed"/>
              </a:rPr>
              <a:t>LIVE ACTIVATION CONSOLE · EXECUTION IN PROGRESS ·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2784" y="512064"/>
            <a:ext cx="12700" cy="5742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A68"/>
                </a:solidFill>
                <a:latin typeface="Barlow Condensed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49808"/>
            <a:ext cx="5632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Barlow Condensed"/>
              </a:rPr>
              <a:t>AI capability is accelerating faster than enterprise readiness.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3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66543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AI capability accelerating. Enterprise mobilization readiness is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36975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36975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Execution readiness is now the competitive bottleneck.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7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07407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Winners pair signal detection with governed 12-minute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5632704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A5BB"/>
                </a:solidFill>
                <a:latin typeface="Barlow Condensed"/>
              </a:rPr>
              <a:t>Sources: Stanford HAI AI Index 2026  ·  Gartner Autonomous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VaughnMartin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800">
                <a:solidFill>
                  <a:srgbClr val="C9A84C"/>
                </a:solidFill>
                <a:latin typeface="Calibri"/>
              </a:rPr>
              <a:t>READINESS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600">
                <a:solidFill>
                  <a:srgbClr val="C9A84C"/>
                </a:solidFill>
                <a:latin typeface="Calibri"/>
              </a:rPr>
              <a:t>THE 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457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$750K pre-seed.</a:t>
            </a:r>
          </a:p>
          <a:p>
            <a:pPr algn="l">
              <a:lnSpc>
                <a:spcPct val="110000"/>
              </a:lnSpc>
            </a:pPr>
            <a:r>
              <a:rPr sz="2800" b="0" i="1">
                <a:solidFill>
                  <a:srgbClr val="C9A84C"/>
                </a:solidFill>
                <a:latin typeface="Georgia"/>
              </a:rPr>
              <a:t>Twelve months. Three milestones.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5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Six Founding Partners 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$450K validation revenue · 90-day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5676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9996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996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Three Growth tier conversions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$450K ARR run rate at month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6156" y="3214206"/>
            <a:ext cx="3657600" cy="1280160"/>
          </a:xfrm>
          <a:prstGeom prst="rect">
            <a:avLst/>
          </a:prstGeom>
          <a:solidFill>
            <a:srgbClr val="132558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0476" y="337879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1">
                <a:solidFill>
                  <a:srgbClr val="C9A84C"/>
                </a:solidFill>
                <a:latin typeface="Georgia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6" y="380856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$1M ARR run rate by month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0476" y="412860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Series A trigger · positioned to raise from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720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0">
                <a:solidFill>
                  <a:srgbClr val="C9A84C"/>
                </a:solidFill>
                <a:latin typeface="Calibri"/>
              </a:rPr>
              <a:t>USE OF FUNDS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937760"/>
            <a:ext cx="548640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4937760"/>
            <a:ext cx="2743200" cy="41148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49834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4937760"/>
            <a:ext cx="1645920" cy="411480"/>
          </a:xfrm>
          <a:prstGeom prst="rect">
            <a:avLst/>
          </a:prstGeom>
          <a:solidFill>
            <a:srgbClr val="DFC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60" y="49834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15%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493776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49834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F2E"/>
                </a:solidFill>
                <a:latin typeface="Calibri"/>
              </a:rP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486400"/>
            <a:ext cx="10972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54406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GTM &amp; Founding Partner success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486400"/>
            <a:ext cx="109728" cy="10972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45352" y="54406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Engineering &amp; industry packs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5486400"/>
            <a:ext cx="109728" cy="109728"/>
          </a:xfrm>
          <a:prstGeom prst="rect">
            <a:avLst/>
          </a:prstGeom>
          <a:solidFill>
            <a:srgbClr val="DFC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88552" y="5440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Infra, security, compliance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69880" y="548640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34472" y="5440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Founder + reserves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080760"/>
            <a:ext cx="112745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DFC178"/>
                </a:solidFill>
                <a:latin typeface="Calibri"/>
              </a:rPr>
              <a:t>investor@vaughnmartin.com   ·   vaughnmartin.com   ·   currently in active conversations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spc="600">
                <a:solidFill>
                  <a:srgbClr val="CADCFC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92240"/>
            <a:ext cx="1673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 i="0" spc="600">
                <a:solidFill>
                  <a:srgbClr val="CADCFC"/>
                </a:solidFill>
                <a:latin typeface="Calibri"/>
              </a:rPr>
              <a:t>12 / 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27980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Barlow Condensed"/>
              </a:rPr>
              <a:t>6 Founding Partners × $75K = $450K revenue at M1 — GTM spend self-funds at milestone 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6254496"/>
            <a:ext cx="1645920" cy="441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Three lines. That's the pitch.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1440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3504" y="91440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04241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5331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Enterprise work was built for a world without AI — coordination delays exist because humans couldn't act fast enough. AI changed the constraint. The operating model hasn't.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46888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" y="246888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59689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0779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170 Readiness Protocols. 221 strategic triggers. The response pre-staged before the trigger fires. Executives authorize in minutes, not meetings.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402336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" y="4023360"/>
            <a:ext cx="63500" cy="142646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15137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6227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Barlow Condensed"/>
              </a:rPr>
              <a:t>Any organization prepared for every situation it will face is no longer afraid of what comes next. It is fearless.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5614416"/>
            <a:ext cx="8933688" cy="566928"/>
          </a:xfrm>
          <a:prstGeom prst="rect">
            <a:avLst/>
          </a:prstGeom>
          <a:solidFill>
            <a:srgbClr val="0A0F2E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5705856"/>
            <a:ext cx="8750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Barlow Condensed"/>
              </a:rPr>
              <a:t>Let's build this  ·  investor@vaughnmartin.com  ·  vaughnmartin.com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1158</Words>
  <Application>Microsoft Office PowerPoint</Application>
  <PresentationFormat>Widescreen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Barlow Condensed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Marty Brunke (CDI)</dc:creator>
  <cp:keywords/>
  <dc:description>generated using python-pptx</dc:description>
  <cp:lastModifiedBy>Marty Brunke (CDI)</cp:lastModifiedBy>
  <cp:revision>2</cp:revision>
  <dcterms:created xsi:type="dcterms:W3CDTF">2013-01-27T09:14:16Z</dcterms:created>
  <dcterms:modified xsi:type="dcterms:W3CDTF">2026-05-19T01:05:20Z</dcterms:modified>
  <cp:category/>
</cp:coreProperties>
</file>