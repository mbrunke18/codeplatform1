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Picture 17" descr="deck_command_t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594360"/>
            <a:ext cx="5394960" cy="56235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914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C9A84C"/>
                </a:solidFill>
                <a:latin typeface="Barlow Condensed"/>
              </a:rPr>
              <a:t>SLIDE 01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VaughnMartin  ·  </a:t>
            </a:r>
            <a:r>
              <a:rPr sz="800" b="1">
                <a:solidFill>
                  <a:srgbClr val="B0BCD4"/>
                </a:solidFill>
                <a:latin typeface="Barlow Condensed"/>
              </a:rPr>
              <a:t>READINESS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1052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0BCD4"/>
                </a:solidFill>
                <a:latin typeface="Barlow Condensed"/>
              </a:rPr>
              <a:t>vaughnmartin.com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5486400" cy="5829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Barlow Condensed"/>
              </a:rPr>
              <a:t>THE TRIGGER FIRES.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64260"/>
            <a:ext cx="5486400" cy="5829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A84C"/>
                </a:solidFill>
                <a:latin typeface="Barlow Condensed"/>
              </a:rPr>
              <a:t>MOBILIZATION TAKES 30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83664"/>
            <a:ext cx="530352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▶  Startup to Fortune 500 enterprises detect strategic triggers quickly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4086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▶  Most spend 30 days aligning ownership, authority, and sequence before execution begins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7004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▶  The delay is not execution — it is mobilization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992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▶  3,600× — that gap, compressed to 12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931920"/>
            <a:ext cx="5577840" cy="594360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98678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CD4"/>
                </a:solidFill>
                <a:latin typeface="Barlow Condensed"/>
              </a:rPr>
              <a:t>MARKET OPPORTUNITY  ·  Enterprise coordination failures put an estimated $4.4T in annual value at risk. Preparation Infrastructure is the unclaimed software layer above every existing AI stack.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532120"/>
            <a:ext cx="5303520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B0BCD4"/>
                </a:solidFill>
                <a:latin typeface="Georgia"/>
              </a:rPr>
              <a:t>"Most organizations do not have a strategy problem. They have a mobilization problem. When a trigger fires, the first weeks are spent figuring out who decides and who owns the response."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914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C9A84C"/>
                </a:solidFill>
                <a:latin typeface="Barlow Condensed"/>
              </a:rPr>
              <a:t>SLIDE 02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VaughnMartin  ·  </a:t>
            </a:r>
            <a:r>
              <a:rPr sz="800" b="1">
                <a:solidFill>
                  <a:srgbClr val="B0BCD4"/>
                </a:solidFill>
                <a:latin typeface="Barlow Condensed"/>
              </a:rPr>
              <a:t>READINESS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1052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0BCD4"/>
                </a:solidFill>
                <a:latin typeface="Barlow Condensed"/>
              </a:rPr>
              <a:t>vaughnmartin.com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THE 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109728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Barlow Condensed"/>
              </a:rPr>
              <a:t>BUILT FROM BOTH WORLDS.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1133856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5212080" cy="219456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55648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FORTUNE 500 OPERATIONS  ·  20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029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Ford · Toyota · Lockheed Martin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304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Charles Schwab · Boyd Gaming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78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Watched the 30-day mobilization failure repeat across every 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852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Same preparation gap — different trigger, same delay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127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Built Readiness OS in 2023 to end that pattern permanently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37360"/>
            <a:ext cx="5212080" cy="219456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55648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B8A6E"/>
                </a:solidFill>
                <a:latin typeface="Barlow Condensed"/>
              </a:rPr>
              <a:t>STANFORD UNIVERSITY  ·  5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29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Major college football — billion-dollar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04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40-second play clock — full organizational 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78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Every response pre-staged before the trigger fires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52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Preparation architecture built before game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27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Barlow Condensed"/>
              </a:rPr>
              <a:t>·  The preparation IS the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49300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9A84C"/>
                </a:solidFill>
                <a:latin typeface="Barlow Condensed"/>
              </a:rPr>
              <a:t>THE INTERSECTION — WHERE PREPARATION DISCIPLINE MEETS ENTERPRISE EXECUTION FAILURE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532120"/>
            <a:ext cx="11155680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5778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B0BCD4"/>
                </a:solidFill>
                <a:latin typeface="Georgia"/>
              </a:rPr>
              <a:t>"Very few people get exposure to both worlds at the depth where those lessons translate directly into each other. I did. And I built the infrastructure that closes the gap permanently."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Picture 17" descr="deck_how_it_execu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594360"/>
            <a:ext cx="5394960" cy="56235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914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C9A84C"/>
                </a:solidFill>
                <a:latin typeface="Barlow Condensed"/>
              </a:rPr>
              <a:t>SLIDE 03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VaughnMartin  ·  </a:t>
            </a:r>
            <a:r>
              <a:rPr sz="800" b="1">
                <a:solidFill>
                  <a:srgbClr val="B0BCD4"/>
                </a:solidFill>
                <a:latin typeface="Barlow Condensed"/>
              </a:rPr>
              <a:t>READINESS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1052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0BCD4"/>
                </a:solidFill>
                <a:latin typeface="Barlow Condensed"/>
              </a:rPr>
              <a:t>vaughnmartin.com/how-it-executes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54864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C"/>
                </a:solidFill>
                <a:latin typeface="Barlow Condensed"/>
              </a:rPr>
              <a:t>READINESS OS: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33120"/>
            <a:ext cx="5486400" cy="480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Barlow Condensed"/>
              </a:rPr>
              <a:t>THE RESPONSE IS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95400"/>
            <a:ext cx="5486400" cy="480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9A84C"/>
                </a:solidFill>
                <a:latin typeface="Barlow Condensed"/>
              </a:rPr>
              <a:t>BEFORE THE TRIGGER FIRES.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04288"/>
            <a:ext cx="530352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170 Readiness Protocols pre-staged — Growth &amp; Positioning, Risk &amp; Resilience,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614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221 strategic trigger patterns monitored continuously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906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248+ data points scored every 15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1985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AI monitors. Executives authorize. No protocol activates without sign-off.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49039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3,600× Execution Head Start — 30 days compressed to 12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532120"/>
            <a:ext cx="5303520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B0BCD4"/>
                </a:solidFill>
                <a:latin typeface="Georgia"/>
              </a:rPr>
              <a:t>"Every enterprise has Microsoft's AI stack. None have the operating model to use it. Readiness OS is that operating model layer — not a replacement, the orchestrator."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914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C9A84C"/>
                </a:solidFill>
                <a:latin typeface="Barlow Condensed"/>
              </a:rPr>
              <a:t>SLIDE 04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VaughnMartin  ·  </a:t>
            </a:r>
            <a:r>
              <a:rPr sz="800" b="1">
                <a:solidFill>
                  <a:srgbClr val="B0BCD4"/>
                </a:solidFill>
                <a:latin typeface="Barlow Condensed"/>
              </a:rPr>
              <a:t>READINESS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1052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0BCD4"/>
                </a:solidFill>
                <a:latin typeface="Barlow Condensed"/>
              </a:rPr>
              <a:t>vaughnmartin.com/platform-reality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WHY WE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11338560" cy="5829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Barlow Condensed"/>
              </a:rPr>
              <a:t>THE MOAT COMPOUNDS.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6426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B0BCD4"/>
                </a:solidFill>
                <a:latin typeface="Barlow Condensed"/>
              </a:rPr>
              <a:t>COMPETITORS START AT ZERO.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1133856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7451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WHERE COMPETITORS STOP SHORT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2140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Signal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12140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Routes the signal. Stops before the response is staged.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95727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68879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ServiceNow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468879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Automates workflows after alignment. We pre-stage the alignment.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43199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16351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Microsoft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816351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Produces intelligence. We pre-stage the organizational response to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90671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63823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McKinsey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163823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Arrives after the trigger fires. We were ready before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438143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7451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THE MOAT — WHAT MAKES US HARD TO CATCH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2140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A84C"/>
                </a:solidFill>
                <a:latin typeface="Barlow Condensed"/>
              </a:rPr>
              <a:t>Compounding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95727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Close-Out Gate encodes learning after every activation. Preparation compounds continuously.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08960"/>
            <a:ext cx="5394960" cy="10972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79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A84C"/>
                </a:solidFill>
                <a:latin typeface="Barlow Condensed"/>
              </a:rPr>
              <a:t>Org Context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57599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Signal confidence + preparedness score. No generic platform replicates this without our architecture.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70831"/>
            <a:ext cx="5394960" cy="10972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64515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A84C"/>
                </a:solidFill>
                <a:latin typeface="Barlow Condensed"/>
              </a:rPr>
              <a:t>Encoding Permanence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1947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18 months of activations creates an intelligence layer competitors cannot offer on day one.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532120"/>
            <a:ext cx="11155680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5778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B0BCD4"/>
                </a:solidFill>
                <a:latin typeface="Georgia"/>
              </a:rPr>
              <a:t>"Signal Labs routes the signal. ServiceNow runs the workflow. McKinsey arrives after the trigger. We had the response pre-staged before any of them were called."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Picture 23" descr="deck_12min_experi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594360"/>
            <a:ext cx="5394960" cy="56235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914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C9A84C"/>
                </a:solidFill>
                <a:latin typeface="Barlow Condensed"/>
              </a:rPr>
              <a:t>SLIDE 05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VaughnMartin  ·  </a:t>
            </a:r>
            <a:r>
              <a:rPr sz="800" b="1">
                <a:solidFill>
                  <a:srgbClr val="B0BCD4"/>
                </a:solidFill>
                <a:latin typeface="Barlow Condensed"/>
              </a:rPr>
              <a:t>READINESS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1052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0BCD4"/>
                </a:solidFill>
                <a:latin typeface="Barlow Condensed"/>
              </a:rPr>
              <a:t>vaughnmartin.com/how-it-executes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54864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Barlow Condensed"/>
              </a:rPr>
              <a:t>FROM TRIGGER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98220"/>
            <a:ext cx="54864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9A84C"/>
                </a:solidFill>
                <a:latin typeface="Barlow Condensed"/>
              </a:rPr>
              <a:t>EXECUTION IN 12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01952"/>
            <a:ext cx="530352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29968"/>
            <a:ext cx="4114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84C"/>
                </a:solidFill>
                <a:latin typeface="Barlow Condense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6544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Signal detected — confidence scored against 221 strategic trigger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05456"/>
            <a:ext cx="4114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84C"/>
                </a:solidFill>
                <a:latin typeface="Barlow Condensed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Matching Readiness Protocol staged — tasks assigned, stakeholders mapped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80944"/>
            <a:ext cx="4114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84C"/>
                </a:solidFill>
                <a:latin typeface="Barlow Condensed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Execution Brief delivered — full decision context pre-staged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456432"/>
            <a:ext cx="4114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84C"/>
                </a:solidFill>
                <a:latin typeface="Barlow Condensed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93008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Executive authorizes — four real choices including Stand Down. No action without sign-off.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4114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84C"/>
                </a:solidFill>
                <a:latin typeface="Barlow Condensed"/>
              </a:rPr>
              <a:t>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68496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Barlow Condensed"/>
              </a:rPr>
              <a:t>Execution launches — 12 minutes from signal to live coordinated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526280"/>
            <a:ext cx="5577840" cy="566928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53712"/>
            <a:ext cx="53949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9A84C"/>
                </a:solidFill>
                <a:latin typeface="Barlow Condensed"/>
              </a:rPr>
              <a:t>3,600×  EXECUTION HEAD START  ·  30 days of mobilization compressed to 12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532120"/>
            <a:ext cx="5303520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B0BCD4"/>
                </a:solidFill>
                <a:latin typeface="Georgia"/>
              </a:rPr>
              <a:t>"The preparation is the execution. When the trigger fires, the response is already designed, assigned, and waiting for authorization."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Picture 17" descr="deck_command_t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594360"/>
            <a:ext cx="5394960" cy="56235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914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C9A84C"/>
                </a:solidFill>
                <a:latin typeface="Barlow Condensed"/>
              </a:rPr>
              <a:t>SLIDE 06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VaughnMartin  ·  </a:t>
            </a:r>
            <a:r>
              <a:rPr sz="800" b="1">
                <a:solidFill>
                  <a:srgbClr val="B0BCD4"/>
                </a:solidFill>
                <a:latin typeface="Barlow Condensed"/>
              </a:rPr>
              <a:t>READINESS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1052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0BCD4"/>
                </a:solidFill>
                <a:latin typeface="Barlow Condensed"/>
              </a:rPr>
              <a:t>vaughnmartin.com/proof-story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PROOF — NOW, NOT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5486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Barlow Condensed"/>
              </a:rPr>
              <a:t>BUILT.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63320"/>
            <a:ext cx="5486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C9A84C"/>
                </a:solidFill>
                <a:latin typeface="Barlow Condensed"/>
              </a:rPr>
              <a:t>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3720"/>
            <a:ext cx="5486400" cy="445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0BCD4"/>
                </a:solidFill>
                <a:latin typeface="Barlow Condensed"/>
              </a:rPr>
              <a:t>IN PRODUCTION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50592"/>
            <a:ext cx="530352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578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Production platform live at vaughnmartin.com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07791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170 protocols active · 221 triggers monitored · 248+ data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36975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Full public execution walkthrough — vaughnmartin.com/how-it-executes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66159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12-Minute Test Drive live — run any of 7 scenarios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Founding Partner cohort open for 90-day validation partnership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532120"/>
            <a:ext cx="5303520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B0BCD4"/>
                </a:solidFill>
                <a:latin typeface="Georgia"/>
              </a:rPr>
              <a:t>"This is not a roadmap concept. The platform is live, running, and testable now. Run a full scenario at vaughnmartin.com/how-it-executes."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deck_roi_calcula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594360"/>
            <a:ext cx="5394960" cy="56235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914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C9A84C"/>
                </a:solidFill>
                <a:latin typeface="Barlow Condensed"/>
              </a:rPr>
              <a:t>SLIDE 07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VaughnMartin  ·  </a:t>
            </a:r>
            <a:r>
              <a:rPr sz="800" b="1">
                <a:solidFill>
                  <a:srgbClr val="B0BCD4"/>
                </a:solidFill>
                <a:latin typeface="Barlow Condensed"/>
              </a:rPr>
              <a:t>READINESS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1052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0BCD4"/>
                </a:solidFill>
                <a:latin typeface="Barlow Condensed"/>
              </a:rPr>
              <a:t>vaughnmartin.com/roi-calculator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54864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Barlow Condensed"/>
              </a:rPr>
              <a:t>REPLACE EXISTING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98220"/>
            <a:ext cx="54864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Barlow Condensed"/>
              </a:rPr>
              <a:t>RESPONSE SPEND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93520"/>
            <a:ext cx="54864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9A84C"/>
                </a:solidFill>
                <a:latin typeface="Barlow Condensed"/>
              </a:rPr>
              <a:t>EXECUTION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04288"/>
            <a:ext cx="530352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Existing budgets already fund reactive, post-trigger response motions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614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Readiness OS shifts that spend to pre-staged execution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906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Estimated $61.3M annual value — enterprises facing 3+ strategic triggers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1985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Barlow Condensed"/>
              </a:rPr>
              <a:t>▶  Replaces $400K–$800K consulting retainer with repeatable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279392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Founding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279392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$75K / 90-day validation  ·  12 seats  ·  Cohort forming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553712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626864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626864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$75K–$250K annually  ·  Annual recurring  ·  No per-seat pricing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901183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974336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74336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$250K+  ·  Custom SLA  ·  Microsoft stack integration included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248655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532120"/>
            <a:ext cx="5303520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B0BCD4"/>
                </a:solidFill>
                <a:latin typeface="Georgia"/>
              </a:rPr>
              <a:t>"We are not asking enterprises to invent new budget. We are replacing existing response spend with a repeatable operating model that compounds in value with every activation."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Picture 27" descr="slide_buyer_pac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594360"/>
            <a:ext cx="5394960" cy="56235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914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C9A84C"/>
                </a:solidFill>
                <a:latin typeface="Barlow Condensed"/>
              </a:rPr>
              <a:t>SLIDE 08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C9A84C"/>
                </a:solidFill>
                <a:latin typeface="Barlow Condensed"/>
              </a:rPr>
              <a:t>VaughnMartin  ·  </a:t>
            </a:r>
            <a:r>
              <a:rPr sz="800" b="1">
                <a:solidFill>
                  <a:srgbClr val="B0BCD4"/>
                </a:solidFill>
                <a:latin typeface="Barlow Condensed"/>
              </a:rPr>
              <a:t>READINESS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1052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0BCD4"/>
                </a:solidFill>
                <a:latin typeface="Barlow Condensed"/>
              </a:rPr>
              <a:t>vaughnmartin.com/founding-partner-program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5486400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C"/>
                </a:solidFill>
                <a:latin typeface="Barlow Condensed"/>
              </a:rPr>
              <a:t>CATEGORY CREATION: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61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Barlow Condensed"/>
              </a:rPr>
              <a:t>PREPARATION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47088"/>
            <a:ext cx="530352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Barlow Condensed"/>
              </a:rPr>
              <a:t>▶  Raising: Up to $1,000,000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225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Barlow Condensed"/>
              </a:rPr>
              <a:t>▶  Product hardening + enterprise-grade access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Barlow Condensed"/>
              </a:rPr>
              <a:t>▶  Founding Partner conversions + repeatable GTM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9067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84C"/>
                </a:solidFill>
                <a:latin typeface="Barlow Condensed"/>
              </a:rPr>
              <a:t>18-MONTH RUNWAY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31012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Mo.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1012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3 Founding Partners on recurring contracts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84448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65760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Mo.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6576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Enterprise controls complete · Microsoft integration certified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31920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00507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Mo.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050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Repeatable GTM with documented proof stories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79392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35254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A84C"/>
                </a:solidFill>
                <a:latin typeface="Barlow Condensed"/>
              </a:rPr>
              <a:t>Mo.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5254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BCD4"/>
                </a:solidFill>
                <a:latin typeface="Barlow Condensed"/>
              </a:rPr>
              <a:t>Category established · Series A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626864"/>
            <a:ext cx="5212080" cy="7315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532120"/>
            <a:ext cx="5303520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B0BCD4"/>
                </a:solidFill>
                <a:latin typeface="Georgia"/>
              </a:rPr>
              <a:t>"Every enterprise has AI capability. Very few have mobilization readiness. We built that layer. The response is ready before the trigger fires."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14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Barlow Condensed"/>
              </a:rPr>
              <a:t>APPENDIX  ·  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B0BCD4"/>
                </a:solidFill>
                <a:latin typeface="Barlow Condensed"/>
              </a:rPr>
              <a:t>VaughnMartin Readiness OS  ·  Investor Pitch  ·  May 2026  ·  vaughnmartin.com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